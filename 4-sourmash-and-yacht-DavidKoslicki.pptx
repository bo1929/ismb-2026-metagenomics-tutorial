
<file path=[Content_Types].xml><?xml version="1.0" encoding="utf-8"?>
<Types xmlns="http://schemas.openxmlformats.org/package/2006/content-types">
  <Default ContentType="image/jpeg" Extension="jpg"/>
  <Default ContentType="application/vnd.openxmlformats-officedocument.spreadsheetml.sheet" Extension="xlsx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ms-office.chartcolorstyle+xml" PartName="/ppt/charts/colors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ms-office.chartstyle+xml" PartName="/ppt/charts/style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6858000" cx="9144000"/>
  <p:notesSz cx="6858000" cy="9144000"/>
  <p:embeddedFontLst>
    <p:embeddedFont>
      <p:font typeface="Inter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0" roundtripDataSignature="AMtx7mjEMygN1ScDLCDoljTBMtGRuDRB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Inter-bold.fntdata"/><Relationship Id="rId14" Type="http://schemas.openxmlformats.org/officeDocument/2006/relationships/slide" Target="slides/slide9.xml"/><Relationship Id="rId36" Type="http://schemas.openxmlformats.org/officeDocument/2006/relationships/font" Target="fonts/Inter-regular.fntdata"/><Relationship Id="rId17" Type="http://schemas.openxmlformats.org/officeDocument/2006/relationships/slide" Target="slides/slide12.xml"/><Relationship Id="rId39" Type="http://schemas.openxmlformats.org/officeDocument/2006/relationships/font" Target="fonts/Inter-boldItalic.fntdata"/><Relationship Id="rId16" Type="http://schemas.openxmlformats.org/officeDocument/2006/relationships/slide" Target="slides/slide11.xml"/><Relationship Id="rId38" Type="http://schemas.openxmlformats.org/officeDocument/2006/relationships/font" Target="fonts/Inter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charts/_rels/chart1.xml.rels><?xml version="1.0" encoding="UTF-8" standalone="yes"?>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B5E-408A-B852-66BABBC4FA5C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B5E-408A-B852-66BABBC4FA5C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B5E-408A-B852-66BABBC4FA5C}"/>
              </c:ext>
            </c:extLst>
          </c:dPt>
          <c:dPt>
            <c:idx val="3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B5E-408A-B852-66BABBC4FA5C}"/>
              </c:ext>
            </c:extLst>
          </c:dPt>
          <c:dPt>
            <c:idx val="4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7B5E-408A-B852-66BABBC4FA5C}"/>
              </c:ext>
            </c:extLst>
          </c:dPt>
          <c:cat>
            <c:numRef>
              <c:f>Sheet1!$A$2:$A$6</c:f>
              <c:numCache>
                <c:formatCode>General</c:formatCode>
                <c:ptCount val="5"/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1.2</c:v>
                </c:pt>
                <c:pt idx="1">
                  <c:v>3.2</c:v>
                </c:pt>
                <c:pt idx="2">
                  <c:v>1.4</c:v>
                </c:pt>
                <c:pt idx="3">
                  <c:v>8.4</c:v>
                </c:pt>
                <c:pt idx="4">
                  <c:v>4.2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B5E-408A-B852-66BABBC4FA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4588" y="695325"/>
            <a:ext cx="4570412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6361" y="4342535"/>
            <a:ext cx="5486680" cy="4114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025" lIns="82050" spcFirstLastPara="1" rIns="82050" wrap="square" tIns="410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2895600" y="533400"/>
            <a:ext cx="3506788" cy="262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930400" y="3329277"/>
            <a:ext cx="7437500" cy="31544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025" lIns="82050" spcFirstLastPara="1" rIns="82050" wrap="square" tIns="410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1" name="Google Shape;261;p4:notes"/>
          <p:cNvSpPr/>
          <p:nvPr>
            <p:ph idx="2" type="sldImg"/>
          </p:nvPr>
        </p:nvSpPr>
        <p:spPr>
          <a:xfrm>
            <a:off x="2895600" y="533400"/>
            <a:ext cx="3506788" cy="262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62" name="Google Shape;262;p4:notes"/>
          <p:cNvSpPr txBox="1"/>
          <p:nvPr>
            <p:ph idx="1" type="body"/>
          </p:nvPr>
        </p:nvSpPr>
        <p:spPr>
          <a:xfrm>
            <a:off x="930400" y="3329277"/>
            <a:ext cx="7437500" cy="31544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025" lIns="82050" spcFirstLastPara="1" rIns="82050" wrap="square" tIns="410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8" name="Google Shape;328;p5:notes"/>
          <p:cNvSpPr/>
          <p:nvPr>
            <p:ph idx="2" type="sldImg"/>
          </p:nvPr>
        </p:nvSpPr>
        <p:spPr>
          <a:xfrm>
            <a:off x="2895600" y="533400"/>
            <a:ext cx="3506788" cy="262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29" name="Google Shape;329;p5:notes"/>
          <p:cNvSpPr txBox="1"/>
          <p:nvPr>
            <p:ph idx="1" type="body"/>
          </p:nvPr>
        </p:nvSpPr>
        <p:spPr>
          <a:xfrm>
            <a:off x="930400" y="3329277"/>
            <a:ext cx="7437500" cy="31544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025" lIns="82050" spcFirstLastPara="1" rIns="82050" wrap="square" tIns="410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8" name="Google Shape;388;p6:notes"/>
          <p:cNvSpPr/>
          <p:nvPr>
            <p:ph idx="2" type="sldImg"/>
          </p:nvPr>
        </p:nvSpPr>
        <p:spPr>
          <a:xfrm>
            <a:off x="2895600" y="533400"/>
            <a:ext cx="3506788" cy="262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89" name="Google Shape;389;p6:notes"/>
          <p:cNvSpPr txBox="1"/>
          <p:nvPr>
            <p:ph idx="1" type="body"/>
          </p:nvPr>
        </p:nvSpPr>
        <p:spPr>
          <a:xfrm>
            <a:off x="930400" y="3329277"/>
            <a:ext cx="7437500" cy="31544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025" lIns="82050" spcFirstLastPara="1" rIns="82050" wrap="square" tIns="410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8" name="Google Shape;438;p7:notes"/>
          <p:cNvSpPr/>
          <p:nvPr>
            <p:ph idx="2" type="sldImg"/>
          </p:nvPr>
        </p:nvSpPr>
        <p:spPr>
          <a:xfrm>
            <a:off x="2895600" y="533400"/>
            <a:ext cx="3506788" cy="262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439" name="Google Shape;439;p7:notes"/>
          <p:cNvSpPr txBox="1"/>
          <p:nvPr>
            <p:ph idx="1" type="body"/>
          </p:nvPr>
        </p:nvSpPr>
        <p:spPr>
          <a:xfrm>
            <a:off x="930400" y="3329277"/>
            <a:ext cx="7437500" cy="31544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025" lIns="82050" spcFirstLastPara="1" rIns="82050" wrap="square" tIns="410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7" name="Google Shape;457;p8:notes"/>
          <p:cNvSpPr/>
          <p:nvPr>
            <p:ph idx="2" type="sldImg"/>
          </p:nvPr>
        </p:nvSpPr>
        <p:spPr>
          <a:xfrm>
            <a:off x="1144588" y="695325"/>
            <a:ext cx="4570412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458" name="Google Shape;458;p8:notes"/>
          <p:cNvSpPr txBox="1"/>
          <p:nvPr>
            <p:ph idx="1" type="body"/>
          </p:nvPr>
        </p:nvSpPr>
        <p:spPr>
          <a:xfrm>
            <a:off x="686362" y="4342535"/>
            <a:ext cx="5486680" cy="4114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800" lIns="83600" spcFirstLastPara="1" rIns="83600" wrap="square" tIns="418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7" name="Google Shape;467;p9:notes"/>
          <p:cNvSpPr/>
          <p:nvPr>
            <p:ph idx="2" type="sldImg"/>
          </p:nvPr>
        </p:nvSpPr>
        <p:spPr>
          <a:xfrm>
            <a:off x="2895600" y="533400"/>
            <a:ext cx="3506788" cy="262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468" name="Google Shape;468;p9:notes"/>
          <p:cNvSpPr txBox="1"/>
          <p:nvPr>
            <p:ph idx="1" type="body"/>
          </p:nvPr>
        </p:nvSpPr>
        <p:spPr>
          <a:xfrm>
            <a:off x="930400" y="3329277"/>
            <a:ext cx="7437500" cy="31544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025" lIns="82050" spcFirstLastPara="1" rIns="82050" wrap="square" tIns="410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5" name="Google Shape;515;p10:notes"/>
          <p:cNvSpPr/>
          <p:nvPr>
            <p:ph idx="2" type="sldImg"/>
          </p:nvPr>
        </p:nvSpPr>
        <p:spPr>
          <a:xfrm>
            <a:off x="2895600" y="533400"/>
            <a:ext cx="3506788" cy="262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16" name="Google Shape;516;p10:notes"/>
          <p:cNvSpPr txBox="1"/>
          <p:nvPr>
            <p:ph idx="1" type="body"/>
          </p:nvPr>
        </p:nvSpPr>
        <p:spPr>
          <a:xfrm>
            <a:off x="930400" y="3329277"/>
            <a:ext cx="7437500" cy="31544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025" lIns="82050" spcFirstLastPara="1" rIns="82050" wrap="square" tIns="410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0" name="Google Shape;560;p11:notes"/>
          <p:cNvSpPr/>
          <p:nvPr>
            <p:ph idx="2" type="sldImg"/>
          </p:nvPr>
        </p:nvSpPr>
        <p:spPr>
          <a:xfrm>
            <a:off x="1144588" y="695325"/>
            <a:ext cx="4570412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61" name="Google Shape;561;p11:notes"/>
          <p:cNvSpPr txBox="1"/>
          <p:nvPr>
            <p:ph idx="1" type="body"/>
          </p:nvPr>
        </p:nvSpPr>
        <p:spPr>
          <a:xfrm>
            <a:off x="686362" y="4342535"/>
            <a:ext cx="5486680" cy="4114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800" lIns="83600" spcFirstLastPara="1" rIns="83600" wrap="square" tIns="418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0" name="Google Shape;570;p12:notes"/>
          <p:cNvSpPr/>
          <p:nvPr>
            <p:ph idx="2" type="sldImg"/>
          </p:nvPr>
        </p:nvSpPr>
        <p:spPr>
          <a:xfrm>
            <a:off x="2895600" y="533400"/>
            <a:ext cx="3506788" cy="262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71" name="Google Shape;571;p12:notes"/>
          <p:cNvSpPr txBox="1"/>
          <p:nvPr>
            <p:ph idx="1" type="body"/>
          </p:nvPr>
        </p:nvSpPr>
        <p:spPr>
          <a:xfrm>
            <a:off x="930400" y="3329277"/>
            <a:ext cx="7437500" cy="31544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025" lIns="82050" spcFirstLastPara="1" rIns="82050" wrap="square" tIns="410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5" name="Google Shape;635;p13:notes"/>
          <p:cNvSpPr/>
          <p:nvPr>
            <p:ph idx="2" type="sldImg"/>
          </p:nvPr>
        </p:nvSpPr>
        <p:spPr>
          <a:xfrm>
            <a:off x="2895600" y="533400"/>
            <a:ext cx="3506788" cy="262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36" name="Google Shape;636;p13:notes"/>
          <p:cNvSpPr txBox="1"/>
          <p:nvPr>
            <p:ph idx="1" type="body"/>
          </p:nvPr>
        </p:nvSpPr>
        <p:spPr>
          <a:xfrm>
            <a:off x="930400" y="3329277"/>
            <a:ext cx="7437500" cy="31544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025" lIns="82050" spcFirstLastPara="1" rIns="82050" wrap="square" tIns="410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1" name="Google Shape;661;p14:notes"/>
          <p:cNvSpPr/>
          <p:nvPr>
            <p:ph idx="2" type="sldImg"/>
          </p:nvPr>
        </p:nvSpPr>
        <p:spPr>
          <a:xfrm>
            <a:off x="2895600" y="533400"/>
            <a:ext cx="3506788" cy="262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62" name="Google Shape;662;p14:notes"/>
          <p:cNvSpPr txBox="1"/>
          <p:nvPr>
            <p:ph idx="1" type="body"/>
          </p:nvPr>
        </p:nvSpPr>
        <p:spPr>
          <a:xfrm>
            <a:off x="930400" y="3329277"/>
            <a:ext cx="7437500" cy="31544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025" lIns="82050" spcFirstLastPara="1" rIns="82050" wrap="square" tIns="410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1" name="Google Shape;691;p15:notes"/>
          <p:cNvSpPr/>
          <p:nvPr>
            <p:ph idx="2" type="sldImg"/>
          </p:nvPr>
        </p:nvSpPr>
        <p:spPr>
          <a:xfrm>
            <a:off x="2895600" y="533400"/>
            <a:ext cx="3506788" cy="262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92" name="Google Shape;692;p15:notes"/>
          <p:cNvSpPr txBox="1"/>
          <p:nvPr>
            <p:ph idx="1" type="body"/>
          </p:nvPr>
        </p:nvSpPr>
        <p:spPr>
          <a:xfrm>
            <a:off x="930400" y="3329277"/>
            <a:ext cx="7437500" cy="31544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025" lIns="82050" spcFirstLastPara="1" rIns="82050" wrap="square" tIns="410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1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8" name="Google Shape;708;p16:notes"/>
          <p:cNvSpPr/>
          <p:nvPr>
            <p:ph idx="2" type="sldImg"/>
          </p:nvPr>
        </p:nvSpPr>
        <p:spPr>
          <a:xfrm>
            <a:off x="2895600" y="533400"/>
            <a:ext cx="3506788" cy="262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709" name="Google Shape;709;p16:notes"/>
          <p:cNvSpPr txBox="1"/>
          <p:nvPr>
            <p:ph idx="1" type="body"/>
          </p:nvPr>
        </p:nvSpPr>
        <p:spPr>
          <a:xfrm>
            <a:off x="930400" y="3329277"/>
            <a:ext cx="7437500" cy="31544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025" lIns="82050" spcFirstLastPara="1" rIns="82050" wrap="square" tIns="410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9" name="Google Shape;729;p17:notes"/>
          <p:cNvSpPr/>
          <p:nvPr>
            <p:ph idx="2" type="sldImg"/>
          </p:nvPr>
        </p:nvSpPr>
        <p:spPr>
          <a:xfrm>
            <a:off x="2895600" y="533400"/>
            <a:ext cx="3506788" cy="262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730" name="Google Shape;730;p17:notes"/>
          <p:cNvSpPr txBox="1"/>
          <p:nvPr>
            <p:ph idx="1" type="body"/>
          </p:nvPr>
        </p:nvSpPr>
        <p:spPr>
          <a:xfrm>
            <a:off x="930400" y="3329277"/>
            <a:ext cx="7437500" cy="31544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025" lIns="82050" spcFirstLastPara="1" rIns="82050" wrap="square" tIns="410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1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49" name="Google Shape;749;p18:notes"/>
          <p:cNvSpPr/>
          <p:nvPr>
            <p:ph idx="2" type="sldImg"/>
          </p:nvPr>
        </p:nvSpPr>
        <p:spPr>
          <a:xfrm>
            <a:off x="2895600" y="533400"/>
            <a:ext cx="3506788" cy="262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750" name="Google Shape;750;p18:notes"/>
          <p:cNvSpPr txBox="1"/>
          <p:nvPr>
            <p:ph idx="1" type="body"/>
          </p:nvPr>
        </p:nvSpPr>
        <p:spPr>
          <a:xfrm>
            <a:off x="930400" y="3329277"/>
            <a:ext cx="7437500" cy="31544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025" lIns="82050" spcFirstLastPara="1" rIns="82050" wrap="square" tIns="410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9" name="Google Shape;769;p19:notes"/>
          <p:cNvSpPr/>
          <p:nvPr>
            <p:ph idx="2" type="sldImg"/>
          </p:nvPr>
        </p:nvSpPr>
        <p:spPr>
          <a:xfrm>
            <a:off x="2895600" y="533400"/>
            <a:ext cx="3506788" cy="262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770" name="Google Shape;770;p19:notes"/>
          <p:cNvSpPr txBox="1"/>
          <p:nvPr>
            <p:ph idx="1" type="body"/>
          </p:nvPr>
        </p:nvSpPr>
        <p:spPr>
          <a:xfrm>
            <a:off x="930400" y="3329277"/>
            <a:ext cx="7437500" cy="31544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025" lIns="82050" spcFirstLastPara="1" rIns="82050" wrap="square" tIns="410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2" name="Google Shape;792;p20:notes"/>
          <p:cNvSpPr/>
          <p:nvPr>
            <p:ph idx="2" type="sldImg"/>
          </p:nvPr>
        </p:nvSpPr>
        <p:spPr>
          <a:xfrm>
            <a:off x="2895600" y="533400"/>
            <a:ext cx="3506788" cy="262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793" name="Google Shape;793;p20:notes"/>
          <p:cNvSpPr txBox="1"/>
          <p:nvPr>
            <p:ph idx="1" type="body"/>
          </p:nvPr>
        </p:nvSpPr>
        <p:spPr>
          <a:xfrm>
            <a:off x="930400" y="3329277"/>
            <a:ext cx="7437500" cy="31544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025" lIns="82050" spcFirstLastPara="1" rIns="82050" wrap="square" tIns="410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6" name="Google Shape;846;p21:notes"/>
          <p:cNvSpPr/>
          <p:nvPr>
            <p:ph idx="2" type="sldImg"/>
          </p:nvPr>
        </p:nvSpPr>
        <p:spPr>
          <a:xfrm>
            <a:off x="2895600" y="533400"/>
            <a:ext cx="3506788" cy="262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847" name="Google Shape;847;p21:notes"/>
          <p:cNvSpPr txBox="1"/>
          <p:nvPr>
            <p:ph idx="1" type="body"/>
          </p:nvPr>
        </p:nvSpPr>
        <p:spPr>
          <a:xfrm>
            <a:off x="930400" y="3329277"/>
            <a:ext cx="7437500" cy="31544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025" lIns="82050" spcFirstLastPara="1" rIns="82050" wrap="square" tIns="410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02" name="Google Shape;902;p22:notes"/>
          <p:cNvSpPr/>
          <p:nvPr>
            <p:ph idx="2" type="sldImg"/>
          </p:nvPr>
        </p:nvSpPr>
        <p:spPr>
          <a:xfrm>
            <a:off x="2895600" y="533400"/>
            <a:ext cx="3506788" cy="262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903" name="Google Shape;903;p22:notes"/>
          <p:cNvSpPr txBox="1"/>
          <p:nvPr>
            <p:ph idx="1" type="body"/>
          </p:nvPr>
        </p:nvSpPr>
        <p:spPr>
          <a:xfrm>
            <a:off x="930400" y="3329277"/>
            <a:ext cx="7437500" cy="31544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025" lIns="82050" spcFirstLastPara="1" rIns="82050" wrap="square" tIns="410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2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0" name="Google Shape;930;p23:notes"/>
          <p:cNvSpPr/>
          <p:nvPr>
            <p:ph idx="2" type="sldImg"/>
          </p:nvPr>
        </p:nvSpPr>
        <p:spPr>
          <a:xfrm>
            <a:off x="2895600" y="533400"/>
            <a:ext cx="3506788" cy="262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931" name="Google Shape;931;p23:notes"/>
          <p:cNvSpPr txBox="1"/>
          <p:nvPr>
            <p:ph idx="1" type="body"/>
          </p:nvPr>
        </p:nvSpPr>
        <p:spPr>
          <a:xfrm>
            <a:off x="930400" y="3329277"/>
            <a:ext cx="7437500" cy="31544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025" lIns="82050" spcFirstLastPara="1" rIns="82050" wrap="square" tIns="410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2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0" name="Google Shape;960;p24:notes"/>
          <p:cNvSpPr/>
          <p:nvPr>
            <p:ph idx="2" type="sldImg"/>
          </p:nvPr>
        </p:nvSpPr>
        <p:spPr>
          <a:xfrm>
            <a:off x="2895600" y="533400"/>
            <a:ext cx="3506788" cy="262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961" name="Google Shape;961;p24:notes"/>
          <p:cNvSpPr txBox="1"/>
          <p:nvPr>
            <p:ph idx="1" type="body"/>
          </p:nvPr>
        </p:nvSpPr>
        <p:spPr>
          <a:xfrm>
            <a:off x="930400" y="3329277"/>
            <a:ext cx="7437500" cy="31544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025" lIns="82050" spcFirstLastPara="1" rIns="82050" wrap="square" tIns="410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1" name="Google Shape;1091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4" name="Google Shape;1104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7" name="Google Shape;27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9" name="Google Shape;39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5" name="Google Shape;45;p3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6" name="Google Shape;46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3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3" name="Google Shape;53;p3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3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5" name="Google Shape;55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jpg"/><Relationship Id="rId4" Type="http://schemas.openxmlformats.org/officeDocument/2006/relationships/image" Target="../media/image8.jpg"/><Relationship Id="rId5" Type="http://schemas.openxmlformats.org/officeDocument/2006/relationships/image" Target="../media/image14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chart" Target="../charts/chart1.xml"/><Relationship Id="rId5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11.jpg"/><Relationship Id="rId5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30.png"/><Relationship Id="rId5" Type="http://schemas.openxmlformats.org/officeDocument/2006/relationships/image" Target="../media/image6.png"/><Relationship Id="rId6" Type="http://schemas.openxmlformats.org/officeDocument/2006/relationships/image" Target="../media/image3.png"/><Relationship Id="rId7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4.png"/><Relationship Id="rId5" Type="http://schemas.openxmlformats.org/officeDocument/2006/relationships/image" Target="../media/image21.png"/><Relationship Id="rId6" Type="http://schemas.openxmlformats.org/officeDocument/2006/relationships/image" Target="../media/image5.png"/><Relationship Id="rId7" Type="http://schemas.openxmlformats.org/officeDocument/2006/relationships/hyperlink" Target="https://twitter.com/ctitusbrown/status/1465360407518928909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2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6.png"/><Relationship Id="rId4" Type="http://schemas.openxmlformats.org/officeDocument/2006/relationships/image" Target="../media/image12.png"/><Relationship Id="rId5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Relationship Id="rId4" Type="http://schemas.openxmlformats.org/officeDocument/2006/relationships/image" Target="../media/image22.png"/><Relationship Id="rId5" Type="http://schemas.openxmlformats.org/officeDocument/2006/relationships/image" Target="../media/image3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Relationship Id="rId4" Type="http://schemas.openxmlformats.org/officeDocument/2006/relationships/image" Target="../media/image31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2.png"/><Relationship Id="rId8" Type="http://schemas.openxmlformats.org/officeDocument/2006/relationships/image" Target="../media/image2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1.png"/><Relationship Id="rId4" Type="http://schemas.openxmlformats.org/officeDocument/2006/relationships/image" Target="../media/image26.png"/><Relationship Id="rId5" Type="http://schemas.openxmlformats.org/officeDocument/2006/relationships/image" Target="../media/image22.png"/><Relationship Id="rId6" Type="http://schemas.openxmlformats.org/officeDocument/2006/relationships/image" Target="../media/image25.png"/><Relationship Id="rId7" Type="http://schemas.openxmlformats.org/officeDocument/2006/relationships/image" Target="../media/image2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png"/><Relationship Id="rId4" Type="http://schemas.openxmlformats.org/officeDocument/2006/relationships/image" Target="../media/image25.png"/><Relationship Id="rId5" Type="http://schemas.openxmlformats.org/officeDocument/2006/relationships/image" Target="../media/image29.png"/><Relationship Id="rId6" Type="http://schemas.openxmlformats.org/officeDocument/2006/relationships/image" Target="../media/image3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Relationship Id="rId4" Type="http://schemas.openxmlformats.org/officeDocument/2006/relationships/image" Target="../media/image25.png"/><Relationship Id="rId5" Type="http://schemas.openxmlformats.org/officeDocument/2006/relationships/image" Target="../media/image29.png"/><Relationship Id="rId6" Type="http://schemas.openxmlformats.org/officeDocument/2006/relationships/image" Target="../media/image34.png"/><Relationship Id="rId7" Type="http://schemas.openxmlformats.org/officeDocument/2006/relationships/image" Target="../media/image3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5.png"/><Relationship Id="rId4" Type="http://schemas.openxmlformats.org/officeDocument/2006/relationships/image" Target="../media/image33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2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2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 4099" id="89" name="Google Shape;89;p1"/>
          <p:cNvSpPr/>
          <p:nvPr/>
        </p:nvSpPr>
        <p:spPr>
          <a:xfrm>
            <a:off x="0" y="914400"/>
            <a:ext cx="2590800" cy="685800"/>
          </a:xfrm>
          <a:prstGeom prst="roundRect">
            <a:avLst>
              <a:gd fmla="val 16667" name="adj"/>
            </a:avLst>
          </a:prstGeom>
          <a:solidFill>
            <a:srgbClr val="BFBFB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What’s the data?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2709332" y="1072634"/>
            <a:ext cx="475826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Whole Genome Shotgun (WGS) metagenomics</a:t>
            </a:r>
            <a:endParaRPr/>
          </a:p>
        </p:txBody>
      </p:sp>
      <p:pic>
        <p:nvPicPr>
          <p:cNvPr descr="Pile_Of_Dirt.jpg"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2252246"/>
            <a:ext cx="1473200" cy="1012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" name="Google Shape;92;p1"/>
          <p:cNvCxnSpPr/>
          <p:nvPr/>
        </p:nvCxnSpPr>
        <p:spPr>
          <a:xfrm>
            <a:off x="2057400" y="2785646"/>
            <a:ext cx="1676400" cy="4572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pic>
        <p:nvPicPr>
          <p:cNvPr id="93" name="Google Shape;9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55950" y="2308851"/>
            <a:ext cx="4854650" cy="254869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"/>
          <p:cNvSpPr/>
          <p:nvPr/>
        </p:nvSpPr>
        <p:spPr>
          <a:xfrm>
            <a:off x="92592" y="3395246"/>
            <a:ext cx="232063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Environmental sample</a:t>
            </a:r>
            <a:endParaRPr/>
          </a:p>
        </p:txBody>
      </p:sp>
      <p:pic>
        <p:nvPicPr>
          <p:cNvPr descr="Bunch of DNA.bmp" id="95" name="Google Shape;95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86200" y="1657285"/>
            <a:ext cx="4619625" cy="3676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10000" y="1616015"/>
            <a:ext cx="4812445" cy="3830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86200" y="2232651"/>
            <a:ext cx="4854650" cy="254869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8" name="Google Shape;98;p1"/>
          <p:cNvCxnSpPr/>
          <p:nvPr/>
        </p:nvCxnSpPr>
        <p:spPr>
          <a:xfrm flipH="1">
            <a:off x="4572060" y="5166393"/>
            <a:ext cx="1813500" cy="809700"/>
          </a:xfrm>
          <a:prstGeom prst="curvedConnector2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99" name="Google Shape;99;p1"/>
          <p:cNvSpPr/>
          <p:nvPr/>
        </p:nvSpPr>
        <p:spPr>
          <a:xfrm>
            <a:off x="0" y="5042118"/>
            <a:ext cx="6096000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&gt;Seq_1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AAAATCTTGACTGACTCTGACTACGATGCATGCTACGG….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&gt;Seq_2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GGGCTGACTTGCACTGTCTTGATATACTACGATGACTG…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&gt;Seq_3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GCTGATGACTGACTGTGGGGGGGTGAGTTCTGCAGA…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&gt;Seq_4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GTGCTACTACTCTACTACTACTTTTAATTACTATATACCC…</a:t>
            </a:r>
            <a:endParaRPr/>
          </a:p>
        </p:txBody>
      </p:sp>
      <p:sp>
        <p:nvSpPr>
          <p:cNvPr id="100" name="Google Shape;100;p1"/>
          <p:cNvSpPr/>
          <p:nvPr/>
        </p:nvSpPr>
        <p:spPr>
          <a:xfrm>
            <a:off x="0" y="4575191"/>
            <a:ext cx="26737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10’s to 1000’s of Gigabytes</a:t>
            </a:r>
            <a:endParaRPr/>
          </a:p>
        </p:txBody>
      </p:sp>
      <p:sp>
        <p:nvSpPr>
          <p:cNvPr descr=" 4098" id="101" name="Google Shape;101;p1"/>
          <p:cNvSpPr/>
          <p:nvPr/>
        </p:nvSpPr>
        <p:spPr>
          <a:xfrm>
            <a:off x="609600" y="0"/>
            <a:ext cx="7848600" cy="676656"/>
          </a:xfrm>
          <a:prstGeom prst="roundRect">
            <a:avLst>
              <a:gd fmla="val 16667" name="adj"/>
            </a:avLst>
          </a:prstGeom>
          <a:solidFill>
            <a:srgbClr val="00B8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Metagenomics</a:t>
            </a:r>
            <a:endParaRPr/>
          </a:p>
        </p:txBody>
      </p:sp>
    </p:spTree>
  </p:cSld>
  <p:clrMapOvr>
    <a:masterClrMapping/>
  </p:clrMapOvr>
  <p:transition spd="med"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 4098" id="107" name="Google Shape;107;p2"/>
          <p:cNvSpPr/>
          <p:nvPr/>
        </p:nvSpPr>
        <p:spPr>
          <a:xfrm>
            <a:off x="609600" y="1"/>
            <a:ext cx="7848600" cy="672860"/>
          </a:xfrm>
          <a:prstGeom prst="roundRect">
            <a:avLst>
              <a:gd fmla="val 16667" name="adj"/>
            </a:avLst>
          </a:prstGeom>
          <a:solidFill>
            <a:srgbClr val="00B8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Metagenomics</a:t>
            </a:r>
            <a:endParaRPr/>
          </a:p>
        </p:txBody>
      </p:sp>
      <p:sp>
        <p:nvSpPr>
          <p:cNvPr descr=" 4099" id="108" name="Google Shape;108;p2"/>
          <p:cNvSpPr/>
          <p:nvPr/>
        </p:nvSpPr>
        <p:spPr>
          <a:xfrm>
            <a:off x="0" y="843958"/>
            <a:ext cx="3390184" cy="475488"/>
          </a:xfrm>
          <a:prstGeom prst="roundRect">
            <a:avLst>
              <a:gd fmla="val 16667" name="adj"/>
            </a:avLst>
          </a:prstGeom>
          <a:solidFill>
            <a:srgbClr val="BFBFB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Computational techniques</a:t>
            </a:r>
            <a:endParaRPr/>
          </a:p>
        </p:txBody>
      </p:sp>
      <p:sp>
        <p:nvSpPr>
          <p:cNvPr id="109" name="Google Shape;109;p2"/>
          <p:cNvSpPr/>
          <p:nvPr/>
        </p:nvSpPr>
        <p:spPr>
          <a:xfrm>
            <a:off x="2828021" y="2256675"/>
            <a:ext cx="68121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Reads</a:t>
            </a:r>
            <a:endParaRPr/>
          </a:p>
        </p:txBody>
      </p:sp>
      <p:grpSp>
        <p:nvGrpSpPr>
          <p:cNvPr id="110" name="Google Shape;110;p2"/>
          <p:cNvGrpSpPr/>
          <p:nvPr/>
        </p:nvGrpSpPr>
        <p:grpSpPr>
          <a:xfrm>
            <a:off x="4254989" y="1086656"/>
            <a:ext cx="4540139" cy="1978835"/>
            <a:chOff x="4254989" y="1086656"/>
            <a:chExt cx="4540139" cy="1978835"/>
          </a:xfrm>
        </p:grpSpPr>
        <p:pic>
          <p:nvPicPr>
            <p:cNvPr descr="C:\Users\David\Dropbox\Talks and Seminars Given\OMBI metagenomics 5-11-2017\BarChart.png" id="111" name="Google Shape;111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998188" y="1086656"/>
              <a:ext cx="2796940" cy="197883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" name="Google Shape;112;p2"/>
            <p:cNvSpPr/>
            <p:nvPr/>
          </p:nvSpPr>
          <p:spPr>
            <a:xfrm>
              <a:off x="4254989" y="2039476"/>
              <a:ext cx="2014078" cy="369332"/>
            </a:xfrm>
            <a:prstGeom prst="rect">
              <a:avLst/>
            </a:prstGeom>
            <a:solidFill>
              <a:schemeClr val="lt1">
                <a:alpha val="6196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Taxonomic profiling</a:t>
              </a: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 rot="-5400000">
              <a:off x="5123220" y="1797824"/>
              <a:ext cx="258222" cy="1437903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rgbClr val="FF505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14" name="Google Shape;114;p2"/>
          <p:cNvCxnSpPr/>
          <p:nvPr/>
        </p:nvCxnSpPr>
        <p:spPr>
          <a:xfrm flipH="1" rot="10800000">
            <a:off x="2702985" y="1920095"/>
            <a:ext cx="403940" cy="250053"/>
          </a:xfrm>
          <a:prstGeom prst="straightConnector1">
            <a:avLst/>
          </a:prstGeom>
          <a:noFill/>
          <a:ln cap="flat" cmpd="sng" w="571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" name="Google Shape;115;p2"/>
          <p:cNvCxnSpPr/>
          <p:nvPr/>
        </p:nvCxnSpPr>
        <p:spPr>
          <a:xfrm>
            <a:off x="2476659" y="2170148"/>
            <a:ext cx="396484" cy="184919"/>
          </a:xfrm>
          <a:prstGeom prst="straightConnector1">
            <a:avLst/>
          </a:prstGeom>
          <a:noFill/>
          <a:ln cap="flat" cmpd="sng" w="571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" name="Google Shape;116;p2"/>
          <p:cNvCxnSpPr/>
          <p:nvPr/>
        </p:nvCxnSpPr>
        <p:spPr>
          <a:xfrm>
            <a:off x="2264570" y="2516775"/>
            <a:ext cx="369711" cy="186215"/>
          </a:xfrm>
          <a:prstGeom prst="straightConnector1">
            <a:avLst/>
          </a:prstGeom>
          <a:noFill/>
          <a:ln cap="flat" cmpd="sng" w="571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2"/>
          <p:cNvCxnSpPr/>
          <p:nvPr/>
        </p:nvCxnSpPr>
        <p:spPr>
          <a:xfrm>
            <a:off x="2396969" y="2355067"/>
            <a:ext cx="317002" cy="188031"/>
          </a:xfrm>
          <a:prstGeom prst="straightConnector1">
            <a:avLst/>
          </a:prstGeom>
          <a:noFill/>
          <a:ln cap="flat" cmpd="sng" w="571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" name="Google Shape;118;p2"/>
          <p:cNvCxnSpPr/>
          <p:nvPr/>
        </p:nvCxnSpPr>
        <p:spPr>
          <a:xfrm>
            <a:off x="2239347" y="2708990"/>
            <a:ext cx="474624" cy="260418"/>
          </a:xfrm>
          <a:prstGeom prst="straightConnector1">
            <a:avLst/>
          </a:prstGeom>
          <a:noFill/>
          <a:ln cap="flat" cmpd="sng" w="571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" name="Google Shape;119;p2"/>
          <p:cNvCxnSpPr/>
          <p:nvPr/>
        </p:nvCxnSpPr>
        <p:spPr>
          <a:xfrm>
            <a:off x="2953763" y="2579779"/>
            <a:ext cx="297355" cy="130209"/>
          </a:xfrm>
          <a:prstGeom prst="straightConnector1">
            <a:avLst/>
          </a:prstGeom>
          <a:noFill/>
          <a:ln cap="flat" cmpd="sng" w="571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0" name="Google Shape;120;p2"/>
          <p:cNvCxnSpPr/>
          <p:nvPr/>
        </p:nvCxnSpPr>
        <p:spPr>
          <a:xfrm>
            <a:off x="3251118" y="2531276"/>
            <a:ext cx="289514" cy="178712"/>
          </a:xfrm>
          <a:prstGeom prst="straightConnector1">
            <a:avLst/>
          </a:prstGeom>
          <a:noFill/>
          <a:ln cap="flat" cmpd="sng" w="571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" name="Google Shape;121;p2"/>
          <p:cNvCxnSpPr/>
          <p:nvPr/>
        </p:nvCxnSpPr>
        <p:spPr>
          <a:xfrm flipH="1" rot="10800000">
            <a:off x="2979085" y="2078392"/>
            <a:ext cx="272033" cy="171728"/>
          </a:xfrm>
          <a:prstGeom prst="straightConnector1">
            <a:avLst/>
          </a:prstGeom>
          <a:noFill/>
          <a:ln cap="flat" cmpd="sng" w="571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" name="Google Shape;122;p2"/>
          <p:cNvCxnSpPr/>
          <p:nvPr/>
        </p:nvCxnSpPr>
        <p:spPr>
          <a:xfrm flipH="1" rot="10800000">
            <a:off x="3540632" y="2322548"/>
            <a:ext cx="403940" cy="250053"/>
          </a:xfrm>
          <a:prstGeom prst="straightConnector1">
            <a:avLst/>
          </a:prstGeom>
          <a:noFill/>
          <a:ln cap="flat" cmpd="sng" w="571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" name="Google Shape;123;p2"/>
          <p:cNvCxnSpPr/>
          <p:nvPr/>
        </p:nvCxnSpPr>
        <p:spPr>
          <a:xfrm flipH="1" rot="10800000">
            <a:off x="3338662" y="2059476"/>
            <a:ext cx="403940" cy="250053"/>
          </a:xfrm>
          <a:prstGeom prst="straightConnector1">
            <a:avLst/>
          </a:prstGeom>
          <a:noFill/>
          <a:ln cap="flat" cmpd="sng" w="571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4" name="Google Shape;124;p2"/>
          <p:cNvCxnSpPr/>
          <p:nvPr/>
        </p:nvCxnSpPr>
        <p:spPr>
          <a:xfrm flipH="1" rot="10800000">
            <a:off x="3643124" y="2078392"/>
            <a:ext cx="403940" cy="250053"/>
          </a:xfrm>
          <a:prstGeom prst="straightConnector1">
            <a:avLst/>
          </a:prstGeom>
          <a:noFill/>
          <a:ln cap="flat" cmpd="sng" w="571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5" name="Google Shape;125;p2"/>
          <p:cNvCxnSpPr/>
          <p:nvPr/>
        </p:nvCxnSpPr>
        <p:spPr>
          <a:xfrm>
            <a:off x="3655679" y="2622276"/>
            <a:ext cx="519369" cy="86714"/>
          </a:xfrm>
          <a:prstGeom prst="straightConnector1">
            <a:avLst/>
          </a:prstGeom>
          <a:noFill/>
          <a:ln cap="flat" cmpd="sng" w="571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6" name="Google Shape;126;p2"/>
          <p:cNvCxnSpPr/>
          <p:nvPr/>
        </p:nvCxnSpPr>
        <p:spPr>
          <a:xfrm>
            <a:off x="2633671" y="2791694"/>
            <a:ext cx="516444" cy="110986"/>
          </a:xfrm>
          <a:prstGeom prst="straightConnector1">
            <a:avLst/>
          </a:prstGeom>
          <a:noFill/>
          <a:ln cap="flat" cmpd="sng" w="571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7" name="Google Shape;127;p2"/>
          <p:cNvGrpSpPr/>
          <p:nvPr/>
        </p:nvGrpSpPr>
        <p:grpSpPr>
          <a:xfrm>
            <a:off x="1824421" y="3038791"/>
            <a:ext cx="2788672" cy="1430806"/>
            <a:chOff x="1824421" y="3038791"/>
            <a:chExt cx="2788672" cy="1430806"/>
          </a:xfrm>
        </p:grpSpPr>
        <p:sp>
          <p:nvSpPr>
            <p:cNvPr id="128" name="Google Shape;128;p2"/>
            <p:cNvSpPr/>
            <p:nvPr/>
          </p:nvSpPr>
          <p:spPr>
            <a:xfrm>
              <a:off x="2976075" y="3038791"/>
              <a:ext cx="258222" cy="866277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rgbClr val="FF505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2702985" y="4043207"/>
              <a:ext cx="799899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Contigs</a:t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0" name="Google Shape;130;p2"/>
            <p:cNvCxnSpPr/>
            <p:nvPr/>
          </p:nvCxnSpPr>
          <p:spPr>
            <a:xfrm>
              <a:off x="2025161" y="4025127"/>
              <a:ext cx="878564" cy="0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1" name="Google Shape;131;p2"/>
            <p:cNvCxnSpPr/>
            <p:nvPr/>
          </p:nvCxnSpPr>
          <p:spPr>
            <a:xfrm>
              <a:off x="1923875" y="4469597"/>
              <a:ext cx="1095144" cy="0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" name="Google Shape;132;p2"/>
            <p:cNvCxnSpPr/>
            <p:nvPr/>
          </p:nvCxnSpPr>
          <p:spPr>
            <a:xfrm>
              <a:off x="3172540" y="4469597"/>
              <a:ext cx="1440553" cy="0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" name="Google Shape;133;p2"/>
            <p:cNvCxnSpPr/>
            <p:nvPr/>
          </p:nvCxnSpPr>
          <p:spPr>
            <a:xfrm>
              <a:off x="3013333" y="4011090"/>
              <a:ext cx="1476916" cy="0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4" name="Google Shape;134;p2"/>
            <p:cNvSpPr/>
            <p:nvPr/>
          </p:nvSpPr>
          <p:spPr>
            <a:xfrm>
              <a:off x="2567678" y="3210706"/>
              <a:ext cx="1075936" cy="369332"/>
            </a:xfrm>
            <a:prstGeom prst="rect">
              <a:avLst/>
            </a:prstGeom>
            <a:solidFill>
              <a:schemeClr val="lt1">
                <a:alpha val="6196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Assembly</a:t>
              </a:r>
              <a:endParaRPr/>
            </a:p>
          </p:txBody>
        </p:sp>
        <p:cxnSp>
          <p:nvCxnSpPr>
            <p:cNvPr id="135" name="Google Shape;135;p2"/>
            <p:cNvCxnSpPr/>
            <p:nvPr/>
          </p:nvCxnSpPr>
          <p:spPr>
            <a:xfrm>
              <a:off x="1824421" y="4212484"/>
              <a:ext cx="878564" cy="0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6" name="Google Shape;136;p2"/>
            <p:cNvCxnSpPr/>
            <p:nvPr/>
          </p:nvCxnSpPr>
          <p:spPr>
            <a:xfrm>
              <a:off x="3488430" y="4212484"/>
              <a:ext cx="878564" cy="0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37" name="Google Shape;137;p2"/>
          <p:cNvGrpSpPr/>
          <p:nvPr/>
        </p:nvGrpSpPr>
        <p:grpSpPr>
          <a:xfrm>
            <a:off x="1143000" y="4638927"/>
            <a:ext cx="2745903" cy="2087131"/>
            <a:chOff x="1143000" y="4638927"/>
            <a:chExt cx="2745903" cy="2087131"/>
          </a:xfrm>
        </p:grpSpPr>
        <p:sp>
          <p:nvSpPr>
            <p:cNvPr id="138" name="Google Shape;138;p2"/>
            <p:cNvSpPr/>
            <p:nvPr/>
          </p:nvSpPr>
          <p:spPr>
            <a:xfrm>
              <a:off x="2006348" y="4638927"/>
              <a:ext cx="258222" cy="866277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rgbClr val="FF505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1262683" y="4872011"/>
              <a:ext cx="1744388" cy="369332"/>
            </a:xfrm>
            <a:prstGeom prst="rect">
              <a:avLst/>
            </a:prstGeom>
            <a:solidFill>
              <a:schemeClr val="lt1">
                <a:alpha val="6196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Genome binning</a:t>
              </a:r>
              <a:endParaRPr/>
            </a:p>
          </p:txBody>
        </p:sp>
        <p:cxnSp>
          <p:nvCxnSpPr>
            <p:cNvPr id="140" name="Google Shape;140;p2"/>
            <p:cNvCxnSpPr/>
            <p:nvPr/>
          </p:nvCxnSpPr>
          <p:spPr>
            <a:xfrm>
              <a:off x="1281016" y="5937310"/>
              <a:ext cx="878564" cy="0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1" name="Google Shape;141;p2"/>
            <p:cNvCxnSpPr/>
            <p:nvPr/>
          </p:nvCxnSpPr>
          <p:spPr>
            <a:xfrm>
              <a:off x="1281016" y="6726058"/>
              <a:ext cx="1095144" cy="0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2" name="Google Shape;142;p2"/>
            <p:cNvCxnSpPr/>
            <p:nvPr/>
          </p:nvCxnSpPr>
          <p:spPr>
            <a:xfrm>
              <a:off x="2448350" y="6726058"/>
              <a:ext cx="1440553" cy="0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3" name="Google Shape;143;p2"/>
            <p:cNvCxnSpPr/>
            <p:nvPr/>
          </p:nvCxnSpPr>
          <p:spPr>
            <a:xfrm>
              <a:off x="1281016" y="6317004"/>
              <a:ext cx="1476916" cy="0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4" name="Google Shape;144;p2"/>
            <p:cNvCxnSpPr/>
            <p:nvPr/>
          </p:nvCxnSpPr>
          <p:spPr>
            <a:xfrm>
              <a:off x="2223876" y="5937310"/>
              <a:ext cx="878564" cy="0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5" name="Google Shape;145;p2"/>
            <p:cNvCxnSpPr/>
            <p:nvPr/>
          </p:nvCxnSpPr>
          <p:spPr>
            <a:xfrm>
              <a:off x="2888394" y="6317004"/>
              <a:ext cx="878564" cy="0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6" name="Google Shape;146;p2"/>
            <p:cNvSpPr/>
            <p:nvPr/>
          </p:nvSpPr>
          <p:spPr>
            <a:xfrm>
              <a:off x="1143000" y="5513798"/>
              <a:ext cx="601447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Bin 1</a:t>
              </a:r>
              <a:endParaRPr/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1143000" y="5953779"/>
              <a:ext cx="601447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Bin 2</a:t>
              </a:r>
              <a:endParaRPr/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1143000" y="6347686"/>
              <a:ext cx="1141659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Unassigned</a:t>
              </a:r>
              <a:endParaRPr/>
            </a:p>
          </p:txBody>
        </p:sp>
      </p:grpSp>
      <p:grpSp>
        <p:nvGrpSpPr>
          <p:cNvPr id="149" name="Google Shape;149;p2"/>
          <p:cNvGrpSpPr/>
          <p:nvPr/>
        </p:nvGrpSpPr>
        <p:grpSpPr>
          <a:xfrm>
            <a:off x="3773489" y="4636150"/>
            <a:ext cx="4436382" cy="2089908"/>
            <a:chOff x="3773489" y="4636150"/>
            <a:chExt cx="4436382" cy="2089908"/>
          </a:xfrm>
        </p:grpSpPr>
        <p:sp>
          <p:nvSpPr>
            <p:cNvPr id="150" name="Google Shape;150;p2"/>
            <p:cNvSpPr/>
            <p:nvPr/>
          </p:nvSpPr>
          <p:spPr>
            <a:xfrm rot="-1914986">
              <a:off x="4267000" y="4638927"/>
              <a:ext cx="258222" cy="866277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rgbClr val="FF505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3773489" y="4872011"/>
              <a:ext cx="1959303" cy="369332"/>
            </a:xfrm>
            <a:prstGeom prst="rect">
              <a:avLst/>
            </a:prstGeom>
            <a:solidFill>
              <a:schemeClr val="lt1">
                <a:alpha val="6196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Taxonomic binning</a:t>
              </a:r>
              <a:endParaRPr/>
            </a:p>
          </p:txBody>
        </p:sp>
        <p:cxnSp>
          <p:nvCxnSpPr>
            <p:cNvPr id="152" name="Google Shape;152;p2"/>
            <p:cNvCxnSpPr/>
            <p:nvPr/>
          </p:nvCxnSpPr>
          <p:spPr>
            <a:xfrm>
              <a:off x="4845345" y="5919275"/>
              <a:ext cx="878564" cy="0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3" name="Google Shape;153;p2"/>
            <p:cNvCxnSpPr/>
            <p:nvPr/>
          </p:nvCxnSpPr>
          <p:spPr>
            <a:xfrm>
              <a:off x="4845345" y="6726058"/>
              <a:ext cx="1095144" cy="0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4" name="Google Shape;154;p2"/>
            <p:cNvCxnSpPr/>
            <p:nvPr/>
          </p:nvCxnSpPr>
          <p:spPr>
            <a:xfrm>
              <a:off x="6012679" y="6726058"/>
              <a:ext cx="1440553" cy="0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5" name="Google Shape;155;p2"/>
            <p:cNvCxnSpPr/>
            <p:nvPr/>
          </p:nvCxnSpPr>
          <p:spPr>
            <a:xfrm>
              <a:off x="6732955" y="5930900"/>
              <a:ext cx="1476916" cy="0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" name="Google Shape;156;p2"/>
            <p:cNvCxnSpPr/>
            <p:nvPr/>
          </p:nvCxnSpPr>
          <p:spPr>
            <a:xfrm>
              <a:off x="5788205" y="5919275"/>
              <a:ext cx="878564" cy="0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7" name="Google Shape;157;p2"/>
            <p:cNvCxnSpPr/>
            <p:nvPr/>
          </p:nvCxnSpPr>
          <p:spPr>
            <a:xfrm>
              <a:off x="4845345" y="6317004"/>
              <a:ext cx="878564" cy="0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8" name="Google Shape;158;p2"/>
            <p:cNvSpPr/>
            <p:nvPr/>
          </p:nvSpPr>
          <p:spPr>
            <a:xfrm>
              <a:off x="4638321" y="5513798"/>
              <a:ext cx="1399166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Actinobacteria</a:t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2"/>
            <p:cNvSpPr/>
            <p:nvPr/>
          </p:nvSpPr>
          <p:spPr>
            <a:xfrm>
              <a:off x="4638321" y="5953779"/>
              <a:ext cx="1931438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Escherichia coli K-12</a:t>
              </a:r>
              <a:endParaRPr/>
            </a:p>
          </p:txBody>
        </p:sp>
        <p:sp>
          <p:nvSpPr>
            <p:cNvPr id="160" name="Google Shape;160;p2"/>
            <p:cNvSpPr/>
            <p:nvPr/>
          </p:nvSpPr>
          <p:spPr>
            <a:xfrm>
              <a:off x="4638321" y="6347686"/>
              <a:ext cx="1141659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Unassigned</a:t>
              </a:r>
              <a:endParaRPr/>
            </a:p>
          </p:txBody>
        </p:sp>
      </p:grpSp>
      <p:grpSp>
        <p:nvGrpSpPr>
          <p:cNvPr id="161" name="Google Shape;161;p2"/>
          <p:cNvGrpSpPr/>
          <p:nvPr/>
        </p:nvGrpSpPr>
        <p:grpSpPr>
          <a:xfrm>
            <a:off x="4285457" y="2743201"/>
            <a:ext cx="2645736" cy="1945268"/>
            <a:chOff x="3107224" y="2334668"/>
            <a:chExt cx="3133458" cy="2492406"/>
          </a:xfrm>
        </p:grpSpPr>
        <p:sp>
          <p:nvSpPr>
            <p:cNvPr id="162" name="Google Shape;162;p2"/>
            <p:cNvSpPr/>
            <p:nvPr/>
          </p:nvSpPr>
          <p:spPr>
            <a:xfrm>
              <a:off x="3506756" y="2334668"/>
              <a:ext cx="2292984" cy="6880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Functional annotation/profiling</a:t>
              </a:r>
              <a:endParaRPr/>
            </a:p>
          </p:txBody>
        </p:sp>
        <p:sp>
          <p:nvSpPr>
            <p:cNvPr id="163" name="Google Shape;163;p2"/>
            <p:cNvSpPr/>
            <p:nvPr/>
          </p:nvSpPr>
          <p:spPr>
            <a:xfrm rot="-2086012">
              <a:off x="3334259" y="2509674"/>
              <a:ext cx="258222" cy="877121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rgbClr val="FF7C8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aphicFrame>
          <p:nvGraphicFramePr>
            <p:cNvPr id="164" name="Google Shape;164;p2"/>
            <p:cNvGraphicFramePr/>
            <p:nvPr/>
          </p:nvGraphicFramePr>
          <p:xfrm>
            <a:off x="3434912" y="3059540"/>
            <a:ext cx="1711172" cy="1767534"/>
          </p:xfrm>
          <a:graphic>
            <a:graphicData uri="http://schemas.openxmlformats.org/drawingml/2006/chart">
              <c:chart r:id="rId4"/>
            </a:graphicData>
          </a:graphic>
        </p:graphicFrame>
        <p:sp>
          <p:nvSpPr>
            <p:cNvPr id="165" name="Google Shape;165;p2"/>
            <p:cNvSpPr/>
            <p:nvPr/>
          </p:nvSpPr>
          <p:spPr>
            <a:xfrm>
              <a:off x="4318048" y="2942193"/>
              <a:ext cx="1922634" cy="3634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4472C4"/>
                  </a:solidFill>
                  <a:latin typeface="Calibri"/>
                  <a:ea typeface="Calibri"/>
                  <a:cs typeface="Calibri"/>
                  <a:sym typeface="Calibri"/>
                </a:rPr>
                <a:t>Gene Family 1</a:t>
              </a:r>
              <a:endParaRPr/>
            </a:p>
          </p:txBody>
        </p:sp>
        <p:sp>
          <p:nvSpPr>
            <p:cNvPr id="166" name="Google Shape;166;p2"/>
            <p:cNvSpPr/>
            <p:nvPr/>
          </p:nvSpPr>
          <p:spPr>
            <a:xfrm>
              <a:off x="4834277" y="3276342"/>
              <a:ext cx="1086597" cy="3634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A5A5A5"/>
                  </a:solidFill>
                  <a:latin typeface="Calibri"/>
                  <a:ea typeface="Calibri"/>
                  <a:cs typeface="Calibri"/>
                  <a:sym typeface="Calibri"/>
                </a:rPr>
                <a:t>Gene Family 2</a:t>
              </a:r>
              <a:endParaRPr/>
            </a:p>
          </p:txBody>
        </p:sp>
        <p:sp>
          <p:nvSpPr>
            <p:cNvPr id="167" name="Google Shape;167;p2"/>
            <p:cNvSpPr/>
            <p:nvPr/>
          </p:nvSpPr>
          <p:spPr>
            <a:xfrm>
              <a:off x="4949471" y="3893270"/>
              <a:ext cx="971403" cy="3634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5B9BD5"/>
                  </a:solidFill>
                  <a:latin typeface="Calibri"/>
                  <a:ea typeface="Calibri"/>
                  <a:cs typeface="Calibri"/>
                  <a:sym typeface="Calibri"/>
                </a:rPr>
                <a:t>Gene Family 3</a:t>
              </a:r>
              <a:endParaRPr/>
            </a:p>
          </p:txBody>
        </p:sp>
      </p:grpSp>
      <p:grpSp>
        <p:nvGrpSpPr>
          <p:cNvPr id="168" name="Google Shape;168;p2"/>
          <p:cNvGrpSpPr/>
          <p:nvPr/>
        </p:nvGrpSpPr>
        <p:grpSpPr>
          <a:xfrm>
            <a:off x="213947" y="1930839"/>
            <a:ext cx="3019331" cy="805922"/>
            <a:chOff x="213947" y="1930839"/>
            <a:chExt cx="3019331" cy="805922"/>
          </a:xfrm>
        </p:grpSpPr>
        <p:sp>
          <p:nvSpPr>
            <p:cNvPr id="169" name="Google Shape;169;p2"/>
            <p:cNvSpPr/>
            <p:nvPr/>
          </p:nvSpPr>
          <p:spPr>
            <a:xfrm rot="-5400000">
              <a:off x="1674928" y="2163805"/>
              <a:ext cx="256032" cy="484385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FF7C8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1219200" y="1930839"/>
              <a:ext cx="2014078" cy="2252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Comparison</a:t>
              </a:r>
              <a:endParaRPr/>
            </a:p>
          </p:txBody>
        </p:sp>
        <p:pic>
          <p:nvPicPr>
            <p:cNvPr descr="A black background with gray rectangles&#10;&#10;Description automatically generated" id="171" name="Google Shape;171;p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13947" y="2134418"/>
              <a:ext cx="1079387" cy="60234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 spd="med"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"/>
          <p:cNvSpPr txBox="1"/>
          <p:nvPr>
            <p:ph type="title"/>
          </p:nvPr>
        </p:nvSpPr>
        <p:spPr>
          <a:xfrm>
            <a:off x="30083" y="793886"/>
            <a:ext cx="750416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/>
              <a:t>Genomics and metagenomics research can be </a:t>
            </a:r>
            <a:r>
              <a:rPr b="1" lang="en-US" sz="1800"/>
              <a:t>computationally overwhelming</a:t>
            </a:r>
            <a:endParaRPr/>
          </a:p>
        </p:txBody>
      </p:sp>
      <p:sp>
        <p:nvSpPr>
          <p:cNvPr id="177" name="Google Shape;177;p3"/>
          <p:cNvSpPr txBox="1"/>
          <p:nvPr/>
        </p:nvSpPr>
        <p:spPr>
          <a:xfrm>
            <a:off x="7296628" y="4888314"/>
            <a:ext cx="16062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Leading to time consuming analyses</a:t>
            </a:r>
            <a:endParaRPr/>
          </a:p>
        </p:txBody>
      </p:sp>
      <p:sp>
        <p:nvSpPr>
          <p:cNvPr id="178" name="Google Shape;178;p3"/>
          <p:cNvSpPr txBox="1"/>
          <p:nvPr/>
        </p:nvSpPr>
        <p:spPr>
          <a:xfrm>
            <a:off x="5249119" y="4617753"/>
            <a:ext cx="146668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More accessible sequencing</a:t>
            </a:r>
            <a:endParaRPr/>
          </a:p>
        </p:txBody>
      </p:sp>
      <p:grpSp>
        <p:nvGrpSpPr>
          <p:cNvPr id="179" name="Google Shape;179;p3"/>
          <p:cNvGrpSpPr/>
          <p:nvPr/>
        </p:nvGrpSpPr>
        <p:grpSpPr>
          <a:xfrm>
            <a:off x="6786385" y="2649815"/>
            <a:ext cx="2783906" cy="2280426"/>
            <a:chOff x="9048512" y="2390085"/>
            <a:chExt cx="3711875" cy="3040567"/>
          </a:xfrm>
        </p:grpSpPr>
        <p:grpSp>
          <p:nvGrpSpPr>
            <p:cNvPr id="180" name="Google Shape;180;p3"/>
            <p:cNvGrpSpPr/>
            <p:nvPr/>
          </p:nvGrpSpPr>
          <p:grpSpPr>
            <a:xfrm>
              <a:off x="9048512" y="2390085"/>
              <a:ext cx="3711875" cy="3040567"/>
              <a:chOff x="10019976" y="4679365"/>
              <a:chExt cx="2060318" cy="1687704"/>
            </a:xfrm>
          </p:grpSpPr>
          <p:sp>
            <p:nvSpPr>
              <p:cNvPr id="181" name="Google Shape;181;p3"/>
              <p:cNvSpPr txBox="1"/>
              <p:nvPr/>
            </p:nvSpPr>
            <p:spPr>
              <a:xfrm>
                <a:off x="10019976" y="5786230"/>
                <a:ext cx="2060318" cy="5808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~2M genomes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80k species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3TB genetic data</a:t>
                </a:r>
                <a:endParaRPr/>
              </a:p>
            </p:txBody>
          </p:sp>
          <p:sp>
            <p:nvSpPr>
              <p:cNvPr descr="Clock outline" id="182" name="Google Shape;182;p3"/>
              <p:cNvSpPr/>
              <p:nvPr/>
            </p:nvSpPr>
            <p:spPr>
              <a:xfrm>
                <a:off x="10460414" y="4679365"/>
                <a:ext cx="1188719" cy="1188720"/>
              </a:xfrm>
              <a:prstGeom prst="rect">
                <a:avLst/>
              </a:prstGeom>
              <a:noFill/>
              <a:ln>
                <a:noFill/>
              </a:ln>
            </p:spPr>
          </p:sp>
        </p:grpSp>
        <p:cxnSp>
          <p:nvCxnSpPr>
            <p:cNvPr id="183" name="Google Shape;183;p3"/>
            <p:cNvCxnSpPr/>
            <p:nvPr/>
          </p:nvCxnSpPr>
          <p:spPr>
            <a:xfrm flipH="1" rot="10800000">
              <a:off x="9387215" y="3950869"/>
              <a:ext cx="460903" cy="1123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40000" rotWithShape="0" dir="5400000" dist="20000">
                <a:srgbClr val="000000">
                  <a:alpha val="38039"/>
                </a:srgbClr>
              </a:outerShdw>
            </a:effectLst>
          </p:spPr>
        </p:cxnSp>
      </p:grpSp>
      <p:grpSp>
        <p:nvGrpSpPr>
          <p:cNvPr id="184" name="Google Shape;184;p3"/>
          <p:cNvGrpSpPr/>
          <p:nvPr/>
        </p:nvGrpSpPr>
        <p:grpSpPr>
          <a:xfrm>
            <a:off x="4490580" y="2692220"/>
            <a:ext cx="2766807" cy="1848029"/>
            <a:chOff x="5987441" y="2446626"/>
            <a:chExt cx="3689077" cy="2464039"/>
          </a:xfrm>
        </p:grpSpPr>
        <p:grpSp>
          <p:nvGrpSpPr>
            <p:cNvPr id="185" name="Google Shape;185;p3"/>
            <p:cNvGrpSpPr/>
            <p:nvPr/>
          </p:nvGrpSpPr>
          <p:grpSpPr>
            <a:xfrm>
              <a:off x="6730436" y="2990425"/>
              <a:ext cx="2470760" cy="1920240"/>
              <a:chOff x="9375579" y="637862"/>
              <a:chExt cx="1354666" cy="1052826"/>
            </a:xfrm>
          </p:grpSpPr>
          <p:sp>
            <p:nvSpPr>
              <p:cNvPr id="186" name="Google Shape;186;p3"/>
              <p:cNvSpPr/>
              <p:nvPr/>
            </p:nvSpPr>
            <p:spPr>
              <a:xfrm>
                <a:off x="9375579" y="826931"/>
                <a:ext cx="1354666" cy="863757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" name="Google Shape;187;p3"/>
              <p:cNvSpPr/>
              <p:nvPr/>
            </p:nvSpPr>
            <p:spPr>
              <a:xfrm>
                <a:off x="9510889" y="677333"/>
                <a:ext cx="1084047" cy="733953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" name="Google Shape;188;p3"/>
              <p:cNvSpPr/>
              <p:nvPr/>
            </p:nvSpPr>
            <p:spPr>
              <a:xfrm>
                <a:off x="9699193" y="637862"/>
                <a:ext cx="663821" cy="378138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" name="Google Shape;189;p3"/>
              <p:cNvSpPr/>
              <p:nvPr/>
            </p:nvSpPr>
            <p:spPr>
              <a:xfrm>
                <a:off x="9790319" y="689251"/>
                <a:ext cx="481568" cy="274320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90" name="Google Shape;190;p3"/>
              <p:cNvCxnSpPr/>
              <p:nvPr/>
            </p:nvCxnSpPr>
            <p:spPr>
              <a:xfrm flipH="1" rot="10800000">
                <a:off x="9510889" y="1066887"/>
                <a:ext cx="1084047" cy="1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cxnSp>
          <p:nvCxnSpPr>
            <p:cNvPr id="191" name="Google Shape;191;p3"/>
            <p:cNvCxnSpPr/>
            <p:nvPr/>
          </p:nvCxnSpPr>
          <p:spPr>
            <a:xfrm flipH="1" rot="10800000">
              <a:off x="5987441" y="3950869"/>
              <a:ext cx="460903" cy="1123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40000" rotWithShape="0" dir="5400000" dist="20000">
                <a:srgbClr val="000000">
                  <a:alpha val="38039"/>
                </a:srgbClr>
              </a:outerShdw>
            </a:effectLst>
          </p:spPr>
        </p:cxnSp>
        <p:sp>
          <p:nvSpPr>
            <p:cNvPr id="192" name="Google Shape;192;p3"/>
            <p:cNvSpPr txBox="1"/>
            <p:nvPr/>
          </p:nvSpPr>
          <p:spPr>
            <a:xfrm>
              <a:off x="6243526" y="2446626"/>
              <a:ext cx="3432992" cy="430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u="sng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Whole Shotgun Sequencing</a:t>
              </a:r>
              <a:endParaRPr/>
            </a:p>
          </p:txBody>
        </p:sp>
      </p:grpSp>
      <p:grpSp>
        <p:nvGrpSpPr>
          <p:cNvPr id="193" name="Google Shape;193;p3"/>
          <p:cNvGrpSpPr/>
          <p:nvPr/>
        </p:nvGrpSpPr>
        <p:grpSpPr>
          <a:xfrm>
            <a:off x="384971" y="2402255"/>
            <a:ext cx="3977033" cy="2477774"/>
            <a:chOff x="513294" y="2060007"/>
            <a:chExt cx="5302711" cy="3303698"/>
          </a:xfrm>
        </p:grpSpPr>
        <p:grpSp>
          <p:nvGrpSpPr>
            <p:cNvPr id="194" name="Google Shape;194;p3"/>
            <p:cNvGrpSpPr/>
            <p:nvPr/>
          </p:nvGrpSpPr>
          <p:grpSpPr>
            <a:xfrm>
              <a:off x="2251166" y="2540280"/>
              <a:ext cx="3564839" cy="2823425"/>
              <a:chOff x="2320322" y="2742781"/>
              <a:chExt cx="3265112" cy="2586038"/>
            </a:xfrm>
          </p:grpSpPr>
          <p:grpSp>
            <p:nvGrpSpPr>
              <p:cNvPr id="195" name="Google Shape;195;p3"/>
              <p:cNvGrpSpPr/>
              <p:nvPr/>
            </p:nvGrpSpPr>
            <p:grpSpPr>
              <a:xfrm>
                <a:off x="2870809" y="2742781"/>
                <a:ext cx="2714625" cy="2586038"/>
                <a:chOff x="2586038" y="2971800"/>
                <a:chExt cx="2714625" cy="2586038"/>
              </a:xfrm>
            </p:grpSpPr>
            <p:sp>
              <p:nvSpPr>
                <p:cNvPr id="196" name="Google Shape;196;p3"/>
                <p:cNvSpPr/>
                <p:nvPr/>
              </p:nvSpPr>
              <p:spPr>
                <a:xfrm>
                  <a:off x="2586038" y="2971800"/>
                  <a:ext cx="2714625" cy="2586038"/>
                </a:xfrm>
                <a:prstGeom prst="ellipse">
                  <a:avLst/>
                </a:prstGeom>
                <a:solidFill>
                  <a:schemeClr val="lt1"/>
                </a:solidFill>
                <a:ln cap="flat" cmpd="sng" w="25400">
                  <a:solidFill>
                    <a:srgbClr val="21364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7" name="Google Shape;197;p3"/>
                <p:cNvGrpSpPr/>
                <p:nvPr/>
              </p:nvGrpSpPr>
              <p:grpSpPr>
                <a:xfrm rot="2548559">
                  <a:off x="4331544" y="4460650"/>
                  <a:ext cx="318602" cy="619894"/>
                  <a:chOff x="514350" y="2971800"/>
                  <a:chExt cx="916961" cy="1784108"/>
                </a:xfrm>
              </p:grpSpPr>
              <p:sp>
                <p:nvSpPr>
                  <p:cNvPr id="198" name="Google Shape;198;p3"/>
                  <p:cNvSpPr/>
                  <p:nvPr/>
                </p:nvSpPr>
                <p:spPr>
                  <a:xfrm>
                    <a:off x="514350" y="2971800"/>
                    <a:ext cx="914400" cy="914400"/>
                  </a:xfrm>
                  <a:prstGeom prst="ellipse">
                    <a:avLst/>
                  </a:prstGeom>
                  <a:solidFill>
                    <a:srgbClr val="92CC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9" name="Google Shape;199;p3"/>
                  <p:cNvSpPr/>
                  <p:nvPr/>
                </p:nvSpPr>
                <p:spPr>
                  <a:xfrm>
                    <a:off x="516910" y="3841508"/>
                    <a:ext cx="914401" cy="914400"/>
                  </a:xfrm>
                  <a:prstGeom prst="ellipse">
                    <a:avLst/>
                  </a:prstGeom>
                  <a:solidFill>
                    <a:srgbClr val="92CC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00" name="Google Shape;200;p3"/>
                <p:cNvGrpSpPr/>
                <p:nvPr/>
              </p:nvGrpSpPr>
              <p:grpSpPr>
                <a:xfrm rot="-2070771">
                  <a:off x="3519813" y="3396792"/>
                  <a:ext cx="412976" cy="548640"/>
                  <a:chOff x="283709" y="2971800"/>
                  <a:chExt cx="1775790" cy="2357439"/>
                </a:xfrm>
              </p:grpSpPr>
              <p:sp>
                <p:nvSpPr>
                  <p:cNvPr id="201" name="Google Shape;201;p3"/>
                  <p:cNvSpPr/>
                  <p:nvPr/>
                </p:nvSpPr>
                <p:spPr>
                  <a:xfrm>
                    <a:off x="300038" y="3214626"/>
                    <a:ext cx="1743132" cy="300099"/>
                  </a:xfrm>
                  <a:custGeom>
                    <a:rect b="b" l="l" r="r" t="t"/>
                    <a:pathLst>
                      <a:path extrusionOk="0" h="300099" w="1743132">
                        <a:moveTo>
                          <a:pt x="0" y="257237"/>
                        </a:moveTo>
                        <a:cubicBezTo>
                          <a:pt x="115490" y="156034"/>
                          <a:pt x="230981" y="54831"/>
                          <a:pt x="300037" y="57212"/>
                        </a:cubicBezTo>
                        <a:cubicBezTo>
                          <a:pt x="369093" y="59593"/>
                          <a:pt x="314325" y="273905"/>
                          <a:pt x="414337" y="271524"/>
                        </a:cubicBezTo>
                        <a:cubicBezTo>
                          <a:pt x="514349" y="269143"/>
                          <a:pt x="766762" y="42924"/>
                          <a:pt x="900112" y="42924"/>
                        </a:cubicBezTo>
                        <a:cubicBezTo>
                          <a:pt x="1033462" y="42924"/>
                          <a:pt x="1100137" y="278668"/>
                          <a:pt x="1214437" y="271524"/>
                        </a:cubicBezTo>
                        <a:cubicBezTo>
                          <a:pt x="1328737" y="264380"/>
                          <a:pt x="1497806" y="-4700"/>
                          <a:pt x="1585912" y="62"/>
                        </a:cubicBezTo>
                        <a:cubicBezTo>
                          <a:pt x="1674018" y="4824"/>
                          <a:pt x="1745456" y="254855"/>
                          <a:pt x="1743075" y="300099"/>
                        </a:cubicBezTo>
                      </a:path>
                    </a:pathLst>
                  </a:custGeom>
                  <a:solidFill>
                    <a:srgbClr val="D99593"/>
                  </a:solidFill>
                  <a:ln cap="flat" cmpd="sng" w="25400">
                    <a:solidFill>
                      <a:srgbClr val="21364F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2" name="Google Shape;202;p3"/>
                  <p:cNvSpPr/>
                  <p:nvPr/>
                </p:nvSpPr>
                <p:spPr>
                  <a:xfrm>
                    <a:off x="300038" y="3757551"/>
                    <a:ext cx="1743132" cy="300099"/>
                  </a:xfrm>
                  <a:custGeom>
                    <a:rect b="b" l="l" r="r" t="t"/>
                    <a:pathLst>
                      <a:path extrusionOk="0" h="300099" w="1743132">
                        <a:moveTo>
                          <a:pt x="0" y="257237"/>
                        </a:moveTo>
                        <a:cubicBezTo>
                          <a:pt x="115490" y="156034"/>
                          <a:pt x="230981" y="54831"/>
                          <a:pt x="300037" y="57212"/>
                        </a:cubicBezTo>
                        <a:cubicBezTo>
                          <a:pt x="369093" y="59593"/>
                          <a:pt x="314325" y="273905"/>
                          <a:pt x="414337" y="271524"/>
                        </a:cubicBezTo>
                        <a:cubicBezTo>
                          <a:pt x="514349" y="269143"/>
                          <a:pt x="766762" y="42924"/>
                          <a:pt x="900112" y="42924"/>
                        </a:cubicBezTo>
                        <a:cubicBezTo>
                          <a:pt x="1033462" y="42924"/>
                          <a:pt x="1100137" y="278668"/>
                          <a:pt x="1214437" y="271524"/>
                        </a:cubicBezTo>
                        <a:cubicBezTo>
                          <a:pt x="1328737" y="264380"/>
                          <a:pt x="1497806" y="-4700"/>
                          <a:pt x="1585912" y="62"/>
                        </a:cubicBezTo>
                        <a:cubicBezTo>
                          <a:pt x="1674018" y="4824"/>
                          <a:pt x="1745456" y="254855"/>
                          <a:pt x="1743075" y="300099"/>
                        </a:cubicBezTo>
                      </a:path>
                    </a:pathLst>
                  </a:custGeom>
                  <a:solidFill>
                    <a:srgbClr val="D99593"/>
                  </a:solidFill>
                  <a:ln cap="flat" cmpd="sng" w="25400">
                    <a:solidFill>
                      <a:srgbClr val="21364F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3" name="Google Shape;203;p3"/>
                  <p:cNvSpPr/>
                  <p:nvPr/>
                </p:nvSpPr>
                <p:spPr>
                  <a:xfrm>
                    <a:off x="300038" y="4264819"/>
                    <a:ext cx="1743132" cy="300099"/>
                  </a:xfrm>
                  <a:custGeom>
                    <a:rect b="b" l="l" r="r" t="t"/>
                    <a:pathLst>
                      <a:path extrusionOk="0" h="300099" w="1743132">
                        <a:moveTo>
                          <a:pt x="0" y="257237"/>
                        </a:moveTo>
                        <a:cubicBezTo>
                          <a:pt x="115490" y="156034"/>
                          <a:pt x="230981" y="54831"/>
                          <a:pt x="300037" y="57212"/>
                        </a:cubicBezTo>
                        <a:cubicBezTo>
                          <a:pt x="369093" y="59593"/>
                          <a:pt x="314325" y="273905"/>
                          <a:pt x="414337" y="271524"/>
                        </a:cubicBezTo>
                        <a:cubicBezTo>
                          <a:pt x="514349" y="269143"/>
                          <a:pt x="766762" y="42924"/>
                          <a:pt x="900112" y="42924"/>
                        </a:cubicBezTo>
                        <a:cubicBezTo>
                          <a:pt x="1033462" y="42924"/>
                          <a:pt x="1100137" y="278668"/>
                          <a:pt x="1214437" y="271524"/>
                        </a:cubicBezTo>
                        <a:cubicBezTo>
                          <a:pt x="1328737" y="264380"/>
                          <a:pt x="1497806" y="-4700"/>
                          <a:pt x="1585912" y="62"/>
                        </a:cubicBezTo>
                        <a:cubicBezTo>
                          <a:pt x="1674018" y="4824"/>
                          <a:pt x="1745456" y="254855"/>
                          <a:pt x="1743075" y="300099"/>
                        </a:cubicBezTo>
                      </a:path>
                    </a:pathLst>
                  </a:custGeom>
                  <a:solidFill>
                    <a:srgbClr val="D99593"/>
                  </a:solidFill>
                  <a:ln cap="flat" cmpd="sng" w="25400">
                    <a:solidFill>
                      <a:srgbClr val="21364F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4" name="Google Shape;204;p3"/>
                  <p:cNvSpPr/>
                  <p:nvPr/>
                </p:nvSpPr>
                <p:spPr>
                  <a:xfrm>
                    <a:off x="316367" y="4804348"/>
                    <a:ext cx="1743132" cy="300099"/>
                  </a:xfrm>
                  <a:custGeom>
                    <a:rect b="b" l="l" r="r" t="t"/>
                    <a:pathLst>
                      <a:path extrusionOk="0" h="300099" w="1743132">
                        <a:moveTo>
                          <a:pt x="0" y="257237"/>
                        </a:moveTo>
                        <a:cubicBezTo>
                          <a:pt x="115490" y="156034"/>
                          <a:pt x="230981" y="54831"/>
                          <a:pt x="300037" y="57212"/>
                        </a:cubicBezTo>
                        <a:cubicBezTo>
                          <a:pt x="369093" y="59593"/>
                          <a:pt x="314325" y="273905"/>
                          <a:pt x="414337" y="271524"/>
                        </a:cubicBezTo>
                        <a:cubicBezTo>
                          <a:pt x="514349" y="269143"/>
                          <a:pt x="766762" y="42924"/>
                          <a:pt x="900112" y="42924"/>
                        </a:cubicBezTo>
                        <a:cubicBezTo>
                          <a:pt x="1033462" y="42924"/>
                          <a:pt x="1100137" y="278668"/>
                          <a:pt x="1214437" y="271524"/>
                        </a:cubicBezTo>
                        <a:cubicBezTo>
                          <a:pt x="1328737" y="264380"/>
                          <a:pt x="1497806" y="-4700"/>
                          <a:pt x="1585912" y="62"/>
                        </a:cubicBezTo>
                        <a:cubicBezTo>
                          <a:pt x="1674018" y="4824"/>
                          <a:pt x="1745456" y="254855"/>
                          <a:pt x="1743075" y="300099"/>
                        </a:cubicBezTo>
                      </a:path>
                    </a:pathLst>
                  </a:custGeom>
                  <a:solidFill>
                    <a:srgbClr val="D99593"/>
                  </a:solidFill>
                  <a:ln cap="flat" cmpd="sng" w="25400">
                    <a:solidFill>
                      <a:srgbClr val="21364F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5" name="Google Shape;205;p3"/>
                  <p:cNvSpPr/>
                  <p:nvPr/>
                </p:nvSpPr>
                <p:spPr>
                  <a:xfrm>
                    <a:off x="300038" y="3478614"/>
                    <a:ext cx="1743132" cy="300099"/>
                  </a:xfrm>
                  <a:custGeom>
                    <a:rect b="b" l="l" r="r" t="t"/>
                    <a:pathLst>
                      <a:path extrusionOk="0" h="300099" w="1743132">
                        <a:moveTo>
                          <a:pt x="0" y="257237"/>
                        </a:moveTo>
                        <a:cubicBezTo>
                          <a:pt x="115490" y="156034"/>
                          <a:pt x="230981" y="54831"/>
                          <a:pt x="300037" y="57212"/>
                        </a:cubicBezTo>
                        <a:cubicBezTo>
                          <a:pt x="369093" y="59593"/>
                          <a:pt x="314325" y="273905"/>
                          <a:pt x="414337" y="271524"/>
                        </a:cubicBezTo>
                        <a:cubicBezTo>
                          <a:pt x="514349" y="269143"/>
                          <a:pt x="766762" y="42924"/>
                          <a:pt x="900112" y="42924"/>
                        </a:cubicBezTo>
                        <a:cubicBezTo>
                          <a:pt x="1033462" y="42924"/>
                          <a:pt x="1100137" y="278668"/>
                          <a:pt x="1214437" y="271524"/>
                        </a:cubicBezTo>
                        <a:cubicBezTo>
                          <a:pt x="1328737" y="264380"/>
                          <a:pt x="1497806" y="-4700"/>
                          <a:pt x="1585912" y="62"/>
                        </a:cubicBezTo>
                        <a:cubicBezTo>
                          <a:pt x="1674018" y="4824"/>
                          <a:pt x="1745456" y="254855"/>
                          <a:pt x="1743075" y="300099"/>
                        </a:cubicBezTo>
                      </a:path>
                    </a:pathLst>
                  </a:custGeom>
                  <a:solidFill>
                    <a:srgbClr val="D99593"/>
                  </a:solidFill>
                  <a:ln cap="flat" cmpd="sng" w="25400">
                    <a:solidFill>
                      <a:srgbClr val="21364F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6" name="Google Shape;206;p3"/>
                  <p:cNvSpPr/>
                  <p:nvPr/>
                </p:nvSpPr>
                <p:spPr>
                  <a:xfrm>
                    <a:off x="316367" y="4040028"/>
                    <a:ext cx="1743132" cy="300099"/>
                  </a:xfrm>
                  <a:custGeom>
                    <a:rect b="b" l="l" r="r" t="t"/>
                    <a:pathLst>
                      <a:path extrusionOk="0" h="300099" w="1743132">
                        <a:moveTo>
                          <a:pt x="0" y="257237"/>
                        </a:moveTo>
                        <a:cubicBezTo>
                          <a:pt x="115490" y="156034"/>
                          <a:pt x="230981" y="54831"/>
                          <a:pt x="300037" y="57212"/>
                        </a:cubicBezTo>
                        <a:cubicBezTo>
                          <a:pt x="369093" y="59593"/>
                          <a:pt x="314325" y="273905"/>
                          <a:pt x="414337" y="271524"/>
                        </a:cubicBezTo>
                        <a:cubicBezTo>
                          <a:pt x="514349" y="269143"/>
                          <a:pt x="766762" y="42924"/>
                          <a:pt x="900112" y="42924"/>
                        </a:cubicBezTo>
                        <a:cubicBezTo>
                          <a:pt x="1033462" y="42924"/>
                          <a:pt x="1100137" y="278668"/>
                          <a:pt x="1214437" y="271524"/>
                        </a:cubicBezTo>
                        <a:cubicBezTo>
                          <a:pt x="1328737" y="264380"/>
                          <a:pt x="1497806" y="-4700"/>
                          <a:pt x="1585912" y="62"/>
                        </a:cubicBezTo>
                        <a:cubicBezTo>
                          <a:pt x="1674018" y="4824"/>
                          <a:pt x="1745456" y="254855"/>
                          <a:pt x="1743075" y="300099"/>
                        </a:cubicBezTo>
                      </a:path>
                    </a:pathLst>
                  </a:custGeom>
                  <a:solidFill>
                    <a:srgbClr val="D99593"/>
                  </a:solidFill>
                  <a:ln cap="flat" cmpd="sng" w="25400">
                    <a:solidFill>
                      <a:srgbClr val="21364F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7" name="Google Shape;207;p3"/>
                  <p:cNvSpPr/>
                  <p:nvPr/>
                </p:nvSpPr>
                <p:spPr>
                  <a:xfrm>
                    <a:off x="283709" y="4534852"/>
                    <a:ext cx="1743132" cy="300099"/>
                  </a:xfrm>
                  <a:custGeom>
                    <a:rect b="b" l="l" r="r" t="t"/>
                    <a:pathLst>
                      <a:path extrusionOk="0" h="300099" w="1743132">
                        <a:moveTo>
                          <a:pt x="0" y="257237"/>
                        </a:moveTo>
                        <a:cubicBezTo>
                          <a:pt x="115490" y="156034"/>
                          <a:pt x="230981" y="54831"/>
                          <a:pt x="300037" y="57212"/>
                        </a:cubicBezTo>
                        <a:cubicBezTo>
                          <a:pt x="369093" y="59593"/>
                          <a:pt x="314325" y="273905"/>
                          <a:pt x="414337" y="271524"/>
                        </a:cubicBezTo>
                        <a:cubicBezTo>
                          <a:pt x="514349" y="269143"/>
                          <a:pt x="766762" y="42924"/>
                          <a:pt x="900112" y="42924"/>
                        </a:cubicBezTo>
                        <a:cubicBezTo>
                          <a:pt x="1033462" y="42924"/>
                          <a:pt x="1100137" y="278668"/>
                          <a:pt x="1214437" y="271524"/>
                        </a:cubicBezTo>
                        <a:cubicBezTo>
                          <a:pt x="1328737" y="264380"/>
                          <a:pt x="1497806" y="-4700"/>
                          <a:pt x="1585912" y="62"/>
                        </a:cubicBezTo>
                        <a:cubicBezTo>
                          <a:pt x="1674018" y="4824"/>
                          <a:pt x="1745456" y="254855"/>
                          <a:pt x="1743075" y="300099"/>
                        </a:cubicBezTo>
                      </a:path>
                    </a:pathLst>
                  </a:custGeom>
                  <a:solidFill>
                    <a:srgbClr val="D99593"/>
                  </a:solidFill>
                  <a:ln cap="flat" cmpd="sng" w="25400">
                    <a:solidFill>
                      <a:srgbClr val="21364F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8" name="Google Shape;208;p3"/>
                  <p:cNvSpPr/>
                  <p:nvPr/>
                </p:nvSpPr>
                <p:spPr>
                  <a:xfrm>
                    <a:off x="838201" y="2971800"/>
                    <a:ext cx="804863" cy="23574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D99593"/>
                  </a:solidFill>
                  <a:ln cap="flat" cmpd="sng" w="25400">
                    <a:solidFill>
                      <a:srgbClr val="21364F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09" name="Google Shape;209;p3"/>
                <p:cNvGrpSpPr/>
                <p:nvPr/>
              </p:nvGrpSpPr>
              <p:grpSpPr>
                <a:xfrm rot="-852631">
                  <a:off x="3385750" y="4500029"/>
                  <a:ext cx="561982" cy="572100"/>
                  <a:chOff x="922072" y="3304423"/>
                  <a:chExt cx="1115443" cy="1135520"/>
                </a:xfrm>
              </p:grpSpPr>
              <p:grpSp>
                <p:nvGrpSpPr>
                  <p:cNvPr id="210" name="Google Shape;210;p3"/>
                  <p:cNvGrpSpPr/>
                  <p:nvPr/>
                </p:nvGrpSpPr>
                <p:grpSpPr>
                  <a:xfrm rot="2548559">
                    <a:off x="1096499" y="3776582"/>
                    <a:ext cx="317713" cy="640080"/>
                    <a:chOff x="514350" y="2971800"/>
                    <a:chExt cx="914400" cy="1842207"/>
                  </a:xfrm>
                </p:grpSpPr>
                <p:sp>
                  <p:nvSpPr>
                    <p:cNvPr id="211" name="Google Shape;211;p3"/>
                    <p:cNvSpPr/>
                    <p:nvPr/>
                  </p:nvSpPr>
                  <p:spPr>
                    <a:xfrm>
                      <a:off x="514350" y="2971800"/>
                      <a:ext cx="914400" cy="914400"/>
                    </a:xfrm>
                    <a:prstGeom prst="ellipse">
                      <a:avLst/>
                    </a:prstGeom>
                    <a:solidFill>
                      <a:srgbClr val="B7CCE4"/>
                    </a:solidFill>
                    <a:ln cap="flat" cmpd="sng" w="25400">
                      <a:solidFill>
                        <a:srgbClr val="21364F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12" name="Google Shape;212;p3"/>
                    <p:cNvSpPr/>
                    <p:nvPr/>
                  </p:nvSpPr>
                  <p:spPr>
                    <a:xfrm>
                      <a:off x="514350" y="3899607"/>
                      <a:ext cx="914400" cy="914400"/>
                    </a:xfrm>
                    <a:prstGeom prst="ellipse">
                      <a:avLst/>
                    </a:prstGeom>
                    <a:solidFill>
                      <a:srgbClr val="B7CCE4"/>
                    </a:solidFill>
                    <a:ln cap="flat" cmpd="sng" w="25400">
                      <a:solidFill>
                        <a:srgbClr val="21364F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213" name="Google Shape;213;p3"/>
                  <p:cNvGrpSpPr/>
                  <p:nvPr/>
                </p:nvGrpSpPr>
                <p:grpSpPr>
                  <a:xfrm rot="2548559">
                    <a:off x="1545376" y="3327705"/>
                    <a:ext cx="317713" cy="640080"/>
                    <a:chOff x="514350" y="2971800"/>
                    <a:chExt cx="914400" cy="1842207"/>
                  </a:xfrm>
                </p:grpSpPr>
                <p:sp>
                  <p:nvSpPr>
                    <p:cNvPr id="214" name="Google Shape;214;p3"/>
                    <p:cNvSpPr/>
                    <p:nvPr/>
                  </p:nvSpPr>
                  <p:spPr>
                    <a:xfrm>
                      <a:off x="514350" y="2971800"/>
                      <a:ext cx="914400" cy="914400"/>
                    </a:xfrm>
                    <a:prstGeom prst="ellipse">
                      <a:avLst/>
                    </a:prstGeom>
                    <a:solidFill>
                      <a:srgbClr val="B7CCE4"/>
                    </a:solidFill>
                    <a:ln cap="flat" cmpd="sng" w="25400">
                      <a:solidFill>
                        <a:srgbClr val="21364F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15" name="Google Shape;215;p3"/>
                    <p:cNvSpPr/>
                    <p:nvPr/>
                  </p:nvSpPr>
                  <p:spPr>
                    <a:xfrm>
                      <a:off x="514350" y="3899607"/>
                      <a:ext cx="914400" cy="914400"/>
                    </a:xfrm>
                    <a:prstGeom prst="ellipse">
                      <a:avLst/>
                    </a:prstGeom>
                    <a:solidFill>
                      <a:srgbClr val="B7CCE4"/>
                    </a:solidFill>
                    <a:ln cap="flat" cmpd="sng" w="25400">
                      <a:solidFill>
                        <a:srgbClr val="21364F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sp>
              <p:nvSpPr>
                <p:cNvPr id="216" name="Google Shape;216;p3"/>
                <p:cNvSpPr/>
                <p:nvPr/>
              </p:nvSpPr>
              <p:spPr>
                <a:xfrm rot="-3903882">
                  <a:off x="3239551" y="3873724"/>
                  <a:ext cx="218375" cy="64008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ABF8E"/>
                </a:solidFill>
                <a:ln cap="flat" cmpd="sng" w="25400">
                  <a:solidFill>
                    <a:srgbClr val="E36C0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17" name="Google Shape;217;p3"/>
                <p:cNvGrpSpPr/>
                <p:nvPr/>
              </p:nvGrpSpPr>
              <p:grpSpPr>
                <a:xfrm rot="1232838">
                  <a:off x="3695996" y="4890543"/>
                  <a:ext cx="412976" cy="548640"/>
                  <a:chOff x="283709" y="2971800"/>
                  <a:chExt cx="1775790" cy="2357439"/>
                </a:xfrm>
              </p:grpSpPr>
              <p:sp>
                <p:nvSpPr>
                  <p:cNvPr id="218" name="Google Shape;218;p3"/>
                  <p:cNvSpPr/>
                  <p:nvPr/>
                </p:nvSpPr>
                <p:spPr>
                  <a:xfrm>
                    <a:off x="300038" y="3214626"/>
                    <a:ext cx="1743132" cy="300099"/>
                  </a:xfrm>
                  <a:custGeom>
                    <a:rect b="b" l="l" r="r" t="t"/>
                    <a:pathLst>
                      <a:path extrusionOk="0" h="300099" w="1743132">
                        <a:moveTo>
                          <a:pt x="0" y="257237"/>
                        </a:moveTo>
                        <a:cubicBezTo>
                          <a:pt x="115490" y="156034"/>
                          <a:pt x="230981" y="54831"/>
                          <a:pt x="300037" y="57212"/>
                        </a:cubicBezTo>
                        <a:cubicBezTo>
                          <a:pt x="369093" y="59593"/>
                          <a:pt x="314325" y="273905"/>
                          <a:pt x="414337" y="271524"/>
                        </a:cubicBezTo>
                        <a:cubicBezTo>
                          <a:pt x="514349" y="269143"/>
                          <a:pt x="766762" y="42924"/>
                          <a:pt x="900112" y="42924"/>
                        </a:cubicBezTo>
                        <a:cubicBezTo>
                          <a:pt x="1033462" y="42924"/>
                          <a:pt x="1100137" y="278668"/>
                          <a:pt x="1214437" y="271524"/>
                        </a:cubicBezTo>
                        <a:cubicBezTo>
                          <a:pt x="1328737" y="264380"/>
                          <a:pt x="1497806" y="-4700"/>
                          <a:pt x="1585912" y="62"/>
                        </a:cubicBezTo>
                        <a:cubicBezTo>
                          <a:pt x="1674018" y="4824"/>
                          <a:pt x="1745456" y="254855"/>
                          <a:pt x="1743075" y="300099"/>
                        </a:cubicBezTo>
                      </a:path>
                    </a:pathLst>
                  </a:custGeom>
                  <a:solidFill>
                    <a:srgbClr val="D99593"/>
                  </a:solidFill>
                  <a:ln cap="flat" cmpd="sng" w="25400">
                    <a:solidFill>
                      <a:srgbClr val="21364F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9" name="Google Shape;219;p3"/>
                  <p:cNvSpPr/>
                  <p:nvPr/>
                </p:nvSpPr>
                <p:spPr>
                  <a:xfrm>
                    <a:off x="300038" y="3757551"/>
                    <a:ext cx="1743132" cy="300099"/>
                  </a:xfrm>
                  <a:custGeom>
                    <a:rect b="b" l="l" r="r" t="t"/>
                    <a:pathLst>
                      <a:path extrusionOk="0" h="300099" w="1743132">
                        <a:moveTo>
                          <a:pt x="0" y="257237"/>
                        </a:moveTo>
                        <a:cubicBezTo>
                          <a:pt x="115490" y="156034"/>
                          <a:pt x="230981" y="54831"/>
                          <a:pt x="300037" y="57212"/>
                        </a:cubicBezTo>
                        <a:cubicBezTo>
                          <a:pt x="369093" y="59593"/>
                          <a:pt x="314325" y="273905"/>
                          <a:pt x="414337" y="271524"/>
                        </a:cubicBezTo>
                        <a:cubicBezTo>
                          <a:pt x="514349" y="269143"/>
                          <a:pt x="766762" y="42924"/>
                          <a:pt x="900112" y="42924"/>
                        </a:cubicBezTo>
                        <a:cubicBezTo>
                          <a:pt x="1033462" y="42924"/>
                          <a:pt x="1100137" y="278668"/>
                          <a:pt x="1214437" y="271524"/>
                        </a:cubicBezTo>
                        <a:cubicBezTo>
                          <a:pt x="1328737" y="264380"/>
                          <a:pt x="1497806" y="-4700"/>
                          <a:pt x="1585912" y="62"/>
                        </a:cubicBezTo>
                        <a:cubicBezTo>
                          <a:pt x="1674018" y="4824"/>
                          <a:pt x="1745456" y="254855"/>
                          <a:pt x="1743075" y="300099"/>
                        </a:cubicBezTo>
                      </a:path>
                    </a:pathLst>
                  </a:custGeom>
                  <a:solidFill>
                    <a:srgbClr val="D99593"/>
                  </a:solidFill>
                  <a:ln cap="flat" cmpd="sng" w="25400">
                    <a:solidFill>
                      <a:srgbClr val="21364F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0" name="Google Shape;220;p3"/>
                  <p:cNvSpPr/>
                  <p:nvPr/>
                </p:nvSpPr>
                <p:spPr>
                  <a:xfrm>
                    <a:off x="300038" y="4264819"/>
                    <a:ext cx="1743132" cy="300099"/>
                  </a:xfrm>
                  <a:custGeom>
                    <a:rect b="b" l="l" r="r" t="t"/>
                    <a:pathLst>
                      <a:path extrusionOk="0" h="300099" w="1743132">
                        <a:moveTo>
                          <a:pt x="0" y="257237"/>
                        </a:moveTo>
                        <a:cubicBezTo>
                          <a:pt x="115490" y="156034"/>
                          <a:pt x="230981" y="54831"/>
                          <a:pt x="300037" y="57212"/>
                        </a:cubicBezTo>
                        <a:cubicBezTo>
                          <a:pt x="369093" y="59593"/>
                          <a:pt x="314325" y="273905"/>
                          <a:pt x="414337" y="271524"/>
                        </a:cubicBezTo>
                        <a:cubicBezTo>
                          <a:pt x="514349" y="269143"/>
                          <a:pt x="766762" y="42924"/>
                          <a:pt x="900112" y="42924"/>
                        </a:cubicBezTo>
                        <a:cubicBezTo>
                          <a:pt x="1033462" y="42924"/>
                          <a:pt x="1100137" y="278668"/>
                          <a:pt x="1214437" y="271524"/>
                        </a:cubicBezTo>
                        <a:cubicBezTo>
                          <a:pt x="1328737" y="264380"/>
                          <a:pt x="1497806" y="-4700"/>
                          <a:pt x="1585912" y="62"/>
                        </a:cubicBezTo>
                        <a:cubicBezTo>
                          <a:pt x="1674018" y="4824"/>
                          <a:pt x="1745456" y="254855"/>
                          <a:pt x="1743075" y="300099"/>
                        </a:cubicBezTo>
                      </a:path>
                    </a:pathLst>
                  </a:custGeom>
                  <a:solidFill>
                    <a:srgbClr val="D99593"/>
                  </a:solidFill>
                  <a:ln cap="flat" cmpd="sng" w="25400">
                    <a:solidFill>
                      <a:srgbClr val="21364F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1" name="Google Shape;221;p3"/>
                  <p:cNvSpPr/>
                  <p:nvPr/>
                </p:nvSpPr>
                <p:spPr>
                  <a:xfrm>
                    <a:off x="316367" y="4804348"/>
                    <a:ext cx="1743132" cy="300099"/>
                  </a:xfrm>
                  <a:custGeom>
                    <a:rect b="b" l="l" r="r" t="t"/>
                    <a:pathLst>
                      <a:path extrusionOk="0" h="300099" w="1743132">
                        <a:moveTo>
                          <a:pt x="0" y="257237"/>
                        </a:moveTo>
                        <a:cubicBezTo>
                          <a:pt x="115490" y="156034"/>
                          <a:pt x="230981" y="54831"/>
                          <a:pt x="300037" y="57212"/>
                        </a:cubicBezTo>
                        <a:cubicBezTo>
                          <a:pt x="369093" y="59593"/>
                          <a:pt x="314325" y="273905"/>
                          <a:pt x="414337" y="271524"/>
                        </a:cubicBezTo>
                        <a:cubicBezTo>
                          <a:pt x="514349" y="269143"/>
                          <a:pt x="766762" y="42924"/>
                          <a:pt x="900112" y="42924"/>
                        </a:cubicBezTo>
                        <a:cubicBezTo>
                          <a:pt x="1033462" y="42924"/>
                          <a:pt x="1100137" y="278668"/>
                          <a:pt x="1214437" y="271524"/>
                        </a:cubicBezTo>
                        <a:cubicBezTo>
                          <a:pt x="1328737" y="264380"/>
                          <a:pt x="1497806" y="-4700"/>
                          <a:pt x="1585912" y="62"/>
                        </a:cubicBezTo>
                        <a:cubicBezTo>
                          <a:pt x="1674018" y="4824"/>
                          <a:pt x="1745456" y="254855"/>
                          <a:pt x="1743075" y="300099"/>
                        </a:cubicBezTo>
                      </a:path>
                    </a:pathLst>
                  </a:custGeom>
                  <a:solidFill>
                    <a:srgbClr val="D99593"/>
                  </a:solidFill>
                  <a:ln cap="flat" cmpd="sng" w="25400">
                    <a:solidFill>
                      <a:srgbClr val="21364F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2" name="Google Shape;222;p3"/>
                  <p:cNvSpPr/>
                  <p:nvPr/>
                </p:nvSpPr>
                <p:spPr>
                  <a:xfrm>
                    <a:off x="300038" y="3478614"/>
                    <a:ext cx="1743132" cy="300099"/>
                  </a:xfrm>
                  <a:custGeom>
                    <a:rect b="b" l="l" r="r" t="t"/>
                    <a:pathLst>
                      <a:path extrusionOk="0" h="300099" w="1743132">
                        <a:moveTo>
                          <a:pt x="0" y="257237"/>
                        </a:moveTo>
                        <a:cubicBezTo>
                          <a:pt x="115490" y="156034"/>
                          <a:pt x="230981" y="54831"/>
                          <a:pt x="300037" y="57212"/>
                        </a:cubicBezTo>
                        <a:cubicBezTo>
                          <a:pt x="369093" y="59593"/>
                          <a:pt x="314325" y="273905"/>
                          <a:pt x="414337" y="271524"/>
                        </a:cubicBezTo>
                        <a:cubicBezTo>
                          <a:pt x="514349" y="269143"/>
                          <a:pt x="766762" y="42924"/>
                          <a:pt x="900112" y="42924"/>
                        </a:cubicBezTo>
                        <a:cubicBezTo>
                          <a:pt x="1033462" y="42924"/>
                          <a:pt x="1100137" y="278668"/>
                          <a:pt x="1214437" y="271524"/>
                        </a:cubicBezTo>
                        <a:cubicBezTo>
                          <a:pt x="1328737" y="264380"/>
                          <a:pt x="1497806" y="-4700"/>
                          <a:pt x="1585912" y="62"/>
                        </a:cubicBezTo>
                        <a:cubicBezTo>
                          <a:pt x="1674018" y="4824"/>
                          <a:pt x="1745456" y="254855"/>
                          <a:pt x="1743075" y="300099"/>
                        </a:cubicBezTo>
                      </a:path>
                    </a:pathLst>
                  </a:custGeom>
                  <a:solidFill>
                    <a:srgbClr val="D99593"/>
                  </a:solidFill>
                  <a:ln cap="flat" cmpd="sng" w="25400">
                    <a:solidFill>
                      <a:srgbClr val="21364F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3" name="Google Shape;223;p3"/>
                  <p:cNvSpPr/>
                  <p:nvPr/>
                </p:nvSpPr>
                <p:spPr>
                  <a:xfrm>
                    <a:off x="316367" y="4040028"/>
                    <a:ext cx="1743132" cy="300099"/>
                  </a:xfrm>
                  <a:custGeom>
                    <a:rect b="b" l="l" r="r" t="t"/>
                    <a:pathLst>
                      <a:path extrusionOk="0" h="300099" w="1743132">
                        <a:moveTo>
                          <a:pt x="0" y="257237"/>
                        </a:moveTo>
                        <a:cubicBezTo>
                          <a:pt x="115490" y="156034"/>
                          <a:pt x="230981" y="54831"/>
                          <a:pt x="300037" y="57212"/>
                        </a:cubicBezTo>
                        <a:cubicBezTo>
                          <a:pt x="369093" y="59593"/>
                          <a:pt x="314325" y="273905"/>
                          <a:pt x="414337" y="271524"/>
                        </a:cubicBezTo>
                        <a:cubicBezTo>
                          <a:pt x="514349" y="269143"/>
                          <a:pt x="766762" y="42924"/>
                          <a:pt x="900112" y="42924"/>
                        </a:cubicBezTo>
                        <a:cubicBezTo>
                          <a:pt x="1033462" y="42924"/>
                          <a:pt x="1100137" y="278668"/>
                          <a:pt x="1214437" y="271524"/>
                        </a:cubicBezTo>
                        <a:cubicBezTo>
                          <a:pt x="1328737" y="264380"/>
                          <a:pt x="1497806" y="-4700"/>
                          <a:pt x="1585912" y="62"/>
                        </a:cubicBezTo>
                        <a:cubicBezTo>
                          <a:pt x="1674018" y="4824"/>
                          <a:pt x="1745456" y="254855"/>
                          <a:pt x="1743075" y="300099"/>
                        </a:cubicBezTo>
                      </a:path>
                    </a:pathLst>
                  </a:custGeom>
                  <a:solidFill>
                    <a:srgbClr val="D99593"/>
                  </a:solidFill>
                  <a:ln cap="flat" cmpd="sng" w="25400">
                    <a:solidFill>
                      <a:srgbClr val="21364F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4" name="Google Shape;224;p3"/>
                  <p:cNvSpPr/>
                  <p:nvPr/>
                </p:nvSpPr>
                <p:spPr>
                  <a:xfrm>
                    <a:off x="283709" y="4534852"/>
                    <a:ext cx="1743132" cy="300099"/>
                  </a:xfrm>
                  <a:custGeom>
                    <a:rect b="b" l="l" r="r" t="t"/>
                    <a:pathLst>
                      <a:path extrusionOk="0" h="300099" w="1743132">
                        <a:moveTo>
                          <a:pt x="0" y="257237"/>
                        </a:moveTo>
                        <a:cubicBezTo>
                          <a:pt x="115490" y="156034"/>
                          <a:pt x="230981" y="54831"/>
                          <a:pt x="300037" y="57212"/>
                        </a:cubicBezTo>
                        <a:cubicBezTo>
                          <a:pt x="369093" y="59593"/>
                          <a:pt x="314325" y="273905"/>
                          <a:pt x="414337" y="271524"/>
                        </a:cubicBezTo>
                        <a:cubicBezTo>
                          <a:pt x="514349" y="269143"/>
                          <a:pt x="766762" y="42924"/>
                          <a:pt x="900112" y="42924"/>
                        </a:cubicBezTo>
                        <a:cubicBezTo>
                          <a:pt x="1033462" y="42924"/>
                          <a:pt x="1100137" y="278668"/>
                          <a:pt x="1214437" y="271524"/>
                        </a:cubicBezTo>
                        <a:cubicBezTo>
                          <a:pt x="1328737" y="264380"/>
                          <a:pt x="1497806" y="-4700"/>
                          <a:pt x="1585912" y="62"/>
                        </a:cubicBezTo>
                        <a:cubicBezTo>
                          <a:pt x="1674018" y="4824"/>
                          <a:pt x="1745456" y="254855"/>
                          <a:pt x="1743075" y="300099"/>
                        </a:cubicBezTo>
                      </a:path>
                    </a:pathLst>
                  </a:custGeom>
                  <a:solidFill>
                    <a:srgbClr val="D99593"/>
                  </a:solidFill>
                  <a:ln cap="flat" cmpd="sng" w="25400">
                    <a:solidFill>
                      <a:srgbClr val="21364F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5" name="Google Shape;225;p3"/>
                  <p:cNvSpPr/>
                  <p:nvPr/>
                </p:nvSpPr>
                <p:spPr>
                  <a:xfrm>
                    <a:off x="838201" y="2971800"/>
                    <a:ext cx="804863" cy="23574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D99593"/>
                  </a:solidFill>
                  <a:ln cap="flat" cmpd="sng" w="25400">
                    <a:solidFill>
                      <a:srgbClr val="21364F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26" name="Google Shape;226;p3"/>
                <p:cNvSpPr/>
                <p:nvPr/>
              </p:nvSpPr>
              <p:spPr>
                <a:xfrm rot="-3903882">
                  <a:off x="4755325" y="4023202"/>
                  <a:ext cx="218375" cy="64008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ABF8E"/>
                </a:solidFill>
                <a:ln cap="flat" cmpd="sng" w="25400">
                  <a:solidFill>
                    <a:srgbClr val="E36C0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27" name="Google Shape;227;p3"/>
                <p:cNvGrpSpPr/>
                <p:nvPr/>
              </p:nvGrpSpPr>
              <p:grpSpPr>
                <a:xfrm rot="-2812077">
                  <a:off x="3935776" y="3924890"/>
                  <a:ext cx="561982" cy="572100"/>
                  <a:chOff x="922072" y="3304423"/>
                  <a:chExt cx="1115443" cy="1135520"/>
                </a:xfrm>
              </p:grpSpPr>
              <p:grpSp>
                <p:nvGrpSpPr>
                  <p:cNvPr id="228" name="Google Shape;228;p3"/>
                  <p:cNvGrpSpPr/>
                  <p:nvPr/>
                </p:nvGrpSpPr>
                <p:grpSpPr>
                  <a:xfrm rot="2548559">
                    <a:off x="1096499" y="3776582"/>
                    <a:ext cx="317713" cy="640080"/>
                    <a:chOff x="514350" y="2971800"/>
                    <a:chExt cx="914400" cy="1842207"/>
                  </a:xfrm>
                </p:grpSpPr>
                <p:sp>
                  <p:nvSpPr>
                    <p:cNvPr id="229" name="Google Shape;229;p3"/>
                    <p:cNvSpPr/>
                    <p:nvPr/>
                  </p:nvSpPr>
                  <p:spPr>
                    <a:xfrm>
                      <a:off x="514350" y="2971800"/>
                      <a:ext cx="914400" cy="914400"/>
                    </a:xfrm>
                    <a:prstGeom prst="ellipse">
                      <a:avLst/>
                    </a:prstGeom>
                    <a:solidFill>
                      <a:srgbClr val="B7CCE4"/>
                    </a:solidFill>
                    <a:ln cap="flat" cmpd="sng" w="25400">
                      <a:solidFill>
                        <a:srgbClr val="21364F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30" name="Google Shape;230;p3"/>
                    <p:cNvSpPr/>
                    <p:nvPr/>
                  </p:nvSpPr>
                  <p:spPr>
                    <a:xfrm>
                      <a:off x="514350" y="3899607"/>
                      <a:ext cx="914400" cy="914400"/>
                    </a:xfrm>
                    <a:prstGeom prst="ellipse">
                      <a:avLst/>
                    </a:prstGeom>
                    <a:solidFill>
                      <a:srgbClr val="B7CCE4"/>
                    </a:solidFill>
                    <a:ln cap="flat" cmpd="sng" w="25400">
                      <a:solidFill>
                        <a:srgbClr val="21364F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231" name="Google Shape;231;p3"/>
                  <p:cNvGrpSpPr/>
                  <p:nvPr/>
                </p:nvGrpSpPr>
                <p:grpSpPr>
                  <a:xfrm rot="2548559">
                    <a:off x="1545376" y="3327705"/>
                    <a:ext cx="317713" cy="640080"/>
                    <a:chOff x="514350" y="2971800"/>
                    <a:chExt cx="914400" cy="1842207"/>
                  </a:xfrm>
                </p:grpSpPr>
                <p:sp>
                  <p:nvSpPr>
                    <p:cNvPr id="232" name="Google Shape;232;p3"/>
                    <p:cNvSpPr/>
                    <p:nvPr/>
                  </p:nvSpPr>
                  <p:spPr>
                    <a:xfrm>
                      <a:off x="514350" y="2971800"/>
                      <a:ext cx="914400" cy="914400"/>
                    </a:xfrm>
                    <a:prstGeom prst="ellipse">
                      <a:avLst/>
                    </a:prstGeom>
                    <a:solidFill>
                      <a:srgbClr val="B7CCE4"/>
                    </a:solidFill>
                    <a:ln cap="flat" cmpd="sng" w="25400">
                      <a:solidFill>
                        <a:srgbClr val="21364F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33" name="Google Shape;233;p3"/>
                    <p:cNvSpPr/>
                    <p:nvPr/>
                  </p:nvSpPr>
                  <p:spPr>
                    <a:xfrm>
                      <a:off x="514350" y="3899607"/>
                      <a:ext cx="914400" cy="914400"/>
                    </a:xfrm>
                    <a:prstGeom prst="ellipse">
                      <a:avLst/>
                    </a:prstGeom>
                    <a:solidFill>
                      <a:srgbClr val="B7CCE4"/>
                    </a:solidFill>
                    <a:ln cap="flat" cmpd="sng" w="25400">
                      <a:solidFill>
                        <a:srgbClr val="21364F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234" name="Google Shape;234;p3"/>
                <p:cNvGrpSpPr/>
                <p:nvPr/>
              </p:nvGrpSpPr>
              <p:grpSpPr>
                <a:xfrm rot="6758514">
                  <a:off x="4328697" y="3285141"/>
                  <a:ext cx="318602" cy="619894"/>
                  <a:chOff x="514350" y="2971800"/>
                  <a:chExt cx="916961" cy="1784108"/>
                </a:xfrm>
              </p:grpSpPr>
              <p:sp>
                <p:nvSpPr>
                  <p:cNvPr id="235" name="Google Shape;235;p3"/>
                  <p:cNvSpPr/>
                  <p:nvPr/>
                </p:nvSpPr>
                <p:spPr>
                  <a:xfrm>
                    <a:off x="514350" y="2971800"/>
                    <a:ext cx="914400" cy="914400"/>
                  </a:xfrm>
                  <a:prstGeom prst="ellipse">
                    <a:avLst/>
                  </a:prstGeom>
                  <a:solidFill>
                    <a:srgbClr val="92CC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6" name="Google Shape;236;p3"/>
                  <p:cNvSpPr/>
                  <p:nvPr/>
                </p:nvSpPr>
                <p:spPr>
                  <a:xfrm>
                    <a:off x="516910" y="3841508"/>
                    <a:ext cx="914401" cy="914400"/>
                  </a:xfrm>
                  <a:prstGeom prst="ellipse">
                    <a:avLst/>
                  </a:prstGeom>
                  <a:solidFill>
                    <a:srgbClr val="92CC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37" name="Google Shape;237;p3"/>
                <p:cNvGrpSpPr/>
                <p:nvPr/>
              </p:nvGrpSpPr>
              <p:grpSpPr>
                <a:xfrm rot="8479827">
                  <a:off x="2995580" y="4296876"/>
                  <a:ext cx="318602" cy="619894"/>
                  <a:chOff x="514350" y="2971800"/>
                  <a:chExt cx="916961" cy="1784108"/>
                </a:xfrm>
              </p:grpSpPr>
              <p:sp>
                <p:nvSpPr>
                  <p:cNvPr id="238" name="Google Shape;238;p3"/>
                  <p:cNvSpPr/>
                  <p:nvPr/>
                </p:nvSpPr>
                <p:spPr>
                  <a:xfrm>
                    <a:off x="514350" y="2971800"/>
                    <a:ext cx="914400" cy="914400"/>
                  </a:xfrm>
                  <a:prstGeom prst="ellipse">
                    <a:avLst/>
                  </a:prstGeom>
                  <a:solidFill>
                    <a:srgbClr val="92CC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9" name="Google Shape;239;p3"/>
                  <p:cNvSpPr/>
                  <p:nvPr/>
                </p:nvSpPr>
                <p:spPr>
                  <a:xfrm>
                    <a:off x="516910" y="3841508"/>
                    <a:ext cx="914401" cy="914400"/>
                  </a:xfrm>
                  <a:prstGeom prst="ellipse">
                    <a:avLst/>
                  </a:prstGeom>
                  <a:solidFill>
                    <a:srgbClr val="92CC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40" name="Google Shape;240;p3"/>
                <p:cNvGrpSpPr/>
                <p:nvPr/>
              </p:nvGrpSpPr>
              <p:grpSpPr>
                <a:xfrm rot="-5134084">
                  <a:off x="3018378" y="3447349"/>
                  <a:ext cx="561982" cy="572100"/>
                  <a:chOff x="922072" y="3304423"/>
                  <a:chExt cx="1115443" cy="1135520"/>
                </a:xfrm>
              </p:grpSpPr>
              <p:grpSp>
                <p:nvGrpSpPr>
                  <p:cNvPr id="241" name="Google Shape;241;p3"/>
                  <p:cNvGrpSpPr/>
                  <p:nvPr/>
                </p:nvGrpSpPr>
                <p:grpSpPr>
                  <a:xfrm rot="2548559">
                    <a:off x="1096499" y="3776582"/>
                    <a:ext cx="317713" cy="640080"/>
                    <a:chOff x="514350" y="2971800"/>
                    <a:chExt cx="914400" cy="1842207"/>
                  </a:xfrm>
                </p:grpSpPr>
                <p:sp>
                  <p:nvSpPr>
                    <p:cNvPr id="242" name="Google Shape;242;p3"/>
                    <p:cNvSpPr/>
                    <p:nvPr/>
                  </p:nvSpPr>
                  <p:spPr>
                    <a:xfrm>
                      <a:off x="514350" y="2971800"/>
                      <a:ext cx="914400" cy="914400"/>
                    </a:xfrm>
                    <a:prstGeom prst="ellipse">
                      <a:avLst/>
                    </a:prstGeom>
                    <a:solidFill>
                      <a:srgbClr val="B7CCE4"/>
                    </a:solidFill>
                    <a:ln cap="flat" cmpd="sng" w="25400">
                      <a:solidFill>
                        <a:srgbClr val="21364F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43" name="Google Shape;243;p3"/>
                    <p:cNvSpPr/>
                    <p:nvPr/>
                  </p:nvSpPr>
                  <p:spPr>
                    <a:xfrm>
                      <a:off x="514350" y="3899607"/>
                      <a:ext cx="914400" cy="914400"/>
                    </a:xfrm>
                    <a:prstGeom prst="ellipse">
                      <a:avLst/>
                    </a:prstGeom>
                    <a:solidFill>
                      <a:srgbClr val="B7CCE4"/>
                    </a:solidFill>
                    <a:ln cap="flat" cmpd="sng" w="25400">
                      <a:solidFill>
                        <a:srgbClr val="21364F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244" name="Google Shape;244;p3"/>
                  <p:cNvGrpSpPr/>
                  <p:nvPr/>
                </p:nvGrpSpPr>
                <p:grpSpPr>
                  <a:xfrm rot="2548559">
                    <a:off x="1545376" y="3327705"/>
                    <a:ext cx="317713" cy="640080"/>
                    <a:chOff x="514350" y="2971800"/>
                    <a:chExt cx="914400" cy="1842207"/>
                  </a:xfrm>
                </p:grpSpPr>
                <p:sp>
                  <p:nvSpPr>
                    <p:cNvPr id="245" name="Google Shape;245;p3"/>
                    <p:cNvSpPr/>
                    <p:nvPr/>
                  </p:nvSpPr>
                  <p:spPr>
                    <a:xfrm>
                      <a:off x="514350" y="2971800"/>
                      <a:ext cx="914400" cy="914400"/>
                    </a:xfrm>
                    <a:prstGeom prst="ellipse">
                      <a:avLst/>
                    </a:prstGeom>
                    <a:solidFill>
                      <a:srgbClr val="B7CCE4"/>
                    </a:solidFill>
                    <a:ln cap="flat" cmpd="sng" w="25400">
                      <a:solidFill>
                        <a:srgbClr val="21364F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46" name="Google Shape;246;p3"/>
                    <p:cNvSpPr/>
                    <p:nvPr/>
                  </p:nvSpPr>
                  <p:spPr>
                    <a:xfrm>
                      <a:off x="514350" y="3899607"/>
                      <a:ext cx="914400" cy="914400"/>
                    </a:xfrm>
                    <a:prstGeom prst="ellipse">
                      <a:avLst/>
                    </a:prstGeom>
                    <a:solidFill>
                      <a:srgbClr val="B7CCE4"/>
                    </a:solidFill>
                    <a:ln cap="flat" cmpd="sng" w="25400">
                      <a:solidFill>
                        <a:srgbClr val="21364F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sp>
              <p:nvSpPr>
                <p:cNvPr id="247" name="Google Shape;247;p3"/>
                <p:cNvSpPr/>
                <p:nvPr/>
              </p:nvSpPr>
              <p:spPr>
                <a:xfrm rot="-1580795">
                  <a:off x="3993663" y="3145807"/>
                  <a:ext cx="218375" cy="64008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ABF8E"/>
                </a:solidFill>
                <a:ln cap="flat" cmpd="sng" w="25400">
                  <a:solidFill>
                    <a:srgbClr val="E36C0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48" name="Google Shape;248;p3"/>
                <p:cNvGrpSpPr/>
                <p:nvPr/>
              </p:nvGrpSpPr>
              <p:grpSpPr>
                <a:xfrm rot="2548559">
                  <a:off x="3711524" y="3883491"/>
                  <a:ext cx="318602" cy="619894"/>
                  <a:chOff x="514350" y="2971800"/>
                  <a:chExt cx="916961" cy="1784108"/>
                </a:xfrm>
              </p:grpSpPr>
              <p:sp>
                <p:nvSpPr>
                  <p:cNvPr id="249" name="Google Shape;249;p3"/>
                  <p:cNvSpPr/>
                  <p:nvPr/>
                </p:nvSpPr>
                <p:spPr>
                  <a:xfrm>
                    <a:off x="514350" y="2971800"/>
                    <a:ext cx="914400" cy="914400"/>
                  </a:xfrm>
                  <a:prstGeom prst="ellipse">
                    <a:avLst/>
                  </a:prstGeom>
                  <a:solidFill>
                    <a:srgbClr val="92CC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0" name="Google Shape;250;p3"/>
                  <p:cNvSpPr/>
                  <p:nvPr/>
                </p:nvSpPr>
                <p:spPr>
                  <a:xfrm>
                    <a:off x="516910" y="3841508"/>
                    <a:ext cx="914401" cy="914400"/>
                  </a:xfrm>
                  <a:prstGeom prst="ellipse">
                    <a:avLst/>
                  </a:prstGeom>
                  <a:solidFill>
                    <a:srgbClr val="92CC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cxnSp>
            <p:nvCxnSpPr>
              <p:cNvPr id="251" name="Google Shape;251;p3"/>
              <p:cNvCxnSpPr/>
              <p:nvPr/>
            </p:nvCxnSpPr>
            <p:spPr>
              <a:xfrm flipH="1" rot="10800000">
                <a:off x="2320322" y="4035800"/>
                <a:ext cx="422151" cy="1029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  <a:effectLst>
                <a:outerShdw blurRad="40000" rotWithShape="0" dir="5400000" dist="20000">
                  <a:srgbClr val="000000">
                    <a:alpha val="38039"/>
                  </a:srgbClr>
                </a:outerShdw>
              </a:effectLst>
            </p:spPr>
          </p:cxnSp>
        </p:grpSp>
        <p:grpSp>
          <p:nvGrpSpPr>
            <p:cNvPr id="252" name="Google Shape;252;p3"/>
            <p:cNvGrpSpPr/>
            <p:nvPr/>
          </p:nvGrpSpPr>
          <p:grpSpPr>
            <a:xfrm>
              <a:off x="513294" y="2841848"/>
              <a:ext cx="1812979" cy="2140014"/>
              <a:chOff x="728568" y="3018996"/>
              <a:chExt cx="1660546" cy="1960087"/>
            </a:xfrm>
          </p:grpSpPr>
          <p:sp>
            <p:nvSpPr>
              <p:cNvPr descr="Wave outline" id="253" name="Google Shape;253;p3"/>
              <p:cNvSpPr/>
              <p:nvPr/>
            </p:nvSpPr>
            <p:spPr>
              <a:xfrm>
                <a:off x="1474714" y="4064683"/>
                <a:ext cx="914400" cy="91440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descr="Plant With Roots outline" id="254" name="Google Shape;254;p3"/>
              <p:cNvSpPr/>
              <p:nvPr/>
            </p:nvSpPr>
            <p:spPr>
              <a:xfrm>
                <a:off x="1450951" y="3018996"/>
                <a:ext cx="914400" cy="91440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descr="Kidneys outline" id="255" name="Google Shape;255;p3"/>
              <p:cNvSpPr/>
              <p:nvPr/>
            </p:nvSpPr>
            <p:spPr>
              <a:xfrm>
                <a:off x="728568" y="3610344"/>
                <a:ext cx="914400" cy="914400"/>
              </a:xfrm>
              <a:prstGeom prst="rect">
                <a:avLst/>
              </a:prstGeom>
              <a:noFill/>
              <a:ln>
                <a:noFill/>
              </a:ln>
            </p:spPr>
          </p:sp>
        </p:grpSp>
        <p:sp>
          <p:nvSpPr>
            <p:cNvPr id="256" name="Google Shape;256;p3"/>
            <p:cNvSpPr txBox="1"/>
            <p:nvPr/>
          </p:nvSpPr>
          <p:spPr>
            <a:xfrm>
              <a:off x="3525816" y="2060007"/>
              <a:ext cx="1746632" cy="430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u="sng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Metagenome</a:t>
              </a:r>
              <a:endParaRPr/>
            </a:p>
          </p:txBody>
        </p:sp>
        <p:sp>
          <p:nvSpPr>
            <p:cNvPr id="257" name="Google Shape;257;p3"/>
            <p:cNvSpPr txBox="1"/>
            <p:nvPr/>
          </p:nvSpPr>
          <p:spPr>
            <a:xfrm>
              <a:off x="700198" y="2345803"/>
              <a:ext cx="1319164" cy="430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u="sng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Sampling</a:t>
              </a:r>
              <a:endParaRPr/>
            </a:p>
          </p:txBody>
        </p:sp>
      </p:grpSp>
      <p:sp>
        <p:nvSpPr>
          <p:cNvPr descr=" 4098" id="258" name="Google Shape;258;p3"/>
          <p:cNvSpPr/>
          <p:nvPr/>
        </p:nvSpPr>
        <p:spPr>
          <a:xfrm>
            <a:off x="609600" y="1"/>
            <a:ext cx="7848600" cy="672860"/>
          </a:xfrm>
          <a:prstGeom prst="roundRect">
            <a:avLst>
              <a:gd fmla="val 16667" name="adj"/>
            </a:avLst>
          </a:prstGeom>
          <a:solidFill>
            <a:srgbClr val="00B8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Metagenomics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 4098" id="264" name="Google Shape;264;p4"/>
          <p:cNvSpPr/>
          <p:nvPr/>
        </p:nvSpPr>
        <p:spPr>
          <a:xfrm>
            <a:off x="609600" y="1"/>
            <a:ext cx="7848600" cy="672860"/>
          </a:xfrm>
          <a:prstGeom prst="roundRect">
            <a:avLst>
              <a:gd fmla="val 16667" name="adj"/>
            </a:avLst>
          </a:prstGeom>
          <a:solidFill>
            <a:srgbClr val="00B8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Sourmash</a:t>
            </a:r>
            <a:endParaRPr sz="4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4"/>
          <p:cNvSpPr txBox="1"/>
          <p:nvPr>
            <p:ph idx="12" type="sldNum"/>
          </p:nvPr>
        </p:nvSpPr>
        <p:spPr>
          <a:xfrm>
            <a:off x="65532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descr=" 4099" id="266" name="Google Shape;266;p4"/>
          <p:cNvSpPr/>
          <p:nvPr/>
        </p:nvSpPr>
        <p:spPr>
          <a:xfrm>
            <a:off x="0" y="801011"/>
            <a:ext cx="2743200" cy="475488"/>
          </a:xfrm>
          <a:prstGeom prst="roundRect">
            <a:avLst>
              <a:gd fmla="val 16667" name="adj"/>
            </a:avLst>
          </a:prstGeom>
          <a:solidFill>
            <a:srgbClr val="BFBFB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Sketching approach</a:t>
            </a:r>
            <a:endParaRPr/>
          </a:p>
        </p:txBody>
      </p:sp>
      <p:sp>
        <p:nvSpPr>
          <p:cNvPr id="267" name="Google Shape;267;p4"/>
          <p:cNvSpPr/>
          <p:nvPr/>
        </p:nvSpPr>
        <p:spPr>
          <a:xfrm>
            <a:off x="152400" y="1378774"/>
            <a:ext cx="475873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compression that preserves salient features</a:t>
            </a:r>
            <a:endParaRPr/>
          </a:p>
        </p:txBody>
      </p:sp>
      <p:pic>
        <p:nvPicPr>
          <p:cNvPr descr="New York Skyline Free Stock Photo - Public Domain Pictures" id="268" name="Google Shape;26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950" y="1885760"/>
            <a:ext cx="3136302" cy="20908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9" name="Google Shape;269;p4"/>
          <p:cNvCxnSpPr/>
          <p:nvPr/>
        </p:nvCxnSpPr>
        <p:spPr>
          <a:xfrm>
            <a:off x="3276600" y="2242036"/>
            <a:ext cx="17526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descr="NEW YORK usa SKYLINE City Outline Silhouette Vector Graphics image 1" id="270" name="Google Shape;270;p4"/>
          <p:cNvPicPr preferRelativeResize="0"/>
          <p:nvPr/>
        </p:nvPicPr>
        <p:blipFill rotWithShape="1">
          <a:blip r:embed="rId4">
            <a:alphaModFix/>
          </a:blip>
          <a:srcRect b="0" l="25132" r="0" t="0"/>
          <a:stretch/>
        </p:blipFill>
        <p:spPr>
          <a:xfrm>
            <a:off x="5486400" y="2013436"/>
            <a:ext cx="2724054" cy="13014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1" name="Google Shape;271;p4"/>
          <p:cNvGrpSpPr/>
          <p:nvPr/>
        </p:nvGrpSpPr>
        <p:grpSpPr>
          <a:xfrm>
            <a:off x="901076" y="1784836"/>
            <a:ext cx="1935701" cy="1049313"/>
            <a:chOff x="901076" y="3886200"/>
            <a:chExt cx="1935701" cy="1049313"/>
          </a:xfrm>
        </p:grpSpPr>
        <p:sp>
          <p:nvSpPr>
            <p:cNvPr id="272" name="Google Shape;272;p4"/>
            <p:cNvSpPr/>
            <p:nvPr/>
          </p:nvSpPr>
          <p:spPr>
            <a:xfrm>
              <a:off x="1489750" y="4222780"/>
              <a:ext cx="68121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Reads</a:t>
              </a:r>
              <a:endParaRPr/>
            </a:p>
          </p:txBody>
        </p:sp>
        <p:cxnSp>
          <p:nvCxnSpPr>
            <p:cNvPr id="273" name="Google Shape;273;p4"/>
            <p:cNvCxnSpPr/>
            <p:nvPr/>
          </p:nvCxnSpPr>
          <p:spPr>
            <a:xfrm flipH="1" rot="10800000">
              <a:off x="1364714" y="3886200"/>
              <a:ext cx="403940" cy="250053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4" name="Google Shape;274;p4"/>
            <p:cNvCxnSpPr/>
            <p:nvPr/>
          </p:nvCxnSpPr>
          <p:spPr>
            <a:xfrm>
              <a:off x="1138388" y="4136253"/>
              <a:ext cx="396484" cy="184919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5" name="Google Shape;275;p4"/>
            <p:cNvCxnSpPr/>
            <p:nvPr/>
          </p:nvCxnSpPr>
          <p:spPr>
            <a:xfrm>
              <a:off x="926299" y="4482880"/>
              <a:ext cx="369711" cy="186215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6" name="Google Shape;276;p4"/>
            <p:cNvCxnSpPr/>
            <p:nvPr/>
          </p:nvCxnSpPr>
          <p:spPr>
            <a:xfrm>
              <a:off x="1058698" y="4321172"/>
              <a:ext cx="317002" cy="188031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7" name="Google Shape;277;p4"/>
            <p:cNvCxnSpPr/>
            <p:nvPr/>
          </p:nvCxnSpPr>
          <p:spPr>
            <a:xfrm>
              <a:off x="901076" y="4675095"/>
              <a:ext cx="463638" cy="260418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8" name="Google Shape;278;p4"/>
            <p:cNvCxnSpPr/>
            <p:nvPr/>
          </p:nvCxnSpPr>
          <p:spPr>
            <a:xfrm>
              <a:off x="1615492" y="4545884"/>
              <a:ext cx="297355" cy="130209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9" name="Google Shape;279;p4"/>
            <p:cNvCxnSpPr/>
            <p:nvPr/>
          </p:nvCxnSpPr>
          <p:spPr>
            <a:xfrm>
              <a:off x="1912847" y="4497381"/>
              <a:ext cx="289514" cy="178712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0" name="Google Shape;280;p4"/>
            <p:cNvCxnSpPr/>
            <p:nvPr/>
          </p:nvCxnSpPr>
          <p:spPr>
            <a:xfrm flipH="1" rot="10800000">
              <a:off x="1640814" y="4044497"/>
              <a:ext cx="272033" cy="171728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1" name="Google Shape;281;p4"/>
            <p:cNvCxnSpPr/>
            <p:nvPr/>
          </p:nvCxnSpPr>
          <p:spPr>
            <a:xfrm flipH="1" rot="10800000">
              <a:off x="2202361" y="4288653"/>
              <a:ext cx="403940" cy="250053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2" name="Google Shape;282;p4"/>
            <p:cNvCxnSpPr/>
            <p:nvPr/>
          </p:nvCxnSpPr>
          <p:spPr>
            <a:xfrm flipH="1" rot="10800000">
              <a:off x="2000391" y="4025581"/>
              <a:ext cx="403940" cy="250053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3" name="Google Shape;283;p4"/>
            <p:cNvCxnSpPr/>
            <p:nvPr/>
          </p:nvCxnSpPr>
          <p:spPr>
            <a:xfrm flipH="1" rot="10800000">
              <a:off x="2304853" y="4044497"/>
              <a:ext cx="403940" cy="250053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4" name="Google Shape;284;p4"/>
            <p:cNvCxnSpPr/>
            <p:nvPr/>
          </p:nvCxnSpPr>
          <p:spPr>
            <a:xfrm>
              <a:off x="2317408" y="4588381"/>
              <a:ext cx="519369" cy="86714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5" name="Google Shape;285;p4"/>
            <p:cNvCxnSpPr/>
            <p:nvPr/>
          </p:nvCxnSpPr>
          <p:spPr>
            <a:xfrm>
              <a:off x="1295400" y="4757799"/>
              <a:ext cx="534956" cy="6946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6" name="Google Shape;286;p4"/>
            <p:cNvCxnSpPr/>
            <p:nvPr/>
          </p:nvCxnSpPr>
          <p:spPr>
            <a:xfrm>
              <a:off x="1473776" y="4932168"/>
              <a:ext cx="606107" cy="0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87" name="Google Shape;287;p4"/>
          <p:cNvSpPr/>
          <p:nvPr/>
        </p:nvSpPr>
        <p:spPr>
          <a:xfrm>
            <a:off x="5257800" y="2013436"/>
            <a:ext cx="36719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{TGACGCTG, TACTCGATG, CGTCACTG}</a:t>
            </a:r>
            <a:endParaRPr/>
          </a:p>
        </p:txBody>
      </p:sp>
      <p:cxnSp>
        <p:nvCxnSpPr>
          <p:cNvPr id="288" name="Google Shape;288;p4"/>
          <p:cNvCxnSpPr/>
          <p:nvPr/>
        </p:nvCxnSpPr>
        <p:spPr>
          <a:xfrm>
            <a:off x="3505200" y="2932555"/>
            <a:ext cx="17526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289" name="Google Shape;289;p4"/>
          <p:cNvGrpSpPr/>
          <p:nvPr/>
        </p:nvGrpSpPr>
        <p:grpSpPr>
          <a:xfrm>
            <a:off x="901076" y="3598887"/>
            <a:ext cx="1935701" cy="1049313"/>
            <a:chOff x="901076" y="3886200"/>
            <a:chExt cx="1935701" cy="1049313"/>
          </a:xfrm>
        </p:grpSpPr>
        <p:sp>
          <p:nvSpPr>
            <p:cNvPr id="290" name="Google Shape;290;p4"/>
            <p:cNvSpPr/>
            <p:nvPr/>
          </p:nvSpPr>
          <p:spPr>
            <a:xfrm>
              <a:off x="1489750" y="4222780"/>
              <a:ext cx="681212" cy="338554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Reads</a:t>
              </a:r>
              <a:endParaRPr/>
            </a:p>
          </p:txBody>
        </p:sp>
        <p:cxnSp>
          <p:nvCxnSpPr>
            <p:cNvPr id="291" name="Google Shape;291;p4"/>
            <p:cNvCxnSpPr/>
            <p:nvPr/>
          </p:nvCxnSpPr>
          <p:spPr>
            <a:xfrm flipH="1" rot="10800000">
              <a:off x="1364714" y="3886200"/>
              <a:ext cx="403940" cy="250053"/>
            </a:xfrm>
            <a:prstGeom prst="straightConnector1">
              <a:avLst/>
            </a:prstGeom>
            <a:noFill/>
            <a:ln cap="flat" cmpd="sng" w="57150">
              <a:solidFill>
                <a:srgbClr val="D95F0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2" name="Google Shape;292;p4"/>
            <p:cNvCxnSpPr/>
            <p:nvPr/>
          </p:nvCxnSpPr>
          <p:spPr>
            <a:xfrm>
              <a:off x="1138388" y="4136253"/>
              <a:ext cx="396484" cy="184919"/>
            </a:xfrm>
            <a:prstGeom prst="straightConnector1">
              <a:avLst/>
            </a:prstGeom>
            <a:noFill/>
            <a:ln cap="flat" cmpd="sng" w="57150">
              <a:solidFill>
                <a:srgbClr val="D95F0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3" name="Google Shape;293;p4"/>
            <p:cNvCxnSpPr/>
            <p:nvPr/>
          </p:nvCxnSpPr>
          <p:spPr>
            <a:xfrm>
              <a:off x="926299" y="4482880"/>
              <a:ext cx="369711" cy="186215"/>
            </a:xfrm>
            <a:prstGeom prst="straightConnector1">
              <a:avLst/>
            </a:prstGeom>
            <a:noFill/>
            <a:ln cap="flat" cmpd="sng" w="57150">
              <a:solidFill>
                <a:srgbClr val="D95F0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4" name="Google Shape;294;p4"/>
            <p:cNvCxnSpPr/>
            <p:nvPr/>
          </p:nvCxnSpPr>
          <p:spPr>
            <a:xfrm>
              <a:off x="1058698" y="4321172"/>
              <a:ext cx="317002" cy="188031"/>
            </a:xfrm>
            <a:prstGeom prst="straightConnector1">
              <a:avLst/>
            </a:prstGeom>
            <a:noFill/>
            <a:ln cap="flat" cmpd="sng" w="57150">
              <a:solidFill>
                <a:srgbClr val="D95F0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5" name="Google Shape;295;p4"/>
            <p:cNvCxnSpPr/>
            <p:nvPr/>
          </p:nvCxnSpPr>
          <p:spPr>
            <a:xfrm>
              <a:off x="901076" y="4675095"/>
              <a:ext cx="463638" cy="260418"/>
            </a:xfrm>
            <a:prstGeom prst="straightConnector1">
              <a:avLst/>
            </a:prstGeom>
            <a:noFill/>
            <a:ln cap="flat" cmpd="sng" w="57150">
              <a:solidFill>
                <a:srgbClr val="D95F0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6" name="Google Shape;296;p4"/>
            <p:cNvCxnSpPr/>
            <p:nvPr/>
          </p:nvCxnSpPr>
          <p:spPr>
            <a:xfrm>
              <a:off x="1615492" y="4545884"/>
              <a:ext cx="297355" cy="130209"/>
            </a:xfrm>
            <a:prstGeom prst="straightConnector1">
              <a:avLst/>
            </a:prstGeom>
            <a:noFill/>
            <a:ln cap="flat" cmpd="sng" w="57150">
              <a:solidFill>
                <a:srgbClr val="D95F0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7" name="Google Shape;297;p4"/>
            <p:cNvCxnSpPr/>
            <p:nvPr/>
          </p:nvCxnSpPr>
          <p:spPr>
            <a:xfrm>
              <a:off x="1912847" y="4497381"/>
              <a:ext cx="289514" cy="178712"/>
            </a:xfrm>
            <a:prstGeom prst="straightConnector1">
              <a:avLst/>
            </a:prstGeom>
            <a:noFill/>
            <a:ln cap="flat" cmpd="sng" w="57150">
              <a:solidFill>
                <a:srgbClr val="D95F0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8" name="Google Shape;298;p4"/>
            <p:cNvCxnSpPr/>
            <p:nvPr/>
          </p:nvCxnSpPr>
          <p:spPr>
            <a:xfrm flipH="1" rot="10800000">
              <a:off x="1640814" y="4044497"/>
              <a:ext cx="272033" cy="171728"/>
            </a:xfrm>
            <a:prstGeom prst="straightConnector1">
              <a:avLst/>
            </a:prstGeom>
            <a:noFill/>
            <a:ln cap="flat" cmpd="sng" w="57150">
              <a:solidFill>
                <a:srgbClr val="D95F0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9" name="Google Shape;299;p4"/>
            <p:cNvCxnSpPr/>
            <p:nvPr/>
          </p:nvCxnSpPr>
          <p:spPr>
            <a:xfrm flipH="1" rot="10800000">
              <a:off x="2202361" y="4288653"/>
              <a:ext cx="403940" cy="250053"/>
            </a:xfrm>
            <a:prstGeom prst="straightConnector1">
              <a:avLst/>
            </a:prstGeom>
            <a:noFill/>
            <a:ln cap="flat" cmpd="sng" w="57150">
              <a:solidFill>
                <a:srgbClr val="D95F0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0" name="Google Shape;300;p4"/>
            <p:cNvCxnSpPr/>
            <p:nvPr/>
          </p:nvCxnSpPr>
          <p:spPr>
            <a:xfrm flipH="1" rot="10800000">
              <a:off x="2000391" y="4025581"/>
              <a:ext cx="403940" cy="250053"/>
            </a:xfrm>
            <a:prstGeom prst="straightConnector1">
              <a:avLst/>
            </a:prstGeom>
            <a:noFill/>
            <a:ln cap="flat" cmpd="sng" w="57150">
              <a:solidFill>
                <a:srgbClr val="D95F0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1" name="Google Shape;301;p4"/>
            <p:cNvCxnSpPr/>
            <p:nvPr/>
          </p:nvCxnSpPr>
          <p:spPr>
            <a:xfrm flipH="1" rot="10800000">
              <a:off x="2304853" y="4044497"/>
              <a:ext cx="403940" cy="250053"/>
            </a:xfrm>
            <a:prstGeom prst="straightConnector1">
              <a:avLst/>
            </a:prstGeom>
            <a:noFill/>
            <a:ln cap="flat" cmpd="sng" w="57150">
              <a:solidFill>
                <a:srgbClr val="D95F0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2" name="Google Shape;302;p4"/>
            <p:cNvCxnSpPr/>
            <p:nvPr/>
          </p:nvCxnSpPr>
          <p:spPr>
            <a:xfrm>
              <a:off x="2317408" y="4588381"/>
              <a:ext cx="519369" cy="86714"/>
            </a:xfrm>
            <a:prstGeom prst="straightConnector1">
              <a:avLst/>
            </a:prstGeom>
            <a:noFill/>
            <a:ln cap="flat" cmpd="sng" w="57150">
              <a:solidFill>
                <a:srgbClr val="D95F0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3" name="Google Shape;303;p4"/>
            <p:cNvCxnSpPr/>
            <p:nvPr/>
          </p:nvCxnSpPr>
          <p:spPr>
            <a:xfrm>
              <a:off x="1295400" y="4757799"/>
              <a:ext cx="534956" cy="6946"/>
            </a:xfrm>
            <a:prstGeom prst="straightConnector1">
              <a:avLst/>
            </a:prstGeom>
            <a:noFill/>
            <a:ln cap="flat" cmpd="sng" w="57150">
              <a:solidFill>
                <a:srgbClr val="D95F0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4" name="Google Shape;304;p4"/>
            <p:cNvCxnSpPr/>
            <p:nvPr/>
          </p:nvCxnSpPr>
          <p:spPr>
            <a:xfrm>
              <a:off x="1473776" y="4932168"/>
              <a:ext cx="606107" cy="0"/>
            </a:xfrm>
            <a:prstGeom prst="straightConnector1">
              <a:avLst/>
            </a:prstGeom>
            <a:noFill/>
            <a:ln cap="flat" cmpd="sng" w="57150">
              <a:solidFill>
                <a:srgbClr val="D95F0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05" name="Google Shape;305;p4"/>
          <p:cNvSpPr/>
          <p:nvPr/>
        </p:nvSpPr>
        <p:spPr>
          <a:xfrm>
            <a:off x="5257800" y="3965435"/>
            <a:ext cx="35514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{TGACGCTG, AACTGGTC, TTTTGTCA}</a:t>
            </a:r>
            <a:endParaRPr/>
          </a:p>
        </p:txBody>
      </p:sp>
      <p:cxnSp>
        <p:nvCxnSpPr>
          <p:cNvPr id="306" name="Google Shape;306;p4"/>
          <p:cNvCxnSpPr/>
          <p:nvPr/>
        </p:nvCxnSpPr>
        <p:spPr>
          <a:xfrm rot="10800000">
            <a:off x="1776829" y="2931194"/>
            <a:ext cx="0" cy="530042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07" name="Google Shape;307;p4"/>
          <p:cNvCxnSpPr/>
          <p:nvPr/>
        </p:nvCxnSpPr>
        <p:spPr>
          <a:xfrm rot="10800000">
            <a:off x="6934200" y="2830804"/>
            <a:ext cx="0" cy="530042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08" name="Google Shape;308;p4"/>
          <p:cNvSpPr/>
          <p:nvPr/>
        </p:nvSpPr>
        <p:spPr>
          <a:xfrm>
            <a:off x="6536623" y="1600170"/>
            <a:ext cx="79515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Sketch</a:t>
            </a:r>
            <a:endParaRPr/>
          </a:p>
        </p:txBody>
      </p:sp>
      <p:sp>
        <p:nvSpPr>
          <p:cNvPr descr=" 4099" id="309" name="Google Shape;309;p4"/>
          <p:cNvSpPr/>
          <p:nvPr/>
        </p:nvSpPr>
        <p:spPr>
          <a:xfrm>
            <a:off x="0" y="4858512"/>
            <a:ext cx="1534872" cy="475488"/>
          </a:xfrm>
          <a:prstGeom prst="roundRect">
            <a:avLst>
              <a:gd fmla="val 16667" name="adj"/>
            </a:avLst>
          </a:prstGeom>
          <a:solidFill>
            <a:srgbClr val="BFBFB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Nota bene</a:t>
            </a:r>
            <a:endParaRPr/>
          </a:p>
        </p:txBody>
      </p:sp>
      <p:sp>
        <p:nvSpPr>
          <p:cNvPr id="310" name="Google Shape;310;p4"/>
          <p:cNvSpPr/>
          <p:nvPr/>
        </p:nvSpPr>
        <p:spPr>
          <a:xfrm>
            <a:off x="5181600" y="5546185"/>
            <a:ext cx="318042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AGCTCAGTCATGCGATCAGTACGTCATCATG</a:t>
            </a:r>
            <a:endParaRPr/>
          </a:p>
        </p:txBody>
      </p:sp>
      <p:grpSp>
        <p:nvGrpSpPr>
          <p:cNvPr id="311" name="Google Shape;311;p4"/>
          <p:cNvGrpSpPr/>
          <p:nvPr/>
        </p:nvGrpSpPr>
        <p:grpSpPr>
          <a:xfrm>
            <a:off x="5181600" y="5698585"/>
            <a:ext cx="1102097" cy="1069777"/>
            <a:chOff x="5181600" y="5698585"/>
            <a:chExt cx="1102097" cy="1069777"/>
          </a:xfrm>
        </p:grpSpPr>
        <p:sp>
          <p:nvSpPr>
            <p:cNvPr id="312" name="Google Shape;312;p4"/>
            <p:cNvSpPr/>
            <p:nvPr/>
          </p:nvSpPr>
          <p:spPr>
            <a:xfrm>
              <a:off x="5181600" y="5698585"/>
              <a:ext cx="58657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AGCT</a:t>
              </a:r>
              <a:endParaRPr/>
            </a:p>
          </p:txBody>
        </p:sp>
        <p:sp>
          <p:nvSpPr>
            <p:cNvPr id="313" name="Google Shape;313;p4"/>
            <p:cNvSpPr/>
            <p:nvPr/>
          </p:nvSpPr>
          <p:spPr>
            <a:xfrm>
              <a:off x="5181600" y="5850985"/>
              <a:ext cx="69647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GCTC</a:t>
              </a:r>
              <a:endParaRPr/>
            </a:p>
          </p:txBody>
        </p:sp>
        <p:sp>
          <p:nvSpPr>
            <p:cNvPr id="314" name="Google Shape;314;p4"/>
            <p:cNvSpPr/>
            <p:nvPr/>
          </p:nvSpPr>
          <p:spPr>
            <a:xfrm>
              <a:off x="5181600" y="6003385"/>
              <a:ext cx="80708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CTCA</a:t>
              </a:r>
              <a:endParaRPr/>
            </a:p>
          </p:txBody>
        </p:sp>
        <p:sp>
          <p:nvSpPr>
            <p:cNvPr id="315" name="Google Shape;315;p4"/>
            <p:cNvSpPr/>
            <p:nvPr/>
          </p:nvSpPr>
          <p:spPr>
            <a:xfrm>
              <a:off x="5181600" y="6155785"/>
              <a:ext cx="90261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TCAG</a:t>
              </a:r>
              <a:endParaRPr/>
            </a:p>
          </p:txBody>
        </p:sp>
        <p:sp>
          <p:nvSpPr>
            <p:cNvPr id="316" name="Google Shape;316;p4"/>
            <p:cNvSpPr/>
            <p:nvPr/>
          </p:nvSpPr>
          <p:spPr>
            <a:xfrm>
              <a:off x="5181600" y="6308185"/>
              <a:ext cx="98552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CAGT</a:t>
              </a:r>
              <a:endParaRPr/>
            </a:p>
          </p:txBody>
        </p:sp>
        <p:sp>
          <p:nvSpPr>
            <p:cNvPr id="317" name="Google Shape;317;p4"/>
            <p:cNvSpPr/>
            <p:nvPr/>
          </p:nvSpPr>
          <p:spPr>
            <a:xfrm>
              <a:off x="5181600" y="6460585"/>
              <a:ext cx="110209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AGTC</a:t>
              </a:r>
              <a:endParaRPr/>
            </a:p>
          </p:txBody>
        </p:sp>
      </p:grpSp>
      <p:pic>
        <p:nvPicPr>
          <p:cNvPr id="318" name="Google Shape;31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93751" y="5143639"/>
            <a:ext cx="534263" cy="186435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4"/>
          <p:cNvSpPr/>
          <p:nvPr/>
        </p:nvSpPr>
        <p:spPr>
          <a:xfrm>
            <a:off x="5181600" y="5102423"/>
            <a:ext cx="175323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Substrings of length </a:t>
            </a:r>
            <a:r>
              <a:rPr i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4"/>
          <p:cNvSpPr/>
          <p:nvPr/>
        </p:nvSpPr>
        <p:spPr>
          <a:xfrm>
            <a:off x="234901" y="5359316"/>
            <a:ext cx="45077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talk here about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-mers and metagenomics</a:t>
            </a:r>
            <a:endParaRPr/>
          </a:p>
        </p:txBody>
      </p:sp>
      <p:sp>
        <p:nvSpPr>
          <p:cNvPr id="321" name="Google Shape;321;p4"/>
          <p:cNvSpPr/>
          <p:nvPr/>
        </p:nvSpPr>
        <p:spPr>
          <a:xfrm>
            <a:off x="238288" y="5752277"/>
            <a:ext cx="42844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FracMinHash is a general purpose approach</a:t>
            </a:r>
            <a:endParaRPr/>
          </a:p>
        </p:txBody>
      </p:sp>
      <p:sp>
        <p:nvSpPr>
          <p:cNvPr id="322" name="Google Shape;322;p4"/>
          <p:cNvSpPr/>
          <p:nvPr/>
        </p:nvSpPr>
        <p:spPr>
          <a:xfrm>
            <a:off x="240217" y="6145237"/>
            <a:ext cx="38201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Appropriate for numerous applications</a:t>
            </a:r>
            <a:endParaRPr/>
          </a:p>
        </p:txBody>
      </p:sp>
      <p:sp>
        <p:nvSpPr>
          <p:cNvPr id="323" name="Google Shape;323;p4"/>
          <p:cNvSpPr/>
          <p:nvPr/>
        </p:nvSpPr>
        <p:spPr>
          <a:xfrm>
            <a:off x="3121612" y="1916668"/>
            <a:ext cx="20599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FracMinHash sketch</a:t>
            </a:r>
            <a:endParaRPr/>
          </a:p>
        </p:txBody>
      </p:sp>
      <p:cxnSp>
        <p:nvCxnSpPr>
          <p:cNvPr id="324" name="Google Shape;324;p4"/>
          <p:cNvCxnSpPr/>
          <p:nvPr/>
        </p:nvCxnSpPr>
        <p:spPr>
          <a:xfrm>
            <a:off x="3202988" y="4287768"/>
            <a:ext cx="17526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5" name="Google Shape;325;p4"/>
          <p:cNvSpPr/>
          <p:nvPr/>
        </p:nvSpPr>
        <p:spPr>
          <a:xfrm>
            <a:off x="3048000" y="3962400"/>
            <a:ext cx="20599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FracMinHash sketch</a:t>
            </a:r>
            <a:endParaRPr/>
          </a:p>
        </p:txBody>
      </p:sp>
    </p:spTree>
  </p:cSld>
  <p:clrMapOvr>
    <a:masterClrMapping/>
  </p:clrMapOvr>
  <p:transition spd="med"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"/>
          <p:cNvSpPr/>
          <p:nvPr/>
        </p:nvSpPr>
        <p:spPr>
          <a:xfrm>
            <a:off x="7621911" y="1281834"/>
            <a:ext cx="2052690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CGACATGCTTGAAAA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TCCGGAGGGGCAATT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AGGTGCGGATCACTG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GCCTACGGCTGCTTT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CTTATTTTCGGCCTA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CTGATTTTTTCGAGG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GGGTCCTTAAATGGC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ACTCTCTGCGATTGC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TGGCACCAATGTCAC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CTGTCTTTTGTTATG</a:t>
            </a:r>
            <a:endParaRPr/>
          </a:p>
        </p:txBody>
      </p:sp>
      <p:sp>
        <p:nvSpPr>
          <p:cNvPr id="332" name="Google Shape;332;p5"/>
          <p:cNvSpPr/>
          <p:nvPr/>
        </p:nvSpPr>
        <p:spPr>
          <a:xfrm>
            <a:off x="7621589" y="4462772"/>
            <a:ext cx="2052690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CGACATGCTTGAAAA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ATCCTATACGTTCAG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AGGTGCGGATCACTG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ACCTATCGTTCGCGG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GCCTACGGCTGCTTT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CTGATTTTTTCGAGG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ACGTCGATATGCACT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ACTCTCTGCGATTGC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TTTTTGACACGACAA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TGGCACCAATGTCAC</a:t>
            </a:r>
            <a:endParaRPr/>
          </a:p>
        </p:txBody>
      </p:sp>
      <p:sp>
        <p:nvSpPr>
          <p:cNvPr id="333" name="Google Shape;333;p5"/>
          <p:cNvSpPr/>
          <p:nvPr/>
        </p:nvSpPr>
        <p:spPr>
          <a:xfrm>
            <a:off x="7621911" y="1281834"/>
            <a:ext cx="2052690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CGACATGCTTGAAAA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TCCGGAGGGGCAATT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AGGTGCGGATCACTG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GCCTACGGCTGCTTT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CTTATTTTCGGCCTA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CTGATTTTTTCGAGG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GGGTCCTTAAATGGC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ACTCTCTGCGATTGC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TGGCACCAATGTCAC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CTGTCTTTTGTTATG</a:t>
            </a:r>
            <a:endParaRPr/>
          </a:p>
        </p:txBody>
      </p:sp>
      <p:sp>
        <p:nvSpPr>
          <p:cNvPr descr=" 4098" id="334" name="Google Shape;334;p5"/>
          <p:cNvSpPr/>
          <p:nvPr/>
        </p:nvSpPr>
        <p:spPr>
          <a:xfrm>
            <a:off x="609600" y="1"/>
            <a:ext cx="7848600" cy="672860"/>
          </a:xfrm>
          <a:prstGeom prst="roundRect">
            <a:avLst>
              <a:gd fmla="val 16667" name="adj"/>
            </a:avLst>
          </a:prstGeom>
          <a:solidFill>
            <a:srgbClr val="00B8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Sourmash</a:t>
            </a:r>
            <a:endParaRPr sz="4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 4099" id="335" name="Google Shape;335;p5"/>
          <p:cNvSpPr/>
          <p:nvPr/>
        </p:nvSpPr>
        <p:spPr>
          <a:xfrm>
            <a:off x="0" y="843958"/>
            <a:ext cx="3048000" cy="475488"/>
          </a:xfrm>
          <a:prstGeom prst="roundRect">
            <a:avLst>
              <a:gd fmla="val 16667" name="adj"/>
            </a:avLst>
          </a:prstGeom>
          <a:solidFill>
            <a:srgbClr val="BFBFB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FracMinHash Intuition</a:t>
            </a:r>
            <a:endParaRPr/>
          </a:p>
        </p:txBody>
      </p:sp>
      <p:pic>
        <p:nvPicPr>
          <p:cNvPr descr="Black.png" id="336" name="Google Shape;33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27198" y="1524000"/>
            <a:ext cx="1533768" cy="15380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lackAndRed.png" id="337" name="Google Shape;33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1798" y="1600200"/>
            <a:ext cx="1533768" cy="15380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lue.png" id="338" name="Google Shape;33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23864" y="4382719"/>
            <a:ext cx="1514894" cy="15106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lueAndRed.png" id="339" name="Google Shape;339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82834" y="4402530"/>
            <a:ext cx="1514894" cy="1510686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5"/>
          <p:cNvSpPr/>
          <p:nvPr/>
        </p:nvSpPr>
        <p:spPr>
          <a:xfrm>
            <a:off x="4101060" y="4724400"/>
            <a:ext cx="112670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Randomly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sample</a:t>
            </a:r>
            <a:endParaRPr/>
          </a:p>
        </p:txBody>
      </p:sp>
      <p:cxnSp>
        <p:nvCxnSpPr>
          <p:cNvPr id="341" name="Google Shape;341;p5"/>
          <p:cNvCxnSpPr/>
          <p:nvPr/>
        </p:nvCxnSpPr>
        <p:spPr>
          <a:xfrm>
            <a:off x="4164454" y="5086652"/>
            <a:ext cx="833775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42" name="Google Shape;342;p5"/>
          <p:cNvCxnSpPr/>
          <p:nvPr/>
        </p:nvCxnSpPr>
        <p:spPr>
          <a:xfrm>
            <a:off x="6719453" y="5112399"/>
            <a:ext cx="946713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43" name="Google Shape;343;p5"/>
          <p:cNvSpPr/>
          <p:nvPr/>
        </p:nvSpPr>
        <p:spPr>
          <a:xfrm>
            <a:off x="6631909" y="4793389"/>
            <a:ext cx="103425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 of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sampled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k-mers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5"/>
          <p:cNvSpPr/>
          <p:nvPr/>
        </p:nvSpPr>
        <p:spPr>
          <a:xfrm>
            <a:off x="7952692" y="870734"/>
            <a:ext cx="8067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Sketch</a:t>
            </a:r>
            <a:endParaRPr/>
          </a:p>
        </p:txBody>
      </p:sp>
      <p:cxnSp>
        <p:nvCxnSpPr>
          <p:cNvPr id="345" name="Google Shape;345;p5"/>
          <p:cNvCxnSpPr/>
          <p:nvPr/>
        </p:nvCxnSpPr>
        <p:spPr>
          <a:xfrm>
            <a:off x="8398784" y="3254846"/>
            <a:ext cx="0" cy="1122483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346" name="Google Shape;346;p5"/>
          <p:cNvCxnSpPr/>
          <p:nvPr/>
        </p:nvCxnSpPr>
        <p:spPr>
          <a:xfrm>
            <a:off x="6719453" y="2190460"/>
            <a:ext cx="946713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47" name="Google Shape;347;p5"/>
          <p:cNvSpPr/>
          <p:nvPr/>
        </p:nvSpPr>
        <p:spPr>
          <a:xfrm>
            <a:off x="6631909" y="1871450"/>
            <a:ext cx="103425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 of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sampled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k-mers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5"/>
          <p:cNvSpPr/>
          <p:nvPr/>
        </p:nvSpPr>
        <p:spPr>
          <a:xfrm>
            <a:off x="4160966" y="1828800"/>
            <a:ext cx="112670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Randomly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sample</a:t>
            </a:r>
            <a:endParaRPr/>
          </a:p>
        </p:txBody>
      </p:sp>
      <p:cxnSp>
        <p:nvCxnSpPr>
          <p:cNvPr id="349" name="Google Shape;349;p5"/>
          <p:cNvCxnSpPr/>
          <p:nvPr/>
        </p:nvCxnSpPr>
        <p:spPr>
          <a:xfrm>
            <a:off x="4224360" y="2191052"/>
            <a:ext cx="833775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grpSp>
        <p:nvGrpSpPr>
          <p:cNvPr id="350" name="Google Shape;350;p5"/>
          <p:cNvGrpSpPr/>
          <p:nvPr/>
        </p:nvGrpSpPr>
        <p:grpSpPr>
          <a:xfrm>
            <a:off x="48716" y="1600200"/>
            <a:ext cx="1503255" cy="1049313"/>
            <a:chOff x="901076" y="3886200"/>
            <a:chExt cx="1503255" cy="1049313"/>
          </a:xfrm>
        </p:grpSpPr>
        <p:sp>
          <p:nvSpPr>
            <p:cNvPr id="351" name="Google Shape;351;p5"/>
            <p:cNvSpPr/>
            <p:nvPr/>
          </p:nvSpPr>
          <p:spPr>
            <a:xfrm>
              <a:off x="1489750" y="4222780"/>
              <a:ext cx="68121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Reads</a:t>
              </a:r>
              <a:endParaRPr/>
            </a:p>
          </p:txBody>
        </p:sp>
        <p:cxnSp>
          <p:nvCxnSpPr>
            <p:cNvPr id="352" name="Google Shape;352;p5"/>
            <p:cNvCxnSpPr/>
            <p:nvPr/>
          </p:nvCxnSpPr>
          <p:spPr>
            <a:xfrm flipH="1" rot="10800000">
              <a:off x="1364714" y="3886200"/>
              <a:ext cx="403940" cy="250053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3" name="Google Shape;353;p5"/>
            <p:cNvCxnSpPr/>
            <p:nvPr/>
          </p:nvCxnSpPr>
          <p:spPr>
            <a:xfrm>
              <a:off x="1138388" y="4136253"/>
              <a:ext cx="396484" cy="184919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4" name="Google Shape;354;p5"/>
            <p:cNvCxnSpPr/>
            <p:nvPr/>
          </p:nvCxnSpPr>
          <p:spPr>
            <a:xfrm>
              <a:off x="926299" y="4482880"/>
              <a:ext cx="369711" cy="186215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5" name="Google Shape;355;p5"/>
            <p:cNvCxnSpPr/>
            <p:nvPr/>
          </p:nvCxnSpPr>
          <p:spPr>
            <a:xfrm>
              <a:off x="1058698" y="4321172"/>
              <a:ext cx="317002" cy="188031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6" name="Google Shape;356;p5"/>
            <p:cNvCxnSpPr/>
            <p:nvPr/>
          </p:nvCxnSpPr>
          <p:spPr>
            <a:xfrm>
              <a:off x="901076" y="4675095"/>
              <a:ext cx="463638" cy="260418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7" name="Google Shape;357;p5"/>
            <p:cNvCxnSpPr/>
            <p:nvPr/>
          </p:nvCxnSpPr>
          <p:spPr>
            <a:xfrm>
              <a:off x="1615492" y="4545884"/>
              <a:ext cx="297355" cy="130209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8" name="Google Shape;358;p5"/>
            <p:cNvCxnSpPr/>
            <p:nvPr/>
          </p:nvCxnSpPr>
          <p:spPr>
            <a:xfrm>
              <a:off x="1912847" y="4497381"/>
              <a:ext cx="289514" cy="178712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9" name="Google Shape;359;p5"/>
            <p:cNvCxnSpPr/>
            <p:nvPr/>
          </p:nvCxnSpPr>
          <p:spPr>
            <a:xfrm flipH="1" rot="10800000">
              <a:off x="1640814" y="4044497"/>
              <a:ext cx="272033" cy="171728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0" name="Google Shape;360;p5"/>
            <p:cNvCxnSpPr/>
            <p:nvPr/>
          </p:nvCxnSpPr>
          <p:spPr>
            <a:xfrm flipH="1" rot="10800000">
              <a:off x="2000391" y="4025581"/>
              <a:ext cx="403940" cy="250053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1" name="Google Shape;361;p5"/>
            <p:cNvCxnSpPr/>
            <p:nvPr/>
          </p:nvCxnSpPr>
          <p:spPr>
            <a:xfrm>
              <a:off x="1295400" y="4757799"/>
              <a:ext cx="534956" cy="6946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2" name="Google Shape;362;p5"/>
            <p:cNvCxnSpPr/>
            <p:nvPr/>
          </p:nvCxnSpPr>
          <p:spPr>
            <a:xfrm>
              <a:off x="1473776" y="4932168"/>
              <a:ext cx="606107" cy="0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63" name="Google Shape;363;p5"/>
          <p:cNvSpPr/>
          <p:nvPr/>
        </p:nvSpPr>
        <p:spPr>
          <a:xfrm>
            <a:off x="1517905" y="1888215"/>
            <a:ext cx="85953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 all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K-mers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4" name="Google Shape;364;p5"/>
          <p:cNvCxnSpPr/>
          <p:nvPr/>
        </p:nvCxnSpPr>
        <p:spPr>
          <a:xfrm>
            <a:off x="1581299" y="2250467"/>
            <a:ext cx="833775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grpSp>
        <p:nvGrpSpPr>
          <p:cNvPr id="365" name="Google Shape;365;p5"/>
          <p:cNvGrpSpPr/>
          <p:nvPr/>
        </p:nvGrpSpPr>
        <p:grpSpPr>
          <a:xfrm>
            <a:off x="67149" y="4587742"/>
            <a:ext cx="1503255" cy="1049313"/>
            <a:chOff x="901076" y="3886200"/>
            <a:chExt cx="1503255" cy="1049313"/>
          </a:xfrm>
        </p:grpSpPr>
        <p:sp>
          <p:nvSpPr>
            <p:cNvPr id="366" name="Google Shape;366;p5"/>
            <p:cNvSpPr/>
            <p:nvPr/>
          </p:nvSpPr>
          <p:spPr>
            <a:xfrm>
              <a:off x="1489750" y="4222780"/>
              <a:ext cx="681212" cy="338554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Reads</a:t>
              </a:r>
              <a:endParaRPr/>
            </a:p>
          </p:txBody>
        </p:sp>
        <p:cxnSp>
          <p:nvCxnSpPr>
            <p:cNvPr id="367" name="Google Shape;367;p5"/>
            <p:cNvCxnSpPr/>
            <p:nvPr/>
          </p:nvCxnSpPr>
          <p:spPr>
            <a:xfrm flipH="1" rot="10800000">
              <a:off x="1364714" y="3886200"/>
              <a:ext cx="403940" cy="250053"/>
            </a:xfrm>
            <a:prstGeom prst="straightConnector1">
              <a:avLst/>
            </a:prstGeom>
            <a:noFill/>
            <a:ln cap="flat" cmpd="sng" w="571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8" name="Google Shape;368;p5"/>
            <p:cNvCxnSpPr/>
            <p:nvPr/>
          </p:nvCxnSpPr>
          <p:spPr>
            <a:xfrm>
              <a:off x="1138388" y="4136253"/>
              <a:ext cx="396484" cy="184919"/>
            </a:xfrm>
            <a:prstGeom prst="straightConnector1">
              <a:avLst/>
            </a:prstGeom>
            <a:noFill/>
            <a:ln cap="flat" cmpd="sng" w="571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9" name="Google Shape;369;p5"/>
            <p:cNvCxnSpPr/>
            <p:nvPr/>
          </p:nvCxnSpPr>
          <p:spPr>
            <a:xfrm>
              <a:off x="926299" y="4482880"/>
              <a:ext cx="369711" cy="186215"/>
            </a:xfrm>
            <a:prstGeom prst="straightConnector1">
              <a:avLst/>
            </a:prstGeom>
            <a:noFill/>
            <a:ln cap="flat" cmpd="sng" w="571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0" name="Google Shape;370;p5"/>
            <p:cNvCxnSpPr/>
            <p:nvPr/>
          </p:nvCxnSpPr>
          <p:spPr>
            <a:xfrm>
              <a:off x="1058698" y="4321172"/>
              <a:ext cx="317002" cy="188031"/>
            </a:xfrm>
            <a:prstGeom prst="straightConnector1">
              <a:avLst/>
            </a:prstGeom>
            <a:noFill/>
            <a:ln cap="flat" cmpd="sng" w="571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1" name="Google Shape;371;p5"/>
            <p:cNvCxnSpPr/>
            <p:nvPr/>
          </p:nvCxnSpPr>
          <p:spPr>
            <a:xfrm>
              <a:off x="901076" y="4675095"/>
              <a:ext cx="463638" cy="260418"/>
            </a:xfrm>
            <a:prstGeom prst="straightConnector1">
              <a:avLst/>
            </a:prstGeom>
            <a:noFill/>
            <a:ln cap="flat" cmpd="sng" w="571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2" name="Google Shape;372;p5"/>
            <p:cNvCxnSpPr/>
            <p:nvPr/>
          </p:nvCxnSpPr>
          <p:spPr>
            <a:xfrm>
              <a:off x="1615492" y="4545884"/>
              <a:ext cx="297355" cy="130209"/>
            </a:xfrm>
            <a:prstGeom prst="straightConnector1">
              <a:avLst/>
            </a:prstGeom>
            <a:noFill/>
            <a:ln cap="flat" cmpd="sng" w="571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3" name="Google Shape;373;p5"/>
            <p:cNvCxnSpPr/>
            <p:nvPr/>
          </p:nvCxnSpPr>
          <p:spPr>
            <a:xfrm>
              <a:off x="1912847" y="4497381"/>
              <a:ext cx="289514" cy="178712"/>
            </a:xfrm>
            <a:prstGeom prst="straightConnector1">
              <a:avLst/>
            </a:prstGeom>
            <a:noFill/>
            <a:ln cap="flat" cmpd="sng" w="571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4" name="Google Shape;374;p5"/>
            <p:cNvCxnSpPr/>
            <p:nvPr/>
          </p:nvCxnSpPr>
          <p:spPr>
            <a:xfrm flipH="1" rot="10800000">
              <a:off x="1640814" y="4044497"/>
              <a:ext cx="272033" cy="171728"/>
            </a:xfrm>
            <a:prstGeom prst="straightConnector1">
              <a:avLst/>
            </a:prstGeom>
            <a:noFill/>
            <a:ln cap="flat" cmpd="sng" w="571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5" name="Google Shape;375;p5"/>
            <p:cNvCxnSpPr/>
            <p:nvPr/>
          </p:nvCxnSpPr>
          <p:spPr>
            <a:xfrm flipH="1" rot="10800000">
              <a:off x="2000391" y="4025581"/>
              <a:ext cx="403940" cy="250053"/>
            </a:xfrm>
            <a:prstGeom prst="straightConnector1">
              <a:avLst/>
            </a:prstGeom>
            <a:noFill/>
            <a:ln cap="flat" cmpd="sng" w="571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6" name="Google Shape;376;p5"/>
            <p:cNvCxnSpPr/>
            <p:nvPr/>
          </p:nvCxnSpPr>
          <p:spPr>
            <a:xfrm>
              <a:off x="1295400" y="4757799"/>
              <a:ext cx="534956" cy="6946"/>
            </a:xfrm>
            <a:prstGeom prst="straightConnector1">
              <a:avLst/>
            </a:prstGeom>
            <a:noFill/>
            <a:ln cap="flat" cmpd="sng" w="571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7" name="Google Shape;377;p5"/>
            <p:cNvCxnSpPr/>
            <p:nvPr/>
          </p:nvCxnSpPr>
          <p:spPr>
            <a:xfrm>
              <a:off x="1473776" y="4932168"/>
              <a:ext cx="606107" cy="0"/>
            </a:xfrm>
            <a:prstGeom prst="straightConnector1">
              <a:avLst/>
            </a:prstGeom>
            <a:noFill/>
            <a:ln cap="flat" cmpd="sng" w="571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78" name="Google Shape;378;p5"/>
          <p:cNvSpPr/>
          <p:nvPr/>
        </p:nvSpPr>
        <p:spPr>
          <a:xfrm>
            <a:off x="1536338" y="4875757"/>
            <a:ext cx="85953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 all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K-mers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9" name="Google Shape;379;p5"/>
          <p:cNvCxnSpPr/>
          <p:nvPr/>
        </p:nvCxnSpPr>
        <p:spPr>
          <a:xfrm>
            <a:off x="1599732" y="5238009"/>
            <a:ext cx="833775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grpSp>
        <p:nvGrpSpPr>
          <p:cNvPr id="380" name="Google Shape;380;p5"/>
          <p:cNvGrpSpPr/>
          <p:nvPr/>
        </p:nvGrpSpPr>
        <p:grpSpPr>
          <a:xfrm>
            <a:off x="2563013" y="3364468"/>
            <a:ext cx="3758658" cy="369332"/>
            <a:chOff x="2563013" y="3364468"/>
            <a:chExt cx="3758658" cy="369332"/>
          </a:xfrm>
        </p:grpSpPr>
        <p:pic>
          <p:nvPicPr>
            <p:cNvPr descr="Shape&#10;&#10;Description automatically generated with medium confidence" id="381" name="Google Shape;381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031749" y="3426113"/>
              <a:ext cx="1255923" cy="24604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2" name="Google Shape;382;p5"/>
            <p:cNvSpPr/>
            <p:nvPr/>
          </p:nvSpPr>
          <p:spPr>
            <a:xfrm>
              <a:off x="2563013" y="3364468"/>
              <a:ext cx="375865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Some fraction,                         of k-mers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3" name="Google Shape;383;p5"/>
          <p:cNvSpPr/>
          <p:nvPr/>
        </p:nvSpPr>
        <p:spPr>
          <a:xfrm>
            <a:off x="6412800" y="3594012"/>
            <a:ext cx="19986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Overlap = similarity</a:t>
            </a:r>
            <a:endParaRPr/>
          </a:p>
        </p:txBody>
      </p:sp>
      <p:sp>
        <p:nvSpPr>
          <p:cNvPr id="384" name="Google Shape;384;p5"/>
          <p:cNvSpPr/>
          <p:nvPr/>
        </p:nvSpPr>
        <p:spPr>
          <a:xfrm>
            <a:off x="7621589" y="4462772"/>
            <a:ext cx="2052690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CGACATGCTTGAAAA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ATCCTATACGTTCAG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AGGTGCGGATCACTG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ACCTATCGTTCGCGG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GCCTACGGCTGCTTT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CTGATTTTTTCGAGG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ACGTCGATATGCACT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ACTCTCTGCGATTGC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TTTTTGACACGACAA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TGGCACCAATGTCAC</a:t>
            </a:r>
            <a:endParaRPr/>
          </a:p>
        </p:txBody>
      </p:sp>
      <p:sp>
        <p:nvSpPr>
          <p:cNvPr id="385" name="Google Shape;38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6"/>
          <p:cNvSpPr/>
          <p:nvPr/>
        </p:nvSpPr>
        <p:spPr>
          <a:xfrm>
            <a:off x="4216057" y="5788039"/>
            <a:ext cx="111149" cy="155561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 4098" id="392" name="Google Shape;392;p6"/>
          <p:cNvSpPr/>
          <p:nvPr/>
        </p:nvSpPr>
        <p:spPr>
          <a:xfrm>
            <a:off x="609600" y="1"/>
            <a:ext cx="7848600" cy="672860"/>
          </a:xfrm>
          <a:prstGeom prst="roundRect">
            <a:avLst>
              <a:gd fmla="val 16667" name="adj"/>
            </a:avLst>
          </a:prstGeom>
          <a:solidFill>
            <a:srgbClr val="00B8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Sourmash</a:t>
            </a:r>
            <a:endParaRPr sz="4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 4099" id="393" name="Google Shape;393;p6"/>
          <p:cNvSpPr/>
          <p:nvPr/>
        </p:nvSpPr>
        <p:spPr>
          <a:xfrm>
            <a:off x="0" y="843958"/>
            <a:ext cx="3076434" cy="475488"/>
          </a:xfrm>
          <a:prstGeom prst="roundRect">
            <a:avLst>
              <a:gd fmla="val 16667" name="adj"/>
            </a:avLst>
          </a:prstGeom>
          <a:solidFill>
            <a:srgbClr val="BFBFB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FracMinHash Definition</a:t>
            </a:r>
            <a:endParaRPr/>
          </a:p>
        </p:txBody>
      </p:sp>
      <p:pic>
        <p:nvPicPr>
          <p:cNvPr descr="Shape&#10;&#10;Description automatically generated with medium confidence" id="394" name="Google Shape;39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5635" y="1443810"/>
            <a:ext cx="1255923" cy="2460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5400" y="3302469"/>
            <a:ext cx="6121718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83155" y="1998930"/>
            <a:ext cx="2875408" cy="313566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6"/>
          <p:cNvSpPr/>
          <p:nvPr/>
        </p:nvSpPr>
        <p:spPr>
          <a:xfrm>
            <a:off x="2721" y="1382165"/>
            <a:ext cx="7806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Scale: </a:t>
            </a:r>
            <a:endParaRPr/>
          </a:p>
        </p:txBody>
      </p:sp>
      <p:sp>
        <p:nvSpPr>
          <p:cNvPr id="398" name="Google Shape;398;p6"/>
          <p:cNvSpPr/>
          <p:nvPr/>
        </p:nvSpPr>
        <p:spPr>
          <a:xfrm>
            <a:off x="2057400" y="1382165"/>
            <a:ext cx="275325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i.e. how much compression</a:t>
            </a:r>
            <a:endParaRPr/>
          </a:p>
        </p:txBody>
      </p:sp>
      <p:sp>
        <p:nvSpPr>
          <p:cNvPr id="399" name="Google Shape;399;p6"/>
          <p:cNvSpPr/>
          <p:nvPr/>
        </p:nvSpPr>
        <p:spPr>
          <a:xfrm>
            <a:off x="2721" y="1971047"/>
            <a:ext cx="16049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Hash function: </a:t>
            </a:r>
            <a:endParaRPr/>
          </a:p>
        </p:txBody>
      </p:sp>
      <p:sp>
        <p:nvSpPr>
          <p:cNvPr id="400" name="Google Shape;400;p6"/>
          <p:cNvSpPr/>
          <p:nvPr/>
        </p:nvSpPr>
        <p:spPr>
          <a:xfrm>
            <a:off x="4495800" y="1971047"/>
            <a:ext cx="26854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does the random sampling</a:t>
            </a:r>
            <a:endParaRPr/>
          </a:p>
        </p:txBody>
      </p:sp>
      <p:sp>
        <p:nvSpPr>
          <p:cNvPr id="401" name="Google Shape;401;p6"/>
          <p:cNvSpPr/>
          <p:nvPr/>
        </p:nvSpPr>
        <p:spPr>
          <a:xfrm>
            <a:off x="2721" y="2626395"/>
            <a:ext cx="22010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FracMinHash sketch</a:t>
            </a:r>
            <a:r>
              <a:rPr baseline="30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</p:txBody>
      </p:sp>
      <p:cxnSp>
        <p:nvCxnSpPr>
          <p:cNvPr id="402" name="Google Shape;402;p6"/>
          <p:cNvCxnSpPr/>
          <p:nvPr/>
        </p:nvCxnSpPr>
        <p:spPr>
          <a:xfrm rot="10800000">
            <a:off x="2667000" y="3657600"/>
            <a:ext cx="0" cy="5334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03" name="Google Shape;403;p6"/>
          <p:cNvCxnSpPr/>
          <p:nvPr/>
        </p:nvCxnSpPr>
        <p:spPr>
          <a:xfrm rot="10800000">
            <a:off x="3733800" y="3733800"/>
            <a:ext cx="0" cy="10668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04" name="Google Shape;404;p6"/>
          <p:cNvCxnSpPr/>
          <p:nvPr/>
        </p:nvCxnSpPr>
        <p:spPr>
          <a:xfrm rot="10800000">
            <a:off x="6629400" y="3733800"/>
            <a:ext cx="0" cy="5334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05" name="Google Shape;405;p6"/>
          <p:cNvSpPr/>
          <p:nvPr/>
        </p:nvSpPr>
        <p:spPr>
          <a:xfrm>
            <a:off x="1981200" y="4191000"/>
            <a:ext cx="142019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of k-mers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6"/>
          <p:cNvSpPr/>
          <p:nvPr/>
        </p:nvSpPr>
        <p:spPr>
          <a:xfrm>
            <a:off x="3124245" y="4778031"/>
            <a:ext cx="12953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Hash values</a:t>
            </a:r>
            <a:endParaRPr/>
          </a:p>
        </p:txBody>
      </p:sp>
      <p:sp>
        <p:nvSpPr>
          <p:cNvPr id="407" name="Google Shape;407;p6"/>
          <p:cNvSpPr/>
          <p:nvPr/>
        </p:nvSpPr>
        <p:spPr>
          <a:xfrm>
            <a:off x="5638800" y="4223159"/>
            <a:ext cx="216193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Below some fraction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the max</a:t>
            </a:r>
            <a:endParaRPr/>
          </a:p>
        </p:txBody>
      </p:sp>
      <p:sp>
        <p:nvSpPr>
          <p:cNvPr id="408" name="Google Shape;408;p6"/>
          <p:cNvSpPr/>
          <p:nvPr/>
        </p:nvSpPr>
        <p:spPr>
          <a:xfrm>
            <a:off x="152400" y="5158241"/>
            <a:ext cx="1630948" cy="1471160"/>
          </a:xfrm>
          <a:prstGeom prst="ellipse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9" name="Google Shape;409;p6"/>
          <p:cNvCxnSpPr/>
          <p:nvPr/>
        </p:nvCxnSpPr>
        <p:spPr>
          <a:xfrm flipH="1" rot="10800000">
            <a:off x="375833" y="5302277"/>
            <a:ext cx="403940" cy="250053"/>
          </a:xfrm>
          <a:prstGeom prst="straightConnector1">
            <a:avLst/>
          </a:prstGeom>
          <a:noFill/>
          <a:ln cap="flat" cmpd="sng" w="57150">
            <a:solidFill>
              <a:srgbClr val="3A3A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0" name="Google Shape;410;p6"/>
          <p:cNvCxnSpPr/>
          <p:nvPr/>
        </p:nvCxnSpPr>
        <p:spPr>
          <a:xfrm flipH="1" rot="10800000">
            <a:off x="1303209" y="5820113"/>
            <a:ext cx="403940" cy="250053"/>
          </a:xfrm>
          <a:prstGeom prst="straightConnector1">
            <a:avLst/>
          </a:prstGeom>
          <a:noFill/>
          <a:ln cap="flat" cmpd="sng" w="571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1" name="Google Shape;411;p6"/>
          <p:cNvCxnSpPr/>
          <p:nvPr/>
        </p:nvCxnSpPr>
        <p:spPr>
          <a:xfrm flipH="1" rot="10800000">
            <a:off x="730883" y="5320714"/>
            <a:ext cx="403940" cy="250053"/>
          </a:xfrm>
          <a:prstGeom prst="straightConnector1">
            <a:avLst/>
          </a:prstGeom>
          <a:noFill/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2" name="Google Shape;412;p6"/>
          <p:cNvCxnSpPr/>
          <p:nvPr/>
        </p:nvCxnSpPr>
        <p:spPr>
          <a:xfrm flipH="1" rot="10800000">
            <a:off x="581107" y="6030741"/>
            <a:ext cx="403940" cy="250053"/>
          </a:xfrm>
          <a:prstGeom prst="straightConnector1">
            <a:avLst/>
          </a:prstGeom>
          <a:noFill/>
          <a:ln cap="flat" cmpd="sng" w="57150">
            <a:solidFill>
              <a:srgbClr val="FABF8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3" name="Google Shape;413;p6"/>
          <p:cNvCxnSpPr/>
          <p:nvPr/>
        </p:nvCxnSpPr>
        <p:spPr>
          <a:xfrm flipH="1" rot="10800000">
            <a:off x="1030285" y="5519729"/>
            <a:ext cx="403940" cy="250053"/>
          </a:xfrm>
          <a:prstGeom prst="straightConnector1">
            <a:avLst/>
          </a:prstGeom>
          <a:noFill/>
          <a:ln cap="flat" cmpd="sng" w="57150">
            <a:solidFill>
              <a:srgbClr val="CCCC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14" name="Google Shape;414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344710" y="5862794"/>
            <a:ext cx="5820212" cy="590105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6"/>
          <p:cNvSpPr/>
          <p:nvPr/>
        </p:nvSpPr>
        <p:spPr>
          <a:xfrm>
            <a:off x="3554401" y="6523096"/>
            <a:ext cx="788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=20%</a:t>
            </a:r>
            <a:endParaRPr/>
          </a:p>
        </p:txBody>
      </p:sp>
      <p:cxnSp>
        <p:nvCxnSpPr>
          <p:cNvPr id="416" name="Google Shape;416;p6"/>
          <p:cNvCxnSpPr>
            <a:endCxn id="391" idx="0"/>
          </p:cNvCxnSpPr>
          <p:nvPr/>
        </p:nvCxnSpPr>
        <p:spPr>
          <a:xfrm>
            <a:off x="1455232" y="5519839"/>
            <a:ext cx="2816400" cy="268200"/>
          </a:xfrm>
          <a:prstGeom prst="bentConnector2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17" name="Google Shape;417;p6"/>
          <p:cNvSpPr/>
          <p:nvPr/>
        </p:nvSpPr>
        <p:spPr>
          <a:xfrm>
            <a:off x="3020859" y="5788039"/>
            <a:ext cx="111149" cy="155561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6"/>
          <p:cNvSpPr/>
          <p:nvPr/>
        </p:nvSpPr>
        <p:spPr>
          <a:xfrm>
            <a:off x="3618458" y="5788039"/>
            <a:ext cx="111149" cy="155561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6"/>
          <p:cNvSpPr/>
          <p:nvPr/>
        </p:nvSpPr>
        <p:spPr>
          <a:xfrm>
            <a:off x="4813656" y="5788039"/>
            <a:ext cx="111149" cy="155561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6"/>
          <p:cNvSpPr/>
          <p:nvPr/>
        </p:nvSpPr>
        <p:spPr>
          <a:xfrm>
            <a:off x="5411255" y="5788039"/>
            <a:ext cx="111149" cy="155561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6"/>
          <p:cNvSpPr/>
          <p:nvPr/>
        </p:nvSpPr>
        <p:spPr>
          <a:xfrm>
            <a:off x="6008854" y="5788039"/>
            <a:ext cx="111149" cy="155561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6"/>
          <p:cNvSpPr/>
          <p:nvPr/>
        </p:nvSpPr>
        <p:spPr>
          <a:xfrm>
            <a:off x="6606453" y="5788039"/>
            <a:ext cx="111149" cy="155561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6"/>
          <p:cNvSpPr/>
          <p:nvPr/>
        </p:nvSpPr>
        <p:spPr>
          <a:xfrm>
            <a:off x="7204051" y="5788039"/>
            <a:ext cx="111149" cy="155561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4" name="Google Shape;424;p6"/>
          <p:cNvCxnSpPr>
            <a:endCxn id="419" idx="0"/>
          </p:cNvCxnSpPr>
          <p:nvPr/>
        </p:nvCxnSpPr>
        <p:spPr>
          <a:xfrm flipH="1" rot="10800000">
            <a:off x="1707231" y="5788039"/>
            <a:ext cx="3162000" cy="74700"/>
          </a:xfrm>
          <a:prstGeom prst="bentConnector4">
            <a:avLst>
              <a:gd fmla="val 602" name="adj1"/>
              <a:gd fmla="val 406024" name="adj2"/>
            </a:avLst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25" name="Google Shape;425;p6"/>
          <p:cNvCxnSpPr>
            <a:endCxn id="417" idx="0"/>
          </p:cNvCxnSpPr>
          <p:nvPr/>
        </p:nvCxnSpPr>
        <p:spPr>
          <a:xfrm flipH="1" rot="10800000">
            <a:off x="978234" y="5788039"/>
            <a:ext cx="2098200" cy="242700"/>
          </a:xfrm>
          <a:prstGeom prst="bentConnector4">
            <a:avLst>
              <a:gd fmla="val 48676" name="adj1"/>
              <a:gd fmla="val 167407" name="adj2"/>
            </a:avLst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26" name="Google Shape;426;p6"/>
          <p:cNvCxnSpPr>
            <a:endCxn id="422" idx="0"/>
          </p:cNvCxnSpPr>
          <p:nvPr/>
        </p:nvCxnSpPr>
        <p:spPr>
          <a:xfrm>
            <a:off x="1134828" y="5320639"/>
            <a:ext cx="5527200" cy="467400"/>
          </a:xfrm>
          <a:prstGeom prst="bentConnector2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27" name="Google Shape;427;p6"/>
          <p:cNvCxnSpPr>
            <a:endCxn id="418" idx="0"/>
          </p:cNvCxnSpPr>
          <p:nvPr/>
        </p:nvCxnSpPr>
        <p:spPr>
          <a:xfrm>
            <a:off x="779633" y="5302339"/>
            <a:ext cx="2894400" cy="485700"/>
          </a:xfrm>
          <a:prstGeom prst="bentConnector2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28" name="Google Shape;428;p6"/>
          <p:cNvSpPr/>
          <p:nvPr/>
        </p:nvSpPr>
        <p:spPr>
          <a:xfrm>
            <a:off x="7391400" y="6393700"/>
            <a:ext cx="3289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/>
          </a:p>
        </p:txBody>
      </p:sp>
      <p:sp>
        <p:nvSpPr>
          <p:cNvPr id="429" name="Google Shape;429;p6"/>
          <p:cNvSpPr/>
          <p:nvPr/>
        </p:nvSpPr>
        <p:spPr>
          <a:xfrm>
            <a:off x="530472" y="4764495"/>
            <a:ext cx="8411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K-mers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0" name="Google Shape;430;p6"/>
          <p:cNvPicPr preferRelativeResize="0"/>
          <p:nvPr/>
        </p:nvPicPr>
        <p:blipFill rotWithShape="1">
          <a:blip r:embed="rId5">
            <a:alphaModFix/>
          </a:blip>
          <a:srcRect b="1254" l="0" r="94091" t="0"/>
          <a:stretch/>
        </p:blipFill>
        <p:spPr>
          <a:xfrm>
            <a:off x="2019387" y="4971655"/>
            <a:ext cx="169906" cy="309634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6"/>
          <p:cNvSpPr/>
          <p:nvPr/>
        </p:nvSpPr>
        <p:spPr>
          <a:xfrm rot="-5400000">
            <a:off x="3298039" y="6175048"/>
            <a:ext cx="172350" cy="709871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6"/>
          <p:cNvSpPr/>
          <p:nvPr/>
        </p:nvSpPr>
        <p:spPr>
          <a:xfrm>
            <a:off x="2971800" y="6569628"/>
            <a:ext cx="7791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sketch</a:t>
            </a:r>
            <a:endParaRPr/>
          </a:p>
        </p:txBody>
      </p:sp>
      <p:cxnSp>
        <p:nvCxnSpPr>
          <p:cNvPr id="433" name="Google Shape;433;p6"/>
          <p:cNvCxnSpPr/>
          <p:nvPr/>
        </p:nvCxnSpPr>
        <p:spPr>
          <a:xfrm rot="10800000">
            <a:off x="3886200" y="5769782"/>
            <a:ext cx="0" cy="816747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4" name="Google Shape;434;p6"/>
          <p:cNvSpPr/>
          <p:nvPr/>
        </p:nvSpPr>
        <p:spPr>
          <a:xfrm>
            <a:off x="0" y="6519446"/>
            <a:ext cx="568565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lang="en-US" sz="1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https://twitter.com/ctitusbrown/status/1465360407518928909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435" name="Google Shape;435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 4098" id="441" name="Google Shape;441;p7"/>
          <p:cNvSpPr/>
          <p:nvPr/>
        </p:nvSpPr>
        <p:spPr>
          <a:xfrm>
            <a:off x="609600" y="1"/>
            <a:ext cx="7848600" cy="672860"/>
          </a:xfrm>
          <a:prstGeom prst="roundRect">
            <a:avLst>
              <a:gd fmla="val 16667" name="adj"/>
            </a:avLst>
          </a:prstGeom>
          <a:solidFill>
            <a:srgbClr val="00B8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FracMinHash</a:t>
            </a:r>
            <a:endParaRPr sz="4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 4099" id="442" name="Google Shape;442;p7"/>
          <p:cNvSpPr/>
          <p:nvPr/>
        </p:nvSpPr>
        <p:spPr>
          <a:xfrm>
            <a:off x="1" y="804627"/>
            <a:ext cx="1576202" cy="475488"/>
          </a:xfrm>
          <a:prstGeom prst="roundRect">
            <a:avLst>
              <a:gd fmla="val 16667" name="adj"/>
            </a:avLst>
          </a:prstGeom>
          <a:solidFill>
            <a:srgbClr val="BFBFB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Generality</a:t>
            </a:r>
            <a:endParaRPr/>
          </a:p>
        </p:txBody>
      </p:sp>
      <p:sp>
        <p:nvSpPr>
          <p:cNvPr id="443" name="Google Shape;443;p7"/>
          <p:cNvSpPr/>
          <p:nvPr/>
        </p:nvSpPr>
        <p:spPr>
          <a:xfrm>
            <a:off x="1600200" y="857705"/>
            <a:ext cx="53654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use FracMinHash sketches to measure many things</a:t>
            </a:r>
            <a:endParaRPr baseline="30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7"/>
          <p:cNvSpPr/>
          <p:nvPr/>
        </p:nvSpPr>
        <p:spPr>
          <a:xfrm>
            <a:off x="-28903" y="1422955"/>
            <a:ext cx="16547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ANI estimation</a:t>
            </a:r>
            <a:r>
              <a:rPr baseline="30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45" name="Google Shape;445;p7"/>
          <p:cNvSpPr/>
          <p:nvPr/>
        </p:nvSpPr>
        <p:spPr>
          <a:xfrm>
            <a:off x="-28903" y="3051339"/>
            <a:ext cx="18134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dNdS estimation</a:t>
            </a:r>
            <a:r>
              <a:rPr baseline="30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446" name="Google Shape;446;p7"/>
          <p:cNvSpPr/>
          <p:nvPr/>
        </p:nvSpPr>
        <p:spPr>
          <a:xfrm>
            <a:off x="-28903" y="1830051"/>
            <a:ext cx="43273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Cosine similarity &amp; other metric estimation</a:t>
            </a:r>
            <a:r>
              <a:rPr baseline="30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47" name="Google Shape;447;p7"/>
          <p:cNvSpPr/>
          <p:nvPr/>
        </p:nvSpPr>
        <p:spPr>
          <a:xfrm>
            <a:off x="-28903" y="2644243"/>
            <a:ext cx="33954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Metagenomic functional profiling</a:t>
            </a:r>
            <a:r>
              <a:rPr baseline="30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448" name="Google Shape;448;p7"/>
          <p:cNvSpPr txBox="1"/>
          <p:nvPr/>
        </p:nvSpPr>
        <p:spPr>
          <a:xfrm>
            <a:off x="-31531" y="3896380"/>
            <a:ext cx="914137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1. Hera, M. R., Pierce-Ward, N. T., &amp; Koslicki, D. (2023). Deriving confidence intervals for mutation rates across a wide range of evolutionary distances using FracMinHash. </a:t>
            </a:r>
            <a:r>
              <a:rPr b="0" i="1" lang="en-US" sz="14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Genome research</a:t>
            </a:r>
            <a:r>
              <a:rPr b="0" i="0" lang="en-US" sz="14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 </a:t>
            </a:r>
            <a:r>
              <a:rPr b="0" i="1" lang="en-US" sz="14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33</a:t>
            </a:r>
            <a:r>
              <a:rPr b="0" i="0" lang="en-US" sz="14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(7), 1061-1068.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7"/>
          <p:cNvSpPr txBox="1"/>
          <p:nvPr/>
        </p:nvSpPr>
        <p:spPr>
          <a:xfrm>
            <a:off x="-31531" y="6119336"/>
            <a:ext cx="9141372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5. Irber, L., Pierce-Ward, N. T., Abuelanin, M., Alexander, H., Anant, A., Barve, K., ... &amp; Brown, C. T. (2024). sourmash v4: A multitool to quickly search, compare, and analyze genomic and metagenomic data sets. </a:t>
            </a:r>
            <a:r>
              <a:rPr b="0" i="1" lang="en-US" sz="14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Journal of Open Source Software</a:t>
            </a:r>
            <a:r>
              <a:rPr b="0" i="0" lang="en-US" sz="14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 </a:t>
            </a:r>
            <a:r>
              <a:rPr b="0" i="1" lang="en-US" sz="14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9</a:t>
            </a:r>
            <a:r>
              <a:rPr b="0" i="0" lang="en-US" sz="14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(98), 6830.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7"/>
          <p:cNvSpPr txBox="1"/>
          <p:nvPr/>
        </p:nvSpPr>
        <p:spPr>
          <a:xfrm>
            <a:off x="-31531" y="5007858"/>
            <a:ext cx="9144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3. Hera, M. R., Liu, S., Wei, W., Rodriguez, J. S., Ma, C., &amp; Koslicki, D. (2023). </a:t>
            </a:r>
            <a:r>
              <a:rPr b="0" i="0" lang="en-US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Metagenomic functional profiling: to sketch or not to sketch?</a:t>
            </a:r>
            <a:r>
              <a:rPr b="0" i="0" lang="en-US" sz="14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0" i="1" lang="en-US" sz="14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ECCB 2024</a:t>
            </a:r>
            <a:r>
              <a:rPr b="0" i="0" lang="en-US" sz="14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 In Press.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7"/>
          <p:cNvSpPr txBox="1"/>
          <p:nvPr/>
        </p:nvSpPr>
        <p:spPr>
          <a:xfrm>
            <a:off x="-31531" y="4452119"/>
            <a:ext cx="914137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2. Hera, M. R., &amp; Koslicki, D. (2024). Cosine Similarity Estimation Using FracMinHash: Theoretical Analysis, Safety Conditions, and Implementation. </a:t>
            </a:r>
            <a:r>
              <a:rPr b="0" i="1" lang="en-US" sz="14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WABI 2024, </a:t>
            </a:r>
            <a:r>
              <a:rPr b="0" lang="en-US" sz="14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 Press</a:t>
            </a:r>
            <a:r>
              <a:rPr b="0" i="0" lang="en-US" sz="14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7"/>
          <p:cNvSpPr txBox="1"/>
          <p:nvPr/>
        </p:nvSpPr>
        <p:spPr>
          <a:xfrm>
            <a:off x="-31531" y="5563597"/>
            <a:ext cx="914137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4. Rodriguez, J.S., Hera, M. R., &amp; Koslicki, D. (2024). Estimating nonsynonymous to synonymous mutation rates with FracMinHash. </a:t>
            </a:r>
            <a:r>
              <a:rPr i="1" lang="en-US" sz="14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 progress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7"/>
          <p:cNvSpPr/>
          <p:nvPr/>
        </p:nvSpPr>
        <p:spPr>
          <a:xfrm>
            <a:off x="-28903" y="2237147"/>
            <a:ext cx="33441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Metagenomic taxonomic profiling</a:t>
            </a:r>
            <a:endParaRPr baseline="30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7"/>
          <p:cNvSpPr/>
          <p:nvPr/>
        </p:nvSpPr>
        <p:spPr>
          <a:xfrm>
            <a:off x="-28903" y="3458435"/>
            <a:ext cx="584340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User-friendly tooling</a:t>
            </a:r>
            <a:r>
              <a:rPr baseline="30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Sourmash</a:t>
            </a:r>
            <a:endParaRPr baseline="30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 4099" id="460" name="Google Shape;460;p8"/>
          <p:cNvSpPr/>
          <p:nvPr/>
        </p:nvSpPr>
        <p:spPr>
          <a:xfrm>
            <a:off x="0" y="1981200"/>
            <a:ext cx="3971636" cy="6858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YACHT</a:t>
            </a:r>
            <a:endParaRPr/>
          </a:p>
        </p:txBody>
      </p:sp>
      <p:sp>
        <p:nvSpPr>
          <p:cNvPr descr=" 4098" id="461" name="Google Shape;461;p8"/>
          <p:cNvSpPr/>
          <p:nvPr/>
        </p:nvSpPr>
        <p:spPr>
          <a:xfrm>
            <a:off x="416505" y="0"/>
            <a:ext cx="8310990" cy="829527"/>
          </a:xfrm>
          <a:prstGeom prst="roundRect">
            <a:avLst>
              <a:gd fmla="val 16667" name="adj"/>
            </a:avLst>
          </a:prstGeom>
          <a:solidFill>
            <a:srgbClr val="00B8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YACHT: </a:t>
            </a:r>
            <a:r>
              <a:rPr b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es/No </a:t>
            </a:r>
            <a:r>
              <a:rPr b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nswers to </a:t>
            </a:r>
            <a:r>
              <a:rPr b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ommunity </a:t>
            </a:r>
            <a:endParaRPr/>
          </a:p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membership via </a:t>
            </a:r>
            <a:r>
              <a:rPr b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ypothesis </a:t>
            </a:r>
            <a:r>
              <a:rPr b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esting</a:t>
            </a:r>
            <a:endParaRPr/>
          </a:p>
        </p:txBody>
      </p:sp>
      <p:sp>
        <p:nvSpPr>
          <p:cNvPr descr=" 4099" id="462" name="Google Shape;462;p8"/>
          <p:cNvSpPr/>
          <p:nvPr/>
        </p:nvSpPr>
        <p:spPr>
          <a:xfrm>
            <a:off x="0" y="2895600"/>
            <a:ext cx="3971636" cy="6858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Experiments</a:t>
            </a:r>
            <a:endParaRPr/>
          </a:p>
        </p:txBody>
      </p:sp>
      <p:sp>
        <p:nvSpPr>
          <p:cNvPr descr=" 4099" id="463" name="Google Shape;463;p8"/>
          <p:cNvSpPr/>
          <p:nvPr/>
        </p:nvSpPr>
        <p:spPr>
          <a:xfrm>
            <a:off x="0" y="1066800"/>
            <a:ext cx="3971636" cy="685800"/>
          </a:xfrm>
          <a:prstGeom prst="roundRect">
            <a:avLst>
              <a:gd fmla="val 16667" name="adj"/>
            </a:avLst>
          </a:prstGeom>
          <a:solidFill>
            <a:srgbClr val="BFBFB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endParaRPr/>
          </a:p>
        </p:txBody>
      </p:sp>
      <p:sp>
        <p:nvSpPr>
          <p:cNvPr descr=" 4099" id="464" name="Google Shape;464;p8"/>
          <p:cNvSpPr/>
          <p:nvPr/>
        </p:nvSpPr>
        <p:spPr>
          <a:xfrm>
            <a:off x="0" y="3810000"/>
            <a:ext cx="3971636" cy="6858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Code &amp; Conclusion</a:t>
            </a:r>
            <a:endParaRPr/>
          </a:p>
        </p:txBody>
      </p:sp>
    </p:spTree>
  </p:cSld>
  <p:clrMapOvr>
    <a:masterClrMapping/>
  </p:clrMapOvr>
  <p:transition spd="med">
    <p:cut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 4098" id="470" name="Google Shape;470;p9"/>
          <p:cNvSpPr/>
          <p:nvPr/>
        </p:nvSpPr>
        <p:spPr>
          <a:xfrm>
            <a:off x="609600" y="1"/>
            <a:ext cx="7848600" cy="672860"/>
          </a:xfrm>
          <a:prstGeom prst="roundRect">
            <a:avLst>
              <a:gd fmla="val 16667" name="adj"/>
            </a:avLst>
          </a:prstGeom>
          <a:solidFill>
            <a:srgbClr val="00B8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endParaRPr/>
          </a:p>
        </p:txBody>
      </p:sp>
      <p:sp>
        <p:nvSpPr>
          <p:cNvPr descr=" 4099" id="471" name="Google Shape;471;p9"/>
          <p:cNvSpPr/>
          <p:nvPr/>
        </p:nvSpPr>
        <p:spPr>
          <a:xfrm>
            <a:off x="-1" y="843958"/>
            <a:ext cx="2183307" cy="475488"/>
          </a:xfrm>
          <a:prstGeom prst="roundRect">
            <a:avLst>
              <a:gd fmla="val 16667" name="adj"/>
            </a:avLst>
          </a:prstGeom>
          <a:solidFill>
            <a:srgbClr val="BFBFB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(Meta)genomics</a:t>
            </a:r>
            <a:endParaRPr/>
          </a:p>
        </p:txBody>
      </p:sp>
      <p:sp>
        <p:nvSpPr>
          <p:cNvPr id="472" name="Google Shape;472;p9"/>
          <p:cNvSpPr/>
          <p:nvPr/>
        </p:nvSpPr>
        <p:spPr>
          <a:xfrm>
            <a:off x="1593173" y="2351285"/>
            <a:ext cx="68121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Reads</a:t>
            </a:r>
            <a:endParaRPr/>
          </a:p>
        </p:txBody>
      </p:sp>
      <p:cxnSp>
        <p:nvCxnSpPr>
          <p:cNvPr id="473" name="Google Shape;473;p9"/>
          <p:cNvCxnSpPr/>
          <p:nvPr/>
        </p:nvCxnSpPr>
        <p:spPr>
          <a:xfrm flipH="1" rot="10800000">
            <a:off x="1468137" y="2014705"/>
            <a:ext cx="403940" cy="250053"/>
          </a:xfrm>
          <a:prstGeom prst="straightConnector1">
            <a:avLst/>
          </a:prstGeom>
          <a:noFill/>
          <a:ln cap="flat" cmpd="sng" w="571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4" name="Google Shape;474;p9"/>
          <p:cNvCxnSpPr/>
          <p:nvPr/>
        </p:nvCxnSpPr>
        <p:spPr>
          <a:xfrm>
            <a:off x="1241811" y="2264758"/>
            <a:ext cx="396484" cy="184919"/>
          </a:xfrm>
          <a:prstGeom prst="straightConnector1">
            <a:avLst/>
          </a:prstGeom>
          <a:noFill/>
          <a:ln cap="flat" cmpd="sng" w="571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5" name="Google Shape;475;p9"/>
          <p:cNvCxnSpPr/>
          <p:nvPr/>
        </p:nvCxnSpPr>
        <p:spPr>
          <a:xfrm>
            <a:off x="1029722" y="2611385"/>
            <a:ext cx="369711" cy="186215"/>
          </a:xfrm>
          <a:prstGeom prst="straightConnector1">
            <a:avLst/>
          </a:prstGeom>
          <a:noFill/>
          <a:ln cap="flat" cmpd="sng" w="571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6" name="Google Shape;476;p9"/>
          <p:cNvCxnSpPr/>
          <p:nvPr/>
        </p:nvCxnSpPr>
        <p:spPr>
          <a:xfrm>
            <a:off x="1162121" y="2449677"/>
            <a:ext cx="317002" cy="188031"/>
          </a:xfrm>
          <a:prstGeom prst="straightConnector1">
            <a:avLst/>
          </a:prstGeom>
          <a:noFill/>
          <a:ln cap="flat" cmpd="sng" w="571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7" name="Google Shape;477;p9"/>
          <p:cNvCxnSpPr/>
          <p:nvPr/>
        </p:nvCxnSpPr>
        <p:spPr>
          <a:xfrm>
            <a:off x="1004499" y="2803600"/>
            <a:ext cx="463638" cy="260418"/>
          </a:xfrm>
          <a:prstGeom prst="straightConnector1">
            <a:avLst/>
          </a:prstGeom>
          <a:noFill/>
          <a:ln cap="flat" cmpd="sng" w="571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8" name="Google Shape;478;p9"/>
          <p:cNvCxnSpPr/>
          <p:nvPr/>
        </p:nvCxnSpPr>
        <p:spPr>
          <a:xfrm>
            <a:off x="1718915" y="2674389"/>
            <a:ext cx="297355" cy="130209"/>
          </a:xfrm>
          <a:prstGeom prst="straightConnector1">
            <a:avLst/>
          </a:prstGeom>
          <a:noFill/>
          <a:ln cap="flat" cmpd="sng" w="571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9" name="Google Shape;479;p9"/>
          <p:cNvCxnSpPr/>
          <p:nvPr/>
        </p:nvCxnSpPr>
        <p:spPr>
          <a:xfrm>
            <a:off x="2016270" y="2625886"/>
            <a:ext cx="289514" cy="178712"/>
          </a:xfrm>
          <a:prstGeom prst="straightConnector1">
            <a:avLst/>
          </a:prstGeom>
          <a:noFill/>
          <a:ln cap="flat" cmpd="sng" w="571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0" name="Google Shape;480;p9"/>
          <p:cNvCxnSpPr/>
          <p:nvPr/>
        </p:nvCxnSpPr>
        <p:spPr>
          <a:xfrm flipH="1" rot="10800000">
            <a:off x="1744237" y="2173002"/>
            <a:ext cx="272033" cy="171728"/>
          </a:xfrm>
          <a:prstGeom prst="straightConnector1">
            <a:avLst/>
          </a:prstGeom>
          <a:noFill/>
          <a:ln cap="flat" cmpd="sng" w="571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1" name="Google Shape;481;p9"/>
          <p:cNvCxnSpPr/>
          <p:nvPr/>
        </p:nvCxnSpPr>
        <p:spPr>
          <a:xfrm flipH="1" rot="10800000">
            <a:off x="2305784" y="2417158"/>
            <a:ext cx="403940" cy="250053"/>
          </a:xfrm>
          <a:prstGeom prst="straightConnector1">
            <a:avLst/>
          </a:prstGeom>
          <a:noFill/>
          <a:ln cap="flat" cmpd="sng" w="571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2" name="Google Shape;482;p9"/>
          <p:cNvCxnSpPr/>
          <p:nvPr/>
        </p:nvCxnSpPr>
        <p:spPr>
          <a:xfrm flipH="1" rot="10800000">
            <a:off x="2103814" y="2154086"/>
            <a:ext cx="403940" cy="250053"/>
          </a:xfrm>
          <a:prstGeom prst="straightConnector1">
            <a:avLst/>
          </a:prstGeom>
          <a:noFill/>
          <a:ln cap="flat" cmpd="sng" w="571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3" name="Google Shape;483;p9"/>
          <p:cNvCxnSpPr/>
          <p:nvPr/>
        </p:nvCxnSpPr>
        <p:spPr>
          <a:xfrm flipH="1" rot="10800000">
            <a:off x="2408276" y="2173002"/>
            <a:ext cx="403940" cy="250053"/>
          </a:xfrm>
          <a:prstGeom prst="straightConnector1">
            <a:avLst/>
          </a:prstGeom>
          <a:noFill/>
          <a:ln cap="flat" cmpd="sng" w="571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4" name="Google Shape;484;p9"/>
          <p:cNvCxnSpPr/>
          <p:nvPr/>
        </p:nvCxnSpPr>
        <p:spPr>
          <a:xfrm>
            <a:off x="2420831" y="2716886"/>
            <a:ext cx="519369" cy="86714"/>
          </a:xfrm>
          <a:prstGeom prst="straightConnector1">
            <a:avLst/>
          </a:prstGeom>
          <a:noFill/>
          <a:ln cap="flat" cmpd="sng" w="571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5" name="Google Shape;485;p9"/>
          <p:cNvCxnSpPr/>
          <p:nvPr/>
        </p:nvCxnSpPr>
        <p:spPr>
          <a:xfrm>
            <a:off x="1398823" y="2886304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6" name="Google Shape;486;p9"/>
          <p:cNvSpPr/>
          <p:nvPr/>
        </p:nvSpPr>
        <p:spPr>
          <a:xfrm>
            <a:off x="5562600" y="1364352"/>
            <a:ext cx="24829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 database/info</a:t>
            </a:r>
            <a:endParaRPr/>
          </a:p>
        </p:txBody>
      </p:sp>
      <p:cxnSp>
        <p:nvCxnSpPr>
          <p:cNvPr id="487" name="Google Shape;487;p9"/>
          <p:cNvCxnSpPr/>
          <p:nvPr/>
        </p:nvCxnSpPr>
        <p:spPr>
          <a:xfrm>
            <a:off x="5367597" y="2066083"/>
            <a:ext cx="2862003" cy="324"/>
          </a:xfrm>
          <a:prstGeom prst="straightConnector1">
            <a:avLst/>
          </a:prstGeom>
          <a:noFill/>
          <a:ln cap="flat" cmpd="sng" w="571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8" name="Google Shape;488;p9"/>
          <p:cNvSpPr/>
          <p:nvPr/>
        </p:nvSpPr>
        <p:spPr>
          <a:xfrm>
            <a:off x="5367597" y="1789408"/>
            <a:ext cx="152580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(Microbial) genome 1</a:t>
            </a:r>
            <a:endParaRPr/>
          </a:p>
        </p:txBody>
      </p:sp>
      <p:cxnSp>
        <p:nvCxnSpPr>
          <p:cNvPr id="489" name="Google Shape;489;p9"/>
          <p:cNvCxnSpPr/>
          <p:nvPr/>
        </p:nvCxnSpPr>
        <p:spPr>
          <a:xfrm>
            <a:off x="5367597" y="2556461"/>
            <a:ext cx="2700679" cy="0"/>
          </a:xfrm>
          <a:prstGeom prst="straightConnector1">
            <a:avLst/>
          </a:prstGeom>
          <a:noFill/>
          <a:ln cap="flat" cmpd="sng" w="571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0" name="Google Shape;490;p9"/>
          <p:cNvSpPr/>
          <p:nvPr/>
        </p:nvSpPr>
        <p:spPr>
          <a:xfrm>
            <a:off x="5367597" y="2265381"/>
            <a:ext cx="152580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(Microbial) genome 2</a:t>
            </a:r>
            <a:endParaRPr/>
          </a:p>
        </p:txBody>
      </p:sp>
      <p:sp>
        <p:nvSpPr>
          <p:cNvPr id="491" name="Google Shape;491;p9"/>
          <p:cNvSpPr/>
          <p:nvPr/>
        </p:nvSpPr>
        <p:spPr>
          <a:xfrm rot="5400000">
            <a:off x="6828991" y="2746308"/>
            <a:ext cx="43954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. . </a:t>
            </a:r>
            <a:endParaRPr/>
          </a:p>
        </p:txBody>
      </p:sp>
      <p:cxnSp>
        <p:nvCxnSpPr>
          <p:cNvPr id="492" name="Google Shape;492;p9"/>
          <p:cNvCxnSpPr/>
          <p:nvPr/>
        </p:nvCxnSpPr>
        <p:spPr>
          <a:xfrm>
            <a:off x="1577199" y="3060673"/>
            <a:ext cx="606107" cy="0"/>
          </a:xfrm>
          <a:prstGeom prst="straightConnector1">
            <a:avLst/>
          </a:prstGeom>
          <a:noFill/>
          <a:ln cap="flat" cmpd="sng" w="571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3" name="Google Shape;493;p9"/>
          <p:cNvSpPr/>
          <p:nvPr/>
        </p:nvSpPr>
        <p:spPr>
          <a:xfrm>
            <a:off x="762000" y="1446040"/>
            <a:ext cx="26298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Raw (meta)genomic reads</a:t>
            </a:r>
            <a:endParaRPr/>
          </a:p>
        </p:txBody>
      </p:sp>
      <p:sp>
        <p:nvSpPr>
          <p:cNvPr descr="Add" id="494" name="Google Shape;494;p9"/>
          <p:cNvSpPr/>
          <p:nvPr/>
        </p:nvSpPr>
        <p:spPr>
          <a:xfrm>
            <a:off x="3630268" y="1987133"/>
            <a:ext cx="485100" cy="48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5" name="Google Shape;495;p9"/>
          <p:cNvSpPr/>
          <p:nvPr/>
        </p:nvSpPr>
        <p:spPr>
          <a:xfrm rot="10800000">
            <a:off x="4989649" y="1973622"/>
            <a:ext cx="300312" cy="1245709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rgbClr val="558E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9"/>
          <p:cNvSpPr/>
          <p:nvPr/>
        </p:nvSpPr>
        <p:spPr>
          <a:xfrm>
            <a:off x="3651008" y="2438400"/>
            <a:ext cx="136139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~1.2M genomes</a:t>
            </a:r>
            <a:endParaRPr/>
          </a:p>
        </p:txBody>
      </p:sp>
      <p:sp>
        <p:nvSpPr>
          <p:cNvPr id="497" name="Google Shape;497;p9"/>
          <p:cNvSpPr txBox="1"/>
          <p:nvPr/>
        </p:nvSpPr>
        <p:spPr>
          <a:xfrm>
            <a:off x="0" y="4827609"/>
            <a:ext cx="3388114" cy="6476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How to disentangle noise </a:t>
            </a:r>
            <a:endParaRPr/>
          </a:p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and low abundance organisms?</a:t>
            </a:r>
            <a:endParaRPr/>
          </a:p>
        </p:txBody>
      </p:sp>
      <p:sp>
        <p:nvSpPr>
          <p:cNvPr descr=" 4099" id="498" name="Google Shape;498;p9"/>
          <p:cNvSpPr/>
          <p:nvPr/>
        </p:nvSpPr>
        <p:spPr>
          <a:xfrm>
            <a:off x="6804" y="4343400"/>
            <a:ext cx="1320867" cy="475488"/>
          </a:xfrm>
          <a:prstGeom prst="roundRect">
            <a:avLst>
              <a:gd fmla="val 16667" name="adj"/>
            </a:avLst>
          </a:prstGeom>
          <a:solidFill>
            <a:srgbClr val="BFBFB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/>
          </a:p>
        </p:txBody>
      </p:sp>
      <p:sp>
        <p:nvSpPr>
          <p:cNvPr descr="Checkmark with solid fill" id="499" name="Google Shape;499;p9"/>
          <p:cNvSpPr/>
          <p:nvPr/>
        </p:nvSpPr>
        <p:spPr>
          <a:xfrm>
            <a:off x="8392515" y="1850847"/>
            <a:ext cx="418958" cy="418958"/>
          </a:xfrm>
          <a:prstGeom prst="rect">
            <a:avLst/>
          </a:prstGeom>
          <a:noFill/>
          <a:ln>
            <a:noFill/>
          </a:ln>
        </p:spPr>
      </p:sp>
      <p:sp>
        <p:nvSpPr>
          <p:cNvPr descr="No sign with solid fill" id="500" name="Google Shape;500;p9"/>
          <p:cNvSpPr/>
          <p:nvPr/>
        </p:nvSpPr>
        <p:spPr>
          <a:xfrm>
            <a:off x="8332460" y="2376266"/>
            <a:ext cx="463252" cy="463252"/>
          </a:xfrm>
          <a:prstGeom prst="rect">
            <a:avLst/>
          </a:prstGeom>
          <a:noFill/>
          <a:ln>
            <a:noFill/>
          </a:ln>
        </p:spPr>
      </p:sp>
      <p:sp>
        <p:nvSpPr>
          <p:cNvPr id="501" name="Google Shape;501;p9"/>
          <p:cNvSpPr/>
          <p:nvPr/>
        </p:nvSpPr>
        <p:spPr>
          <a:xfrm>
            <a:off x="940334" y="3190817"/>
            <a:ext cx="107593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{1,0,0,1,…}</a:t>
            </a:r>
            <a:endParaRPr/>
          </a:p>
        </p:txBody>
      </p:sp>
      <p:sp>
        <p:nvSpPr>
          <p:cNvPr id="502" name="Google Shape;502;p9"/>
          <p:cNvSpPr/>
          <p:nvPr/>
        </p:nvSpPr>
        <p:spPr>
          <a:xfrm>
            <a:off x="-1" y="3657300"/>
            <a:ext cx="636478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Presence/absence of reference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genomes in a sample</a:t>
            </a:r>
            <a:endParaRPr/>
          </a:p>
        </p:txBody>
      </p:sp>
      <p:sp>
        <p:nvSpPr>
          <p:cNvPr descr=" 4099" id="503" name="Google Shape;503;p9"/>
          <p:cNvSpPr/>
          <p:nvPr/>
        </p:nvSpPr>
        <p:spPr>
          <a:xfrm>
            <a:off x="6803" y="3124200"/>
            <a:ext cx="831397" cy="475488"/>
          </a:xfrm>
          <a:prstGeom prst="roundRect">
            <a:avLst>
              <a:gd fmla="val 16667" name="adj"/>
            </a:avLst>
          </a:prstGeom>
          <a:solidFill>
            <a:srgbClr val="BFBFB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Goal</a:t>
            </a:r>
            <a:endParaRPr/>
          </a:p>
        </p:txBody>
      </p:sp>
      <p:pic>
        <p:nvPicPr>
          <p:cNvPr id="504" name="Google Shape;50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76281" y="3638669"/>
            <a:ext cx="4572638" cy="2095792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9"/>
          <p:cNvSpPr/>
          <p:nvPr/>
        </p:nvSpPr>
        <p:spPr>
          <a:xfrm rot="5400000">
            <a:off x="6143467" y="5454810"/>
            <a:ext cx="225287" cy="78459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9"/>
          <p:cNvSpPr/>
          <p:nvPr/>
        </p:nvSpPr>
        <p:spPr>
          <a:xfrm>
            <a:off x="5689097" y="5930539"/>
            <a:ext cx="335960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Rare microbiome: in the sample at low abundance, or noise?</a:t>
            </a:r>
            <a:endParaRPr/>
          </a:p>
        </p:txBody>
      </p:sp>
      <p:sp>
        <p:nvSpPr>
          <p:cNvPr descr=" 4099" id="507" name="Google Shape;507;p9"/>
          <p:cNvSpPr/>
          <p:nvPr/>
        </p:nvSpPr>
        <p:spPr>
          <a:xfrm>
            <a:off x="6804" y="5571343"/>
            <a:ext cx="2636130" cy="475488"/>
          </a:xfrm>
          <a:prstGeom prst="roundRect">
            <a:avLst>
              <a:gd fmla="val 16667" name="adj"/>
            </a:avLst>
          </a:prstGeom>
          <a:solidFill>
            <a:srgbClr val="BFBFB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Current approaches</a:t>
            </a:r>
            <a:endParaRPr/>
          </a:p>
        </p:txBody>
      </p:sp>
      <p:sp>
        <p:nvSpPr>
          <p:cNvPr id="508" name="Google Shape;508;p9"/>
          <p:cNvSpPr/>
          <p:nvPr/>
        </p:nvSpPr>
        <p:spPr>
          <a:xfrm>
            <a:off x="64684" y="6172200"/>
            <a:ext cx="435491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 thresholding, uninformed thresholds, FP’s remain, …</a:t>
            </a:r>
            <a:endParaRPr/>
          </a:p>
        </p:txBody>
      </p:sp>
      <p:grpSp>
        <p:nvGrpSpPr>
          <p:cNvPr id="509" name="Google Shape;509;p9"/>
          <p:cNvGrpSpPr/>
          <p:nvPr/>
        </p:nvGrpSpPr>
        <p:grpSpPr>
          <a:xfrm>
            <a:off x="5632823" y="3522516"/>
            <a:ext cx="1153457" cy="2141994"/>
            <a:chOff x="5632823" y="3522516"/>
            <a:chExt cx="1153457" cy="2141994"/>
          </a:xfrm>
        </p:grpSpPr>
        <p:cxnSp>
          <p:nvCxnSpPr>
            <p:cNvPr id="510" name="Google Shape;510;p9"/>
            <p:cNvCxnSpPr/>
            <p:nvPr/>
          </p:nvCxnSpPr>
          <p:spPr>
            <a:xfrm>
              <a:off x="5689097" y="3628594"/>
              <a:ext cx="0" cy="2035916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11" name="Google Shape;511;p9"/>
            <p:cNvSpPr/>
            <p:nvPr/>
          </p:nvSpPr>
          <p:spPr>
            <a:xfrm rot="-5400000">
              <a:off x="6020365" y="3490586"/>
              <a:ext cx="184938" cy="726592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rgbClr val="FF505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9"/>
            <p:cNvSpPr/>
            <p:nvPr/>
          </p:nvSpPr>
          <p:spPr>
            <a:xfrm>
              <a:off x="5632823" y="3522516"/>
              <a:ext cx="115345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Ignore all this</a:t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ransition spd="med"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 4099" id="518" name="Google Shape;518;p10"/>
          <p:cNvSpPr/>
          <p:nvPr/>
        </p:nvSpPr>
        <p:spPr>
          <a:xfrm>
            <a:off x="-1" y="843958"/>
            <a:ext cx="2183307" cy="475488"/>
          </a:xfrm>
          <a:prstGeom prst="roundRect">
            <a:avLst>
              <a:gd fmla="val 16667" name="adj"/>
            </a:avLst>
          </a:prstGeom>
          <a:solidFill>
            <a:srgbClr val="BFBFB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(Meta)genomics</a:t>
            </a:r>
            <a:endParaRPr/>
          </a:p>
        </p:txBody>
      </p:sp>
      <p:sp>
        <p:nvSpPr>
          <p:cNvPr id="519" name="Google Shape;519;p10"/>
          <p:cNvSpPr/>
          <p:nvPr/>
        </p:nvSpPr>
        <p:spPr>
          <a:xfrm>
            <a:off x="1593173" y="2351285"/>
            <a:ext cx="68121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Reads</a:t>
            </a:r>
            <a:endParaRPr/>
          </a:p>
        </p:txBody>
      </p:sp>
      <p:cxnSp>
        <p:nvCxnSpPr>
          <p:cNvPr id="520" name="Google Shape;520;p10"/>
          <p:cNvCxnSpPr/>
          <p:nvPr/>
        </p:nvCxnSpPr>
        <p:spPr>
          <a:xfrm flipH="1" rot="10800000">
            <a:off x="1468137" y="2014705"/>
            <a:ext cx="403940" cy="250053"/>
          </a:xfrm>
          <a:prstGeom prst="straightConnector1">
            <a:avLst/>
          </a:prstGeom>
          <a:noFill/>
          <a:ln cap="flat" cmpd="sng" w="571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1" name="Google Shape;521;p10"/>
          <p:cNvCxnSpPr/>
          <p:nvPr/>
        </p:nvCxnSpPr>
        <p:spPr>
          <a:xfrm>
            <a:off x="1241811" y="2264758"/>
            <a:ext cx="396484" cy="184919"/>
          </a:xfrm>
          <a:prstGeom prst="straightConnector1">
            <a:avLst/>
          </a:prstGeom>
          <a:noFill/>
          <a:ln cap="flat" cmpd="sng" w="571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2" name="Google Shape;522;p10"/>
          <p:cNvCxnSpPr/>
          <p:nvPr/>
        </p:nvCxnSpPr>
        <p:spPr>
          <a:xfrm>
            <a:off x="1029722" y="2611385"/>
            <a:ext cx="369711" cy="186215"/>
          </a:xfrm>
          <a:prstGeom prst="straightConnector1">
            <a:avLst/>
          </a:prstGeom>
          <a:noFill/>
          <a:ln cap="flat" cmpd="sng" w="571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3" name="Google Shape;523;p10"/>
          <p:cNvCxnSpPr/>
          <p:nvPr/>
        </p:nvCxnSpPr>
        <p:spPr>
          <a:xfrm>
            <a:off x="1162121" y="2449677"/>
            <a:ext cx="317002" cy="188031"/>
          </a:xfrm>
          <a:prstGeom prst="straightConnector1">
            <a:avLst/>
          </a:prstGeom>
          <a:noFill/>
          <a:ln cap="flat" cmpd="sng" w="571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4" name="Google Shape;524;p10"/>
          <p:cNvCxnSpPr/>
          <p:nvPr/>
        </p:nvCxnSpPr>
        <p:spPr>
          <a:xfrm>
            <a:off x="1004499" y="2803600"/>
            <a:ext cx="463638" cy="260418"/>
          </a:xfrm>
          <a:prstGeom prst="straightConnector1">
            <a:avLst/>
          </a:prstGeom>
          <a:noFill/>
          <a:ln cap="flat" cmpd="sng" w="571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5" name="Google Shape;525;p10"/>
          <p:cNvCxnSpPr/>
          <p:nvPr/>
        </p:nvCxnSpPr>
        <p:spPr>
          <a:xfrm>
            <a:off x="1718915" y="2674389"/>
            <a:ext cx="297355" cy="130209"/>
          </a:xfrm>
          <a:prstGeom prst="straightConnector1">
            <a:avLst/>
          </a:prstGeom>
          <a:noFill/>
          <a:ln cap="flat" cmpd="sng" w="571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6" name="Google Shape;526;p10"/>
          <p:cNvCxnSpPr/>
          <p:nvPr/>
        </p:nvCxnSpPr>
        <p:spPr>
          <a:xfrm>
            <a:off x="2016270" y="2625886"/>
            <a:ext cx="289514" cy="178712"/>
          </a:xfrm>
          <a:prstGeom prst="straightConnector1">
            <a:avLst/>
          </a:prstGeom>
          <a:noFill/>
          <a:ln cap="flat" cmpd="sng" w="571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7" name="Google Shape;527;p10"/>
          <p:cNvCxnSpPr/>
          <p:nvPr/>
        </p:nvCxnSpPr>
        <p:spPr>
          <a:xfrm flipH="1" rot="10800000">
            <a:off x="1744237" y="2173002"/>
            <a:ext cx="272033" cy="171728"/>
          </a:xfrm>
          <a:prstGeom prst="straightConnector1">
            <a:avLst/>
          </a:prstGeom>
          <a:noFill/>
          <a:ln cap="flat" cmpd="sng" w="571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8" name="Google Shape;528;p10"/>
          <p:cNvCxnSpPr/>
          <p:nvPr/>
        </p:nvCxnSpPr>
        <p:spPr>
          <a:xfrm flipH="1" rot="10800000">
            <a:off x="2305784" y="2417158"/>
            <a:ext cx="403940" cy="250053"/>
          </a:xfrm>
          <a:prstGeom prst="straightConnector1">
            <a:avLst/>
          </a:prstGeom>
          <a:noFill/>
          <a:ln cap="flat" cmpd="sng" w="571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9" name="Google Shape;529;p10"/>
          <p:cNvCxnSpPr/>
          <p:nvPr/>
        </p:nvCxnSpPr>
        <p:spPr>
          <a:xfrm flipH="1" rot="10800000">
            <a:off x="2103814" y="2154086"/>
            <a:ext cx="403940" cy="250053"/>
          </a:xfrm>
          <a:prstGeom prst="straightConnector1">
            <a:avLst/>
          </a:prstGeom>
          <a:noFill/>
          <a:ln cap="flat" cmpd="sng" w="571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0" name="Google Shape;530;p10"/>
          <p:cNvCxnSpPr/>
          <p:nvPr/>
        </p:nvCxnSpPr>
        <p:spPr>
          <a:xfrm flipH="1" rot="10800000">
            <a:off x="2408276" y="2173002"/>
            <a:ext cx="403940" cy="250053"/>
          </a:xfrm>
          <a:prstGeom prst="straightConnector1">
            <a:avLst/>
          </a:prstGeom>
          <a:noFill/>
          <a:ln cap="flat" cmpd="sng" w="571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1" name="Google Shape;531;p10"/>
          <p:cNvCxnSpPr/>
          <p:nvPr/>
        </p:nvCxnSpPr>
        <p:spPr>
          <a:xfrm>
            <a:off x="2420831" y="2716886"/>
            <a:ext cx="519369" cy="86714"/>
          </a:xfrm>
          <a:prstGeom prst="straightConnector1">
            <a:avLst/>
          </a:prstGeom>
          <a:noFill/>
          <a:ln cap="flat" cmpd="sng" w="571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2" name="Google Shape;532;p10"/>
          <p:cNvCxnSpPr/>
          <p:nvPr/>
        </p:nvCxnSpPr>
        <p:spPr>
          <a:xfrm>
            <a:off x="1398823" y="2886304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3" name="Google Shape;533;p10"/>
          <p:cNvSpPr/>
          <p:nvPr/>
        </p:nvSpPr>
        <p:spPr>
          <a:xfrm>
            <a:off x="5562600" y="1364352"/>
            <a:ext cx="24829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 database/info</a:t>
            </a:r>
            <a:endParaRPr/>
          </a:p>
        </p:txBody>
      </p:sp>
      <p:cxnSp>
        <p:nvCxnSpPr>
          <p:cNvPr id="534" name="Google Shape;534;p10"/>
          <p:cNvCxnSpPr/>
          <p:nvPr/>
        </p:nvCxnSpPr>
        <p:spPr>
          <a:xfrm>
            <a:off x="5367597" y="2066083"/>
            <a:ext cx="2862003" cy="324"/>
          </a:xfrm>
          <a:prstGeom prst="straightConnector1">
            <a:avLst/>
          </a:prstGeom>
          <a:noFill/>
          <a:ln cap="flat" cmpd="sng" w="571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5" name="Google Shape;535;p10"/>
          <p:cNvSpPr/>
          <p:nvPr/>
        </p:nvSpPr>
        <p:spPr>
          <a:xfrm>
            <a:off x="5367597" y="1789408"/>
            <a:ext cx="152580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(Microbial) genome 1</a:t>
            </a:r>
            <a:endParaRPr/>
          </a:p>
        </p:txBody>
      </p:sp>
      <p:cxnSp>
        <p:nvCxnSpPr>
          <p:cNvPr id="536" name="Google Shape;536;p10"/>
          <p:cNvCxnSpPr/>
          <p:nvPr/>
        </p:nvCxnSpPr>
        <p:spPr>
          <a:xfrm>
            <a:off x="5367597" y="2556461"/>
            <a:ext cx="2700679" cy="0"/>
          </a:xfrm>
          <a:prstGeom prst="straightConnector1">
            <a:avLst/>
          </a:prstGeom>
          <a:noFill/>
          <a:ln cap="flat" cmpd="sng" w="571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7" name="Google Shape;537;p10"/>
          <p:cNvSpPr/>
          <p:nvPr/>
        </p:nvSpPr>
        <p:spPr>
          <a:xfrm>
            <a:off x="5367597" y="2265381"/>
            <a:ext cx="152580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(Microbial) genome 2</a:t>
            </a:r>
            <a:endParaRPr/>
          </a:p>
        </p:txBody>
      </p:sp>
      <p:sp>
        <p:nvSpPr>
          <p:cNvPr id="538" name="Google Shape;538;p10"/>
          <p:cNvSpPr/>
          <p:nvPr/>
        </p:nvSpPr>
        <p:spPr>
          <a:xfrm rot="5400000">
            <a:off x="6828991" y="2746308"/>
            <a:ext cx="43954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. . </a:t>
            </a:r>
            <a:endParaRPr/>
          </a:p>
        </p:txBody>
      </p:sp>
      <p:cxnSp>
        <p:nvCxnSpPr>
          <p:cNvPr id="539" name="Google Shape;539;p10"/>
          <p:cNvCxnSpPr/>
          <p:nvPr/>
        </p:nvCxnSpPr>
        <p:spPr>
          <a:xfrm>
            <a:off x="1577199" y="3060673"/>
            <a:ext cx="606107" cy="0"/>
          </a:xfrm>
          <a:prstGeom prst="straightConnector1">
            <a:avLst/>
          </a:prstGeom>
          <a:noFill/>
          <a:ln cap="flat" cmpd="sng" w="571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0" name="Google Shape;540;p10"/>
          <p:cNvSpPr/>
          <p:nvPr/>
        </p:nvSpPr>
        <p:spPr>
          <a:xfrm>
            <a:off x="762000" y="1446040"/>
            <a:ext cx="26298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Raw (meta)genomic reads</a:t>
            </a:r>
            <a:endParaRPr/>
          </a:p>
        </p:txBody>
      </p:sp>
      <p:sp>
        <p:nvSpPr>
          <p:cNvPr descr="Add" id="541" name="Google Shape;541;p10"/>
          <p:cNvSpPr/>
          <p:nvPr/>
        </p:nvSpPr>
        <p:spPr>
          <a:xfrm>
            <a:off x="3630268" y="1987133"/>
            <a:ext cx="485100" cy="485100"/>
          </a:xfrm>
          <a:prstGeom prst="rect">
            <a:avLst/>
          </a:prstGeom>
          <a:noFill/>
          <a:ln>
            <a:noFill/>
          </a:ln>
        </p:spPr>
      </p:sp>
      <p:sp>
        <p:nvSpPr>
          <p:cNvPr id="542" name="Google Shape;542;p10"/>
          <p:cNvSpPr/>
          <p:nvPr/>
        </p:nvSpPr>
        <p:spPr>
          <a:xfrm rot="10800000">
            <a:off x="4989649" y="1973622"/>
            <a:ext cx="300312" cy="1245709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rgbClr val="558E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0"/>
          <p:cNvSpPr/>
          <p:nvPr/>
        </p:nvSpPr>
        <p:spPr>
          <a:xfrm>
            <a:off x="3651008" y="2438400"/>
            <a:ext cx="136139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~1.2M genomes</a:t>
            </a:r>
            <a:endParaRPr/>
          </a:p>
        </p:txBody>
      </p:sp>
      <p:sp>
        <p:nvSpPr>
          <p:cNvPr id="544" name="Google Shape;544;p10"/>
          <p:cNvSpPr txBox="1"/>
          <p:nvPr/>
        </p:nvSpPr>
        <p:spPr>
          <a:xfrm>
            <a:off x="0" y="4827609"/>
            <a:ext cx="3388114" cy="6476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How to disentangle noise </a:t>
            </a:r>
            <a:endParaRPr/>
          </a:p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and low abundance organisms?</a:t>
            </a:r>
            <a:endParaRPr/>
          </a:p>
        </p:txBody>
      </p:sp>
      <p:sp>
        <p:nvSpPr>
          <p:cNvPr descr=" 4099" id="545" name="Google Shape;545;p10"/>
          <p:cNvSpPr/>
          <p:nvPr/>
        </p:nvSpPr>
        <p:spPr>
          <a:xfrm>
            <a:off x="6804" y="4343400"/>
            <a:ext cx="1320867" cy="475488"/>
          </a:xfrm>
          <a:prstGeom prst="roundRect">
            <a:avLst>
              <a:gd fmla="val 16667" name="adj"/>
            </a:avLst>
          </a:prstGeom>
          <a:solidFill>
            <a:srgbClr val="BFBFB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/>
          </a:p>
        </p:txBody>
      </p:sp>
      <p:sp>
        <p:nvSpPr>
          <p:cNvPr descr="Checkmark with solid fill" id="546" name="Google Shape;546;p10"/>
          <p:cNvSpPr/>
          <p:nvPr/>
        </p:nvSpPr>
        <p:spPr>
          <a:xfrm>
            <a:off x="8392515" y="1850847"/>
            <a:ext cx="418958" cy="418958"/>
          </a:xfrm>
          <a:prstGeom prst="rect">
            <a:avLst/>
          </a:prstGeom>
          <a:noFill/>
          <a:ln>
            <a:noFill/>
          </a:ln>
        </p:spPr>
      </p:sp>
      <p:sp>
        <p:nvSpPr>
          <p:cNvPr descr="No sign with solid fill" id="547" name="Google Shape;547;p10"/>
          <p:cNvSpPr/>
          <p:nvPr/>
        </p:nvSpPr>
        <p:spPr>
          <a:xfrm>
            <a:off x="8332460" y="2376266"/>
            <a:ext cx="463252" cy="463252"/>
          </a:xfrm>
          <a:prstGeom prst="rect">
            <a:avLst/>
          </a:prstGeom>
          <a:noFill/>
          <a:ln>
            <a:noFill/>
          </a:ln>
        </p:spPr>
      </p:sp>
      <p:sp>
        <p:nvSpPr>
          <p:cNvPr id="548" name="Google Shape;548;p10"/>
          <p:cNvSpPr/>
          <p:nvPr/>
        </p:nvSpPr>
        <p:spPr>
          <a:xfrm>
            <a:off x="940334" y="3190817"/>
            <a:ext cx="107593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{1,0,0,1,…}</a:t>
            </a:r>
            <a:endParaRPr/>
          </a:p>
        </p:txBody>
      </p:sp>
      <p:sp>
        <p:nvSpPr>
          <p:cNvPr id="549" name="Google Shape;549;p10"/>
          <p:cNvSpPr/>
          <p:nvPr/>
        </p:nvSpPr>
        <p:spPr>
          <a:xfrm>
            <a:off x="-1" y="3657300"/>
            <a:ext cx="636478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Presence/absence of reference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genomes in a sample</a:t>
            </a:r>
            <a:endParaRPr/>
          </a:p>
        </p:txBody>
      </p:sp>
      <p:sp>
        <p:nvSpPr>
          <p:cNvPr descr=" 4099" id="550" name="Google Shape;550;p10"/>
          <p:cNvSpPr/>
          <p:nvPr/>
        </p:nvSpPr>
        <p:spPr>
          <a:xfrm>
            <a:off x="6803" y="3124200"/>
            <a:ext cx="831397" cy="475488"/>
          </a:xfrm>
          <a:prstGeom prst="roundRect">
            <a:avLst>
              <a:gd fmla="val 16667" name="adj"/>
            </a:avLst>
          </a:prstGeom>
          <a:solidFill>
            <a:srgbClr val="BFBFB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Goal</a:t>
            </a:r>
            <a:endParaRPr/>
          </a:p>
        </p:txBody>
      </p:sp>
      <p:sp>
        <p:nvSpPr>
          <p:cNvPr descr=" 4099" id="551" name="Google Shape;551;p10"/>
          <p:cNvSpPr/>
          <p:nvPr/>
        </p:nvSpPr>
        <p:spPr>
          <a:xfrm>
            <a:off x="6804" y="5571343"/>
            <a:ext cx="2636130" cy="475488"/>
          </a:xfrm>
          <a:prstGeom prst="roundRect">
            <a:avLst>
              <a:gd fmla="val 16667" name="adj"/>
            </a:avLst>
          </a:prstGeom>
          <a:solidFill>
            <a:srgbClr val="BFBFB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Current approaches</a:t>
            </a:r>
            <a:endParaRPr/>
          </a:p>
        </p:txBody>
      </p:sp>
      <p:pic>
        <p:nvPicPr>
          <p:cNvPr descr="A picture containing text, screenshot, plot, diagram&#10;&#10;Description automatically generated" id="552" name="Google Shape;552;p10"/>
          <p:cNvPicPr preferRelativeResize="0"/>
          <p:nvPr/>
        </p:nvPicPr>
        <p:blipFill rotWithShape="1">
          <a:blip r:embed="rId3">
            <a:alphaModFix/>
          </a:blip>
          <a:srcRect b="1729" l="0" r="7824" t="10071"/>
          <a:stretch/>
        </p:blipFill>
        <p:spPr>
          <a:xfrm>
            <a:off x="3879016" y="3389860"/>
            <a:ext cx="4731584" cy="3395682"/>
          </a:xfrm>
          <a:prstGeom prst="rect">
            <a:avLst/>
          </a:prstGeom>
          <a:noFill/>
          <a:ln>
            <a:noFill/>
          </a:ln>
        </p:spPr>
      </p:pic>
      <p:sp>
        <p:nvSpPr>
          <p:cNvPr descr=" 4098" id="553" name="Google Shape;553;p10"/>
          <p:cNvSpPr/>
          <p:nvPr/>
        </p:nvSpPr>
        <p:spPr>
          <a:xfrm>
            <a:off x="609600" y="1"/>
            <a:ext cx="7848600" cy="672860"/>
          </a:xfrm>
          <a:prstGeom prst="roundRect">
            <a:avLst>
              <a:gd fmla="val 16667" name="adj"/>
            </a:avLst>
          </a:prstGeom>
          <a:solidFill>
            <a:srgbClr val="00B8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endParaRPr/>
          </a:p>
        </p:txBody>
      </p:sp>
      <p:sp>
        <p:nvSpPr>
          <p:cNvPr id="554" name="Google Shape;554;p10"/>
          <p:cNvSpPr/>
          <p:nvPr/>
        </p:nvSpPr>
        <p:spPr>
          <a:xfrm>
            <a:off x="64684" y="6172200"/>
            <a:ext cx="435491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 thresholding, uninformed thresholds, FP’s remain, …</a:t>
            </a:r>
            <a:endParaRPr/>
          </a:p>
        </p:txBody>
      </p:sp>
      <p:grpSp>
        <p:nvGrpSpPr>
          <p:cNvPr id="555" name="Google Shape;555;p10"/>
          <p:cNvGrpSpPr/>
          <p:nvPr/>
        </p:nvGrpSpPr>
        <p:grpSpPr>
          <a:xfrm>
            <a:off x="4812586" y="3657299"/>
            <a:ext cx="3188414" cy="2667300"/>
            <a:chOff x="5050023" y="3940356"/>
            <a:chExt cx="2433266" cy="2035573"/>
          </a:xfrm>
        </p:grpSpPr>
        <p:pic>
          <p:nvPicPr>
            <p:cNvPr descr="A picture containing text, diagram, map&#10;&#10;Description automatically generated" id="556" name="Google Shape;556;p10"/>
            <p:cNvPicPr preferRelativeResize="0"/>
            <p:nvPr/>
          </p:nvPicPr>
          <p:blipFill rotWithShape="1">
            <a:blip r:embed="rId4">
              <a:alphaModFix/>
            </a:blip>
            <a:srcRect b="0" l="66721" r="1174" t="54318"/>
            <a:stretch/>
          </p:blipFill>
          <p:spPr>
            <a:xfrm>
              <a:off x="5050023" y="4289502"/>
              <a:ext cx="2433266" cy="16864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10"/>
            <p:cNvSpPr/>
            <p:nvPr/>
          </p:nvSpPr>
          <p:spPr>
            <a:xfrm>
              <a:off x="5791200" y="3940356"/>
              <a:ext cx="1102199" cy="3053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- - -</a:t>
              </a: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 Precision </a:t>
              </a:r>
              <a:endParaRPr/>
            </a:p>
          </p:txBody>
        </p:sp>
      </p:grpSp>
    </p:spTree>
  </p:cSld>
  <p:clrMapOvr>
    <a:masterClrMapping/>
  </p:clrMapOvr>
  <p:transition spd="med"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 4099" id="563" name="Google Shape;563;p11"/>
          <p:cNvSpPr/>
          <p:nvPr/>
        </p:nvSpPr>
        <p:spPr>
          <a:xfrm>
            <a:off x="0" y="1981200"/>
            <a:ext cx="3971636" cy="685800"/>
          </a:xfrm>
          <a:prstGeom prst="roundRect">
            <a:avLst>
              <a:gd fmla="val 16667" name="adj"/>
            </a:avLst>
          </a:prstGeom>
          <a:solidFill>
            <a:srgbClr val="BFBFB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YACHT</a:t>
            </a:r>
            <a:endParaRPr/>
          </a:p>
        </p:txBody>
      </p:sp>
      <p:sp>
        <p:nvSpPr>
          <p:cNvPr descr=" 4098" id="564" name="Google Shape;564;p11"/>
          <p:cNvSpPr/>
          <p:nvPr/>
        </p:nvSpPr>
        <p:spPr>
          <a:xfrm>
            <a:off x="416505" y="0"/>
            <a:ext cx="8310990" cy="829527"/>
          </a:xfrm>
          <a:prstGeom prst="roundRect">
            <a:avLst>
              <a:gd fmla="val 16667" name="adj"/>
            </a:avLst>
          </a:prstGeom>
          <a:solidFill>
            <a:srgbClr val="00B8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YACHT: </a:t>
            </a:r>
            <a:r>
              <a:rPr b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es/No </a:t>
            </a:r>
            <a:r>
              <a:rPr b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nswers to </a:t>
            </a:r>
            <a:r>
              <a:rPr b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ommunity </a:t>
            </a:r>
            <a:endParaRPr/>
          </a:p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membership via </a:t>
            </a:r>
            <a:r>
              <a:rPr b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ypothesis </a:t>
            </a:r>
            <a:r>
              <a:rPr b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esting</a:t>
            </a:r>
            <a:endParaRPr/>
          </a:p>
        </p:txBody>
      </p:sp>
      <p:sp>
        <p:nvSpPr>
          <p:cNvPr descr=" 4099" id="565" name="Google Shape;565;p11"/>
          <p:cNvSpPr/>
          <p:nvPr/>
        </p:nvSpPr>
        <p:spPr>
          <a:xfrm>
            <a:off x="0" y="2895600"/>
            <a:ext cx="3971636" cy="6858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Experiments</a:t>
            </a:r>
            <a:endParaRPr/>
          </a:p>
        </p:txBody>
      </p:sp>
      <p:sp>
        <p:nvSpPr>
          <p:cNvPr descr=" 4099" id="566" name="Google Shape;566;p11"/>
          <p:cNvSpPr/>
          <p:nvPr/>
        </p:nvSpPr>
        <p:spPr>
          <a:xfrm>
            <a:off x="0" y="1066800"/>
            <a:ext cx="3971636" cy="6858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endParaRPr/>
          </a:p>
        </p:txBody>
      </p:sp>
      <p:sp>
        <p:nvSpPr>
          <p:cNvPr descr=" 4099" id="567" name="Google Shape;567;p11"/>
          <p:cNvSpPr/>
          <p:nvPr/>
        </p:nvSpPr>
        <p:spPr>
          <a:xfrm>
            <a:off x="0" y="3810000"/>
            <a:ext cx="3971636" cy="6858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Code &amp; Conclusion</a:t>
            </a:r>
            <a:endParaRPr/>
          </a:p>
        </p:txBody>
      </p:sp>
    </p:spTree>
  </p:cSld>
  <p:clrMapOvr>
    <a:masterClrMapping/>
  </p:clrMapOvr>
  <p:transition spd="med">
    <p:cut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 4099" id="573" name="Google Shape;573;p12"/>
          <p:cNvSpPr/>
          <p:nvPr/>
        </p:nvSpPr>
        <p:spPr>
          <a:xfrm>
            <a:off x="11521" y="2159851"/>
            <a:ext cx="2046072" cy="430949"/>
          </a:xfrm>
          <a:prstGeom prst="roundRect">
            <a:avLst>
              <a:gd fmla="val 16667" name="adj"/>
            </a:avLst>
          </a:prstGeom>
          <a:solidFill>
            <a:srgbClr val="BFBFB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Observations</a:t>
            </a:r>
            <a:endParaRPr/>
          </a:p>
        </p:txBody>
      </p:sp>
      <p:sp>
        <p:nvSpPr>
          <p:cNvPr id="574" name="Google Shape;574;p12"/>
          <p:cNvSpPr/>
          <p:nvPr/>
        </p:nvSpPr>
        <p:spPr>
          <a:xfrm>
            <a:off x="0" y="2585198"/>
            <a:ext cx="71696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No organism in a metagenome will </a:t>
            </a: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exactly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match a reference genome</a:t>
            </a:r>
            <a:endParaRPr/>
          </a:p>
        </p:txBody>
      </p:sp>
      <p:grpSp>
        <p:nvGrpSpPr>
          <p:cNvPr id="575" name="Google Shape;575;p12"/>
          <p:cNvGrpSpPr/>
          <p:nvPr/>
        </p:nvGrpSpPr>
        <p:grpSpPr>
          <a:xfrm>
            <a:off x="1004499" y="3081505"/>
            <a:ext cx="1935701" cy="1049313"/>
            <a:chOff x="1004499" y="2014705"/>
            <a:chExt cx="1935701" cy="1049313"/>
          </a:xfrm>
        </p:grpSpPr>
        <p:sp>
          <p:nvSpPr>
            <p:cNvPr id="576" name="Google Shape;576;p12"/>
            <p:cNvSpPr/>
            <p:nvPr/>
          </p:nvSpPr>
          <p:spPr>
            <a:xfrm>
              <a:off x="1593173" y="2351285"/>
              <a:ext cx="68121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Reads</a:t>
              </a:r>
              <a:endParaRPr/>
            </a:p>
          </p:txBody>
        </p:sp>
        <p:cxnSp>
          <p:nvCxnSpPr>
            <p:cNvPr id="577" name="Google Shape;577;p12"/>
            <p:cNvCxnSpPr/>
            <p:nvPr/>
          </p:nvCxnSpPr>
          <p:spPr>
            <a:xfrm flipH="1" rot="10800000">
              <a:off x="1468137" y="2014705"/>
              <a:ext cx="403940" cy="250053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8" name="Google Shape;578;p12"/>
            <p:cNvCxnSpPr/>
            <p:nvPr/>
          </p:nvCxnSpPr>
          <p:spPr>
            <a:xfrm>
              <a:off x="1241811" y="2264758"/>
              <a:ext cx="396484" cy="184919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9" name="Google Shape;579;p12"/>
            <p:cNvCxnSpPr/>
            <p:nvPr/>
          </p:nvCxnSpPr>
          <p:spPr>
            <a:xfrm>
              <a:off x="1029722" y="2611385"/>
              <a:ext cx="369711" cy="186215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0" name="Google Shape;580;p12"/>
            <p:cNvCxnSpPr/>
            <p:nvPr/>
          </p:nvCxnSpPr>
          <p:spPr>
            <a:xfrm>
              <a:off x="1162121" y="2449677"/>
              <a:ext cx="317002" cy="188031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1" name="Google Shape;581;p12"/>
            <p:cNvCxnSpPr/>
            <p:nvPr/>
          </p:nvCxnSpPr>
          <p:spPr>
            <a:xfrm>
              <a:off x="1004499" y="2803600"/>
              <a:ext cx="463638" cy="260418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2" name="Google Shape;582;p12"/>
            <p:cNvCxnSpPr/>
            <p:nvPr/>
          </p:nvCxnSpPr>
          <p:spPr>
            <a:xfrm>
              <a:off x="1718915" y="2674389"/>
              <a:ext cx="297355" cy="130209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3" name="Google Shape;583;p12"/>
            <p:cNvCxnSpPr/>
            <p:nvPr/>
          </p:nvCxnSpPr>
          <p:spPr>
            <a:xfrm>
              <a:off x="2016270" y="2625886"/>
              <a:ext cx="289514" cy="178712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4" name="Google Shape;584;p12"/>
            <p:cNvCxnSpPr/>
            <p:nvPr/>
          </p:nvCxnSpPr>
          <p:spPr>
            <a:xfrm flipH="1" rot="10800000">
              <a:off x="1744237" y="2173002"/>
              <a:ext cx="272033" cy="171728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5" name="Google Shape;585;p12"/>
            <p:cNvCxnSpPr/>
            <p:nvPr/>
          </p:nvCxnSpPr>
          <p:spPr>
            <a:xfrm flipH="1" rot="10800000">
              <a:off x="2305784" y="2417158"/>
              <a:ext cx="403940" cy="250053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6" name="Google Shape;586;p12"/>
            <p:cNvCxnSpPr/>
            <p:nvPr/>
          </p:nvCxnSpPr>
          <p:spPr>
            <a:xfrm flipH="1" rot="10800000">
              <a:off x="2103814" y="2154086"/>
              <a:ext cx="403940" cy="250053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7" name="Google Shape;587;p12"/>
            <p:cNvCxnSpPr/>
            <p:nvPr/>
          </p:nvCxnSpPr>
          <p:spPr>
            <a:xfrm flipH="1" rot="10800000">
              <a:off x="2408276" y="2173002"/>
              <a:ext cx="403940" cy="250053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8" name="Google Shape;588;p12"/>
            <p:cNvCxnSpPr/>
            <p:nvPr/>
          </p:nvCxnSpPr>
          <p:spPr>
            <a:xfrm>
              <a:off x="2420831" y="2716886"/>
              <a:ext cx="519369" cy="86714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9" name="Google Shape;589;p12"/>
            <p:cNvCxnSpPr/>
            <p:nvPr/>
          </p:nvCxnSpPr>
          <p:spPr>
            <a:xfrm>
              <a:off x="1398823" y="2886304"/>
              <a:ext cx="534956" cy="6946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0" name="Google Shape;590;p12"/>
            <p:cNvCxnSpPr/>
            <p:nvPr/>
          </p:nvCxnSpPr>
          <p:spPr>
            <a:xfrm>
              <a:off x="1577199" y="3060673"/>
              <a:ext cx="606107" cy="0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591" name="Google Shape;591;p12"/>
          <p:cNvCxnSpPr/>
          <p:nvPr/>
        </p:nvCxnSpPr>
        <p:spPr>
          <a:xfrm>
            <a:off x="3886200" y="3518114"/>
            <a:ext cx="3362335" cy="0"/>
          </a:xfrm>
          <a:prstGeom prst="straightConnector1">
            <a:avLst/>
          </a:prstGeom>
          <a:noFill/>
          <a:ln cap="flat" cmpd="sng" w="571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2" name="Google Shape;592;p12"/>
          <p:cNvSpPr/>
          <p:nvPr/>
        </p:nvSpPr>
        <p:spPr>
          <a:xfrm>
            <a:off x="3886200" y="3241439"/>
            <a:ext cx="142481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Microbial genome 1</a:t>
            </a:r>
            <a:endParaRPr/>
          </a:p>
        </p:txBody>
      </p:sp>
      <p:cxnSp>
        <p:nvCxnSpPr>
          <p:cNvPr id="593" name="Google Shape;593;p12"/>
          <p:cNvCxnSpPr/>
          <p:nvPr/>
        </p:nvCxnSpPr>
        <p:spPr>
          <a:xfrm>
            <a:off x="3886200" y="4008492"/>
            <a:ext cx="3090603" cy="1742"/>
          </a:xfrm>
          <a:prstGeom prst="straightConnector1">
            <a:avLst/>
          </a:prstGeom>
          <a:noFill/>
          <a:ln cap="flat" cmpd="sng" w="571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4" name="Google Shape;594;p12"/>
          <p:cNvSpPr/>
          <p:nvPr/>
        </p:nvSpPr>
        <p:spPr>
          <a:xfrm>
            <a:off x="3886200" y="3717412"/>
            <a:ext cx="143282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Microbial genome 2</a:t>
            </a:r>
            <a:endParaRPr/>
          </a:p>
        </p:txBody>
      </p:sp>
      <p:sp>
        <p:nvSpPr>
          <p:cNvPr id="595" name="Google Shape;595;p12"/>
          <p:cNvSpPr/>
          <p:nvPr/>
        </p:nvSpPr>
        <p:spPr>
          <a:xfrm rot="5400000">
            <a:off x="5347594" y="4198339"/>
            <a:ext cx="43954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. . </a:t>
            </a:r>
            <a:endParaRPr/>
          </a:p>
        </p:txBody>
      </p:sp>
      <p:sp>
        <p:nvSpPr>
          <p:cNvPr id="596" name="Google Shape;596;p12"/>
          <p:cNvSpPr/>
          <p:nvPr/>
        </p:nvSpPr>
        <p:spPr>
          <a:xfrm>
            <a:off x="7229570" y="2661398"/>
            <a:ext cx="199063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ANI to something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the sample</a:t>
            </a:r>
            <a:endParaRPr/>
          </a:p>
        </p:txBody>
      </p:sp>
      <p:sp>
        <p:nvSpPr>
          <p:cNvPr id="597" name="Google Shape;597;p12"/>
          <p:cNvSpPr/>
          <p:nvPr/>
        </p:nvSpPr>
        <p:spPr>
          <a:xfrm>
            <a:off x="7316864" y="3256441"/>
            <a:ext cx="9017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0.97</a:t>
            </a:r>
            <a:endParaRPr/>
          </a:p>
        </p:txBody>
      </p:sp>
      <p:sp>
        <p:nvSpPr>
          <p:cNvPr id="598" name="Google Shape;598;p12"/>
          <p:cNvSpPr/>
          <p:nvPr/>
        </p:nvSpPr>
        <p:spPr>
          <a:xfrm>
            <a:off x="7316864" y="3754561"/>
            <a:ext cx="9017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0.92</a:t>
            </a:r>
            <a:endParaRPr/>
          </a:p>
        </p:txBody>
      </p:sp>
      <p:sp>
        <p:nvSpPr>
          <p:cNvPr id="599" name="Google Shape;599;p12"/>
          <p:cNvSpPr/>
          <p:nvPr/>
        </p:nvSpPr>
        <p:spPr>
          <a:xfrm>
            <a:off x="7958035" y="3248989"/>
            <a:ext cx="98426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in/out?</a:t>
            </a:r>
            <a:endParaRPr/>
          </a:p>
        </p:txBody>
      </p:sp>
      <p:sp>
        <p:nvSpPr>
          <p:cNvPr id="600" name="Google Shape;600;p12"/>
          <p:cNvSpPr/>
          <p:nvPr/>
        </p:nvSpPr>
        <p:spPr>
          <a:xfrm>
            <a:off x="7924800" y="3754561"/>
            <a:ext cx="98426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in/out?</a:t>
            </a:r>
            <a:endParaRPr/>
          </a:p>
        </p:txBody>
      </p:sp>
      <p:sp>
        <p:nvSpPr>
          <p:cNvPr id="601" name="Google Shape;601;p12"/>
          <p:cNvSpPr/>
          <p:nvPr/>
        </p:nvSpPr>
        <p:spPr>
          <a:xfrm>
            <a:off x="-1" y="4507468"/>
            <a:ext cx="71696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Reference genomes won’t always have 1X coverage in metagenome</a:t>
            </a:r>
            <a:endParaRPr/>
          </a:p>
        </p:txBody>
      </p:sp>
      <p:cxnSp>
        <p:nvCxnSpPr>
          <p:cNvPr id="602" name="Google Shape;602;p12"/>
          <p:cNvCxnSpPr/>
          <p:nvPr/>
        </p:nvCxnSpPr>
        <p:spPr>
          <a:xfrm>
            <a:off x="262197" y="5031965"/>
            <a:ext cx="3090603" cy="1742"/>
          </a:xfrm>
          <a:prstGeom prst="straightConnector1">
            <a:avLst/>
          </a:prstGeom>
          <a:noFill/>
          <a:ln cap="flat" cmpd="sng" w="571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03" name="Google Shape;603;p12"/>
          <p:cNvGrpSpPr/>
          <p:nvPr/>
        </p:nvGrpSpPr>
        <p:grpSpPr>
          <a:xfrm>
            <a:off x="262197" y="5251838"/>
            <a:ext cx="3125756" cy="212686"/>
            <a:chOff x="262197" y="4411787"/>
            <a:chExt cx="3125756" cy="212686"/>
          </a:xfrm>
        </p:grpSpPr>
        <p:cxnSp>
          <p:nvCxnSpPr>
            <p:cNvPr id="604" name="Google Shape;604;p12"/>
            <p:cNvCxnSpPr/>
            <p:nvPr/>
          </p:nvCxnSpPr>
          <p:spPr>
            <a:xfrm>
              <a:off x="262197" y="4465127"/>
              <a:ext cx="534956" cy="6946"/>
            </a:xfrm>
            <a:prstGeom prst="straightConnector1">
              <a:avLst/>
            </a:prstGeom>
            <a:noFill/>
            <a:ln cap="flat" cmpd="sng" w="57150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05" name="Google Shape;605;p12"/>
            <p:cNvCxnSpPr/>
            <p:nvPr/>
          </p:nvCxnSpPr>
          <p:spPr>
            <a:xfrm>
              <a:off x="422217" y="4617527"/>
              <a:ext cx="534956" cy="6946"/>
            </a:xfrm>
            <a:prstGeom prst="straightConnector1">
              <a:avLst/>
            </a:prstGeom>
            <a:noFill/>
            <a:ln cap="flat" cmpd="sng" w="57150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06" name="Google Shape;606;p12"/>
            <p:cNvCxnSpPr/>
            <p:nvPr/>
          </p:nvCxnSpPr>
          <p:spPr>
            <a:xfrm>
              <a:off x="879417" y="4548947"/>
              <a:ext cx="534956" cy="6946"/>
            </a:xfrm>
            <a:prstGeom prst="straightConnector1">
              <a:avLst/>
            </a:prstGeom>
            <a:noFill/>
            <a:ln cap="flat" cmpd="sng" w="57150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07" name="Google Shape;607;p12"/>
            <p:cNvCxnSpPr/>
            <p:nvPr/>
          </p:nvCxnSpPr>
          <p:spPr>
            <a:xfrm>
              <a:off x="1450917" y="4617527"/>
              <a:ext cx="534956" cy="6946"/>
            </a:xfrm>
            <a:prstGeom prst="straightConnector1">
              <a:avLst/>
            </a:prstGeom>
            <a:noFill/>
            <a:ln cap="flat" cmpd="sng" w="57150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08" name="Google Shape;608;p12"/>
            <p:cNvCxnSpPr/>
            <p:nvPr/>
          </p:nvCxnSpPr>
          <p:spPr>
            <a:xfrm>
              <a:off x="1770957" y="4411787"/>
              <a:ext cx="534956" cy="6946"/>
            </a:xfrm>
            <a:prstGeom prst="straightConnector1">
              <a:avLst/>
            </a:prstGeom>
            <a:noFill/>
            <a:ln cap="flat" cmpd="sng" w="57150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09" name="Google Shape;609;p12"/>
            <p:cNvCxnSpPr/>
            <p:nvPr/>
          </p:nvCxnSpPr>
          <p:spPr>
            <a:xfrm>
              <a:off x="2190057" y="4617527"/>
              <a:ext cx="534956" cy="6946"/>
            </a:xfrm>
            <a:prstGeom prst="straightConnector1">
              <a:avLst/>
            </a:prstGeom>
            <a:noFill/>
            <a:ln cap="flat" cmpd="sng" w="57150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0" name="Google Shape;610;p12"/>
            <p:cNvCxnSpPr/>
            <p:nvPr/>
          </p:nvCxnSpPr>
          <p:spPr>
            <a:xfrm>
              <a:off x="2593917" y="4427027"/>
              <a:ext cx="534956" cy="6946"/>
            </a:xfrm>
            <a:prstGeom prst="straightConnector1">
              <a:avLst/>
            </a:prstGeom>
            <a:noFill/>
            <a:ln cap="flat" cmpd="sng" w="57150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1" name="Google Shape;611;p12"/>
            <p:cNvCxnSpPr/>
            <p:nvPr/>
          </p:nvCxnSpPr>
          <p:spPr>
            <a:xfrm>
              <a:off x="2852997" y="4617527"/>
              <a:ext cx="534956" cy="6946"/>
            </a:xfrm>
            <a:prstGeom prst="straightConnector1">
              <a:avLst/>
            </a:prstGeom>
            <a:noFill/>
            <a:ln cap="flat" cmpd="sng" w="57150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12" name="Google Shape;612;p12"/>
          <p:cNvSpPr/>
          <p:nvPr/>
        </p:nvSpPr>
        <p:spPr>
          <a:xfrm>
            <a:off x="1166484" y="5650468"/>
            <a:ext cx="13760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1X coverage</a:t>
            </a:r>
            <a:endParaRPr/>
          </a:p>
        </p:txBody>
      </p:sp>
      <p:grpSp>
        <p:nvGrpSpPr>
          <p:cNvPr id="613" name="Google Shape;613;p12"/>
          <p:cNvGrpSpPr/>
          <p:nvPr/>
        </p:nvGrpSpPr>
        <p:grpSpPr>
          <a:xfrm>
            <a:off x="3846544" y="5031965"/>
            <a:ext cx="3125756" cy="987835"/>
            <a:chOff x="414597" y="4344314"/>
            <a:chExt cx="3125756" cy="987835"/>
          </a:xfrm>
        </p:grpSpPr>
        <p:cxnSp>
          <p:nvCxnSpPr>
            <p:cNvPr id="614" name="Google Shape;614;p12"/>
            <p:cNvCxnSpPr/>
            <p:nvPr/>
          </p:nvCxnSpPr>
          <p:spPr>
            <a:xfrm>
              <a:off x="414597" y="4344314"/>
              <a:ext cx="3090603" cy="1742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5" name="Google Shape;615;p12"/>
            <p:cNvCxnSpPr/>
            <p:nvPr/>
          </p:nvCxnSpPr>
          <p:spPr>
            <a:xfrm>
              <a:off x="414597" y="4617527"/>
              <a:ext cx="534956" cy="6946"/>
            </a:xfrm>
            <a:prstGeom prst="straightConnector1">
              <a:avLst/>
            </a:prstGeom>
            <a:noFill/>
            <a:ln cap="flat" cmpd="sng" w="57150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6" name="Google Shape;616;p12"/>
            <p:cNvCxnSpPr/>
            <p:nvPr/>
          </p:nvCxnSpPr>
          <p:spPr>
            <a:xfrm>
              <a:off x="574617" y="4769927"/>
              <a:ext cx="534956" cy="6946"/>
            </a:xfrm>
            <a:prstGeom prst="straightConnector1">
              <a:avLst/>
            </a:prstGeom>
            <a:noFill/>
            <a:ln cap="flat" cmpd="sng" w="57150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7" name="Google Shape;617;p12"/>
            <p:cNvCxnSpPr/>
            <p:nvPr/>
          </p:nvCxnSpPr>
          <p:spPr>
            <a:xfrm>
              <a:off x="1603317" y="4769927"/>
              <a:ext cx="534956" cy="6946"/>
            </a:xfrm>
            <a:prstGeom prst="straightConnector1">
              <a:avLst/>
            </a:prstGeom>
            <a:noFill/>
            <a:ln cap="flat" cmpd="sng" w="57150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8" name="Google Shape;618;p12"/>
            <p:cNvCxnSpPr/>
            <p:nvPr/>
          </p:nvCxnSpPr>
          <p:spPr>
            <a:xfrm>
              <a:off x="1923357" y="4564187"/>
              <a:ext cx="534956" cy="6946"/>
            </a:xfrm>
            <a:prstGeom prst="straightConnector1">
              <a:avLst/>
            </a:prstGeom>
            <a:noFill/>
            <a:ln cap="flat" cmpd="sng" w="57150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9" name="Google Shape;619;p12"/>
            <p:cNvCxnSpPr/>
            <p:nvPr/>
          </p:nvCxnSpPr>
          <p:spPr>
            <a:xfrm>
              <a:off x="3005397" y="4769927"/>
              <a:ext cx="534956" cy="6946"/>
            </a:xfrm>
            <a:prstGeom prst="straightConnector1">
              <a:avLst/>
            </a:prstGeom>
            <a:noFill/>
            <a:ln cap="flat" cmpd="sng" w="57150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20" name="Google Shape;620;p12"/>
            <p:cNvSpPr/>
            <p:nvPr/>
          </p:nvSpPr>
          <p:spPr>
            <a:xfrm>
              <a:off x="1318883" y="4962817"/>
              <a:ext cx="15585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0.5X coverage</a:t>
              </a:r>
              <a:endParaRPr/>
            </a:p>
          </p:txBody>
        </p:sp>
      </p:grpSp>
      <p:sp>
        <p:nvSpPr>
          <p:cNvPr descr=" 4099" id="621" name="Google Shape;621;p12"/>
          <p:cNvSpPr/>
          <p:nvPr/>
        </p:nvSpPr>
        <p:spPr>
          <a:xfrm>
            <a:off x="-1" y="6019094"/>
            <a:ext cx="1376098" cy="430949"/>
          </a:xfrm>
          <a:prstGeom prst="roundRect">
            <a:avLst>
              <a:gd fmla="val 16667" name="adj"/>
            </a:avLst>
          </a:prstGeom>
          <a:solidFill>
            <a:srgbClr val="BFBFB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Desire</a:t>
            </a:r>
            <a:endParaRPr/>
          </a:p>
        </p:txBody>
      </p:sp>
      <p:sp>
        <p:nvSpPr>
          <p:cNvPr id="622" name="Google Shape;622;p12"/>
          <p:cNvSpPr/>
          <p:nvPr/>
        </p:nvSpPr>
        <p:spPr>
          <a:xfrm>
            <a:off x="-1" y="6488668"/>
            <a:ext cx="989838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Statistical test to say a genome is in or out of a sample based on coverage and ANI to reference </a:t>
            </a:r>
            <a:endParaRPr/>
          </a:p>
        </p:txBody>
      </p:sp>
      <p:sp>
        <p:nvSpPr>
          <p:cNvPr descr=" 4098" id="623" name="Google Shape;623;p12"/>
          <p:cNvSpPr/>
          <p:nvPr/>
        </p:nvSpPr>
        <p:spPr>
          <a:xfrm>
            <a:off x="609600" y="1"/>
            <a:ext cx="7848600" cy="672860"/>
          </a:xfrm>
          <a:prstGeom prst="roundRect">
            <a:avLst>
              <a:gd fmla="val 16667" name="adj"/>
            </a:avLst>
          </a:prstGeom>
          <a:solidFill>
            <a:srgbClr val="00B8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YACHT</a:t>
            </a:r>
            <a:endParaRPr/>
          </a:p>
        </p:txBody>
      </p:sp>
      <p:sp>
        <p:nvSpPr>
          <p:cNvPr descr=" 4099" id="624" name="Google Shape;624;p12"/>
          <p:cNvSpPr/>
          <p:nvPr/>
        </p:nvSpPr>
        <p:spPr>
          <a:xfrm>
            <a:off x="-1" y="685800"/>
            <a:ext cx="685801" cy="475488"/>
          </a:xfrm>
          <a:prstGeom prst="roundRect">
            <a:avLst>
              <a:gd fmla="val 16667" name="adj"/>
            </a:avLst>
          </a:prstGeom>
          <a:solidFill>
            <a:srgbClr val="BFBFB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ANI:</a:t>
            </a:r>
            <a:endParaRPr/>
          </a:p>
        </p:txBody>
      </p:sp>
      <p:sp>
        <p:nvSpPr>
          <p:cNvPr id="625" name="Google Shape;625;p12"/>
          <p:cNvSpPr/>
          <p:nvPr/>
        </p:nvSpPr>
        <p:spPr>
          <a:xfrm>
            <a:off x="0" y="1137242"/>
            <a:ext cx="57332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Ratio of matching vs. all characters in aligned pair of strings</a:t>
            </a:r>
            <a:endParaRPr/>
          </a:p>
        </p:txBody>
      </p:sp>
      <p:sp>
        <p:nvSpPr>
          <p:cNvPr id="626" name="Google Shape;626;p12"/>
          <p:cNvSpPr/>
          <p:nvPr/>
        </p:nvSpPr>
        <p:spPr>
          <a:xfrm>
            <a:off x="685800" y="740609"/>
            <a:ext cx="27966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Average Nucleotide Identity</a:t>
            </a:r>
            <a:endParaRPr/>
          </a:p>
        </p:txBody>
      </p:sp>
      <p:sp>
        <p:nvSpPr>
          <p:cNvPr id="627" name="Google Shape;627;p12"/>
          <p:cNvSpPr txBox="1"/>
          <p:nvPr/>
        </p:nvSpPr>
        <p:spPr>
          <a:xfrm>
            <a:off x="1314713" y="1577662"/>
            <a:ext cx="22666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TCCGGAGGGGCAATT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2"/>
          <p:cNvSpPr txBox="1"/>
          <p:nvPr/>
        </p:nvSpPr>
        <p:spPr>
          <a:xfrm>
            <a:off x="1314713" y="1773350"/>
            <a:ext cx="22666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TC</a:t>
            </a:r>
            <a:r>
              <a:rPr lang="en-US" sz="18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GGAGGGGC</a:t>
            </a:r>
            <a:r>
              <a:rPr lang="en-US" sz="18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G</a:t>
            </a: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ATT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9" name="Google Shape;62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78197" y="1665599"/>
            <a:ext cx="738770" cy="361131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12"/>
          <p:cNvSpPr/>
          <p:nvPr/>
        </p:nvSpPr>
        <p:spPr>
          <a:xfrm>
            <a:off x="543002" y="1640169"/>
            <a:ext cx="5237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</a:t>
            </a:r>
            <a:endParaRPr/>
          </a:p>
        </p:txBody>
      </p:sp>
      <p:pic>
        <p:nvPicPr>
          <p:cNvPr descr="Fig. 3" id="631" name="Google Shape;631;p12"/>
          <p:cNvPicPr preferRelativeResize="0"/>
          <p:nvPr/>
        </p:nvPicPr>
        <p:blipFill rotWithShape="1">
          <a:blip r:embed="rId4">
            <a:alphaModFix/>
          </a:blip>
          <a:srcRect b="0" l="66667" r="0" t="7357"/>
          <a:stretch/>
        </p:blipFill>
        <p:spPr>
          <a:xfrm>
            <a:off x="457200" y="2303206"/>
            <a:ext cx="4991310" cy="2945450"/>
          </a:xfrm>
          <a:prstGeom prst="rect">
            <a:avLst/>
          </a:prstGeom>
          <a:noFill/>
          <a:ln>
            <a:noFill/>
          </a:ln>
        </p:spPr>
      </p:pic>
      <p:sp>
        <p:nvSpPr>
          <p:cNvPr descr=" 4099" id="632" name="Google Shape;632;p12"/>
          <p:cNvSpPr/>
          <p:nvPr/>
        </p:nvSpPr>
        <p:spPr>
          <a:xfrm>
            <a:off x="2603347" y="5010912"/>
            <a:ext cx="1752600" cy="475488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ANI</a:t>
            </a:r>
            <a:endParaRPr/>
          </a:p>
        </p:txBody>
      </p:sp>
    </p:spTree>
  </p:cSld>
  <p:clrMapOvr>
    <a:masterClrMapping/>
  </p:clrMapOvr>
  <p:transition spd="med"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8" name="Google Shape;63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011" y="4114800"/>
            <a:ext cx="7094789" cy="2739831"/>
          </a:xfrm>
          <a:prstGeom prst="rect">
            <a:avLst/>
          </a:prstGeom>
          <a:noFill/>
          <a:ln>
            <a:noFill/>
          </a:ln>
        </p:spPr>
      </p:pic>
      <p:sp>
        <p:nvSpPr>
          <p:cNvPr descr=" 4099" id="639" name="Google Shape;639;p13"/>
          <p:cNvSpPr/>
          <p:nvPr/>
        </p:nvSpPr>
        <p:spPr>
          <a:xfrm>
            <a:off x="11521" y="885726"/>
            <a:ext cx="1664880" cy="430949"/>
          </a:xfrm>
          <a:prstGeom prst="roundRect">
            <a:avLst>
              <a:gd fmla="val 16667" name="adj"/>
            </a:avLst>
          </a:prstGeom>
          <a:solidFill>
            <a:srgbClr val="BFBFB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YACHT test</a:t>
            </a:r>
            <a:endParaRPr/>
          </a:p>
        </p:txBody>
      </p:sp>
      <p:sp>
        <p:nvSpPr>
          <p:cNvPr descr=" 4098" id="640" name="Google Shape;640;p13"/>
          <p:cNvSpPr/>
          <p:nvPr/>
        </p:nvSpPr>
        <p:spPr>
          <a:xfrm>
            <a:off x="609600" y="1"/>
            <a:ext cx="7848600" cy="672860"/>
          </a:xfrm>
          <a:prstGeom prst="roundRect">
            <a:avLst>
              <a:gd fmla="val 16667" name="adj"/>
            </a:avLst>
          </a:prstGeom>
          <a:solidFill>
            <a:srgbClr val="00B8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YACHT</a:t>
            </a:r>
            <a:endParaRPr/>
          </a:p>
        </p:txBody>
      </p:sp>
      <p:sp>
        <p:nvSpPr>
          <p:cNvPr id="641" name="Google Shape;641;p13"/>
          <p:cNvSpPr txBox="1"/>
          <p:nvPr/>
        </p:nvSpPr>
        <p:spPr>
          <a:xfrm>
            <a:off x="0" y="1524000"/>
            <a:ext cx="9239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Given: </a:t>
            </a:r>
            <a:endParaRPr/>
          </a:p>
        </p:txBody>
      </p:sp>
      <p:sp>
        <p:nvSpPr>
          <p:cNvPr id="642" name="Google Shape;642;p13"/>
          <p:cNvSpPr txBox="1"/>
          <p:nvPr/>
        </p:nvSpPr>
        <p:spPr>
          <a:xfrm>
            <a:off x="737235" y="1529563"/>
            <a:ext cx="61531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Confidence value (say, 95%) </a:t>
            </a:r>
            <a:endParaRPr/>
          </a:p>
        </p:txBody>
      </p:sp>
      <p:sp>
        <p:nvSpPr>
          <p:cNvPr id="643" name="Google Shape;643;p13"/>
          <p:cNvSpPr txBox="1"/>
          <p:nvPr/>
        </p:nvSpPr>
        <p:spPr>
          <a:xfrm>
            <a:off x="737235" y="1891366"/>
            <a:ext cx="61531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Desired false negative rate </a:t>
            </a:r>
            <a:endParaRPr/>
          </a:p>
        </p:txBody>
      </p:sp>
      <p:sp>
        <p:nvSpPr>
          <p:cNvPr id="644" name="Google Shape;644;p13"/>
          <p:cNvSpPr txBox="1"/>
          <p:nvPr/>
        </p:nvSpPr>
        <p:spPr>
          <a:xfrm>
            <a:off x="737235" y="2253169"/>
            <a:ext cx="61531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What % ANI means “same genome”</a:t>
            </a:r>
            <a:endParaRPr/>
          </a:p>
        </p:txBody>
      </p:sp>
      <p:sp>
        <p:nvSpPr>
          <p:cNvPr id="645" name="Google Shape;645;p13"/>
          <p:cNvSpPr txBox="1"/>
          <p:nvPr/>
        </p:nvSpPr>
        <p:spPr>
          <a:xfrm>
            <a:off x="737235" y="2614971"/>
            <a:ext cx="61531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What coverage X means “in sample”</a:t>
            </a:r>
            <a:endParaRPr/>
          </a:p>
        </p:txBody>
      </p:sp>
      <p:sp>
        <p:nvSpPr>
          <p:cNvPr id="646" name="Google Shape;646;p13"/>
          <p:cNvSpPr txBox="1"/>
          <p:nvPr/>
        </p:nvSpPr>
        <p:spPr>
          <a:xfrm>
            <a:off x="0" y="3048000"/>
            <a:ext cx="20193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YACHT tells you: </a:t>
            </a:r>
            <a:endParaRPr/>
          </a:p>
        </p:txBody>
      </p:sp>
      <p:grpSp>
        <p:nvGrpSpPr>
          <p:cNvPr id="647" name="Google Shape;647;p13"/>
          <p:cNvGrpSpPr/>
          <p:nvPr/>
        </p:nvGrpSpPr>
        <p:grpSpPr>
          <a:xfrm>
            <a:off x="5223332" y="990600"/>
            <a:ext cx="3844468" cy="2201870"/>
            <a:chOff x="7173955" y="1984088"/>
            <a:chExt cx="3844468" cy="2201870"/>
          </a:xfrm>
        </p:grpSpPr>
        <p:pic>
          <p:nvPicPr>
            <p:cNvPr id="648" name="Google Shape;648;p13"/>
            <p:cNvPicPr preferRelativeResize="0"/>
            <p:nvPr/>
          </p:nvPicPr>
          <p:blipFill rotWithShape="1">
            <a:blip r:embed="rId4">
              <a:alphaModFix/>
            </a:blip>
            <a:srcRect b="0" l="0" r="17168" t="0"/>
            <a:stretch/>
          </p:blipFill>
          <p:spPr>
            <a:xfrm>
              <a:off x="7173955" y="2090166"/>
              <a:ext cx="3787603" cy="2095792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649" name="Google Shape;649;p13"/>
            <p:cNvCxnSpPr/>
            <p:nvPr/>
          </p:nvCxnSpPr>
          <p:spPr>
            <a:xfrm>
              <a:off x="9921240" y="2090166"/>
              <a:ext cx="0" cy="2035916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50" name="Google Shape;650;p13"/>
            <p:cNvSpPr/>
            <p:nvPr/>
          </p:nvSpPr>
          <p:spPr>
            <a:xfrm rot="-5400000">
              <a:off x="10252508" y="1952158"/>
              <a:ext cx="184938" cy="726592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rgbClr val="FF505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1" name="Google Shape;651;p13"/>
            <p:cNvSpPr/>
            <p:nvPr/>
          </p:nvSpPr>
          <p:spPr>
            <a:xfrm>
              <a:off x="9864966" y="1984088"/>
              <a:ext cx="115345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Ignore all this</a:t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52" name="Google Shape;652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112479" y="2152829"/>
              <a:ext cx="1973253" cy="197325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53" name="Google Shape;653;p13"/>
          <p:cNvGrpSpPr/>
          <p:nvPr/>
        </p:nvGrpSpPr>
        <p:grpSpPr>
          <a:xfrm>
            <a:off x="5280197" y="3349267"/>
            <a:ext cx="3787603" cy="2580084"/>
            <a:chOff x="7174780" y="4277916"/>
            <a:chExt cx="3787603" cy="2580084"/>
          </a:xfrm>
        </p:grpSpPr>
        <p:pic>
          <p:nvPicPr>
            <p:cNvPr id="654" name="Google Shape;654;p13"/>
            <p:cNvPicPr preferRelativeResize="0"/>
            <p:nvPr/>
          </p:nvPicPr>
          <p:blipFill rotWithShape="1">
            <a:blip r:embed="rId4">
              <a:alphaModFix/>
            </a:blip>
            <a:srcRect b="0" l="0" r="17168" t="0"/>
            <a:stretch/>
          </p:blipFill>
          <p:spPr>
            <a:xfrm>
              <a:off x="7174780" y="4277916"/>
              <a:ext cx="3787603" cy="2095792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655" name="Google Shape;655;p13"/>
            <p:cNvCxnSpPr/>
            <p:nvPr/>
          </p:nvCxnSpPr>
          <p:spPr>
            <a:xfrm rot="10800000">
              <a:off x="9753600" y="6362700"/>
              <a:ext cx="0" cy="213360"/>
            </a:xfrm>
            <a:prstGeom prst="straightConnector1">
              <a:avLst/>
            </a:prstGeom>
            <a:noFill/>
            <a:ln cap="flat" cmpd="sng" w="19050">
              <a:solidFill>
                <a:srgbClr val="4A7DBA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656" name="Google Shape;656;p13"/>
            <p:cNvSpPr txBox="1"/>
            <p:nvPr/>
          </p:nvSpPr>
          <p:spPr>
            <a:xfrm>
              <a:off x="8805648" y="6488668"/>
              <a:ext cx="21186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Enough evidence?</a:t>
              </a:r>
              <a:endParaRPr/>
            </a:p>
          </p:txBody>
        </p:sp>
      </p:grpSp>
      <p:sp>
        <p:nvSpPr>
          <p:cNvPr id="657" name="Google Shape;657;p13"/>
          <p:cNvSpPr txBox="1"/>
          <p:nvPr/>
        </p:nvSpPr>
        <p:spPr>
          <a:xfrm>
            <a:off x="7620" y="3455896"/>
            <a:ext cx="557974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there enough evidence (overlapping k-mers) to support the reference genome being “in” the sample.</a:t>
            </a:r>
            <a:endParaRPr/>
          </a:p>
        </p:txBody>
      </p:sp>
      <p:sp>
        <p:nvSpPr>
          <p:cNvPr id="658" name="Google Shape;658;p13"/>
          <p:cNvSpPr/>
          <p:nvPr/>
        </p:nvSpPr>
        <p:spPr>
          <a:xfrm>
            <a:off x="1524000" y="5867400"/>
            <a:ext cx="2971800" cy="228600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 4099" id="664" name="Google Shape;664;p14"/>
          <p:cNvSpPr/>
          <p:nvPr/>
        </p:nvSpPr>
        <p:spPr>
          <a:xfrm>
            <a:off x="0" y="801011"/>
            <a:ext cx="2446415" cy="475488"/>
          </a:xfrm>
          <a:prstGeom prst="roundRect">
            <a:avLst>
              <a:gd fmla="val 16667" name="adj"/>
            </a:avLst>
          </a:prstGeom>
          <a:solidFill>
            <a:srgbClr val="BFBFB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does it work?</a:t>
            </a:r>
            <a:endParaRPr/>
          </a:p>
        </p:txBody>
      </p:sp>
      <p:sp>
        <p:nvSpPr>
          <p:cNvPr id="665" name="Google Shape;665;p14"/>
          <p:cNvSpPr/>
          <p:nvPr/>
        </p:nvSpPr>
        <p:spPr>
          <a:xfrm>
            <a:off x="4614603" y="1520983"/>
            <a:ext cx="203235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 database</a:t>
            </a:r>
            <a:endParaRPr/>
          </a:p>
        </p:txBody>
      </p:sp>
      <p:cxnSp>
        <p:nvCxnSpPr>
          <p:cNvPr id="666" name="Google Shape;666;p14"/>
          <p:cNvCxnSpPr/>
          <p:nvPr/>
        </p:nvCxnSpPr>
        <p:spPr>
          <a:xfrm>
            <a:off x="4419600" y="2222714"/>
            <a:ext cx="2862003" cy="324"/>
          </a:xfrm>
          <a:prstGeom prst="straightConnector1">
            <a:avLst/>
          </a:prstGeom>
          <a:noFill/>
          <a:ln cap="flat" cmpd="sng" w="571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7" name="Google Shape;667;p14"/>
          <p:cNvSpPr/>
          <p:nvPr/>
        </p:nvSpPr>
        <p:spPr>
          <a:xfrm>
            <a:off x="4419600" y="1946039"/>
            <a:ext cx="152580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(Microbial) genome 1</a:t>
            </a:r>
            <a:endParaRPr/>
          </a:p>
        </p:txBody>
      </p:sp>
      <p:cxnSp>
        <p:nvCxnSpPr>
          <p:cNvPr id="668" name="Google Shape;668;p14"/>
          <p:cNvCxnSpPr/>
          <p:nvPr/>
        </p:nvCxnSpPr>
        <p:spPr>
          <a:xfrm>
            <a:off x="4419600" y="2713092"/>
            <a:ext cx="2700679" cy="0"/>
          </a:xfrm>
          <a:prstGeom prst="straightConnector1">
            <a:avLst/>
          </a:prstGeom>
          <a:noFill/>
          <a:ln cap="flat" cmpd="sng" w="571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9" name="Google Shape;669;p14"/>
          <p:cNvSpPr/>
          <p:nvPr/>
        </p:nvSpPr>
        <p:spPr>
          <a:xfrm>
            <a:off x="4419600" y="2422012"/>
            <a:ext cx="152580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(Microbial) genome 2</a:t>
            </a:r>
            <a:endParaRPr/>
          </a:p>
        </p:txBody>
      </p:sp>
      <p:sp>
        <p:nvSpPr>
          <p:cNvPr id="670" name="Google Shape;670;p14"/>
          <p:cNvSpPr/>
          <p:nvPr/>
        </p:nvSpPr>
        <p:spPr>
          <a:xfrm rot="5400000">
            <a:off x="5880994" y="2902939"/>
            <a:ext cx="43954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. . </a:t>
            </a:r>
            <a:endParaRPr/>
          </a:p>
        </p:txBody>
      </p:sp>
      <p:grpSp>
        <p:nvGrpSpPr>
          <p:cNvPr id="671" name="Google Shape;671;p14"/>
          <p:cNvGrpSpPr/>
          <p:nvPr/>
        </p:nvGrpSpPr>
        <p:grpSpPr>
          <a:xfrm>
            <a:off x="623499" y="2021953"/>
            <a:ext cx="1935701" cy="1049313"/>
            <a:chOff x="623499" y="2021953"/>
            <a:chExt cx="1935701" cy="1049313"/>
          </a:xfrm>
        </p:grpSpPr>
        <p:sp>
          <p:nvSpPr>
            <p:cNvPr id="672" name="Google Shape;672;p14"/>
            <p:cNvSpPr/>
            <p:nvPr/>
          </p:nvSpPr>
          <p:spPr>
            <a:xfrm>
              <a:off x="1212173" y="2358533"/>
              <a:ext cx="68121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Reads</a:t>
              </a:r>
              <a:endParaRPr/>
            </a:p>
          </p:txBody>
        </p:sp>
        <p:cxnSp>
          <p:nvCxnSpPr>
            <p:cNvPr id="673" name="Google Shape;673;p14"/>
            <p:cNvCxnSpPr/>
            <p:nvPr/>
          </p:nvCxnSpPr>
          <p:spPr>
            <a:xfrm flipH="1" rot="10800000">
              <a:off x="1087137" y="2021953"/>
              <a:ext cx="403940" cy="250053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4" name="Google Shape;674;p14"/>
            <p:cNvCxnSpPr/>
            <p:nvPr/>
          </p:nvCxnSpPr>
          <p:spPr>
            <a:xfrm>
              <a:off x="860811" y="2272006"/>
              <a:ext cx="396484" cy="184919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5" name="Google Shape;675;p14"/>
            <p:cNvCxnSpPr/>
            <p:nvPr/>
          </p:nvCxnSpPr>
          <p:spPr>
            <a:xfrm>
              <a:off x="648722" y="2618633"/>
              <a:ext cx="369711" cy="186215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6" name="Google Shape;676;p14"/>
            <p:cNvCxnSpPr/>
            <p:nvPr/>
          </p:nvCxnSpPr>
          <p:spPr>
            <a:xfrm>
              <a:off x="781121" y="2456925"/>
              <a:ext cx="317002" cy="188031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7" name="Google Shape;677;p14"/>
            <p:cNvCxnSpPr/>
            <p:nvPr/>
          </p:nvCxnSpPr>
          <p:spPr>
            <a:xfrm>
              <a:off x="623499" y="2810848"/>
              <a:ext cx="463638" cy="260418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8" name="Google Shape;678;p14"/>
            <p:cNvCxnSpPr/>
            <p:nvPr/>
          </p:nvCxnSpPr>
          <p:spPr>
            <a:xfrm>
              <a:off x="1337915" y="2681637"/>
              <a:ext cx="297355" cy="130209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9" name="Google Shape;679;p14"/>
            <p:cNvCxnSpPr/>
            <p:nvPr/>
          </p:nvCxnSpPr>
          <p:spPr>
            <a:xfrm>
              <a:off x="1635270" y="2633134"/>
              <a:ext cx="289514" cy="178712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80" name="Google Shape;680;p14"/>
            <p:cNvCxnSpPr/>
            <p:nvPr/>
          </p:nvCxnSpPr>
          <p:spPr>
            <a:xfrm flipH="1" rot="10800000">
              <a:off x="1363237" y="2180250"/>
              <a:ext cx="272033" cy="171728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81" name="Google Shape;681;p14"/>
            <p:cNvCxnSpPr/>
            <p:nvPr/>
          </p:nvCxnSpPr>
          <p:spPr>
            <a:xfrm flipH="1" rot="10800000">
              <a:off x="1924784" y="2424406"/>
              <a:ext cx="403940" cy="250053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82" name="Google Shape;682;p14"/>
            <p:cNvCxnSpPr/>
            <p:nvPr/>
          </p:nvCxnSpPr>
          <p:spPr>
            <a:xfrm flipH="1" rot="10800000">
              <a:off x="1722814" y="2161334"/>
              <a:ext cx="403940" cy="250053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83" name="Google Shape;683;p14"/>
            <p:cNvCxnSpPr/>
            <p:nvPr/>
          </p:nvCxnSpPr>
          <p:spPr>
            <a:xfrm flipH="1" rot="10800000">
              <a:off x="2027276" y="2180250"/>
              <a:ext cx="403940" cy="250053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84" name="Google Shape;684;p14"/>
            <p:cNvCxnSpPr/>
            <p:nvPr/>
          </p:nvCxnSpPr>
          <p:spPr>
            <a:xfrm>
              <a:off x="2039831" y="2724134"/>
              <a:ext cx="519369" cy="86714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85" name="Google Shape;685;p14"/>
            <p:cNvCxnSpPr/>
            <p:nvPr/>
          </p:nvCxnSpPr>
          <p:spPr>
            <a:xfrm>
              <a:off x="1017823" y="2893552"/>
              <a:ext cx="534956" cy="6946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86" name="Google Shape;686;p14"/>
            <p:cNvCxnSpPr/>
            <p:nvPr/>
          </p:nvCxnSpPr>
          <p:spPr>
            <a:xfrm>
              <a:off x="1196199" y="3067921"/>
              <a:ext cx="606107" cy="0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87" name="Google Shape;687;p14"/>
          <p:cNvSpPr/>
          <p:nvPr/>
        </p:nvSpPr>
        <p:spPr>
          <a:xfrm>
            <a:off x="381000" y="1453288"/>
            <a:ext cx="26298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Raw (meta)genomic reads</a:t>
            </a:r>
            <a:endParaRPr/>
          </a:p>
        </p:txBody>
      </p:sp>
      <p:sp>
        <p:nvSpPr>
          <p:cNvPr descr=" 4098" id="688" name="Google Shape;688;p14"/>
          <p:cNvSpPr/>
          <p:nvPr/>
        </p:nvSpPr>
        <p:spPr>
          <a:xfrm>
            <a:off x="609600" y="1"/>
            <a:ext cx="7848600" cy="672860"/>
          </a:xfrm>
          <a:prstGeom prst="roundRect">
            <a:avLst>
              <a:gd fmla="val 16667" name="adj"/>
            </a:avLst>
          </a:prstGeom>
          <a:solidFill>
            <a:srgbClr val="00B8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YACHT</a:t>
            </a:r>
            <a:endParaRPr/>
          </a:p>
        </p:txBody>
      </p:sp>
    </p:spTree>
  </p:cSld>
  <p:clrMapOvr>
    <a:masterClrMapping/>
  </p:clrMapOvr>
  <p:transition spd="med"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4" name="Google Shape;69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9527" y="3005327"/>
            <a:ext cx="804673" cy="804673"/>
          </a:xfrm>
          <a:prstGeom prst="rect">
            <a:avLst/>
          </a:prstGeom>
          <a:noFill/>
          <a:ln>
            <a:noFill/>
          </a:ln>
        </p:spPr>
      </p:pic>
      <p:sp>
        <p:nvSpPr>
          <p:cNvPr descr=" 4099" id="695" name="Google Shape;695;p15"/>
          <p:cNvSpPr/>
          <p:nvPr/>
        </p:nvSpPr>
        <p:spPr>
          <a:xfrm>
            <a:off x="0" y="801011"/>
            <a:ext cx="2446415" cy="475488"/>
          </a:xfrm>
          <a:prstGeom prst="roundRect">
            <a:avLst>
              <a:gd fmla="val 16667" name="adj"/>
            </a:avLst>
          </a:prstGeom>
          <a:solidFill>
            <a:srgbClr val="BFBFB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does it work?</a:t>
            </a:r>
            <a:endParaRPr/>
          </a:p>
        </p:txBody>
      </p:sp>
      <p:sp>
        <p:nvSpPr>
          <p:cNvPr id="696" name="Google Shape;696;p15"/>
          <p:cNvSpPr/>
          <p:nvPr/>
        </p:nvSpPr>
        <p:spPr>
          <a:xfrm>
            <a:off x="4614603" y="1453288"/>
            <a:ext cx="27256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 database k-mers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15"/>
          <p:cNvSpPr/>
          <p:nvPr/>
        </p:nvSpPr>
        <p:spPr>
          <a:xfrm>
            <a:off x="4572000" y="2183706"/>
            <a:ext cx="152580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(Microbial) genome 1</a:t>
            </a:r>
            <a:endParaRPr/>
          </a:p>
        </p:txBody>
      </p:sp>
      <p:sp>
        <p:nvSpPr>
          <p:cNvPr id="698" name="Google Shape;698;p15"/>
          <p:cNvSpPr/>
          <p:nvPr/>
        </p:nvSpPr>
        <p:spPr>
          <a:xfrm>
            <a:off x="4572000" y="3174306"/>
            <a:ext cx="152580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(Microbial) genome 2</a:t>
            </a:r>
            <a:endParaRPr/>
          </a:p>
        </p:txBody>
      </p:sp>
      <p:sp>
        <p:nvSpPr>
          <p:cNvPr id="699" name="Google Shape;699;p15"/>
          <p:cNvSpPr/>
          <p:nvPr/>
        </p:nvSpPr>
        <p:spPr>
          <a:xfrm>
            <a:off x="655969" y="3880695"/>
            <a:ext cx="177147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of </a:t>
            </a:r>
            <a:r>
              <a:rPr i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-length strings</a:t>
            </a:r>
            <a:endParaRPr/>
          </a:p>
        </p:txBody>
      </p:sp>
      <p:pic>
        <p:nvPicPr>
          <p:cNvPr id="700" name="Google Shape;70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13042" y="1933764"/>
            <a:ext cx="804673" cy="804673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Google Shape;701;p15"/>
          <p:cNvSpPr/>
          <p:nvPr/>
        </p:nvSpPr>
        <p:spPr>
          <a:xfrm rot="5400000">
            <a:off x="5893269" y="3946579"/>
            <a:ext cx="43954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. . </a:t>
            </a:r>
            <a:endParaRPr/>
          </a:p>
        </p:txBody>
      </p:sp>
      <p:pic>
        <p:nvPicPr>
          <p:cNvPr id="702" name="Google Shape;70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8789" y="1735904"/>
            <a:ext cx="2133601" cy="2129156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15"/>
          <p:cNvSpPr/>
          <p:nvPr/>
        </p:nvSpPr>
        <p:spPr>
          <a:xfrm>
            <a:off x="-1" y="4612646"/>
            <a:ext cx="186512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Convert to k-mers</a:t>
            </a:r>
            <a:endParaRPr baseline="30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 4098" id="704" name="Google Shape;704;p15"/>
          <p:cNvSpPr/>
          <p:nvPr/>
        </p:nvSpPr>
        <p:spPr>
          <a:xfrm>
            <a:off x="609600" y="1"/>
            <a:ext cx="7848600" cy="672860"/>
          </a:xfrm>
          <a:prstGeom prst="roundRect">
            <a:avLst>
              <a:gd fmla="val 16667" name="adj"/>
            </a:avLst>
          </a:prstGeom>
          <a:solidFill>
            <a:srgbClr val="00B8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YACHT</a:t>
            </a:r>
            <a:endParaRPr/>
          </a:p>
        </p:txBody>
      </p:sp>
      <p:sp>
        <p:nvSpPr>
          <p:cNvPr id="705" name="Google Shape;705;p15"/>
          <p:cNvSpPr/>
          <p:nvPr/>
        </p:nvSpPr>
        <p:spPr>
          <a:xfrm>
            <a:off x="381000" y="1453288"/>
            <a:ext cx="27555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Raw (meta)genomic k-mers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cut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1" name="Google Shape;71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9527" y="3005327"/>
            <a:ext cx="804673" cy="804673"/>
          </a:xfrm>
          <a:prstGeom prst="rect">
            <a:avLst/>
          </a:prstGeom>
          <a:noFill/>
          <a:ln>
            <a:noFill/>
          </a:ln>
        </p:spPr>
      </p:pic>
      <p:sp>
        <p:nvSpPr>
          <p:cNvPr descr=" 4099" id="712" name="Google Shape;712;p16"/>
          <p:cNvSpPr/>
          <p:nvPr/>
        </p:nvSpPr>
        <p:spPr>
          <a:xfrm>
            <a:off x="0" y="801011"/>
            <a:ext cx="2446415" cy="475488"/>
          </a:xfrm>
          <a:prstGeom prst="roundRect">
            <a:avLst>
              <a:gd fmla="val 16667" name="adj"/>
            </a:avLst>
          </a:prstGeom>
          <a:solidFill>
            <a:srgbClr val="BFBFB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does it work?</a:t>
            </a:r>
            <a:endParaRPr/>
          </a:p>
        </p:txBody>
      </p:sp>
      <p:sp>
        <p:nvSpPr>
          <p:cNvPr id="713" name="Google Shape;713;p16"/>
          <p:cNvSpPr/>
          <p:nvPr/>
        </p:nvSpPr>
        <p:spPr>
          <a:xfrm>
            <a:off x="-1" y="4986402"/>
            <a:ext cx="194534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Subsample/sketch</a:t>
            </a:r>
            <a:endParaRPr baseline="30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16"/>
          <p:cNvSpPr/>
          <p:nvPr/>
        </p:nvSpPr>
        <p:spPr>
          <a:xfrm>
            <a:off x="4572000" y="2183706"/>
            <a:ext cx="152580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(Microbial) genome 1</a:t>
            </a:r>
            <a:endParaRPr/>
          </a:p>
        </p:txBody>
      </p:sp>
      <p:sp>
        <p:nvSpPr>
          <p:cNvPr id="715" name="Google Shape;715;p16"/>
          <p:cNvSpPr/>
          <p:nvPr/>
        </p:nvSpPr>
        <p:spPr>
          <a:xfrm>
            <a:off x="4572000" y="3174306"/>
            <a:ext cx="152580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(Microbial) genome 2</a:t>
            </a:r>
            <a:endParaRPr/>
          </a:p>
        </p:txBody>
      </p:sp>
      <p:sp>
        <p:nvSpPr>
          <p:cNvPr id="716" name="Google Shape;716;p16"/>
          <p:cNvSpPr/>
          <p:nvPr/>
        </p:nvSpPr>
        <p:spPr>
          <a:xfrm>
            <a:off x="655969" y="3880695"/>
            <a:ext cx="177147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of </a:t>
            </a:r>
            <a:r>
              <a:rPr i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-length strings</a:t>
            </a:r>
            <a:endParaRPr/>
          </a:p>
        </p:txBody>
      </p:sp>
      <p:pic>
        <p:nvPicPr>
          <p:cNvPr id="717" name="Google Shape;71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8789" y="1735904"/>
            <a:ext cx="2133601" cy="2129156"/>
          </a:xfrm>
          <a:prstGeom prst="rect">
            <a:avLst/>
          </a:prstGeom>
          <a:noFill/>
          <a:ln>
            <a:noFill/>
          </a:ln>
        </p:spPr>
      </p:pic>
      <p:pic>
        <p:nvPicPr>
          <p:cNvPr id="718" name="Google Shape;71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8789" y="1735904"/>
            <a:ext cx="2133602" cy="2129157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29527" y="3005327"/>
            <a:ext cx="804673" cy="804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720" name="Google Shape;72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13042" y="1933764"/>
            <a:ext cx="804673" cy="804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721" name="Google Shape;72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13042" y="1933764"/>
            <a:ext cx="804673" cy="804673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16"/>
          <p:cNvSpPr/>
          <p:nvPr/>
        </p:nvSpPr>
        <p:spPr>
          <a:xfrm>
            <a:off x="-1" y="4612646"/>
            <a:ext cx="186512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Convert to k-mers</a:t>
            </a:r>
            <a:endParaRPr baseline="30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16"/>
          <p:cNvSpPr/>
          <p:nvPr/>
        </p:nvSpPr>
        <p:spPr>
          <a:xfrm rot="5400000">
            <a:off x="5893269" y="3946579"/>
            <a:ext cx="43954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. . </a:t>
            </a:r>
            <a:endParaRPr/>
          </a:p>
        </p:txBody>
      </p:sp>
      <p:sp>
        <p:nvSpPr>
          <p:cNvPr descr=" 4098" id="724" name="Google Shape;724;p16"/>
          <p:cNvSpPr/>
          <p:nvPr/>
        </p:nvSpPr>
        <p:spPr>
          <a:xfrm>
            <a:off x="609600" y="1"/>
            <a:ext cx="7848600" cy="672860"/>
          </a:xfrm>
          <a:prstGeom prst="roundRect">
            <a:avLst>
              <a:gd fmla="val 16667" name="adj"/>
            </a:avLst>
          </a:prstGeom>
          <a:solidFill>
            <a:srgbClr val="00B8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YACHT</a:t>
            </a:r>
            <a:endParaRPr/>
          </a:p>
        </p:txBody>
      </p:sp>
      <p:sp>
        <p:nvSpPr>
          <p:cNvPr id="725" name="Google Shape;725;p16"/>
          <p:cNvSpPr/>
          <p:nvPr/>
        </p:nvSpPr>
        <p:spPr>
          <a:xfrm>
            <a:off x="381000" y="1453288"/>
            <a:ext cx="27555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Raw (meta)genomic k-mers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16"/>
          <p:cNvSpPr/>
          <p:nvPr/>
        </p:nvSpPr>
        <p:spPr>
          <a:xfrm>
            <a:off x="4614603" y="1453288"/>
            <a:ext cx="27256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 database k-mers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cut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 4099" id="732" name="Google Shape;732;p17"/>
          <p:cNvSpPr/>
          <p:nvPr/>
        </p:nvSpPr>
        <p:spPr>
          <a:xfrm>
            <a:off x="0" y="801011"/>
            <a:ext cx="2446415" cy="475488"/>
          </a:xfrm>
          <a:prstGeom prst="roundRect">
            <a:avLst>
              <a:gd fmla="val 16667" name="adj"/>
            </a:avLst>
          </a:prstGeom>
          <a:solidFill>
            <a:srgbClr val="BFBFB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does it work?</a:t>
            </a:r>
            <a:endParaRPr/>
          </a:p>
        </p:txBody>
      </p:sp>
      <p:sp>
        <p:nvSpPr>
          <p:cNvPr id="733" name="Google Shape;733;p17"/>
          <p:cNvSpPr/>
          <p:nvPr/>
        </p:nvSpPr>
        <p:spPr>
          <a:xfrm>
            <a:off x="-1" y="4986402"/>
            <a:ext cx="194534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Subsample/sketch</a:t>
            </a:r>
            <a:endParaRPr baseline="30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17"/>
          <p:cNvSpPr/>
          <p:nvPr/>
        </p:nvSpPr>
        <p:spPr>
          <a:xfrm>
            <a:off x="4572000" y="2183706"/>
            <a:ext cx="152580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(Microbial) genome 1</a:t>
            </a:r>
            <a:endParaRPr/>
          </a:p>
        </p:txBody>
      </p:sp>
      <p:sp>
        <p:nvSpPr>
          <p:cNvPr id="735" name="Google Shape;735;p17"/>
          <p:cNvSpPr/>
          <p:nvPr/>
        </p:nvSpPr>
        <p:spPr>
          <a:xfrm>
            <a:off x="655969" y="3880695"/>
            <a:ext cx="177147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of </a:t>
            </a:r>
            <a:r>
              <a:rPr i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-length strings</a:t>
            </a:r>
            <a:endParaRPr/>
          </a:p>
        </p:txBody>
      </p:sp>
      <p:pic>
        <p:nvPicPr>
          <p:cNvPr id="736" name="Google Shape;73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8789" y="1735904"/>
            <a:ext cx="2133601" cy="2129156"/>
          </a:xfrm>
          <a:prstGeom prst="rect">
            <a:avLst/>
          </a:prstGeom>
          <a:noFill/>
          <a:ln>
            <a:noFill/>
          </a:ln>
        </p:spPr>
      </p:pic>
      <p:pic>
        <p:nvPicPr>
          <p:cNvPr id="737" name="Google Shape;73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8789" y="1735904"/>
            <a:ext cx="2133602" cy="2129157"/>
          </a:xfrm>
          <a:prstGeom prst="rect">
            <a:avLst/>
          </a:prstGeom>
          <a:noFill/>
          <a:ln>
            <a:noFill/>
          </a:ln>
        </p:spPr>
      </p:pic>
      <p:pic>
        <p:nvPicPr>
          <p:cNvPr id="738" name="Google Shape;73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13042" y="1933764"/>
            <a:ext cx="804673" cy="804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739" name="Google Shape;73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13042" y="1933764"/>
            <a:ext cx="804673" cy="804673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17"/>
          <p:cNvSpPr/>
          <p:nvPr/>
        </p:nvSpPr>
        <p:spPr>
          <a:xfrm>
            <a:off x="-1" y="5360158"/>
            <a:ext cx="503753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Retain those with non-zero overlap with the sample</a:t>
            </a:r>
            <a:endParaRPr baseline="30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17"/>
          <p:cNvSpPr/>
          <p:nvPr/>
        </p:nvSpPr>
        <p:spPr>
          <a:xfrm>
            <a:off x="-1" y="4612646"/>
            <a:ext cx="186512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Convert to k-mers</a:t>
            </a:r>
            <a:endParaRPr baseline="30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2" name="Google Shape;74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80682" y="1735904"/>
            <a:ext cx="2512220" cy="219819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43" name="Google Shape;743;p17"/>
          <p:cNvCxnSpPr>
            <a:stCxn id="739" idx="1"/>
            <a:endCxn id="742" idx="3"/>
          </p:cNvCxnSpPr>
          <p:nvPr/>
        </p:nvCxnSpPr>
        <p:spPr>
          <a:xfrm flipH="1">
            <a:off x="2892842" y="2336101"/>
            <a:ext cx="3220200" cy="498900"/>
          </a:xfrm>
          <a:prstGeom prst="straightConnector1">
            <a:avLst/>
          </a:prstGeom>
          <a:noFill/>
          <a:ln cap="flat" cmpd="sng" w="2857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descr=" 4098" id="744" name="Google Shape;744;p17"/>
          <p:cNvSpPr/>
          <p:nvPr/>
        </p:nvSpPr>
        <p:spPr>
          <a:xfrm>
            <a:off x="609600" y="1"/>
            <a:ext cx="7848600" cy="672860"/>
          </a:xfrm>
          <a:prstGeom prst="roundRect">
            <a:avLst>
              <a:gd fmla="val 16667" name="adj"/>
            </a:avLst>
          </a:prstGeom>
          <a:solidFill>
            <a:srgbClr val="00B8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YACHT</a:t>
            </a:r>
            <a:endParaRPr/>
          </a:p>
        </p:txBody>
      </p:sp>
      <p:sp>
        <p:nvSpPr>
          <p:cNvPr id="745" name="Google Shape;745;p17"/>
          <p:cNvSpPr/>
          <p:nvPr/>
        </p:nvSpPr>
        <p:spPr>
          <a:xfrm>
            <a:off x="381000" y="1453288"/>
            <a:ext cx="27555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Raw (meta)genomic k-mers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17"/>
          <p:cNvSpPr/>
          <p:nvPr/>
        </p:nvSpPr>
        <p:spPr>
          <a:xfrm>
            <a:off x="4614603" y="1453288"/>
            <a:ext cx="27256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 database k-mers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cut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 4099" id="752" name="Google Shape;752;p18"/>
          <p:cNvSpPr/>
          <p:nvPr/>
        </p:nvSpPr>
        <p:spPr>
          <a:xfrm>
            <a:off x="0" y="801011"/>
            <a:ext cx="2446415" cy="475488"/>
          </a:xfrm>
          <a:prstGeom prst="roundRect">
            <a:avLst>
              <a:gd fmla="val 16667" name="adj"/>
            </a:avLst>
          </a:prstGeom>
          <a:solidFill>
            <a:srgbClr val="BFBFB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does it work?</a:t>
            </a:r>
            <a:endParaRPr/>
          </a:p>
        </p:txBody>
      </p:sp>
      <p:sp>
        <p:nvSpPr>
          <p:cNvPr id="753" name="Google Shape;753;p18"/>
          <p:cNvSpPr/>
          <p:nvPr/>
        </p:nvSpPr>
        <p:spPr>
          <a:xfrm>
            <a:off x="-1" y="4986402"/>
            <a:ext cx="194534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Subsample/sketch</a:t>
            </a:r>
            <a:endParaRPr baseline="30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18"/>
          <p:cNvSpPr/>
          <p:nvPr/>
        </p:nvSpPr>
        <p:spPr>
          <a:xfrm>
            <a:off x="4572000" y="2183706"/>
            <a:ext cx="152580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(Microbial) genome 1</a:t>
            </a:r>
            <a:endParaRPr/>
          </a:p>
        </p:txBody>
      </p:sp>
      <p:sp>
        <p:nvSpPr>
          <p:cNvPr id="755" name="Google Shape;755;p18"/>
          <p:cNvSpPr/>
          <p:nvPr/>
        </p:nvSpPr>
        <p:spPr>
          <a:xfrm>
            <a:off x="655969" y="3880695"/>
            <a:ext cx="177147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of </a:t>
            </a:r>
            <a:r>
              <a:rPr i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-length strings</a:t>
            </a:r>
            <a:endParaRPr/>
          </a:p>
        </p:txBody>
      </p:sp>
      <p:pic>
        <p:nvPicPr>
          <p:cNvPr id="756" name="Google Shape;75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3042" y="1933764"/>
            <a:ext cx="804673" cy="804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757" name="Google Shape;75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13042" y="1933764"/>
            <a:ext cx="804673" cy="804673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p18"/>
          <p:cNvSpPr/>
          <p:nvPr/>
        </p:nvSpPr>
        <p:spPr>
          <a:xfrm>
            <a:off x="-1" y="5360158"/>
            <a:ext cx="503753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Retain those with non-zero overlap with the sample</a:t>
            </a:r>
            <a:endParaRPr baseline="30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18"/>
          <p:cNvSpPr/>
          <p:nvPr/>
        </p:nvSpPr>
        <p:spPr>
          <a:xfrm>
            <a:off x="-1" y="4612646"/>
            <a:ext cx="186512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Convert to k-mers</a:t>
            </a:r>
            <a:endParaRPr baseline="30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0" name="Google Shape;760;p18"/>
          <p:cNvCxnSpPr>
            <a:stCxn id="757" idx="1"/>
          </p:cNvCxnSpPr>
          <p:nvPr/>
        </p:nvCxnSpPr>
        <p:spPr>
          <a:xfrm flipH="1">
            <a:off x="2892842" y="2336101"/>
            <a:ext cx="3220200" cy="498900"/>
          </a:xfrm>
          <a:prstGeom prst="straightConnector1">
            <a:avLst/>
          </a:prstGeom>
          <a:noFill/>
          <a:ln cap="flat" cmpd="sng" w="2857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61" name="Google Shape;761;p18"/>
          <p:cNvSpPr/>
          <p:nvPr/>
        </p:nvSpPr>
        <p:spPr>
          <a:xfrm>
            <a:off x="-1" y="5733914"/>
            <a:ext cx="28032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 genome-specific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-mers</a:t>
            </a:r>
            <a:endParaRPr baseline="30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2" name="Google Shape;76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0682" y="1735904"/>
            <a:ext cx="2512220" cy="2198192"/>
          </a:xfrm>
          <a:prstGeom prst="rect">
            <a:avLst/>
          </a:prstGeom>
          <a:noFill/>
          <a:ln>
            <a:noFill/>
          </a:ln>
        </p:spPr>
      </p:pic>
      <p:pic>
        <p:nvPicPr>
          <p:cNvPr id="763" name="Google Shape;76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0682" y="1735904"/>
            <a:ext cx="2512219" cy="2198192"/>
          </a:xfrm>
          <a:prstGeom prst="rect">
            <a:avLst/>
          </a:prstGeom>
          <a:noFill/>
          <a:ln>
            <a:noFill/>
          </a:ln>
        </p:spPr>
      </p:pic>
      <p:sp>
        <p:nvSpPr>
          <p:cNvPr descr=" 4098" id="764" name="Google Shape;764;p18"/>
          <p:cNvSpPr/>
          <p:nvPr/>
        </p:nvSpPr>
        <p:spPr>
          <a:xfrm>
            <a:off x="609600" y="1"/>
            <a:ext cx="7848600" cy="672860"/>
          </a:xfrm>
          <a:prstGeom prst="roundRect">
            <a:avLst>
              <a:gd fmla="val 16667" name="adj"/>
            </a:avLst>
          </a:prstGeom>
          <a:solidFill>
            <a:srgbClr val="00B8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YACHT</a:t>
            </a:r>
            <a:endParaRPr/>
          </a:p>
        </p:txBody>
      </p:sp>
      <p:sp>
        <p:nvSpPr>
          <p:cNvPr id="765" name="Google Shape;765;p18"/>
          <p:cNvSpPr/>
          <p:nvPr/>
        </p:nvSpPr>
        <p:spPr>
          <a:xfrm>
            <a:off x="381000" y="1453288"/>
            <a:ext cx="27555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Raw (meta)genomic k-mers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18"/>
          <p:cNvSpPr/>
          <p:nvPr/>
        </p:nvSpPr>
        <p:spPr>
          <a:xfrm>
            <a:off x="4614603" y="1453288"/>
            <a:ext cx="27256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 database k-mers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cut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 4099" id="772" name="Google Shape;772;p19"/>
          <p:cNvSpPr/>
          <p:nvPr/>
        </p:nvSpPr>
        <p:spPr>
          <a:xfrm>
            <a:off x="0" y="801011"/>
            <a:ext cx="2446415" cy="475488"/>
          </a:xfrm>
          <a:prstGeom prst="roundRect">
            <a:avLst>
              <a:gd fmla="val 16667" name="adj"/>
            </a:avLst>
          </a:prstGeom>
          <a:solidFill>
            <a:srgbClr val="BFBFB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does it work?</a:t>
            </a:r>
            <a:endParaRPr/>
          </a:p>
        </p:txBody>
      </p:sp>
      <p:sp>
        <p:nvSpPr>
          <p:cNvPr id="773" name="Google Shape;773;p19"/>
          <p:cNvSpPr/>
          <p:nvPr/>
        </p:nvSpPr>
        <p:spPr>
          <a:xfrm>
            <a:off x="-1" y="4986402"/>
            <a:ext cx="194534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Subsample/sketch</a:t>
            </a:r>
            <a:endParaRPr baseline="30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19"/>
          <p:cNvSpPr/>
          <p:nvPr/>
        </p:nvSpPr>
        <p:spPr>
          <a:xfrm>
            <a:off x="4572000" y="2183706"/>
            <a:ext cx="152580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(Microbial) genome 1</a:t>
            </a:r>
            <a:endParaRPr/>
          </a:p>
        </p:txBody>
      </p:sp>
      <p:sp>
        <p:nvSpPr>
          <p:cNvPr id="775" name="Google Shape;775;p19"/>
          <p:cNvSpPr/>
          <p:nvPr/>
        </p:nvSpPr>
        <p:spPr>
          <a:xfrm>
            <a:off x="655969" y="3880695"/>
            <a:ext cx="177147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of </a:t>
            </a:r>
            <a:r>
              <a:rPr i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-length strings</a:t>
            </a:r>
            <a:endParaRPr/>
          </a:p>
        </p:txBody>
      </p:sp>
      <p:pic>
        <p:nvPicPr>
          <p:cNvPr id="776" name="Google Shape;77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3042" y="1933764"/>
            <a:ext cx="804673" cy="804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777" name="Google Shape;77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13042" y="1933764"/>
            <a:ext cx="804673" cy="804673"/>
          </a:xfrm>
          <a:prstGeom prst="rect">
            <a:avLst/>
          </a:prstGeom>
          <a:noFill/>
          <a:ln>
            <a:noFill/>
          </a:ln>
        </p:spPr>
      </p:pic>
      <p:sp>
        <p:nvSpPr>
          <p:cNvPr id="778" name="Google Shape;778;p19"/>
          <p:cNvSpPr/>
          <p:nvPr/>
        </p:nvSpPr>
        <p:spPr>
          <a:xfrm>
            <a:off x="-1" y="5360158"/>
            <a:ext cx="503753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Retain those with non-zero overlap with the sample</a:t>
            </a:r>
            <a:endParaRPr baseline="30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19"/>
          <p:cNvSpPr/>
          <p:nvPr/>
        </p:nvSpPr>
        <p:spPr>
          <a:xfrm>
            <a:off x="-1" y="4612646"/>
            <a:ext cx="186512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Convert to k-mers</a:t>
            </a:r>
            <a:endParaRPr baseline="30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0" name="Google Shape;780;p19"/>
          <p:cNvCxnSpPr>
            <a:stCxn id="777" idx="1"/>
          </p:cNvCxnSpPr>
          <p:nvPr/>
        </p:nvCxnSpPr>
        <p:spPr>
          <a:xfrm flipH="1">
            <a:off x="2892842" y="2336101"/>
            <a:ext cx="3220200" cy="498900"/>
          </a:xfrm>
          <a:prstGeom prst="straightConnector1">
            <a:avLst/>
          </a:prstGeom>
          <a:noFill/>
          <a:ln cap="flat" cmpd="sng" w="2857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81" name="Google Shape;781;p19"/>
          <p:cNvSpPr/>
          <p:nvPr/>
        </p:nvSpPr>
        <p:spPr>
          <a:xfrm>
            <a:off x="-1" y="5733914"/>
            <a:ext cx="28032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 genome-specific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-mers</a:t>
            </a:r>
            <a:endParaRPr baseline="30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2" name="Google Shape;78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0682" y="1735904"/>
            <a:ext cx="2512220" cy="219819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3" name="Google Shape;78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0682" y="1735904"/>
            <a:ext cx="2512219" cy="2198192"/>
          </a:xfrm>
          <a:prstGeom prst="rect">
            <a:avLst/>
          </a:prstGeom>
          <a:noFill/>
          <a:ln>
            <a:noFill/>
          </a:ln>
        </p:spPr>
      </p:pic>
      <p:sp>
        <p:nvSpPr>
          <p:cNvPr id="784" name="Google Shape;784;p19"/>
          <p:cNvSpPr/>
          <p:nvPr/>
        </p:nvSpPr>
        <p:spPr>
          <a:xfrm>
            <a:off x="-1" y="6103246"/>
            <a:ext cx="82143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if there are enough to support the reference genome being “in” the sample </a:t>
            </a:r>
            <a:endParaRPr baseline="30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 4098" id="785" name="Google Shape;785;p19"/>
          <p:cNvSpPr/>
          <p:nvPr/>
        </p:nvSpPr>
        <p:spPr>
          <a:xfrm>
            <a:off x="609600" y="1"/>
            <a:ext cx="7848600" cy="672860"/>
          </a:xfrm>
          <a:prstGeom prst="roundRect">
            <a:avLst>
              <a:gd fmla="val 16667" name="adj"/>
            </a:avLst>
          </a:prstGeom>
          <a:solidFill>
            <a:srgbClr val="00B8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YACHT</a:t>
            </a:r>
            <a:endParaRPr/>
          </a:p>
        </p:txBody>
      </p:sp>
      <p:sp>
        <p:nvSpPr>
          <p:cNvPr id="786" name="Google Shape;786;p19"/>
          <p:cNvSpPr/>
          <p:nvPr/>
        </p:nvSpPr>
        <p:spPr>
          <a:xfrm>
            <a:off x="381000" y="1453288"/>
            <a:ext cx="27555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Raw (meta)genomic k-mers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19"/>
          <p:cNvSpPr/>
          <p:nvPr/>
        </p:nvSpPr>
        <p:spPr>
          <a:xfrm>
            <a:off x="4614603" y="1453288"/>
            <a:ext cx="27256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 database k-mers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8" name="Google Shape;788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40636" y="3471529"/>
            <a:ext cx="7094789" cy="2739831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19"/>
          <p:cNvSpPr/>
          <p:nvPr/>
        </p:nvSpPr>
        <p:spPr>
          <a:xfrm>
            <a:off x="5634625" y="5224129"/>
            <a:ext cx="2971800" cy="228600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 4099" id="795" name="Google Shape;795;p20"/>
          <p:cNvSpPr/>
          <p:nvPr/>
        </p:nvSpPr>
        <p:spPr>
          <a:xfrm>
            <a:off x="0" y="801011"/>
            <a:ext cx="2446415" cy="475488"/>
          </a:xfrm>
          <a:prstGeom prst="roundRect">
            <a:avLst>
              <a:gd fmla="val 16667" name="adj"/>
            </a:avLst>
          </a:prstGeom>
          <a:solidFill>
            <a:srgbClr val="BFBFB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does it work?</a:t>
            </a:r>
            <a:endParaRPr/>
          </a:p>
        </p:txBody>
      </p:sp>
      <p:sp>
        <p:nvSpPr>
          <p:cNvPr descr=" 4098" id="796" name="Google Shape;796;p20"/>
          <p:cNvSpPr/>
          <p:nvPr/>
        </p:nvSpPr>
        <p:spPr>
          <a:xfrm>
            <a:off x="609600" y="1"/>
            <a:ext cx="7848600" cy="672860"/>
          </a:xfrm>
          <a:prstGeom prst="roundRect">
            <a:avLst>
              <a:gd fmla="val 16667" name="adj"/>
            </a:avLst>
          </a:prstGeom>
          <a:solidFill>
            <a:srgbClr val="00B8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YACHT</a:t>
            </a:r>
            <a:endParaRPr/>
          </a:p>
        </p:txBody>
      </p:sp>
      <p:sp>
        <p:nvSpPr>
          <p:cNvPr id="797" name="Google Shape;797;p20"/>
          <p:cNvSpPr/>
          <p:nvPr/>
        </p:nvSpPr>
        <p:spPr>
          <a:xfrm>
            <a:off x="2518765" y="867673"/>
            <a:ext cx="16303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Hypothesis test</a:t>
            </a:r>
            <a:endParaRPr/>
          </a:p>
        </p:txBody>
      </p:sp>
      <p:sp>
        <p:nvSpPr>
          <p:cNvPr id="798" name="Google Shape;798;p20"/>
          <p:cNvSpPr/>
          <p:nvPr/>
        </p:nvSpPr>
        <p:spPr>
          <a:xfrm>
            <a:off x="458427" y="2536638"/>
            <a:ext cx="9893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Genome</a:t>
            </a:r>
            <a:endParaRPr/>
          </a:p>
        </p:txBody>
      </p:sp>
      <p:sp>
        <p:nvSpPr>
          <p:cNvPr id="799" name="Google Shape;799;p20"/>
          <p:cNvSpPr/>
          <p:nvPr/>
        </p:nvSpPr>
        <p:spPr>
          <a:xfrm>
            <a:off x="458426" y="3169347"/>
            <a:ext cx="837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K-mers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0" name="Google Shape;800;p20"/>
          <p:cNvCxnSpPr/>
          <p:nvPr/>
        </p:nvCxnSpPr>
        <p:spPr>
          <a:xfrm>
            <a:off x="1905000" y="2743200"/>
            <a:ext cx="3773456" cy="10149"/>
          </a:xfrm>
          <a:prstGeom prst="straightConnector1">
            <a:avLst/>
          </a:prstGeom>
          <a:noFill/>
          <a:ln cap="flat" cmpd="sng" w="571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1" name="Google Shape;801;p20"/>
          <p:cNvCxnSpPr/>
          <p:nvPr/>
        </p:nvCxnSpPr>
        <p:spPr>
          <a:xfrm>
            <a:off x="1905000" y="3016413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2" name="Google Shape;802;p20"/>
          <p:cNvCxnSpPr/>
          <p:nvPr/>
        </p:nvCxnSpPr>
        <p:spPr>
          <a:xfrm>
            <a:off x="2065020" y="3170802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3" name="Google Shape;803;p20"/>
          <p:cNvCxnSpPr/>
          <p:nvPr/>
        </p:nvCxnSpPr>
        <p:spPr>
          <a:xfrm>
            <a:off x="2207539" y="3325191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4" name="Google Shape;804;p20"/>
          <p:cNvCxnSpPr/>
          <p:nvPr/>
        </p:nvCxnSpPr>
        <p:spPr>
          <a:xfrm>
            <a:off x="2362978" y="3479580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5" name="Google Shape;805;p20"/>
          <p:cNvCxnSpPr/>
          <p:nvPr/>
        </p:nvCxnSpPr>
        <p:spPr>
          <a:xfrm>
            <a:off x="2566730" y="3633967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6" name="Google Shape;806;p20"/>
          <p:cNvCxnSpPr/>
          <p:nvPr/>
        </p:nvCxnSpPr>
        <p:spPr>
          <a:xfrm>
            <a:off x="2782856" y="3030335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7" name="Google Shape;807;p20"/>
          <p:cNvCxnSpPr/>
          <p:nvPr/>
        </p:nvCxnSpPr>
        <p:spPr>
          <a:xfrm>
            <a:off x="2942876" y="3184724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8" name="Google Shape;808;p20"/>
          <p:cNvCxnSpPr/>
          <p:nvPr/>
        </p:nvCxnSpPr>
        <p:spPr>
          <a:xfrm>
            <a:off x="3085395" y="3339113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9" name="Google Shape;809;p20"/>
          <p:cNvCxnSpPr/>
          <p:nvPr/>
        </p:nvCxnSpPr>
        <p:spPr>
          <a:xfrm>
            <a:off x="3240834" y="3493502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0" name="Google Shape;810;p20"/>
          <p:cNvCxnSpPr/>
          <p:nvPr/>
        </p:nvCxnSpPr>
        <p:spPr>
          <a:xfrm>
            <a:off x="3444586" y="3647889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1" name="Google Shape;811;p20"/>
          <p:cNvCxnSpPr/>
          <p:nvPr/>
        </p:nvCxnSpPr>
        <p:spPr>
          <a:xfrm>
            <a:off x="3567370" y="3045235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2" name="Google Shape;812;p20"/>
          <p:cNvCxnSpPr/>
          <p:nvPr/>
        </p:nvCxnSpPr>
        <p:spPr>
          <a:xfrm>
            <a:off x="3727390" y="3199624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3" name="Google Shape;813;p20"/>
          <p:cNvCxnSpPr/>
          <p:nvPr/>
        </p:nvCxnSpPr>
        <p:spPr>
          <a:xfrm>
            <a:off x="3869909" y="3354013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4" name="Google Shape;814;p20"/>
          <p:cNvCxnSpPr/>
          <p:nvPr/>
        </p:nvCxnSpPr>
        <p:spPr>
          <a:xfrm>
            <a:off x="4025348" y="3508402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5" name="Google Shape;815;p20"/>
          <p:cNvCxnSpPr/>
          <p:nvPr/>
        </p:nvCxnSpPr>
        <p:spPr>
          <a:xfrm>
            <a:off x="4229100" y="3662789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6" name="Google Shape;816;p20"/>
          <p:cNvCxnSpPr/>
          <p:nvPr/>
        </p:nvCxnSpPr>
        <p:spPr>
          <a:xfrm>
            <a:off x="4405570" y="3045235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7" name="Google Shape;817;p20"/>
          <p:cNvCxnSpPr/>
          <p:nvPr/>
        </p:nvCxnSpPr>
        <p:spPr>
          <a:xfrm>
            <a:off x="4565590" y="3199624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8" name="Google Shape;818;p20"/>
          <p:cNvCxnSpPr/>
          <p:nvPr/>
        </p:nvCxnSpPr>
        <p:spPr>
          <a:xfrm>
            <a:off x="4708109" y="3354013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9" name="Google Shape;819;p20"/>
          <p:cNvCxnSpPr/>
          <p:nvPr/>
        </p:nvCxnSpPr>
        <p:spPr>
          <a:xfrm>
            <a:off x="4863548" y="3508402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0" name="Google Shape;820;p20"/>
          <p:cNvCxnSpPr/>
          <p:nvPr/>
        </p:nvCxnSpPr>
        <p:spPr>
          <a:xfrm>
            <a:off x="5067300" y="3662789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1" name="Google Shape;821;p20"/>
          <p:cNvSpPr/>
          <p:nvPr/>
        </p:nvSpPr>
        <p:spPr>
          <a:xfrm>
            <a:off x="6135656" y="2209800"/>
            <a:ext cx="2549917" cy="2362199"/>
          </a:xfrm>
          <a:prstGeom prst="ellipse">
            <a:avLst/>
          </a:prstGeom>
          <a:noFill/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2" name="Google Shape;822;p20"/>
          <p:cNvCxnSpPr/>
          <p:nvPr/>
        </p:nvCxnSpPr>
        <p:spPr>
          <a:xfrm>
            <a:off x="6553200" y="2667000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3" name="Google Shape;823;p20"/>
          <p:cNvCxnSpPr/>
          <p:nvPr/>
        </p:nvCxnSpPr>
        <p:spPr>
          <a:xfrm>
            <a:off x="6713220" y="2821389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4" name="Google Shape;824;p20"/>
          <p:cNvCxnSpPr/>
          <p:nvPr/>
        </p:nvCxnSpPr>
        <p:spPr>
          <a:xfrm>
            <a:off x="6855739" y="2975778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5" name="Google Shape;825;p20"/>
          <p:cNvCxnSpPr/>
          <p:nvPr/>
        </p:nvCxnSpPr>
        <p:spPr>
          <a:xfrm>
            <a:off x="7011178" y="3130167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6" name="Google Shape;826;p20"/>
          <p:cNvCxnSpPr/>
          <p:nvPr/>
        </p:nvCxnSpPr>
        <p:spPr>
          <a:xfrm>
            <a:off x="7214930" y="3284554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7" name="Google Shape;827;p20"/>
          <p:cNvCxnSpPr/>
          <p:nvPr/>
        </p:nvCxnSpPr>
        <p:spPr>
          <a:xfrm>
            <a:off x="7431056" y="2680922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8" name="Google Shape;828;p20"/>
          <p:cNvCxnSpPr/>
          <p:nvPr/>
        </p:nvCxnSpPr>
        <p:spPr>
          <a:xfrm>
            <a:off x="7591076" y="2835311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9" name="Google Shape;829;p20"/>
          <p:cNvCxnSpPr/>
          <p:nvPr/>
        </p:nvCxnSpPr>
        <p:spPr>
          <a:xfrm>
            <a:off x="7733595" y="2989700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0" name="Google Shape;830;p20"/>
          <p:cNvCxnSpPr/>
          <p:nvPr/>
        </p:nvCxnSpPr>
        <p:spPr>
          <a:xfrm>
            <a:off x="7889034" y="3144089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1" name="Google Shape;831;p20"/>
          <p:cNvCxnSpPr/>
          <p:nvPr/>
        </p:nvCxnSpPr>
        <p:spPr>
          <a:xfrm>
            <a:off x="8092786" y="3298476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2" name="Google Shape;832;p20"/>
          <p:cNvCxnSpPr/>
          <p:nvPr/>
        </p:nvCxnSpPr>
        <p:spPr>
          <a:xfrm>
            <a:off x="6231258" y="3400178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3" name="Google Shape;833;p20"/>
          <p:cNvCxnSpPr/>
          <p:nvPr/>
        </p:nvCxnSpPr>
        <p:spPr>
          <a:xfrm>
            <a:off x="6391278" y="3554567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4" name="Google Shape;834;p20"/>
          <p:cNvCxnSpPr/>
          <p:nvPr/>
        </p:nvCxnSpPr>
        <p:spPr>
          <a:xfrm>
            <a:off x="6533797" y="3708956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5" name="Google Shape;835;p20"/>
          <p:cNvCxnSpPr/>
          <p:nvPr/>
        </p:nvCxnSpPr>
        <p:spPr>
          <a:xfrm>
            <a:off x="6689236" y="3863345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6" name="Google Shape;836;p20"/>
          <p:cNvCxnSpPr/>
          <p:nvPr/>
        </p:nvCxnSpPr>
        <p:spPr>
          <a:xfrm>
            <a:off x="6892988" y="4017732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7" name="Google Shape;837;p20"/>
          <p:cNvCxnSpPr/>
          <p:nvPr/>
        </p:nvCxnSpPr>
        <p:spPr>
          <a:xfrm>
            <a:off x="7109114" y="3414100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8" name="Google Shape;838;p20"/>
          <p:cNvCxnSpPr/>
          <p:nvPr/>
        </p:nvCxnSpPr>
        <p:spPr>
          <a:xfrm>
            <a:off x="7269134" y="3568489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9" name="Google Shape;839;p20"/>
          <p:cNvCxnSpPr/>
          <p:nvPr/>
        </p:nvCxnSpPr>
        <p:spPr>
          <a:xfrm>
            <a:off x="7411653" y="3722878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0" name="Google Shape;840;p20"/>
          <p:cNvCxnSpPr/>
          <p:nvPr/>
        </p:nvCxnSpPr>
        <p:spPr>
          <a:xfrm>
            <a:off x="7567092" y="3877267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1" name="Google Shape;841;p20"/>
          <p:cNvCxnSpPr/>
          <p:nvPr/>
        </p:nvCxnSpPr>
        <p:spPr>
          <a:xfrm>
            <a:off x="7770844" y="4031654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2" name="Google Shape;842;p20"/>
          <p:cNvSpPr/>
          <p:nvPr/>
        </p:nvSpPr>
        <p:spPr>
          <a:xfrm>
            <a:off x="6892398" y="4553521"/>
            <a:ext cx="10342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Sample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/>
          </a:p>
        </p:txBody>
      </p:sp>
      <p:sp>
        <p:nvSpPr>
          <p:cNvPr id="843" name="Google Shape;843;p20"/>
          <p:cNvSpPr/>
          <p:nvPr/>
        </p:nvSpPr>
        <p:spPr>
          <a:xfrm>
            <a:off x="14405" y="1404649"/>
            <a:ext cx="547605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 hypothesis H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the genome is present in the sample</a:t>
            </a:r>
            <a:endParaRPr/>
          </a:p>
        </p:txBody>
      </p:sp>
    </p:spTree>
  </p:cSld>
  <p:clrMapOvr>
    <a:masterClrMapping/>
  </p:clrMapOvr>
  <p:transition spd="med"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 4099" id="849" name="Google Shape;849;p21"/>
          <p:cNvSpPr/>
          <p:nvPr/>
        </p:nvSpPr>
        <p:spPr>
          <a:xfrm>
            <a:off x="0" y="801011"/>
            <a:ext cx="2446415" cy="475488"/>
          </a:xfrm>
          <a:prstGeom prst="roundRect">
            <a:avLst>
              <a:gd fmla="val 16667" name="adj"/>
            </a:avLst>
          </a:prstGeom>
          <a:solidFill>
            <a:srgbClr val="BFBFB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does it work?</a:t>
            </a:r>
            <a:endParaRPr/>
          </a:p>
        </p:txBody>
      </p:sp>
      <p:sp>
        <p:nvSpPr>
          <p:cNvPr descr=" 4098" id="850" name="Google Shape;850;p21"/>
          <p:cNvSpPr/>
          <p:nvPr/>
        </p:nvSpPr>
        <p:spPr>
          <a:xfrm>
            <a:off x="609600" y="1"/>
            <a:ext cx="7848600" cy="672860"/>
          </a:xfrm>
          <a:prstGeom prst="roundRect">
            <a:avLst>
              <a:gd fmla="val 16667" name="adj"/>
            </a:avLst>
          </a:prstGeom>
          <a:solidFill>
            <a:srgbClr val="00B8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YACHT</a:t>
            </a:r>
            <a:endParaRPr/>
          </a:p>
        </p:txBody>
      </p:sp>
      <p:sp>
        <p:nvSpPr>
          <p:cNvPr id="851" name="Google Shape;851;p21"/>
          <p:cNvSpPr/>
          <p:nvPr/>
        </p:nvSpPr>
        <p:spPr>
          <a:xfrm>
            <a:off x="2518765" y="867673"/>
            <a:ext cx="16303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Hypothesis test</a:t>
            </a:r>
            <a:endParaRPr/>
          </a:p>
        </p:txBody>
      </p:sp>
      <p:cxnSp>
        <p:nvCxnSpPr>
          <p:cNvPr id="852" name="Google Shape;852;p21"/>
          <p:cNvCxnSpPr/>
          <p:nvPr/>
        </p:nvCxnSpPr>
        <p:spPr>
          <a:xfrm>
            <a:off x="1905000" y="2743200"/>
            <a:ext cx="3773456" cy="10149"/>
          </a:xfrm>
          <a:prstGeom prst="straightConnector1">
            <a:avLst/>
          </a:prstGeom>
          <a:noFill/>
          <a:ln cap="flat" cmpd="sng" w="571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3" name="Google Shape;853;p21"/>
          <p:cNvCxnSpPr/>
          <p:nvPr/>
        </p:nvCxnSpPr>
        <p:spPr>
          <a:xfrm>
            <a:off x="1905000" y="3016413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4" name="Google Shape;854;p21"/>
          <p:cNvCxnSpPr/>
          <p:nvPr/>
        </p:nvCxnSpPr>
        <p:spPr>
          <a:xfrm>
            <a:off x="2065020" y="3170802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5" name="Google Shape;855;p21"/>
          <p:cNvCxnSpPr/>
          <p:nvPr/>
        </p:nvCxnSpPr>
        <p:spPr>
          <a:xfrm>
            <a:off x="2207539" y="3325191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6" name="Google Shape;856;p21"/>
          <p:cNvCxnSpPr/>
          <p:nvPr/>
        </p:nvCxnSpPr>
        <p:spPr>
          <a:xfrm>
            <a:off x="2362978" y="3479580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7" name="Google Shape;857;p21"/>
          <p:cNvCxnSpPr/>
          <p:nvPr/>
        </p:nvCxnSpPr>
        <p:spPr>
          <a:xfrm>
            <a:off x="2566730" y="3633967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8" name="Google Shape;858;p21"/>
          <p:cNvCxnSpPr/>
          <p:nvPr/>
        </p:nvCxnSpPr>
        <p:spPr>
          <a:xfrm>
            <a:off x="2782856" y="3030335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9" name="Google Shape;859;p21"/>
          <p:cNvCxnSpPr/>
          <p:nvPr/>
        </p:nvCxnSpPr>
        <p:spPr>
          <a:xfrm>
            <a:off x="2942876" y="3184724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0" name="Google Shape;860;p21"/>
          <p:cNvCxnSpPr/>
          <p:nvPr/>
        </p:nvCxnSpPr>
        <p:spPr>
          <a:xfrm>
            <a:off x="3085395" y="3339113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1" name="Google Shape;861;p21"/>
          <p:cNvCxnSpPr/>
          <p:nvPr/>
        </p:nvCxnSpPr>
        <p:spPr>
          <a:xfrm>
            <a:off x="3240834" y="3493502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2" name="Google Shape;862;p21"/>
          <p:cNvCxnSpPr/>
          <p:nvPr/>
        </p:nvCxnSpPr>
        <p:spPr>
          <a:xfrm>
            <a:off x="3444586" y="3647889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3" name="Google Shape;863;p21"/>
          <p:cNvCxnSpPr/>
          <p:nvPr/>
        </p:nvCxnSpPr>
        <p:spPr>
          <a:xfrm>
            <a:off x="3567370" y="3045235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4" name="Google Shape;864;p21"/>
          <p:cNvCxnSpPr/>
          <p:nvPr/>
        </p:nvCxnSpPr>
        <p:spPr>
          <a:xfrm>
            <a:off x="3727390" y="3199624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5" name="Google Shape;865;p21"/>
          <p:cNvCxnSpPr/>
          <p:nvPr/>
        </p:nvCxnSpPr>
        <p:spPr>
          <a:xfrm>
            <a:off x="3869909" y="3354013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6" name="Google Shape;866;p21"/>
          <p:cNvCxnSpPr/>
          <p:nvPr/>
        </p:nvCxnSpPr>
        <p:spPr>
          <a:xfrm>
            <a:off x="4025348" y="3508402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7" name="Google Shape;867;p21"/>
          <p:cNvCxnSpPr/>
          <p:nvPr/>
        </p:nvCxnSpPr>
        <p:spPr>
          <a:xfrm>
            <a:off x="4229100" y="3662789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8" name="Google Shape;868;p21"/>
          <p:cNvCxnSpPr/>
          <p:nvPr/>
        </p:nvCxnSpPr>
        <p:spPr>
          <a:xfrm>
            <a:off x="4405570" y="3045235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9" name="Google Shape;869;p21"/>
          <p:cNvCxnSpPr/>
          <p:nvPr/>
        </p:nvCxnSpPr>
        <p:spPr>
          <a:xfrm>
            <a:off x="4565590" y="3199624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0" name="Google Shape;870;p21"/>
          <p:cNvCxnSpPr/>
          <p:nvPr/>
        </p:nvCxnSpPr>
        <p:spPr>
          <a:xfrm>
            <a:off x="4708109" y="3354013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1" name="Google Shape;871;p21"/>
          <p:cNvCxnSpPr/>
          <p:nvPr/>
        </p:nvCxnSpPr>
        <p:spPr>
          <a:xfrm>
            <a:off x="4863548" y="3508402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2" name="Google Shape;872;p21"/>
          <p:cNvCxnSpPr/>
          <p:nvPr/>
        </p:nvCxnSpPr>
        <p:spPr>
          <a:xfrm>
            <a:off x="5067300" y="3662789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3" name="Google Shape;873;p21"/>
          <p:cNvSpPr/>
          <p:nvPr/>
        </p:nvSpPr>
        <p:spPr>
          <a:xfrm>
            <a:off x="53283" y="2536638"/>
            <a:ext cx="20041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Mutated genome</a:t>
            </a:r>
            <a:endParaRPr/>
          </a:p>
        </p:txBody>
      </p:sp>
      <p:sp>
        <p:nvSpPr>
          <p:cNvPr id="874" name="Google Shape;874;p21"/>
          <p:cNvSpPr/>
          <p:nvPr/>
        </p:nvSpPr>
        <p:spPr>
          <a:xfrm>
            <a:off x="53283" y="3169347"/>
            <a:ext cx="16826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Mutated k-mers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21"/>
          <p:cNvSpPr/>
          <p:nvPr/>
        </p:nvSpPr>
        <p:spPr>
          <a:xfrm>
            <a:off x="6135656" y="2209800"/>
            <a:ext cx="2549917" cy="2362199"/>
          </a:xfrm>
          <a:prstGeom prst="ellipse">
            <a:avLst/>
          </a:prstGeom>
          <a:noFill/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6" name="Google Shape;876;p21"/>
          <p:cNvCxnSpPr/>
          <p:nvPr/>
        </p:nvCxnSpPr>
        <p:spPr>
          <a:xfrm>
            <a:off x="6553200" y="2667000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7" name="Google Shape;877;p21"/>
          <p:cNvCxnSpPr/>
          <p:nvPr/>
        </p:nvCxnSpPr>
        <p:spPr>
          <a:xfrm>
            <a:off x="6713220" y="2821389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8" name="Google Shape;878;p21"/>
          <p:cNvCxnSpPr/>
          <p:nvPr/>
        </p:nvCxnSpPr>
        <p:spPr>
          <a:xfrm>
            <a:off x="6855739" y="2975778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9" name="Google Shape;879;p21"/>
          <p:cNvCxnSpPr/>
          <p:nvPr/>
        </p:nvCxnSpPr>
        <p:spPr>
          <a:xfrm>
            <a:off x="7011178" y="3130167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0" name="Google Shape;880;p21"/>
          <p:cNvCxnSpPr/>
          <p:nvPr/>
        </p:nvCxnSpPr>
        <p:spPr>
          <a:xfrm>
            <a:off x="7214930" y="3284554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1" name="Google Shape;881;p21"/>
          <p:cNvCxnSpPr/>
          <p:nvPr/>
        </p:nvCxnSpPr>
        <p:spPr>
          <a:xfrm>
            <a:off x="7431056" y="2680922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2" name="Google Shape;882;p21"/>
          <p:cNvCxnSpPr/>
          <p:nvPr/>
        </p:nvCxnSpPr>
        <p:spPr>
          <a:xfrm>
            <a:off x="7591076" y="2835311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3" name="Google Shape;883;p21"/>
          <p:cNvCxnSpPr/>
          <p:nvPr/>
        </p:nvCxnSpPr>
        <p:spPr>
          <a:xfrm>
            <a:off x="7733595" y="2989700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4" name="Google Shape;884;p21"/>
          <p:cNvCxnSpPr/>
          <p:nvPr/>
        </p:nvCxnSpPr>
        <p:spPr>
          <a:xfrm>
            <a:off x="7889034" y="3144089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5" name="Google Shape;885;p21"/>
          <p:cNvCxnSpPr/>
          <p:nvPr/>
        </p:nvCxnSpPr>
        <p:spPr>
          <a:xfrm>
            <a:off x="8092786" y="3298476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6" name="Google Shape;886;p21"/>
          <p:cNvCxnSpPr/>
          <p:nvPr/>
        </p:nvCxnSpPr>
        <p:spPr>
          <a:xfrm>
            <a:off x="6231258" y="3400178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7" name="Google Shape;887;p21"/>
          <p:cNvCxnSpPr/>
          <p:nvPr/>
        </p:nvCxnSpPr>
        <p:spPr>
          <a:xfrm>
            <a:off x="6391278" y="3554567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8" name="Google Shape;888;p21"/>
          <p:cNvCxnSpPr/>
          <p:nvPr/>
        </p:nvCxnSpPr>
        <p:spPr>
          <a:xfrm>
            <a:off x="6533797" y="3708956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9" name="Google Shape;889;p21"/>
          <p:cNvCxnSpPr/>
          <p:nvPr/>
        </p:nvCxnSpPr>
        <p:spPr>
          <a:xfrm>
            <a:off x="6689236" y="3863345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0" name="Google Shape;890;p21"/>
          <p:cNvCxnSpPr/>
          <p:nvPr/>
        </p:nvCxnSpPr>
        <p:spPr>
          <a:xfrm>
            <a:off x="6892988" y="4017732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1" name="Google Shape;891;p21"/>
          <p:cNvCxnSpPr/>
          <p:nvPr/>
        </p:nvCxnSpPr>
        <p:spPr>
          <a:xfrm>
            <a:off x="7109114" y="3414100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2" name="Google Shape;892;p21"/>
          <p:cNvCxnSpPr/>
          <p:nvPr/>
        </p:nvCxnSpPr>
        <p:spPr>
          <a:xfrm>
            <a:off x="7269134" y="3568489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3" name="Google Shape;893;p21"/>
          <p:cNvCxnSpPr/>
          <p:nvPr/>
        </p:nvCxnSpPr>
        <p:spPr>
          <a:xfrm>
            <a:off x="7411653" y="3722878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4" name="Google Shape;894;p21"/>
          <p:cNvCxnSpPr/>
          <p:nvPr/>
        </p:nvCxnSpPr>
        <p:spPr>
          <a:xfrm>
            <a:off x="7567092" y="3877267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5" name="Google Shape;895;p21"/>
          <p:cNvCxnSpPr/>
          <p:nvPr/>
        </p:nvCxnSpPr>
        <p:spPr>
          <a:xfrm>
            <a:off x="7770844" y="4031654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6" name="Google Shape;896;p21"/>
          <p:cNvSpPr/>
          <p:nvPr/>
        </p:nvSpPr>
        <p:spPr>
          <a:xfrm>
            <a:off x="6892398" y="4553521"/>
            <a:ext cx="10342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Sample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/>
          </a:p>
        </p:txBody>
      </p:sp>
      <p:sp>
        <p:nvSpPr>
          <p:cNvPr id="897" name="Google Shape;897;p21"/>
          <p:cNvSpPr/>
          <p:nvPr/>
        </p:nvSpPr>
        <p:spPr>
          <a:xfrm>
            <a:off x="14405" y="1404649"/>
            <a:ext cx="547605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 hypothesis H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the genome is present in the sample</a:t>
            </a:r>
            <a:endParaRPr/>
          </a:p>
        </p:txBody>
      </p:sp>
      <p:sp>
        <p:nvSpPr>
          <p:cNvPr id="898" name="Google Shape;898;p21"/>
          <p:cNvSpPr/>
          <p:nvPr/>
        </p:nvSpPr>
        <p:spPr>
          <a:xfrm>
            <a:off x="3208021" y="2133600"/>
            <a:ext cx="45719" cy="457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9" name="Google Shape;899;p21"/>
          <p:cNvCxnSpPr/>
          <p:nvPr/>
        </p:nvCxnSpPr>
        <p:spPr>
          <a:xfrm>
            <a:off x="3185160" y="2743200"/>
            <a:ext cx="91440" cy="0"/>
          </a:xfrm>
          <a:prstGeom prst="straightConnector1">
            <a:avLst/>
          </a:prstGeom>
          <a:noFill/>
          <a:ln cap="flat" cmpd="sng" w="571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ransition spd="med">
    <p:cut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22"/>
          <p:cNvSpPr/>
          <p:nvPr/>
        </p:nvSpPr>
        <p:spPr>
          <a:xfrm>
            <a:off x="53283" y="3169347"/>
            <a:ext cx="174034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Mutated k-mers,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sketched:</a:t>
            </a:r>
            <a:endParaRPr/>
          </a:p>
        </p:txBody>
      </p:sp>
      <p:sp>
        <p:nvSpPr>
          <p:cNvPr descr=" 4099" id="906" name="Google Shape;906;p22"/>
          <p:cNvSpPr/>
          <p:nvPr/>
        </p:nvSpPr>
        <p:spPr>
          <a:xfrm>
            <a:off x="0" y="801011"/>
            <a:ext cx="2446415" cy="475488"/>
          </a:xfrm>
          <a:prstGeom prst="roundRect">
            <a:avLst>
              <a:gd fmla="val 16667" name="adj"/>
            </a:avLst>
          </a:prstGeom>
          <a:solidFill>
            <a:srgbClr val="BFBFB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does it work?</a:t>
            </a:r>
            <a:endParaRPr/>
          </a:p>
        </p:txBody>
      </p:sp>
      <p:sp>
        <p:nvSpPr>
          <p:cNvPr descr=" 4098" id="907" name="Google Shape;907;p22"/>
          <p:cNvSpPr/>
          <p:nvPr/>
        </p:nvSpPr>
        <p:spPr>
          <a:xfrm>
            <a:off x="609600" y="1"/>
            <a:ext cx="7848600" cy="672860"/>
          </a:xfrm>
          <a:prstGeom prst="roundRect">
            <a:avLst>
              <a:gd fmla="val 16667" name="adj"/>
            </a:avLst>
          </a:prstGeom>
          <a:solidFill>
            <a:srgbClr val="00B8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YACHT</a:t>
            </a:r>
            <a:endParaRPr/>
          </a:p>
        </p:txBody>
      </p:sp>
      <p:sp>
        <p:nvSpPr>
          <p:cNvPr id="908" name="Google Shape;908;p22"/>
          <p:cNvSpPr/>
          <p:nvPr/>
        </p:nvSpPr>
        <p:spPr>
          <a:xfrm>
            <a:off x="2518765" y="867673"/>
            <a:ext cx="16303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Hypothesis test</a:t>
            </a:r>
            <a:endParaRPr/>
          </a:p>
        </p:txBody>
      </p:sp>
      <p:cxnSp>
        <p:nvCxnSpPr>
          <p:cNvPr id="909" name="Google Shape;909;p22"/>
          <p:cNvCxnSpPr/>
          <p:nvPr/>
        </p:nvCxnSpPr>
        <p:spPr>
          <a:xfrm>
            <a:off x="1905000" y="2743200"/>
            <a:ext cx="3773456" cy="10149"/>
          </a:xfrm>
          <a:prstGeom prst="straightConnector1">
            <a:avLst/>
          </a:prstGeom>
          <a:noFill/>
          <a:ln cap="flat" cmpd="sng" w="571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0" name="Google Shape;910;p22"/>
          <p:cNvSpPr/>
          <p:nvPr/>
        </p:nvSpPr>
        <p:spPr>
          <a:xfrm>
            <a:off x="53283" y="2536638"/>
            <a:ext cx="20041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Mutated genome</a:t>
            </a:r>
            <a:endParaRPr/>
          </a:p>
        </p:txBody>
      </p:sp>
      <p:cxnSp>
        <p:nvCxnSpPr>
          <p:cNvPr id="911" name="Google Shape;911;p22"/>
          <p:cNvCxnSpPr/>
          <p:nvPr/>
        </p:nvCxnSpPr>
        <p:spPr>
          <a:xfrm>
            <a:off x="1905000" y="3016413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2" name="Google Shape;912;p22"/>
          <p:cNvCxnSpPr/>
          <p:nvPr/>
        </p:nvCxnSpPr>
        <p:spPr>
          <a:xfrm>
            <a:off x="2782856" y="3030335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3" name="Google Shape;913;p22"/>
          <p:cNvCxnSpPr/>
          <p:nvPr/>
        </p:nvCxnSpPr>
        <p:spPr>
          <a:xfrm>
            <a:off x="3869909" y="3354013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4" name="Google Shape;914;p22"/>
          <p:cNvCxnSpPr/>
          <p:nvPr/>
        </p:nvCxnSpPr>
        <p:spPr>
          <a:xfrm>
            <a:off x="5067300" y="3662789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5" name="Google Shape;915;p22"/>
          <p:cNvSpPr/>
          <p:nvPr/>
        </p:nvSpPr>
        <p:spPr>
          <a:xfrm>
            <a:off x="1940165" y="4415726"/>
            <a:ext cx="1068177" cy="326897"/>
          </a:xfrm>
          <a:prstGeom prst="rect">
            <a:avLst/>
          </a:prstGeom>
          <a:noFill/>
          <a:ln>
            <a:noFill/>
          </a:ln>
        </p:spPr>
      </p:sp>
      <p:sp>
        <p:nvSpPr>
          <p:cNvPr id="916" name="Google Shape;916;p22"/>
          <p:cNvSpPr/>
          <p:nvPr/>
        </p:nvSpPr>
        <p:spPr>
          <a:xfrm>
            <a:off x="1085158" y="3543622"/>
            <a:ext cx="246418" cy="170597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917" name="Google Shape;917;p22"/>
          <p:cNvCxnSpPr/>
          <p:nvPr/>
        </p:nvCxnSpPr>
        <p:spPr>
          <a:xfrm rot="10800000">
            <a:off x="2493754" y="4742623"/>
            <a:ext cx="0" cy="447199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18" name="Google Shape;918;p22"/>
          <p:cNvSpPr/>
          <p:nvPr/>
        </p:nvSpPr>
        <p:spPr>
          <a:xfrm>
            <a:off x="1820206" y="5091564"/>
            <a:ext cx="174034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K-mers shared with sample </a:t>
            </a:r>
            <a:r>
              <a:rPr i="1" lang="en-US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/>
          </a:p>
        </p:txBody>
      </p:sp>
      <p:sp>
        <p:nvSpPr>
          <p:cNvPr id="919" name="Google Shape;919;p22"/>
          <p:cNvSpPr/>
          <p:nvPr/>
        </p:nvSpPr>
        <p:spPr>
          <a:xfrm>
            <a:off x="6135656" y="2209800"/>
            <a:ext cx="2549917" cy="2362199"/>
          </a:xfrm>
          <a:prstGeom prst="ellipse">
            <a:avLst/>
          </a:prstGeom>
          <a:noFill/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0" name="Google Shape;920;p22"/>
          <p:cNvCxnSpPr/>
          <p:nvPr/>
        </p:nvCxnSpPr>
        <p:spPr>
          <a:xfrm>
            <a:off x="7214930" y="3284554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1" name="Google Shape;921;p22"/>
          <p:cNvCxnSpPr/>
          <p:nvPr/>
        </p:nvCxnSpPr>
        <p:spPr>
          <a:xfrm>
            <a:off x="7591076" y="2835311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2" name="Google Shape;922;p22"/>
          <p:cNvCxnSpPr/>
          <p:nvPr/>
        </p:nvCxnSpPr>
        <p:spPr>
          <a:xfrm>
            <a:off x="6231258" y="3400178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3" name="Google Shape;923;p22"/>
          <p:cNvCxnSpPr/>
          <p:nvPr/>
        </p:nvCxnSpPr>
        <p:spPr>
          <a:xfrm>
            <a:off x="7770844" y="4031654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4" name="Google Shape;924;p22"/>
          <p:cNvSpPr/>
          <p:nvPr/>
        </p:nvSpPr>
        <p:spPr>
          <a:xfrm>
            <a:off x="6892398" y="4553521"/>
            <a:ext cx="114326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Sample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sketched</a:t>
            </a:r>
            <a:endParaRPr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22"/>
          <p:cNvSpPr/>
          <p:nvPr/>
        </p:nvSpPr>
        <p:spPr>
          <a:xfrm>
            <a:off x="14405" y="1404649"/>
            <a:ext cx="547605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 hypothesis H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the genome is present in the sample</a:t>
            </a:r>
            <a:endParaRPr/>
          </a:p>
        </p:txBody>
      </p:sp>
      <p:sp>
        <p:nvSpPr>
          <p:cNvPr id="926" name="Google Shape;926;p22"/>
          <p:cNvSpPr/>
          <p:nvPr/>
        </p:nvSpPr>
        <p:spPr>
          <a:xfrm>
            <a:off x="3208021" y="2133600"/>
            <a:ext cx="45719" cy="457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7" name="Google Shape;927;p22"/>
          <p:cNvCxnSpPr/>
          <p:nvPr/>
        </p:nvCxnSpPr>
        <p:spPr>
          <a:xfrm>
            <a:off x="3185160" y="2743200"/>
            <a:ext cx="91440" cy="0"/>
          </a:xfrm>
          <a:prstGeom prst="straightConnector1">
            <a:avLst/>
          </a:prstGeom>
          <a:noFill/>
          <a:ln cap="flat" cmpd="sng" w="571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ransition spd="med"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23"/>
          <p:cNvSpPr/>
          <p:nvPr/>
        </p:nvSpPr>
        <p:spPr>
          <a:xfrm>
            <a:off x="53283" y="3169347"/>
            <a:ext cx="174034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Mutated k-mers,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sketched:</a:t>
            </a:r>
            <a:endParaRPr/>
          </a:p>
        </p:txBody>
      </p:sp>
      <p:sp>
        <p:nvSpPr>
          <p:cNvPr descr=" 4099" id="934" name="Google Shape;934;p23"/>
          <p:cNvSpPr/>
          <p:nvPr/>
        </p:nvSpPr>
        <p:spPr>
          <a:xfrm>
            <a:off x="0" y="801011"/>
            <a:ext cx="2446415" cy="475488"/>
          </a:xfrm>
          <a:prstGeom prst="roundRect">
            <a:avLst>
              <a:gd fmla="val 16667" name="adj"/>
            </a:avLst>
          </a:prstGeom>
          <a:solidFill>
            <a:srgbClr val="BFBFB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does it work?</a:t>
            </a:r>
            <a:endParaRPr/>
          </a:p>
        </p:txBody>
      </p:sp>
      <p:sp>
        <p:nvSpPr>
          <p:cNvPr descr=" 4098" id="935" name="Google Shape;935;p23"/>
          <p:cNvSpPr/>
          <p:nvPr/>
        </p:nvSpPr>
        <p:spPr>
          <a:xfrm>
            <a:off x="609600" y="1"/>
            <a:ext cx="7848600" cy="672860"/>
          </a:xfrm>
          <a:prstGeom prst="roundRect">
            <a:avLst>
              <a:gd fmla="val 16667" name="adj"/>
            </a:avLst>
          </a:prstGeom>
          <a:solidFill>
            <a:srgbClr val="00B8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YACHT</a:t>
            </a:r>
            <a:endParaRPr/>
          </a:p>
        </p:txBody>
      </p:sp>
      <p:sp>
        <p:nvSpPr>
          <p:cNvPr id="936" name="Google Shape;936;p23"/>
          <p:cNvSpPr/>
          <p:nvPr/>
        </p:nvSpPr>
        <p:spPr>
          <a:xfrm>
            <a:off x="2518765" y="867673"/>
            <a:ext cx="16303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Hypothesis test</a:t>
            </a:r>
            <a:endParaRPr/>
          </a:p>
        </p:txBody>
      </p:sp>
      <p:cxnSp>
        <p:nvCxnSpPr>
          <p:cNvPr id="937" name="Google Shape;937;p23"/>
          <p:cNvCxnSpPr/>
          <p:nvPr/>
        </p:nvCxnSpPr>
        <p:spPr>
          <a:xfrm>
            <a:off x="1905000" y="2743200"/>
            <a:ext cx="3773456" cy="10149"/>
          </a:xfrm>
          <a:prstGeom prst="straightConnector1">
            <a:avLst/>
          </a:prstGeom>
          <a:noFill/>
          <a:ln cap="flat" cmpd="sng" w="571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8" name="Google Shape;938;p23"/>
          <p:cNvSpPr/>
          <p:nvPr/>
        </p:nvSpPr>
        <p:spPr>
          <a:xfrm>
            <a:off x="53283" y="2536638"/>
            <a:ext cx="20041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Mutated genome</a:t>
            </a:r>
            <a:endParaRPr/>
          </a:p>
        </p:txBody>
      </p:sp>
      <p:cxnSp>
        <p:nvCxnSpPr>
          <p:cNvPr id="939" name="Google Shape;939;p23"/>
          <p:cNvCxnSpPr/>
          <p:nvPr/>
        </p:nvCxnSpPr>
        <p:spPr>
          <a:xfrm>
            <a:off x="1905000" y="3016413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0" name="Google Shape;940;p23"/>
          <p:cNvCxnSpPr/>
          <p:nvPr/>
        </p:nvCxnSpPr>
        <p:spPr>
          <a:xfrm>
            <a:off x="2782856" y="3030335"/>
            <a:ext cx="534956" cy="0"/>
          </a:xfrm>
          <a:prstGeom prst="straightConnector1">
            <a:avLst/>
          </a:prstGeom>
          <a:noFill/>
          <a:ln cap="flat" cmpd="sng" w="571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1" name="Google Shape;941;p23"/>
          <p:cNvCxnSpPr/>
          <p:nvPr/>
        </p:nvCxnSpPr>
        <p:spPr>
          <a:xfrm>
            <a:off x="3869909" y="3354013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2" name="Google Shape;942;p23"/>
          <p:cNvCxnSpPr/>
          <p:nvPr/>
        </p:nvCxnSpPr>
        <p:spPr>
          <a:xfrm>
            <a:off x="5067300" y="3662789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3" name="Google Shape;943;p23"/>
          <p:cNvSpPr/>
          <p:nvPr/>
        </p:nvSpPr>
        <p:spPr>
          <a:xfrm>
            <a:off x="1940165" y="4415726"/>
            <a:ext cx="3545578" cy="326897"/>
          </a:xfrm>
          <a:prstGeom prst="rect">
            <a:avLst/>
          </a:prstGeom>
          <a:noFill/>
          <a:ln>
            <a:noFill/>
          </a:ln>
        </p:spPr>
      </p:sp>
      <p:sp>
        <p:nvSpPr>
          <p:cNvPr id="944" name="Google Shape;944;p23"/>
          <p:cNvSpPr/>
          <p:nvPr/>
        </p:nvSpPr>
        <p:spPr>
          <a:xfrm>
            <a:off x="1085158" y="3543622"/>
            <a:ext cx="246418" cy="170597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945" name="Google Shape;945;p23"/>
          <p:cNvCxnSpPr/>
          <p:nvPr/>
        </p:nvCxnSpPr>
        <p:spPr>
          <a:xfrm rot="10800000">
            <a:off x="2493754" y="4742623"/>
            <a:ext cx="0" cy="447199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46" name="Google Shape;946;p23"/>
          <p:cNvSpPr/>
          <p:nvPr/>
        </p:nvSpPr>
        <p:spPr>
          <a:xfrm>
            <a:off x="1820206" y="5091564"/>
            <a:ext cx="174034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K-mers shared with sample </a:t>
            </a:r>
            <a:r>
              <a:rPr i="1" lang="en-US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/>
          </a:p>
        </p:txBody>
      </p:sp>
      <p:cxnSp>
        <p:nvCxnSpPr>
          <p:cNvPr id="947" name="Google Shape;947;p23"/>
          <p:cNvCxnSpPr/>
          <p:nvPr/>
        </p:nvCxnSpPr>
        <p:spPr>
          <a:xfrm rot="10800000">
            <a:off x="4551154" y="4732622"/>
            <a:ext cx="0" cy="447199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48" name="Google Shape;948;p23"/>
          <p:cNvSpPr/>
          <p:nvPr/>
        </p:nvSpPr>
        <p:spPr>
          <a:xfrm>
            <a:off x="3505200" y="5091564"/>
            <a:ext cx="318510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Prob. k-mer unmutated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(ANI = non-mut. prob = a)</a:t>
            </a:r>
            <a:endParaRPr/>
          </a:p>
        </p:txBody>
      </p:sp>
      <p:sp>
        <p:nvSpPr>
          <p:cNvPr id="949" name="Google Shape;949;p23"/>
          <p:cNvSpPr/>
          <p:nvPr/>
        </p:nvSpPr>
        <p:spPr>
          <a:xfrm>
            <a:off x="6135656" y="2209800"/>
            <a:ext cx="2549917" cy="2362199"/>
          </a:xfrm>
          <a:prstGeom prst="ellipse">
            <a:avLst/>
          </a:prstGeom>
          <a:noFill/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0" name="Google Shape;950;p23"/>
          <p:cNvCxnSpPr/>
          <p:nvPr/>
        </p:nvCxnSpPr>
        <p:spPr>
          <a:xfrm>
            <a:off x="7214930" y="3284554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1" name="Google Shape;951;p23"/>
          <p:cNvCxnSpPr/>
          <p:nvPr/>
        </p:nvCxnSpPr>
        <p:spPr>
          <a:xfrm>
            <a:off x="7591076" y="2835311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2" name="Google Shape;952;p23"/>
          <p:cNvCxnSpPr/>
          <p:nvPr/>
        </p:nvCxnSpPr>
        <p:spPr>
          <a:xfrm>
            <a:off x="6231258" y="3400178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3" name="Google Shape;953;p23"/>
          <p:cNvCxnSpPr/>
          <p:nvPr/>
        </p:nvCxnSpPr>
        <p:spPr>
          <a:xfrm>
            <a:off x="7770844" y="4031654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4" name="Google Shape;954;p23"/>
          <p:cNvSpPr/>
          <p:nvPr/>
        </p:nvSpPr>
        <p:spPr>
          <a:xfrm>
            <a:off x="6892398" y="4553521"/>
            <a:ext cx="114326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Sample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sketched</a:t>
            </a:r>
            <a:endParaRPr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23"/>
          <p:cNvSpPr/>
          <p:nvPr/>
        </p:nvSpPr>
        <p:spPr>
          <a:xfrm>
            <a:off x="14405" y="1404649"/>
            <a:ext cx="547605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 hypothesis H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the genome is present in the sample</a:t>
            </a:r>
            <a:endParaRPr/>
          </a:p>
        </p:txBody>
      </p:sp>
      <p:sp>
        <p:nvSpPr>
          <p:cNvPr id="956" name="Google Shape;956;p23"/>
          <p:cNvSpPr/>
          <p:nvPr/>
        </p:nvSpPr>
        <p:spPr>
          <a:xfrm>
            <a:off x="3208021" y="2133600"/>
            <a:ext cx="45719" cy="457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7" name="Google Shape;957;p23"/>
          <p:cNvCxnSpPr/>
          <p:nvPr/>
        </p:nvCxnSpPr>
        <p:spPr>
          <a:xfrm>
            <a:off x="3185160" y="2743200"/>
            <a:ext cx="91440" cy="0"/>
          </a:xfrm>
          <a:prstGeom prst="straightConnector1">
            <a:avLst/>
          </a:prstGeom>
          <a:noFill/>
          <a:ln cap="flat" cmpd="sng" w="571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ransition spd="med">
    <p:cut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24"/>
          <p:cNvSpPr/>
          <p:nvPr/>
        </p:nvSpPr>
        <p:spPr>
          <a:xfrm>
            <a:off x="53283" y="3169347"/>
            <a:ext cx="174034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Mutated k-mers,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sketched:</a:t>
            </a:r>
            <a:endParaRPr/>
          </a:p>
        </p:txBody>
      </p:sp>
      <p:sp>
        <p:nvSpPr>
          <p:cNvPr descr=" 4099" id="964" name="Google Shape;964;p24"/>
          <p:cNvSpPr/>
          <p:nvPr/>
        </p:nvSpPr>
        <p:spPr>
          <a:xfrm>
            <a:off x="0" y="801011"/>
            <a:ext cx="2446415" cy="475488"/>
          </a:xfrm>
          <a:prstGeom prst="roundRect">
            <a:avLst>
              <a:gd fmla="val 16667" name="adj"/>
            </a:avLst>
          </a:prstGeom>
          <a:solidFill>
            <a:srgbClr val="BFBFB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does it work?</a:t>
            </a:r>
            <a:endParaRPr/>
          </a:p>
        </p:txBody>
      </p:sp>
      <p:sp>
        <p:nvSpPr>
          <p:cNvPr descr=" 4098" id="965" name="Google Shape;965;p24"/>
          <p:cNvSpPr/>
          <p:nvPr/>
        </p:nvSpPr>
        <p:spPr>
          <a:xfrm>
            <a:off x="609600" y="1"/>
            <a:ext cx="7848600" cy="672860"/>
          </a:xfrm>
          <a:prstGeom prst="roundRect">
            <a:avLst>
              <a:gd fmla="val 16667" name="adj"/>
            </a:avLst>
          </a:prstGeom>
          <a:solidFill>
            <a:srgbClr val="00B8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YACHT</a:t>
            </a:r>
            <a:endParaRPr/>
          </a:p>
        </p:txBody>
      </p:sp>
      <p:sp>
        <p:nvSpPr>
          <p:cNvPr id="966" name="Google Shape;966;p24"/>
          <p:cNvSpPr/>
          <p:nvPr/>
        </p:nvSpPr>
        <p:spPr>
          <a:xfrm>
            <a:off x="2518765" y="867673"/>
            <a:ext cx="16303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Hypothesis test</a:t>
            </a:r>
            <a:endParaRPr/>
          </a:p>
        </p:txBody>
      </p:sp>
      <p:sp>
        <p:nvSpPr>
          <p:cNvPr id="967" name="Google Shape;967;p24"/>
          <p:cNvSpPr/>
          <p:nvPr/>
        </p:nvSpPr>
        <p:spPr>
          <a:xfrm>
            <a:off x="14405" y="1404649"/>
            <a:ext cx="547605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 hypothesis H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the genome is present in the sample</a:t>
            </a:r>
            <a:endParaRPr/>
          </a:p>
        </p:txBody>
      </p:sp>
      <p:cxnSp>
        <p:nvCxnSpPr>
          <p:cNvPr id="968" name="Google Shape;968;p24"/>
          <p:cNvCxnSpPr/>
          <p:nvPr/>
        </p:nvCxnSpPr>
        <p:spPr>
          <a:xfrm>
            <a:off x="1905000" y="2743200"/>
            <a:ext cx="3773456" cy="10149"/>
          </a:xfrm>
          <a:prstGeom prst="straightConnector1">
            <a:avLst/>
          </a:prstGeom>
          <a:noFill/>
          <a:ln cap="flat" cmpd="sng" w="571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9" name="Google Shape;969;p24"/>
          <p:cNvSpPr/>
          <p:nvPr/>
        </p:nvSpPr>
        <p:spPr>
          <a:xfrm>
            <a:off x="3208021" y="2133600"/>
            <a:ext cx="45719" cy="457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24"/>
          <p:cNvSpPr/>
          <p:nvPr/>
        </p:nvSpPr>
        <p:spPr>
          <a:xfrm>
            <a:off x="53283" y="2536638"/>
            <a:ext cx="20041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Mutated genome</a:t>
            </a:r>
            <a:endParaRPr/>
          </a:p>
        </p:txBody>
      </p:sp>
      <p:cxnSp>
        <p:nvCxnSpPr>
          <p:cNvPr id="971" name="Google Shape;971;p24"/>
          <p:cNvCxnSpPr/>
          <p:nvPr/>
        </p:nvCxnSpPr>
        <p:spPr>
          <a:xfrm>
            <a:off x="1905000" y="3016413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2" name="Google Shape;972;p24"/>
          <p:cNvCxnSpPr/>
          <p:nvPr/>
        </p:nvCxnSpPr>
        <p:spPr>
          <a:xfrm>
            <a:off x="2782856" y="3030335"/>
            <a:ext cx="534956" cy="0"/>
          </a:xfrm>
          <a:prstGeom prst="straightConnector1">
            <a:avLst/>
          </a:prstGeom>
          <a:noFill/>
          <a:ln cap="flat" cmpd="sng" w="571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3" name="Google Shape;973;p24"/>
          <p:cNvCxnSpPr/>
          <p:nvPr/>
        </p:nvCxnSpPr>
        <p:spPr>
          <a:xfrm>
            <a:off x="3869909" y="3354013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4" name="Google Shape;974;p24"/>
          <p:cNvCxnSpPr/>
          <p:nvPr/>
        </p:nvCxnSpPr>
        <p:spPr>
          <a:xfrm>
            <a:off x="5067300" y="3662789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5" name="Google Shape;975;p24"/>
          <p:cNvSpPr/>
          <p:nvPr/>
        </p:nvSpPr>
        <p:spPr>
          <a:xfrm>
            <a:off x="1085158" y="3543622"/>
            <a:ext cx="246418" cy="170597"/>
          </a:xfrm>
          <a:prstGeom prst="rect">
            <a:avLst/>
          </a:prstGeom>
          <a:noFill/>
          <a:ln>
            <a:noFill/>
          </a:ln>
        </p:spPr>
      </p:sp>
      <p:sp>
        <p:nvSpPr>
          <p:cNvPr id="976" name="Google Shape;976;p24"/>
          <p:cNvSpPr/>
          <p:nvPr/>
        </p:nvSpPr>
        <p:spPr>
          <a:xfrm>
            <a:off x="6135656" y="2209800"/>
            <a:ext cx="2549917" cy="2362199"/>
          </a:xfrm>
          <a:prstGeom prst="ellipse">
            <a:avLst/>
          </a:prstGeom>
          <a:noFill/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7" name="Google Shape;977;p24"/>
          <p:cNvCxnSpPr/>
          <p:nvPr/>
        </p:nvCxnSpPr>
        <p:spPr>
          <a:xfrm>
            <a:off x="7214930" y="3284554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8" name="Google Shape;978;p24"/>
          <p:cNvCxnSpPr/>
          <p:nvPr/>
        </p:nvCxnSpPr>
        <p:spPr>
          <a:xfrm>
            <a:off x="7591076" y="2835311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9" name="Google Shape;979;p24"/>
          <p:cNvCxnSpPr/>
          <p:nvPr/>
        </p:nvCxnSpPr>
        <p:spPr>
          <a:xfrm>
            <a:off x="6231258" y="3400178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0" name="Google Shape;980;p24"/>
          <p:cNvCxnSpPr/>
          <p:nvPr/>
        </p:nvCxnSpPr>
        <p:spPr>
          <a:xfrm>
            <a:off x="7770844" y="4031654"/>
            <a:ext cx="534956" cy="6946"/>
          </a:xfrm>
          <a:prstGeom prst="straightConnector1">
            <a:avLst/>
          </a:prstGeom>
          <a:noFill/>
          <a:ln cap="flat" cmpd="sng" w="57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1" name="Google Shape;981;p24"/>
          <p:cNvSpPr/>
          <p:nvPr/>
        </p:nvSpPr>
        <p:spPr>
          <a:xfrm>
            <a:off x="6892398" y="4553521"/>
            <a:ext cx="114326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Sample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sketched</a:t>
            </a:r>
            <a:endParaRPr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24"/>
          <p:cNvSpPr/>
          <p:nvPr/>
        </p:nvSpPr>
        <p:spPr>
          <a:xfrm>
            <a:off x="26505" y="4356127"/>
            <a:ext cx="7354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 for</a:t>
            </a:r>
            <a:endParaRPr/>
          </a:p>
        </p:txBody>
      </p:sp>
      <p:sp>
        <p:nvSpPr>
          <p:cNvPr id="983" name="Google Shape;983;p24"/>
          <p:cNvSpPr/>
          <p:nvPr/>
        </p:nvSpPr>
        <p:spPr>
          <a:xfrm>
            <a:off x="758688" y="4423224"/>
            <a:ext cx="1989638" cy="235139"/>
          </a:xfrm>
          <a:prstGeom prst="rect">
            <a:avLst/>
          </a:prstGeom>
          <a:noFill/>
          <a:ln>
            <a:noFill/>
          </a:ln>
        </p:spPr>
      </p:sp>
      <p:sp>
        <p:nvSpPr>
          <p:cNvPr id="984" name="Google Shape;984;p24"/>
          <p:cNvSpPr/>
          <p:nvPr/>
        </p:nvSpPr>
        <p:spPr>
          <a:xfrm>
            <a:off x="2817846" y="4356127"/>
            <a:ext cx="53495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endParaRPr/>
          </a:p>
        </p:txBody>
      </p:sp>
      <p:sp>
        <p:nvSpPr>
          <p:cNvPr id="985" name="Google Shape;985;p24"/>
          <p:cNvSpPr/>
          <p:nvPr/>
        </p:nvSpPr>
        <p:spPr>
          <a:xfrm>
            <a:off x="3352800" y="4449975"/>
            <a:ext cx="227045" cy="181636"/>
          </a:xfrm>
          <a:prstGeom prst="rect">
            <a:avLst/>
          </a:prstGeom>
          <a:noFill/>
          <a:ln>
            <a:noFill/>
          </a:ln>
        </p:spPr>
      </p:sp>
      <p:sp>
        <p:nvSpPr>
          <p:cNvPr id="986" name="Google Shape;986;p24"/>
          <p:cNvSpPr/>
          <p:nvPr/>
        </p:nvSpPr>
        <p:spPr>
          <a:xfrm>
            <a:off x="3581399" y="4356127"/>
            <a:ext cx="19497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largest such that</a:t>
            </a:r>
            <a:endParaRPr/>
          </a:p>
        </p:txBody>
      </p:sp>
      <p:sp>
        <p:nvSpPr>
          <p:cNvPr id="987" name="Google Shape;987;p24"/>
          <p:cNvSpPr/>
          <p:nvPr/>
        </p:nvSpPr>
        <p:spPr>
          <a:xfrm>
            <a:off x="1326955" y="4836539"/>
            <a:ext cx="1770414" cy="279539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988" name="Google Shape;988;p24"/>
          <p:cNvCxnSpPr/>
          <p:nvPr/>
        </p:nvCxnSpPr>
        <p:spPr>
          <a:xfrm rot="10800000">
            <a:off x="3194337" y="4953000"/>
            <a:ext cx="539463" cy="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89" name="Google Shape;989;p24"/>
          <p:cNvSpPr/>
          <p:nvPr/>
        </p:nvSpPr>
        <p:spPr>
          <a:xfrm>
            <a:off x="3733800" y="4800600"/>
            <a:ext cx="220454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significance (1-FN rate)</a:t>
            </a:r>
            <a:endParaRPr i="1" sz="16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24"/>
          <p:cNvSpPr/>
          <p:nvPr/>
        </p:nvSpPr>
        <p:spPr>
          <a:xfrm>
            <a:off x="129466" y="6068923"/>
            <a:ext cx="1661900" cy="255677"/>
          </a:xfrm>
          <a:prstGeom prst="rect">
            <a:avLst/>
          </a:prstGeom>
          <a:noFill/>
          <a:ln>
            <a:noFill/>
          </a:ln>
        </p:spPr>
      </p:sp>
      <p:sp>
        <p:nvSpPr>
          <p:cNvPr id="991" name="Google Shape;991;p24"/>
          <p:cNvSpPr/>
          <p:nvPr/>
        </p:nvSpPr>
        <p:spPr>
          <a:xfrm>
            <a:off x="1828800" y="6012095"/>
            <a:ext cx="3505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Genome in sample (accept H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992" name="Google Shape;992;p24"/>
          <p:cNvSpPr/>
          <p:nvPr/>
        </p:nvSpPr>
        <p:spPr>
          <a:xfrm>
            <a:off x="118813" y="6469296"/>
            <a:ext cx="1661900" cy="255677"/>
          </a:xfrm>
          <a:prstGeom prst="rect">
            <a:avLst/>
          </a:prstGeom>
          <a:noFill/>
          <a:ln>
            <a:noFill/>
          </a:ln>
        </p:spPr>
      </p:sp>
      <p:sp>
        <p:nvSpPr>
          <p:cNvPr id="993" name="Google Shape;993;p24"/>
          <p:cNvSpPr/>
          <p:nvPr/>
        </p:nvSpPr>
        <p:spPr>
          <a:xfrm>
            <a:off x="1828800" y="6412468"/>
            <a:ext cx="3505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Genome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sample (reject H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994" name="Google Shape;994;p24"/>
          <p:cNvSpPr/>
          <p:nvPr/>
        </p:nvSpPr>
        <p:spPr>
          <a:xfrm>
            <a:off x="2779744" y="5181600"/>
            <a:ext cx="3773456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Fewest k-mers we would see (w.p.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α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if the mutated genome was present</a:t>
            </a:r>
            <a:endParaRPr i="1" sz="16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5" name="Google Shape;995;p24"/>
          <p:cNvCxnSpPr>
            <a:stCxn id="994" idx="1"/>
          </p:cNvCxnSpPr>
          <p:nvPr/>
        </p:nvCxnSpPr>
        <p:spPr>
          <a:xfrm rot="10800000">
            <a:off x="2324944" y="5116177"/>
            <a:ext cx="454800" cy="373200"/>
          </a:xfrm>
          <a:prstGeom prst="curvedConnector2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96" name="Google Shape;996;p24"/>
          <p:cNvSpPr/>
          <p:nvPr/>
        </p:nvSpPr>
        <p:spPr>
          <a:xfrm>
            <a:off x="53283" y="5560996"/>
            <a:ext cx="19497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Then:</a:t>
            </a:r>
            <a:endParaRPr/>
          </a:p>
        </p:txBody>
      </p:sp>
      <p:cxnSp>
        <p:nvCxnSpPr>
          <p:cNvPr id="997" name="Google Shape;997;p24"/>
          <p:cNvCxnSpPr/>
          <p:nvPr/>
        </p:nvCxnSpPr>
        <p:spPr>
          <a:xfrm>
            <a:off x="3185160" y="2743200"/>
            <a:ext cx="91440" cy="0"/>
          </a:xfrm>
          <a:prstGeom prst="straightConnector1">
            <a:avLst/>
          </a:prstGeom>
          <a:noFill/>
          <a:ln cap="flat" cmpd="sng" w="571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ransition spd="med"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 4098" id="1002" name="Google Shape;1002;p25"/>
          <p:cNvSpPr/>
          <p:nvPr/>
        </p:nvSpPr>
        <p:spPr>
          <a:xfrm>
            <a:off x="609600" y="1"/>
            <a:ext cx="7848600" cy="595294"/>
          </a:xfrm>
          <a:prstGeom prst="roundRect">
            <a:avLst>
              <a:gd fmla="val 16667" name="adj"/>
            </a:avLst>
          </a:prstGeom>
          <a:solidFill>
            <a:srgbClr val="00B8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Experiments</a:t>
            </a:r>
            <a:endParaRPr/>
          </a:p>
        </p:txBody>
      </p:sp>
      <p:sp>
        <p:nvSpPr>
          <p:cNvPr descr=" 4099" id="1003" name="Google Shape;1003;p25"/>
          <p:cNvSpPr/>
          <p:nvPr/>
        </p:nvSpPr>
        <p:spPr>
          <a:xfrm>
            <a:off x="11520" y="762000"/>
            <a:ext cx="3493680" cy="430949"/>
          </a:xfrm>
          <a:prstGeom prst="roundRect">
            <a:avLst>
              <a:gd fmla="val 16667" name="adj"/>
            </a:avLst>
          </a:prstGeom>
          <a:solidFill>
            <a:srgbClr val="BFBFB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Knobs you can twiddle</a:t>
            </a:r>
            <a:endParaRPr/>
          </a:p>
        </p:txBody>
      </p:sp>
      <p:sp>
        <p:nvSpPr>
          <p:cNvPr id="1004" name="Google Shape;1004;p25"/>
          <p:cNvSpPr txBox="1"/>
          <p:nvPr/>
        </p:nvSpPr>
        <p:spPr>
          <a:xfrm>
            <a:off x="152400" y="1586468"/>
            <a:ext cx="6858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ANI threshold: what ANI constitutes “same genome”</a:t>
            </a:r>
            <a:endParaRPr/>
          </a:p>
        </p:txBody>
      </p:sp>
      <p:sp>
        <p:nvSpPr>
          <p:cNvPr id="1005" name="Google Shape;1005;p25"/>
          <p:cNvSpPr txBox="1"/>
          <p:nvPr/>
        </p:nvSpPr>
        <p:spPr>
          <a:xfrm>
            <a:off x="152400" y="1942068"/>
            <a:ext cx="65760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Significance: how sure you want negatives to be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negatives</a:t>
            </a:r>
            <a:endParaRPr/>
          </a:p>
        </p:txBody>
      </p:sp>
      <p:sp>
        <p:nvSpPr>
          <p:cNvPr id="1006" name="Google Shape;1006;p25"/>
          <p:cNvSpPr txBox="1"/>
          <p:nvPr/>
        </p:nvSpPr>
        <p:spPr>
          <a:xfrm>
            <a:off x="152400" y="2297668"/>
            <a:ext cx="86868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 coverage: The percentage of a genome's k-mers required to confirm its presence</a:t>
            </a:r>
            <a:endParaRPr/>
          </a:p>
        </p:txBody>
      </p:sp>
      <p:sp>
        <p:nvSpPr>
          <p:cNvPr id="1007" name="Google Shape;1007;p25"/>
          <p:cNvSpPr txBox="1"/>
          <p:nvPr/>
        </p:nvSpPr>
        <p:spPr>
          <a:xfrm>
            <a:off x="190500" y="1230868"/>
            <a:ext cx="12573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K-mer size</a:t>
            </a:r>
            <a:endParaRPr/>
          </a:p>
        </p:txBody>
      </p:sp>
      <p:cxnSp>
        <p:nvCxnSpPr>
          <p:cNvPr id="1008" name="Google Shape;1008;p25"/>
          <p:cNvCxnSpPr>
            <a:stCxn id="1004" idx="1"/>
            <a:endCxn id="1009" idx="1"/>
          </p:cNvCxnSpPr>
          <p:nvPr/>
        </p:nvCxnSpPr>
        <p:spPr>
          <a:xfrm>
            <a:off x="152400" y="1771134"/>
            <a:ext cx="762000" cy="1537800"/>
          </a:xfrm>
          <a:prstGeom prst="curvedConnector3">
            <a:avLst>
              <a:gd fmla="val -13043" name="adj1"/>
            </a:avLst>
          </a:prstGeom>
          <a:noFill/>
          <a:ln cap="flat" cmpd="sng" w="31750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09" name="Google Shape;1009;p25"/>
          <p:cNvSpPr txBox="1"/>
          <p:nvPr/>
        </p:nvSpPr>
        <p:spPr>
          <a:xfrm>
            <a:off x="914400" y="3124200"/>
            <a:ext cx="40286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 important parameters</a:t>
            </a:r>
            <a:endParaRPr/>
          </a:p>
        </p:txBody>
      </p:sp>
      <p:cxnSp>
        <p:nvCxnSpPr>
          <p:cNvPr id="1010" name="Google Shape;1010;p25"/>
          <p:cNvCxnSpPr>
            <a:stCxn id="1006" idx="1"/>
            <a:endCxn id="1009" idx="1"/>
          </p:cNvCxnSpPr>
          <p:nvPr/>
        </p:nvCxnSpPr>
        <p:spPr>
          <a:xfrm>
            <a:off x="152400" y="2482334"/>
            <a:ext cx="762000" cy="826500"/>
          </a:xfrm>
          <a:prstGeom prst="curvedConnector3">
            <a:avLst>
              <a:gd fmla="val -10435" name="adj1"/>
            </a:avLst>
          </a:prstGeom>
          <a:noFill/>
          <a:ln cap="flat" cmpd="sng" w="31750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 4098" id="1015" name="Google Shape;1015;p26"/>
          <p:cNvSpPr/>
          <p:nvPr/>
        </p:nvSpPr>
        <p:spPr>
          <a:xfrm>
            <a:off x="609600" y="1"/>
            <a:ext cx="7848600" cy="595294"/>
          </a:xfrm>
          <a:prstGeom prst="roundRect">
            <a:avLst>
              <a:gd fmla="val 16667" name="adj"/>
            </a:avLst>
          </a:prstGeom>
          <a:solidFill>
            <a:srgbClr val="00B8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Experiments</a:t>
            </a:r>
            <a:endParaRPr/>
          </a:p>
        </p:txBody>
      </p:sp>
      <p:sp>
        <p:nvSpPr>
          <p:cNvPr descr=" 4099" id="1016" name="Google Shape;1016;p26"/>
          <p:cNvSpPr/>
          <p:nvPr/>
        </p:nvSpPr>
        <p:spPr>
          <a:xfrm>
            <a:off x="11520" y="762000"/>
            <a:ext cx="3188879" cy="430949"/>
          </a:xfrm>
          <a:prstGeom prst="roundRect">
            <a:avLst>
              <a:gd fmla="val 16667" name="adj"/>
            </a:avLst>
          </a:prstGeom>
          <a:solidFill>
            <a:srgbClr val="BFBFB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 spike-in real data</a:t>
            </a:r>
            <a:endParaRPr/>
          </a:p>
        </p:txBody>
      </p:sp>
      <p:pic>
        <p:nvPicPr>
          <p:cNvPr descr="A screen shot of a graph&#10;&#10;Description automatically generated with low confidence" id="1017" name="Google Shape;1017;p26"/>
          <p:cNvPicPr preferRelativeResize="0"/>
          <p:nvPr/>
        </p:nvPicPr>
        <p:blipFill rotWithShape="1">
          <a:blip r:embed="rId3">
            <a:alphaModFix/>
          </a:blip>
          <a:srcRect b="0" l="0" r="4948" t="5903"/>
          <a:stretch/>
        </p:blipFill>
        <p:spPr>
          <a:xfrm>
            <a:off x="0" y="2651760"/>
            <a:ext cx="4844183" cy="35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18" name="Google Shape;1018;p26"/>
          <p:cNvSpPr txBox="1"/>
          <p:nvPr/>
        </p:nvSpPr>
        <p:spPr>
          <a:xfrm>
            <a:off x="152400" y="1658025"/>
            <a:ext cx="16437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 powered</a:t>
            </a:r>
            <a:endParaRPr/>
          </a:p>
        </p:txBody>
      </p:sp>
      <p:cxnSp>
        <p:nvCxnSpPr>
          <p:cNvPr id="1019" name="Google Shape;1019;p26"/>
          <p:cNvCxnSpPr/>
          <p:nvPr/>
        </p:nvCxnSpPr>
        <p:spPr>
          <a:xfrm>
            <a:off x="6499860" y="3067349"/>
            <a:ext cx="2590800" cy="0"/>
          </a:xfrm>
          <a:prstGeom prst="straightConnector1">
            <a:avLst/>
          </a:prstGeom>
          <a:noFill/>
          <a:ln cap="flat" cmpd="sng" w="57150">
            <a:solidFill>
              <a:srgbClr val="3A3A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20" name="Google Shape;1020;p26"/>
          <p:cNvGrpSpPr/>
          <p:nvPr/>
        </p:nvGrpSpPr>
        <p:grpSpPr>
          <a:xfrm>
            <a:off x="6499860" y="3242609"/>
            <a:ext cx="2438400" cy="205740"/>
            <a:chOff x="6499860" y="3852209"/>
            <a:chExt cx="2438400" cy="205740"/>
          </a:xfrm>
        </p:grpSpPr>
        <p:cxnSp>
          <p:nvCxnSpPr>
            <p:cNvPr id="1021" name="Google Shape;1021;p26"/>
            <p:cNvCxnSpPr/>
            <p:nvPr/>
          </p:nvCxnSpPr>
          <p:spPr>
            <a:xfrm>
              <a:off x="7033260" y="4057949"/>
              <a:ext cx="457200" cy="0"/>
            </a:xfrm>
            <a:prstGeom prst="straightConnector1">
              <a:avLst/>
            </a:prstGeom>
            <a:noFill/>
            <a:ln cap="flat" cmpd="sng" w="57150">
              <a:solidFill>
                <a:srgbClr val="3A3A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22" name="Google Shape;1022;p26"/>
            <p:cNvCxnSpPr/>
            <p:nvPr/>
          </p:nvCxnSpPr>
          <p:spPr>
            <a:xfrm>
              <a:off x="7719060" y="3852209"/>
              <a:ext cx="457200" cy="0"/>
            </a:xfrm>
            <a:prstGeom prst="straightConnector1">
              <a:avLst/>
            </a:prstGeom>
            <a:noFill/>
            <a:ln cap="flat" cmpd="sng" w="57150">
              <a:solidFill>
                <a:srgbClr val="3A3A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23" name="Google Shape;1023;p26"/>
            <p:cNvCxnSpPr/>
            <p:nvPr/>
          </p:nvCxnSpPr>
          <p:spPr>
            <a:xfrm>
              <a:off x="8100060" y="3956923"/>
              <a:ext cx="457200" cy="0"/>
            </a:xfrm>
            <a:prstGeom prst="straightConnector1">
              <a:avLst/>
            </a:prstGeom>
            <a:noFill/>
            <a:ln cap="flat" cmpd="sng" w="57150">
              <a:solidFill>
                <a:srgbClr val="3A3A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024" name="Google Shape;1024;p26"/>
            <p:cNvGrpSpPr/>
            <p:nvPr/>
          </p:nvGrpSpPr>
          <p:grpSpPr>
            <a:xfrm>
              <a:off x="8481060" y="4057949"/>
              <a:ext cx="457200" cy="0"/>
              <a:chOff x="6629400" y="3886200"/>
              <a:chExt cx="457200" cy="0"/>
            </a:xfrm>
          </p:grpSpPr>
          <p:cxnSp>
            <p:nvCxnSpPr>
              <p:cNvPr id="1025" name="Google Shape;1025;p26"/>
              <p:cNvCxnSpPr/>
              <p:nvPr/>
            </p:nvCxnSpPr>
            <p:spPr>
              <a:xfrm>
                <a:off x="6629400" y="3886200"/>
                <a:ext cx="457200" cy="0"/>
              </a:xfrm>
              <a:prstGeom prst="straightConnector1">
                <a:avLst/>
              </a:prstGeom>
              <a:noFill/>
              <a:ln cap="flat" cmpd="sng" w="57150">
                <a:solidFill>
                  <a:srgbClr val="3A3A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26" name="Google Shape;1026;p26"/>
              <p:cNvCxnSpPr/>
              <p:nvPr/>
            </p:nvCxnSpPr>
            <p:spPr>
              <a:xfrm>
                <a:off x="6781800" y="3886200"/>
                <a:ext cx="76200" cy="0"/>
              </a:xfrm>
              <a:prstGeom prst="straightConnector1">
                <a:avLst/>
              </a:prstGeom>
              <a:noFill/>
              <a:ln cap="flat" cmpd="sng" w="571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027" name="Google Shape;1027;p26"/>
            <p:cNvGrpSpPr/>
            <p:nvPr/>
          </p:nvGrpSpPr>
          <p:grpSpPr>
            <a:xfrm>
              <a:off x="6499860" y="3905549"/>
              <a:ext cx="457200" cy="0"/>
              <a:chOff x="4800600" y="3733800"/>
              <a:chExt cx="457200" cy="0"/>
            </a:xfrm>
          </p:grpSpPr>
          <p:cxnSp>
            <p:nvCxnSpPr>
              <p:cNvPr id="1028" name="Google Shape;1028;p26"/>
              <p:cNvCxnSpPr/>
              <p:nvPr/>
            </p:nvCxnSpPr>
            <p:spPr>
              <a:xfrm>
                <a:off x="4800600" y="3733800"/>
                <a:ext cx="457200" cy="0"/>
              </a:xfrm>
              <a:prstGeom prst="straightConnector1">
                <a:avLst/>
              </a:prstGeom>
              <a:noFill/>
              <a:ln cap="flat" cmpd="sng" w="57150">
                <a:solidFill>
                  <a:srgbClr val="3A3A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29" name="Google Shape;1029;p26"/>
              <p:cNvCxnSpPr/>
              <p:nvPr/>
            </p:nvCxnSpPr>
            <p:spPr>
              <a:xfrm>
                <a:off x="5029200" y="3733800"/>
                <a:ext cx="76200" cy="0"/>
              </a:xfrm>
              <a:prstGeom prst="straightConnector1">
                <a:avLst/>
              </a:prstGeom>
              <a:noFill/>
              <a:ln cap="flat" cmpd="sng" w="571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1030" name="Google Shape;1030;p26"/>
          <p:cNvSpPr/>
          <p:nvPr/>
        </p:nvSpPr>
        <p:spPr>
          <a:xfrm rot="10800000">
            <a:off x="6314047" y="3109762"/>
            <a:ext cx="185813" cy="414786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rgbClr val="558E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26"/>
          <p:cNvSpPr txBox="1"/>
          <p:nvPr/>
        </p:nvSpPr>
        <p:spPr>
          <a:xfrm>
            <a:off x="4734349" y="3054936"/>
            <a:ext cx="184171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Reads at known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coverage and ANI</a:t>
            </a:r>
            <a:endParaRPr/>
          </a:p>
        </p:txBody>
      </p:sp>
      <p:grpSp>
        <p:nvGrpSpPr>
          <p:cNvPr id="1032" name="Google Shape;1032;p26"/>
          <p:cNvGrpSpPr/>
          <p:nvPr/>
        </p:nvGrpSpPr>
        <p:grpSpPr>
          <a:xfrm>
            <a:off x="6599733" y="4230426"/>
            <a:ext cx="2087067" cy="1135324"/>
            <a:chOff x="1004499" y="2014705"/>
            <a:chExt cx="2087067" cy="1135324"/>
          </a:xfrm>
        </p:grpSpPr>
        <p:sp>
          <p:nvSpPr>
            <p:cNvPr id="1033" name="Google Shape;1033;p26"/>
            <p:cNvSpPr/>
            <p:nvPr/>
          </p:nvSpPr>
          <p:spPr>
            <a:xfrm>
              <a:off x="1593173" y="2351285"/>
              <a:ext cx="1304653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Metagenome</a:t>
              </a:r>
              <a:endParaRPr/>
            </a:p>
          </p:txBody>
        </p:sp>
        <p:cxnSp>
          <p:nvCxnSpPr>
            <p:cNvPr id="1034" name="Google Shape;1034;p26"/>
            <p:cNvCxnSpPr/>
            <p:nvPr/>
          </p:nvCxnSpPr>
          <p:spPr>
            <a:xfrm flipH="1" rot="10800000">
              <a:off x="1468137" y="2014705"/>
              <a:ext cx="403940" cy="250053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35" name="Google Shape;1035;p26"/>
            <p:cNvCxnSpPr/>
            <p:nvPr/>
          </p:nvCxnSpPr>
          <p:spPr>
            <a:xfrm>
              <a:off x="1241811" y="2264758"/>
              <a:ext cx="396484" cy="184919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36" name="Google Shape;1036;p26"/>
            <p:cNvCxnSpPr/>
            <p:nvPr/>
          </p:nvCxnSpPr>
          <p:spPr>
            <a:xfrm>
              <a:off x="1029722" y="2611385"/>
              <a:ext cx="369711" cy="186215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37" name="Google Shape;1037;p26"/>
            <p:cNvCxnSpPr/>
            <p:nvPr/>
          </p:nvCxnSpPr>
          <p:spPr>
            <a:xfrm>
              <a:off x="1162121" y="2449677"/>
              <a:ext cx="317002" cy="188031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38" name="Google Shape;1038;p26"/>
            <p:cNvCxnSpPr/>
            <p:nvPr/>
          </p:nvCxnSpPr>
          <p:spPr>
            <a:xfrm>
              <a:off x="1004499" y="2803600"/>
              <a:ext cx="463638" cy="260418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39" name="Google Shape;1039;p26"/>
            <p:cNvCxnSpPr/>
            <p:nvPr/>
          </p:nvCxnSpPr>
          <p:spPr>
            <a:xfrm>
              <a:off x="1718915" y="2674389"/>
              <a:ext cx="297355" cy="130209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40" name="Google Shape;1040;p26"/>
            <p:cNvCxnSpPr/>
            <p:nvPr/>
          </p:nvCxnSpPr>
          <p:spPr>
            <a:xfrm>
              <a:off x="2016270" y="2625886"/>
              <a:ext cx="289514" cy="178712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41" name="Google Shape;1041;p26"/>
            <p:cNvCxnSpPr/>
            <p:nvPr/>
          </p:nvCxnSpPr>
          <p:spPr>
            <a:xfrm flipH="1" rot="10800000">
              <a:off x="1744237" y="2173002"/>
              <a:ext cx="272033" cy="171728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42" name="Google Shape;1042;p26"/>
            <p:cNvCxnSpPr/>
            <p:nvPr/>
          </p:nvCxnSpPr>
          <p:spPr>
            <a:xfrm flipH="1" rot="10800000">
              <a:off x="2872314" y="2423055"/>
              <a:ext cx="219252" cy="251334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43" name="Google Shape;1043;p26"/>
            <p:cNvCxnSpPr/>
            <p:nvPr/>
          </p:nvCxnSpPr>
          <p:spPr>
            <a:xfrm flipH="1" rot="10800000">
              <a:off x="2103814" y="2154086"/>
              <a:ext cx="403940" cy="250053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44" name="Google Shape;1044;p26"/>
            <p:cNvCxnSpPr/>
            <p:nvPr/>
          </p:nvCxnSpPr>
          <p:spPr>
            <a:xfrm flipH="1" rot="10800000">
              <a:off x="2408276" y="2173002"/>
              <a:ext cx="403940" cy="250053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45" name="Google Shape;1045;p26"/>
            <p:cNvCxnSpPr/>
            <p:nvPr/>
          </p:nvCxnSpPr>
          <p:spPr>
            <a:xfrm>
              <a:off x="2420831" y="2716886"/>
              <a:ext cx="519369" cy="86714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46" name="Google Shape;1046;p26"/>
            <p:cNvCxnSpPr/>
            <p:nvPr/>
          </p:nvCxnSpPr>
          <p:spPr>
            <a:xfrm>
              <a:off x="1398823" y="2886304"/>
              <a:ext cx="534956" cy="6946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47" name="Google Shape;1047;p26"/>
            <p:cNvCxnSpPr/>
            <p:nvPr/>
          </p:nvCxnSpPr>
          <p:spPr>
            <a:xfrm>
              <a:off x="1577199" y="3060673"/>
              <a:ext cx="606107" cy="0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48" name="Google Shape;1048;p26"/>
            <p:cNvCxnSpPr/>
            <p:nvPr/>
          </p:nvCxnSpPr>
          <p:spPr>
            <a:xfrm>
              <a:off x="2336620" y="2971317"/>
              <a:ext cx="289514" cy="178712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49" name="Google Shape;1049;p26"/>
            <p:cNvCxnSpPr/>
            <p:nvPr/>
          </p:nvCxnSpPr>
          <p:spPr>
            <a:xfrm flipH="1" rot="10800000">
              <a:off x="2840169" y="2127019"/>
              <a:ext cx="219252" cy="251334"/>
            </a:xfrm>
            <a:prstGeom prst="straightConnector1">
              <a:avLst/>
            </a:prstGeom>
            <a:noFill/>
            <a:ln cap="flat" cmpd="sng" w="5715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050" name="Google Shape;1050;p26"/>
          <p:cNvCxnSpPr/>
          <p:nvPr/>
        </p:nvCxnSpPr>
        <p:spPr>
          <a:xfrm>
            <a:off x="7004929" y="5108971"/>
            <a:ext cx="457200" cy="0"/>
          </a:xfrm>
          <a:prstGeom prst="straightConnector1">
            <a:avLst/>
          </a:prstGeom>
          <a:noFill/>
          <a:ln cap="flat" cmpd="sng" w="57150">
            <a:solidFill>
              <a:srgbClr val="3A3A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1" name="Google Shape;1051;p26"/>
          <p:cNvCxnSpPr/>
          <p:nvPr/>
        </p:nvCxnSpPr>
        <p:spPr>
          <a:xfrm>
            <a:off x="7699048" y="3581400"/>
            <a:ext cx="0" cy="533400"/>
          </a:xfrm>
          <a:prstGeom prst="straightConnector1">
            <a:avLst/>
          </a:prstGeom>
          <a:noFill/>
          <a:ln cap="flat" cmpd="sng" w="2857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52" name="Google Shape;1052;p26"/>
          <p:cNvSpPr txBox="1"/>
          <p:nvPr/>
        </p:nvSpPr>
        <p:spPr>
          <a:xfrm>
            <a:off x="7820449" y="3618611"/>
            <a:ext cx="90445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Spike in</a:t>
            </a:r>
            <a:endParaRPr/>
          </a:p>
        </p:txBody>
      </p:sp>
      <p:sp>
        <p:nvSpPr>
          <p:cNvPr id="1053" name="Google Shape;1053;p26"/>
          <p:cNvSpPr txBox="1"/>
          <p:nvPr/>
        </p:nvSpPr>
        <p:spPr>
          <a:xfrm>
            <a:off x="6705600" y="5638800"/>
            <a:ext cx="18909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Repeat 29k times</a:t>
            </a:r>
            <a:endParaRPr/>
          </a:p>
        </p:txBody>
      </p:sp>
      <p:sp>
        <p:nvSpPr>
          <p:cNvPr id="1054" name="Google Shape;1054;p26"/>
          <p:cNvSpPr txBox="1"/>
          <p:nvPr/>
        </p:nvSpPr>
        <p:spPr>
          <a:xfrm>
            <a:off x="1434888" y="3455045"/>
            <a:ext cx="10802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2.94% FP</a:t>
            </a:r>
            <a:endParaRPr/>
          </a:p>
        </p:txBody>
      </p:sp>
      <p:sp>
        <p:nvSpPr>
          <p:cNvPr id="1055" name="Google Shape;1055;p26"/>
          <p:cNvSpPr txBox="1"/>
          <p:nvPr/>
        </p:nvSpPr>
        <p:spPr>
          <a:xfrm>
            <a:off x="4631791" y="4964668"/>
            <a:ext cx="10802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0.2% FN</a:t>
            </a:r>
            <a:endParaRPr/>
          </a:p>
        </p:txBody>
      </p:sp>
      <p:cxnSp>
        <p:nvCxnSpPr>
          <p:cNvPr id="1056" name="Google Shape;1056;p26"/>
          <p:cNvCxnSpPr/>
          <p:nvPr/>
        </p:nvCxnSpPr>
        <p:spPr>
          <a:xfrm flipH="1" rot="10800000">
            <a:off x="2488139" y="3242609"/>
            <a:ext cx="255061" cy="376002"/>
          </a:xfrm>
          <a:prstGeom prst="straightConnector1">
            <a:avLst/>
          </a:prstGeom>
          <a:noFill/>
          <a:ln cap="flat" cmpd="sng" w="2857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57" name="Google Shape;1057;p26"/>
          <p:cNvCxnSpPr>
            <a:stCxn id="1055" idx="1"/>
          </p:cNvCxnSpPr>
          <p:nvPr/>
        </p:nvCxnSpPr>
        <p:spPr>
          <a:xfrm flipH="1">
            <a:off x="4292791" y="5149334"/>
            <a:ext cx="339000" cy="336900"/>
          </a:xfrm>
          <a:prstGeom prst="straightConnector1">
            <a:avLst/>
          </a:prstGeom>
          <a:noFill/>
          <a:ln cap="flat" cmpd="sng" w="2857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58" name="Google Shape;1058;p26"/>
          <p:cNvSpPr txBox="1"/>
          <p:nvPr/>
        </p:nvSpPr>
        <p:spPr>
          <a:xfrm>
            <a:off x="152400" y="1264584"/>
            <a:ext cx="65760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 metagenome, artificially mutated real genome reads inserted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 4098" id="1063" name="Google Shape;1063;p27"/>
          <p:cNvSpPr/>
          <p:nvPr/>
        </p:nvSpPr>
        <p:spPr>
          <a:xfrm>
            <a:off x="609600" y="1"/>
            <a:ext cx="7848600" cy="595294"/>
          </a:xfrm>
          <a:prstGeom prst="roundRect">
            <a:avLst>
              <a:gd fmla="val 16667" name="adj"/>
            </a:avLst>
          </a:prstGeom>
          <a:solidFill>
            <a:srgbClr val="00B8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Experiments</a:t>
            </a:r>
            <a:endParaRPr/>
          </a:p>
        </p:txBody>
      </p:sp>
      <p:sp>
        <p:nvSpPr>
          <p:cNvPr descr=" 4099" id="1064" name="Google Shape;1064;p27"/>
          <p:cNvSpPr/>
          <p:nvPr/>
        </p:nvSpPr>
        <p:spPr>
          <a:xfrm>
            <a:off x="11520" y="762000"/>
            <a:ext cx="3188879" cy="430949"/>
          </a:xfrm>
          <a:prstGeom prst="roundRect">
            <a:avLst>
              <a:gd fmla="val 16667" name="adj"/>
            </a:avLst>
          </a:prstGeom>
          <a:solidFill>
            <a:srgbClr val="BFBFB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 spike-in real data</a:t>
            </a:r>
            <a:endParaRPr/>
          </a:p>
        </p:txBody>
      </p:sp>
      <p:sp>
        <p:nvSpPr>
          <p:cNvPr id="1065" name="Google Shape;1065;p27"/>
          <p:cNvSpPr txBox="1"/>
          <p:nvPr/>
        </p:nvSpPr>
        <p:spPr>
          <a:xfrm>
            <a:off x="152400" y="1658025"/>
            <a:ext cx="16437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 powered</a:t>
            </a:r>
            <a:endParaRPr/>
          </a:p>
        </p:txBody>
      </p:sp>
      <p:sp>
        <p:nvSpPr>
          <p:cNvPr id="1066" name="Google Shape;1066;p27"/>
          <p:cNvSpPr txBox="1"/>
          <p:nvPr/>
        </p:nvSpPr>
        <p:spPr>
          <a:xfrm>
            <a:off x="152400" y="1264584"/>
            <a:ext cx="65760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 metagenome, artificially mutated real genome reads inserted</a:t>
            </a:r>
            <a:endParaRPr/>
          </a:p>
        </p:txBody>
      </p:sp>
      <p:sp>
        <p:nvSpPr>
          <p:cNvPr id="1067" name="Google Shape;1067;p27"/>
          <p:cNvSpPr txBox="1"/>
          <p:nvPr/>
        </p:nvSpPr>
        <p:spPr>
          <a:xfrm>
            <a:off x="152399" y="2056564"/>
            <a:ext cx="304799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Behaves as expected</a:t>
            </a:r>
            <a:endParaRPr/>
          </a:p>
        </p:txBody>
      </p:sp>
      <p:pic>
        <p:nvPicPr>
          <p:cNvPr id="1068" name="Google Shape;1068;p27"/>
          <p:cNvPicPr preferRelativeResize="0"/>
          <p:nvPr/>
        </p:nvPicPr>
        <p:blipFill rotWithShape="1">
          <a:blip r:embed="rId3">
            <a:alphaModFix/>
          </a:blip>
          <a:srcRect b="334" l="0" r="0" t="334"/>
          <a:stretch/>
        </p:blipFill>
        <p:spPr>
          <a:xfrm>
            <a:off x="566530" y="2667000"/>
            <a:ext cx="3700671" cy="34371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9" name="Google Shape;1069;p27"/>
          <p:cNvPicPr preferRelativeResize="0"/>
          <p:nvPr/>
        </p:nvPicPr>
        <p:blipFill rotWithShape="1">
          <a:blip r:embed="rId4">
            <a:alphaModFix/>
          </a:blip>
          <a:srcRect b="51751" l="5173" r="1104" t="4498"/>
          <a:stretch/>
        </p:blipFill>
        <p:spPr>
          <a:xfrm>
            <a:off x="4876800" y="2667000"/>
            <a:ext cx="3657600" cy="3469422"/>
          </a:xfrm>
          <a:prstGeom prst="rect">
            <a:avLst/>
          </a:prstGeom>
          <a:noFill/>
          <a:ln>
            <a:noFill/>
          </a:ln>
        </p:spPr>
      </p:pic>
      <p:sp>
        <p:nvSpPr>
          <p:cNvPr id="1070" name="Google Shape;1070;p27"/>
          <p:cNvSpPr txBox="1"/>
          <p:nvPr/>
        </p:nvSpPr>
        <p:spPr>
          <a:xfrm>
            <a:off x="1181928" y="6136422"/>
            <a:ext cx="1981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Minimum coverage</a:t>
            </a:r>
            <a:endParaRPr/>
          </a:p>
        </p:txBody>
      </p:sp>
      <p:sp>
        <p:nvSpPr>
          <p:cNvPr id="1071" name="Google Shape;1071;p27"/>
          <p:cNvSpPr txBox="1"/>
          <p:nvPr/>
        </p:nvSpPr>
        <p:spPr>
          <a:xfrm rot="-5400000">
            <a:off x="-776126" y="4258052"/>
            <a:ext cx="231598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False Negative Rate</a:t>
            </a:r>
            <a:endParaRPr/>
          </a:p>
        </p:txBody>
      </p:sp>
      <p:sp>
        <p:nvSpPr>
          <p:cNvPr id="1072" name="Google Shape;1072;p27"/>
          <p:cNvSpPr txBox="1"/>
          <p:nvPr/>
        </p:nvSpPr>
        <p:spPr>
          <a:xfrm>
            <a:off x="5562600" y="6180328"/>
            <a:ext cx="1981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Minimum coverage</a:t>
            </a:r>
            <a:endParaRPr/>
          </a:p>
        </p:txBody>
      </p:sp>
      <p:sp>
        <p:nvSpPr>
          <p:cNvPr id="1073" name="Google Shape;1073;p27"/>
          <p:cNvSpPr txBox="1"/>
          <p:nvPr/>
        </p:nvSpPr>
        <p:spPr>
          <a:xfrm rot="-5400000">
            <a:off x="3534143" y="4258053"/>
            <a:ext cx="231598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False Positive Rate</a:t>
            </a:r>
            <a:endParaRPr/>
          </a:p>
        </p:txBody>
      </p:sp>
      <p:sp>
        <p:nvSpPr>
          <p:cNvPr id="1074" name="Google Shape;1074;p27"/>
          <p:cNvSpPr/>
          <p:nvPr/>
        </p:nvSpPr>
        <p:spPr>
          <a:xfrm>
            <a:off x="2340265" y="5494528"/>
            <a:ext cx="457200" cy="685800"/>
          </a:xfrm>
          <a:prstGeom prst="rect">
            <a:avLst/>
          </a:pr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27"/>
          <p:cNvSpPr/>
          <p:nvPr/>
        </p:nvSpPr>
        <p:spPr>
          <a:xfrm>
            <a:off x="6629400" y="5570728"/>
            <a:ext cx="457200" cy="685800"/>
          </a:xfrm>
          <a:prstGeom prst="rect">
            <a:avLst/>
          </a:pr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 4098" id="1080" name="Google Shape;1080;p28"/>
          <p:cNvSpPr/>
          <p:nvPr/>
        </p:nvSpPr>
        <p:spPr>
          <a:xfrm>
            <a:off x="609600" y="1"/>
            <a:ext cx="7848600" cy="595294"/>
          </a:xfrm>
          <a:prstGeom prst="roundRect">
            <a:avLst>
              <a:gd fmla="val 16667" name="adj"/>
            </a:avLst>
          </a:prstGeom>
          <a:solidFill>
            <a:srgbClr val="00B8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Experiments</a:t>
            </a:r>
            <a:endParaRPr/>
          </a:p>
        </p:txBody>
      </p:sp>
      <p:sp>
        <p:nvSpPr>
          <p:cNvPr descr=" 4099" id="1081" name="Google Shape;1081;p28"/>
          <p:cNvSpPr/>
          <p:nvPr/>
        </p:nvSpPr>
        <p:spPr>
          <a:xfrm>
            <a:off x="11521" y="762000"/>
            <a:ext cx="2198280" cy="430949"/>
          </a:xfrm>
          <a:prstGeom prst="roundRect">
            <a:avLst>
              <a:gd fmla="val 16667" name="adj"/>
            </a:avLst>
          </a:prstGeom>
          <a:solidFill>
            <a:srgbClr val="BFBFB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 CAMI data</a:t>
            </a:r>
            <a:endParaRPr/>
          </a:p>
        </p:txBody>
      </p:sp>
      <p:sp>
        <p:nvSpPr>
          <p:cNvPr id="1082" name="Google Shape;1082;p28"/>
          <p:cNvSpPr txBox="1"/>
          <p:nvPr/>
        </p:nvSpPr>
        <p:spPr>
          <a:xfrm>
            <a:off x="152400" y="1264584"/>
            <a:ext cx="65760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Critical assessment of metagenomic interpretation, benchmark data</a:t>
            </a:r>
            <a:endParaRPr/>
          </a:p>
        </p:txBody>
      </p:sp>
      <p:pic>
        <p:nvPicPr>
          <p:cNvPr id="1083" name="Google Shape;1083;p28"/>
          <p:cNvPicPr preferRelativeResize="0"/>
          <p:nvPr/>
        </p:nvPicPr>
        <p:blipFill rotWithShape="1">
          <a:blip r:embed="rId3">
            <a:alphaModFix/>
          </a:blip>
          <a:srcRect b="61550" l="1737" r="50010" t="0"/>
          <a:stretch/>
        </p:blipFill>
        <p:spPr>
          <a:xfrm>
            <a:off x="1676400" y="1981201"/>
            <a:ext cx="6347459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4" name="Google Shape;1084;p28"/>
          <p:cNvSpPr/>
          <p:nvPr/>
        </p:nvSpPr>
        <p:spPr>
          <a:xfrm>
            <a:off x="1327739" y="1862238"/>
            <a:ext cx="501061" cy="44096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28"/>
          <p:cNvSpPr/>
          <p:nvPr/>
        </p:nvSpPr>
        <p:spPr>
          <a:xfrm>
            <a:off x="4124739" y="2922104"/>
            <a:ext cx="1152939" cy="2345635"/>
          </a:xfrm>
          <a:custGeom>
            <a:rect b="b" l="l" r="r" t="t"/>
            <a:pathLst>
              <a:path extrusionOk="0" h="2345635" w="1152939">
                <a:moveTo>
                  <a:pt x="0" y="0"/>
                </a:moveTo>
                <a:lnTo>
                  <a:pt x="755374" y="1143000"/>
                </a:lnTo>
                <a:cubicBezTo>
                  <a:pt x="916057" y="1391478"/>
                  <a:pt x="901148" y="1333500"/>
                  <a:pt x="964096" y="1490870"/>
                </a:cubicBezTo>
                <a:cubicBezTo>
                  <a:pt x="1027044" y="1648240"/>
                  <a:pt x="1103244" y="1944757"/>
                  <a:pt x="1133061" y="2087218"/>
                </a:cubicBezTo>
                <a:cubicBezTo>
                  <a:pt x="1162878" y="2229679"/>
                  <a:pt x="1152939" y="2287657"/>
                  <a:pt x="1143000" y="2345635"/>
                </a:cubicBezTo>
              </a:path>
            </a:pathLst>
          </a:custGeom>
          <a:noFill/>
          <a:ln cap="flat" cmpd="sng" w="25400">
            <a:solidFill>
              <a:srgbClr val="21364F">
                <a:alpha val="1411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28"/>
          <p:cNvSpPr txBox="1"/>
          <p:nvPr/>
        </p:nvSpPr>
        <p:spPr>
          <a:xfrm>
            <a:off x="240121" y="3784836"/>
            <a:ext cx="1664879" cy="710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Completeness/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endParaRPr/>
          </a:p>
        </p:txBody>
      </p:sp>
      <p:sp>
        <p:nvSpPr>
          <p:cNvPr id="1087" name="Google Shape;1087;p28"/>
          <p:cNvSpPr txBox="1"/>
          <p:nvPr/>
        </p:nvSpPr>
        <p:spPr>
          <a:xfrm>
            <a:off x="2971800" y="5791200"/>
            <a:ext cx="16879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Purity/precision</a:t>
            </a:r>
            <a:endParaRPr/>
          </a:p>
        </p:txBody>
      </p:sp>
      <p:sp>
        <p:nvSpPr>
          <p:cNvPr id="1088" name="Google Shape;1088;p28"/>
          <p:cNvSpPr txBox="1"/>
          <p:nvPr/>
        </p:nvSpPr>
        <p:spPr>
          <a:xfrm>
            <a:off x="11520" y="6381641"/>
            <a:ext cx="913247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Meyer, F., Fritz, A., Deng, Z. L., Koslicki, D., Lesker, T. R., Gurevich, A., ... &amp; McHardy, A. C. (2022). Critical assessment of metagenome interpretation: the second round of challenges. </a:t>
            </a:r>
            <a:r>
              <a:rPr b="0" i="1" lang="en-US" sz="14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Nature methods</a:t>
            </a:r>
            <a:r>
              <a:rPr b="0" i="0" lang="en-US" sz="14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 </a:t>
            </a:r>
            <a:r>
              <a:rPr b="0" i="1" lang="en-US" sz="14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19</a:t>
            </a:r>
            <a:r>
              <a:rPr b="0" i="0" lang="en-US" sz="14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(4), 429-440.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3" name="Google Shape;1093;p29"/>
          <p:cNvPicPr preferRelativeResize="0"/>
          <p:nvPr/>
        </p:nvPicPr>
        <p:blipFill rotWithShape="1">
          <a:blip r:embed="rId3">
            <a:alphaModFix/>
          </a:blip>
          <a:srcRect b="61587" l="51827" r="0" t="0"/>
          <a:stretch/>
        </p:blipFill>
        <p:spPr>
          <a:xfrm>
            <a:off x="1600200" y="1980532"/>
            <a:ext cx="6344146" cy="3810668"/>
          </a:xfrm>
          <a:prstGeom prst="rect">
            <a:avLst/>
          </a:prstGeom>
          <a:noFill/>
          <a:ln>
            <a:noFill/>
          </a:ln>
        </p:spPr>
      </p:pic>
      <p:sp>
        <p:nvSpPr>
          <p:cNvPr descr=" 4098" id="1094" name="Google Shape;1094;p29"/>
          <p:cNvSpPr/>
          <p:nvPr/>
        </p:nvSpPr>
        <p:spPr>
          <a:xfrm>
            <a:off x="609600" y="1"/>
            <a:ext cx="7848600" cy="595294"/>
          </a:xfrm>
          <a:prstGeom prst="roundRect">
            <a:avLst>
              <a:gd fmla="val 16667" name="adj"/>
            </a:avLst>
          </a:prstGeom>
          <a:solidFill>
            <a:srgbClr val="00B8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Experiments</a:t>
            </a:r>
            <a:endParaRPr/>
          </a:p>
        </p:txBody>
      </p:sp>
      <p:sp>
        <p:nvSpPr>
          <p:cNvPr descr=" 4099" id="1095" name="Google Shape;1095;p29"/>
          <p:cNvSpPr/>
          <p:nvPr/>
        </p:nvSpPr>
        <p:spPr>
          <a:xfrm>
            <a:off x="11521" y="762000"/>
            <a:ext cx="2198280" cy="430949"/>
          </a:xfrm>
          <a:prstGeom prst="roundRect">
            <a:avLst>
              <a:gd fmla="val 16667" name="adj"/>
            </a:avLst>
          </a:prstGeom>
          <a:solidFill>
            <a:srgbClr val="BFBFB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 CAMI data</a:t>
            </a:r>
            <a:endParaRPr/>
          </a:p>
        </p:txBody>
      </p:sp>
      <p:sp>
        <p:nvSpPr>
          <p:cNvPr id="1096" name="Google Shape;1096;p29"/>
          <p:cNvSpPr/>
          <p:nvPr/>
        </p:nvSpPr>
        <p:spPr>
          <a:xfrm>
            <a:off x="1327739" y="1862238"/>
            <a:ext cx="501061" cy="44096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7" name="Google Shape;1097;p29"/>
          <p:cNvSpPr/>
          <p:nvPr/>
        </p:nvSpPr>
        <p:spPr>
          <a:xfrm>
            <a:off x="4283765" y="3071191"/>
            <a:ext cx="1013792" cy="2186609"/>
          </a:xfrm>
          <a:custGeom>
            <a:rect b="b" l="l" r="r" t="t"/>
            <a:pathLst>
              <a:path extrusionOk="0" h="2186609" w="1013792">
                <a:moveTo>
                  <a:pt x="0" y="0"/>
                </a:moveTo>
                <a:cubicBezTo>
                  <a:pt x="217004" y="28989"/>
                  <a:pt x="434009" y="57978"/>
                  <a:pt x="546652" y="89452"/>
                </a:cubicBezTo>
                <a:cubicBezTo>
                  <a:pt x="659295" y="120926"/>
                  <a:pt x="634448" y="-67917"/>
                  <a:pt x="675861" y="188844"/>
                </a:cubicBezTo>
                <a:cubicBezTo>
                  <a:pt x="717274" y="445605"/>
                  <a:pt x="738809" y="1297057"/>
                  <a:pt x="795131" y="1630018"/>
                </a:cubicBezTo>
                <a:cubicBezTo>
                  <a:pt x="851453" y="1962979"/>
                  <a:pt x="1003853" y="2082248"/>
                  <a:pt x="1013792" y="2186609"/>
                </a:cubicBezTo>
              </a:path>
            </a:pathLst>
          </a:custGeom>
          <a:noFill/>
          <a:ln cap="flat" cmpd="sng" w="25400">
            <a:solidFill>
              <a:schemeClr val="dk1">
                <a:alpha val="14117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29"/>
          <p:cNvSpPr txBox="1"/>
          <p:nvPr/>
        </p:nvSpPr>
        <p:spPr>
          <a:xfrm>
            <a:off x="152400" y="1264584"/>
            <a:ext cx="65760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Critical assessment of metagenomic interpretation, benchmark data</a:t>
            </a:r>
            <a:endParaRPr/>
          </a:p>
        </p:txBody>
      </p:sp>
      <p:sp>
        <p:nvSpPr>
          <p:cNvPr id="1099" name="Google Shape;1099;p29"/>
          <p:cNvSpPr txBox="1"/>
          <p:nvPr/>
        </p:nvSpPr>
        <p:spPr>
          <a:xfrm>
            <a:off x="240121" y="3784836"/>
            <a:ext cx="1664879" cy="710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Completeness/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endParaRPr/>
          </a:p>
        </p:txBody>
      </p:sp>
      <p:sp>
        <p:nvSpPr>
          <p:cNvPr id="1100" name="Google Shape;1100;p29"/>
          <p:cNvSpPr txBox="1"/>
          <p:nvPr/>
        </p:nvSpPr>
        <p:spPr>
          <a:xfrm>
            <a:off x="2971800" y="5791200"/>
            <a:ext cx="16879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Purity/precision</a:t>
            </a:r>
            <a:endParaRPr/>
          </a:p>
        </p:txBody>
      </p:sp>
      <p:sp>
        <p:nvSpPr>
          <p:cNvPr id="1101" name="Google Shape;1101;p29"/>
          <p:cNvSpPr txBox="1"/>
          <p:nvPr/>
        </p:nvSpPr>
        <p:spPr>
          <a:xfrm>
            <a:off x="11520" y="6381641"/>
            <a:ext cx="913247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Meyer, F., Fritz, A., Deng, Z. L., Koslicki, D., Lesker, T. R., Gurevich, A., ... &amp; McHardy, A. C. (2022). Critical assessment of metagenome interpretation: the second round of challenges. </a:t>
            </a:r>
            <a:r>
              <a:rPr b="0" i="1" lang="en-US" sz="14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Nature methods</a:t>
            </a:r>
            <a:r>
              <a:rPr b="0" i="0" lang="en-US" sz="14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 </a:t>
            </a:r>
            <a:r>
              <a:rPr b="0" i="1" lang="en-US" sz="14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19</a:t>
            </a:r>
            <a:r>
              <a:rPr b="0" i="0" lang="en-US" sz="14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(4), 429-440.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6" name="Google Shape;1106;p30"/>
          <p:cNvPicPr preferRelativeResize="0"/>
          <p:nvPr/>
        </p:nvPicPr>
        <p:blipFill rotWithShape="1">
          <a:blip r:embed="rId3">
            <a:alphaModFix/>
          </a:blip>
          <a:srcRect b="1545" l="1163" r="50846" t="60000"/>
          <a:stretch/>
        </p:blipFill>
        <p:spPr>
          <a:xfrm>
            <a:off x="1676400" y="1997736"/>
            <a:ext cx="6284747" cy="3793464"/>
          </a:xfrm>
          <a:prstGeom prst="rect">
            <a:avLst/>
          </a:prstGeom>
          <a:noFill/>
          <a:ln>
            <a:noFill/>
          </a:ln>
        </p:spPr>
      </p:pic>
      <p:sp>
        <p:nvSpPr>
          <p:cNvPr descr=" 4098" id="1107" name="Google Shape;1107;p30"/>
          <p:cNvSpPr/>
          <p:nvPr/>
        </p:nvSpPr>
        <p:spPr>
          <a:xfrm>
            <a:off x="609600" y="1"/>
            <a:ext cx="7848600" cy="595294"/>
          </a:xfrm>
          <a:prstGeom prst="roundRect">
            <a:avLst>
              <a:gd fmla="val 16667" name="adj"/>
            </a:avLst>
          </a:prstGeom>
          <a:solidFill>
            <a:srgbClr val="00B8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Experiments</a:t>
            </a:r>
            <a:endParaRPr/>
          </a:p>
        </p:txBody>
      </p:sp>
      <p:sp>
        <p:nvSpPr>
          <p:cNvPr descr=" 4099" id="1108" name="Google Shape;1108;p30"/>
          <p:cNvSpPr/>
          <p:nvPr/>
        </p:nvSpPr>
        <p:spPr>
          <a:xfrm>
            <a:off x="11521" y="762000"/>
            <a:ext cx="2198280" cy="430949"/>
          </a:xfrm>
          <a:prstGeom prst="roundRect">
            <a:avLst>
              <a:gd fmla="val 16667" name="adj"/>
            </a:avLst>
          </a:prstGeom>
          <a:solidFill>
            <a:srgbClr val="BFBFB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sx="1000" rotWithShape="0" algn="ctr" dir="2700000" dist="129316" sy="1000">
              <a:srgbClr val="808080"/>
            </a:outerShdw>
          </a:effectLst>
        </p:spPr>
        <p:txBody>
          <a:bodyPr anchorCtr="0" anchor="ctr" bIns="40800" lIns="81625" spcFirstLastPara="1" rIns="81625" wrap="square" tIns="408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 CAMI data</a:t>
            </a:r>
            <a:endParaRPr/>
          </a:p>
        </p:txBody>
      </p:sp>
      <p:sp>
        <p:nvSpPr>
          <p:cNvPr id="1109" name="Google Shape;1109;p30"/>
          <p:cNvSpPr/>
          <p:nvPr/>
        </p:nvSpPr>
        <p:spPr>
          <a:xfrm>
            <a:off x="1327739" y="1862238"/>
            <a:ext cx="501061" cy="44096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30"/>
          <p:cNvSpPr/>
          <p:nvPr/>
        </p:nvSpPr>
        <p:spPr>
          <a:xfrm>
            <a:off x="2454965" y="2991679"/>
            <a:ext cx="2856056" cy="1848678"/>
          </a:xfrm>
          <a:custGeom>
            <a:rect b="b" l="l" r="r" t="t"/>
            <a:pathLst>
              <a:path extrusionOk="0" h="1848678" w="2856056">
                <a:moveTo>
                  <a:pt x="0" y="0"/>
                </a:moveTo>
                <a:cubicBezTo>
                  <a:pt x="226115" y="141632"/>
                  <a:pt x="452230" y="283265"/>
                  <a:pt x="685800" y="397565"/>
                </a:cubicBezTo>
                <a:cubicBezTo>
                  <a:pt x="919370" y="511865"/>
                  <a:pt x="1066801" y="525117"/>
                  <a:pt x="1401418" y="685800"/>
                </a:cubicBezTo>
                <a:cubicBezTo>
                  <a:pt x="1736035" y="846483"/>
                  <a:pt x="2443370" y="1207605"/>
                  <a:pt x="2693505" y="1361661"/>
                </a:cubicBezTo>
                <a:cubicBezTo>
                  <a:pt x="2943640" y="1515717"/>
                  <a:pt x="2826027" y="1555474"/>
                  <a:pt x="2842592" y="1639956"/>
                </a:cubicBezTo>
                <a:cubicBezTo>
                  <a:pt x="2839278" y="1893403"/>
                  <a:pt x="2844248" y="1808921"/>
                  <a:pt x="2832652" y="1848678"/>
                </a:cubicBezTo>
              </a:path>
            </a:pathLst>
          </a:custGeom>
          <a:noFill/>
          <a:ln cap="flat" cmpd="sng" w="25400">
            <a:solidFill>
              <a:srgbClr val="21364F">
                <a:alpha val="1411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30"/>
          <p:cNvSpPr txBox="1"/>
          <p:nvPr/>
        </p:nvSpPr>
        <p:spPr>
          <a:xfrm>
            <a:off x="152400" y="1264584"/>
            <a:ext cx="65760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Critical assessment of metagenomic interpretation, benchmark data</a:t>
            </a:r>
            <a:endParaRPr/>
          </a:p>
        </p:txBody>
      </p:sp>
      <p:sp>
        <p:nvSpPr>
          <p:cNvPr id="1112" name="Google Shape;1112;p30"/>
          <p:cNvSpPr txBox="1"/>
          <p:nvPr/>
        </p:nvSpPr>
        <p:spPr>
          <a:xfrm>
            <a:off x="240121" y="3784836"/>
            <a:ext cx="1664879" cy="710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Completeness/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endParaRPr/>
          </a:p>
        </p:txBody>
      </p:sp>
      <p:sp>
        <p:nvSpPr>
          <p:cNvPr id="1113" name="Google Shape;1113;p30"/>
          <p:cNvSpPr txBox="1"/>
          <p:nvPr/>
        </p:nvSpPr>
        <p:spPr>
          <a:xfrm>
            <a:off x="2971800" y="5791200"/>
            <a:ext cx="16879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Purity/precision</a:t>
            </a:r>
            <a:endParaRPr/>
          </a:p>
        </p:txBody>
      </p:sp>
      <p:sp>
        <p:nvSpPr>
          <p:cNvPr id="1114" name="Google Shape;1114;p30"/>
          <p:cNvSpPr txBox="1"/>
          <p:nvPr/>
        </p:nvSpPr>
        <p:spPr>
          <a:xfrm>
            <a:off x="11520" y="6381641"/>
            <a:ext cx="913247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Meyer, F., Fritz, A., Deng, Z. L., Koslicki, D., Lesker, T. R., Gurevich, A., ... &amp; McHardy, A. C. (2022). Critical assessment of metagenome interpretation: the second round of challenges. </a:t>
            </a:r>
            <a:r>
              <a:rPr b="0" i="1" lang="en-US" sz="14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Nature methods</a:t>
            </a:r>
            <a:r>
              <a:rPr b="0" i="0" lang="en-US" sz="14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 </a:t>
            </a:r>
            <a:r>
              <a:rPr b="0" i="1" lang="en-US" sz="14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19</a:t>
            </a:r>
            <a:r>
              <a:rPr b="0" i="0" lang="en-US" sz="14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(4), 429-440.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2012-02-16T23:22:53Z</dcterms:created>
  <dc:creator>David Koslicki</dc:creator>
</cp:coreProperties>
</file>