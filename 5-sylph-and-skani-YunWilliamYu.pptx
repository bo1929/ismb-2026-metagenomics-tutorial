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slides/slide6.xml" ContentType="application/vnd.openxmlformats-officedocument.presentationml.slide+xml"/>
  <Override PartName="/ppt/slides/slide15.xml" ContentType="application/vnd.openxmlformats-officedocument.presentationml.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slideLayouts/slideLayout15.xml" ContentType="application/vnd.openxmlformats-officedocument.presentationml.slideLayout+xml"/>
  <Override PartName="/ppt/slides/slide48.xml" ContentType="application/vnd.openxmlformats-officedocument.presentationml.slide+xml"/>
  <Override PartName="/ppt/slideLayouts/slideLayout14.xml" ContentType="application/vnd.openxmlformats-officedocument.presentationml.slideLayout+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10.xml" ContentType="application/vnd.openxmlformats-officedocument.presentationml.slide+xml"/>
  <Override PartName="/ppt/notesSlides/notesSlide1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5.xml" ContentType="application/vnd.openxmlformats-officedocument.presentationml.slide+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3.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slideLayouts/slideLayout13.xml" ContentType="application/vnd.openxmlformats-officedocument.presentationml.slideLayout+xml"/>
  <Override PartName="/ppt/notesSlides/notesSlide21.xml" ContentType="application/vnd.openxmlformats-officedocument.presentationml.notesSlide+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slideLayouts/slideLayout12.xml" ContentType="application/vnd.openxmlformats-officedocument.presentationml.slideLayout+xml"/>
  <Override PartName="/ppt/notesSlides/notesSlide12.xml" ContentType="application/vnd.openxmlformats-officedocument.presentationml.notesSlide+xml"/>
  <Override PartName="/ppt/slides/slide46.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5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2D5ABB26-0587-4C30-8999-92F81FD0307C}">
  <a:tblStyle styleId="{2D5ABB26-0587-4C30-8999-92F81FD0307C}" styleName="No Style, No Grid">
    <a:wholeTbl>
      <a:tcTxStyle>
        <a:fontRef idx="minor">
          <a:srgbClr val="000000"/>
        </a:fontRef>
        <a:schemeClr val="tx1"/>
      </a:tcTxStyle>
      <a:tcStyle>
        <a:tcBdr>
          <a:left>
            <a:ln w="12700">
              <a:noFill/>
            </a:ln>
          </a:left>
          <a:right>
            <a:ln w="12700">
              <a:noFill/>
            </a:ln>
          </a:right>
          <a:top>
            <a:ln w="12700">
              <a:noFill/>
            </a:ln>
          </a:top>
          <a:bottom>
            <a:ln w="12700">
              <a:noFill/>
            </a:ln>
          </a:bottom>
          <a:insideH>
            <a:ln w="12700">
              <a:noFill/>
            </a:ln>
          </a:insideH>
          <a:insideV>
            <a:ln w="12700">
              <a:no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7" d="100"/>
          <a:sy n="77" d="100"/>
        </p:scale>
        <p:origin x="96" y="1044"/>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notesMaster" Target="notesMasters/notesMaster1.xml"/><Relationship Id="rId54" Type="http://schemas.openxmlformats.org/officeDocument/2006/relationships/presProps" Target="presProps.xml" /><Relationship Id="rId55" Type="http://schemas.openxmlformats.org/officeDocument/2006/relationships/tableStyles" Target="tableStyles.xml" /><Relationship Id="rId5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9869071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21395017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183B20A-7A2C-490A-BFD1-B4B6ACB44995}" type="datetimeFigureOut">
              <a:rPr lang="en-US"/>
              <a:t>5/22/2026</a:t>
            </a:fld>
            <a:endParaRPr lang="en-US"/>
          </a:p>
        </p:txBody>
      </p:sp>
      <p:sp>
        <p:nvSpPr>
          <p:cNvPr id="168193010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77957992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2608532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4407687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72465BC6-9D09-4FC5-9CE2-1E6A3353C20F}" type="slidenum">
              <a:rPr lang="en-US"/>
              <a:t>‹#›</a:t>
            </a:fld>
            <a:endParaRPr lang="en-US"/>
          </a:p>
        </p:txBody>
      </p:sp>
    </p:spTree>
  </p:cSld>
  <p:clrMap bg1="lt1" tx1="dk1" bg2="lt2" tx2="dk2" accent1="accent1" accent2="accent2" accent3="accent3" accent4="accent4" accent5="accent5" accent6="accent6" hlink="hlink" folHlink="folHlink"/>
  <p:hf dt="0" ftr="0" hdr="0" sldNum="1"/>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3C6A03-D5D0-9F7E-C5F0-9080636FF3CD}"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BD4AA1B-5F96-BF42-8ADC-71B793011950}"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0083515" name="Rectangle 7"/>
          <p:cNvSpPr>
            <a:spLocks noChangeArrowheads="1" noGrp="1"/>
          </p:cNvSpPr>
          <p:nvPr>
            <p:ph type="sldNum" sz="quarter" idx="5"/>
          </p:nvPr>
        </p:nvSpPr>
        <p:spPr bwMode="auto">
          <a:prstGeom prst="rect">
            <a:avLst/>
          </a:prstGeom>
          <a:noFill/>
        </p:spPr>
        <p:txBody>
          <a:bodyPr/>
          <a:lstStyle>
            <a:lvl1pPr defTabSz="928688">
              <a:defRPr sz="2400">
                <a:solidFill>
                  <a:schemeClr val="tx1"/>
                </a:solidFill>
                <a:latin typeface="Times"/>
                <a:ea typeface="ＭＳ Ｐゴシック"/>
              </a:defRPr>
            </a:lvl1pPr>
            <a:lvl2pPr marL="742950" indent="-285750" defTabSz="928688">
              <a:defRPr sz="2400">
                <a:solidFill>
                  <a:schemeClr val="tx1"/>
                </a:solidFill>
                <a:latin typeface="Times"/>
                <a:ea typeface="ＭＳ Ｐゴシック"/>
              </a:defRPr>
            </a:lvl2pPr>
            <a:lvl3pPr marL="1143000" indent="-228600" defTabSz="928688">
              <a:defRPr sz="2400">
                <a:solidFill>
                  <a:schemeClr val="tx1"/>
                </a:solidFill>
                <a:latin typeface="Times"/>
                <a:ea typeface="ＭＳ Ｐゴシック"/>
              </a:defRPr>
            </a:lvl3pPr>
            <a:lvl4pPr marL="1600200" indent="-228600" defTabSz="928688">
              <a:defRPr sz="2400">
                <a:solidFill>
                  <a:schemeClr val="tx1"/>
                </a:solidFill>
                <a:latin typeface="Times"/>
                <a:ea typeface="ＭＳ Ｐゴシック"/>
              </a:defRPr>
            </a:lvl4pPr>
            <a:lvl5pPr marL="2057400" indent="-228600" defTabSz="928688">
              <a:defRPr sz="2400">
                <a:solidFill>
                  <a:schemeClr val="tx1"/>
                </a:solidFill>
                <a:latin typeface="Times"/>
                <a:ea typeface="ＭＳ Ｐゴシック"/>
              </a:defRPr>
            </a:lvl5pPr>
            <a:lvl6pPr marL="2514600" indent="-228600" algn="ctr" defTabSz="928688">
              <a:spcBef>
                <a:spcPts val="0"/>
              </a:spcBef>
              <a:spcAft>
                <a:spcPts val="0"/>
              </a:spcAft>
              <a:defRPr sz="2400">
                <a:solidFill>
                  <a:schemeClr val="tx1"/>
                </a:solidFill>
                <a:latin typeface="Times"/>
                <a:ea typeface="ＭＳ Ｐゴシック"/>
              </a:defRPr>
            </a:lvl6pPr>
            <a:lvl7pPr marL="2971800" indent="-228600" algn="ctr" defTabSz="928688">
              <a:spcBef>
                <a:spcPts val="0"/>
              </a:spcBef>
              <a:spcAft>
                <a:spcPts val="0"/>
              </a:spcAft>
              <a:defRPr sz="2400">
                <a:solidFill>
                  <a:schemeClr val="tx1"/>
                </a:solidFill>
                <a:latin typeface="Times"/>
                <a:ea typeface="ＭＳ Ｐゴシック"/>
              </a:defRPr>
            </a:lvl7pPr>
            <a:lvl8pPr marL="3429000" indent="-228600" algn="ctr" defTabSz="928688">
              <a:spcBef>
                <a:spcPts val="0"/>
              </a:spcBef>
              <a:spcAft>
                <a:spcPts val="0"/>
              </a:spcAft>
              <a:defRPr sz="2400">
                <a:solidFill>
                  <a:schemeClr val="tx1"/>
                </a:solidFill>
                <a:latin typeface="Times"/>
                <a:ea typeface="ＭＳ Ｐゴシック"/>
              </a:defRPr>
            </a:lvl8pPr>
            <a:lvl9pPr marL="3886200" indent="-228600" algn="ctr" defTabSz="928688">
              <a:spcBef>
                <a:spcPts val="0"/>
              </a:spcBef>
              <a:spcAft>
                <a:spcPts val="0"/>
              </a:spcAft>
              <a:defRPr sz="2400">
                <a:solidFill>
                  <a:schemeClr val="tx1"/>
                </a:solidFill>
                <a:latin typeface="Times"/>
                <a:ea typeface="ＭＳ Ｐゴシック"/>
              </a:defRPr>
            </a:lvl9pPr>
          </a:lstStyle>
          <a:p>
            <a:pPr>
              <a:defRPr/>
            </a:pPr>
            <a:fld id="{6F2BD31C-A5D2-4499-B9C2-B411CF6C669E}" type="slidenum">
              <a:rPr lang="en-US" sz="1200"/>
              <a:t>3</a:t>
            </a:fld>
            <a:endParaRPr lang="en-US" sz="1200"/>
          </a:p>
        </p:txBody>
      </p:sp>
      <p:sp>
        <p:nvSpPr>
          <p:cNvPr id="372601969" name="Rectangle 2"/>
          <p:cNvSpPr>
            <a:spLocks noChangeArrowheads="1" noChangeAspect="1" noGrp="1" noRot="1" noTextEdit="1"/>
          </p:cNvSpPr>
          <p:nvPr>
            <p:ph type="sldImg"/>
          </p:nvPr>
        </p:nvSpPr>
        <p:spPr bwMode="auto">
          <a:prstGeom prst="rect">
            <a:avLst/>
          </a:prstGeom>
          <a:solidFill>
            <a:srgbClr val="FFFFFF"/>
          </a:solidFill>
          <a:ln/>
        </p:spPr>
      </p:sp>
      <p:sp>
        <p:nvSpPr>
          <p:cNvPr id="1361457672" name="Rectangle 3"/>
          <p:cNvSpPr>
            <a:spLocks noChangeArrowheads="1" noGrp="1"/>
          </p:cNvSpPr>
          <p:nvPr>
            <p:ph type="body" idx="1"/>
          </p:nvPr>
        </p:nvSpPr>
        <p:spPr bwMode="auto">
          <a:xfrm>
            <a:off x="930276" y="3330576"/>
            <a:ext cx="7435850" cy="3154363"/>
          </a:xfrm>
          <a:prstGeom prst="rect">
            <a:avLst/>
          </a:prstGeom>
          <a:solidFill>
            <a:srgbClr val="FFFFFF"/>
          </a:solidFill>
          <a:ln>
            <a:solidFill>
              <a:srgbClr val="000000"/>
            </a:solidFill>
            <a:miter lim="800000"/>
            <a:headEnd/>
            <a:tailEnd/>
          </a:ln>
        </p:spPr>
        <p:txBody>
          <a:bodyPr/>
          <a:lstStyle/>
          <a:p>
            <a:pPr marL="0" marR="0" indent="0" algn="l" defTabSz="914400" rtl="0">
              <a:lnSpc>
                <a:spcPct val="100000"/>
              </a:lnSpc>
              <a:spcBef>
                <a:spcPts val="0"/>
              </a:spcBef>
              <a:spcAft>
                <a:spcPts val="0"/>
              </a:spcAft>
              <a:buClrTx/>
              <a:buSzTx/>
              <a:buFontTx/>
              <a:buNone/>
              <a:defRPr/>
            </a:pPr>
            <a:r>
              <a:rPr lang="en-US">
                <a:ea typeface="ＭＳ Ｐゴシック"/>
              </a:rPr>
              <a:t>Anyway, how does sequencing a genome work? For the purposes of this discussion, we can think of a human genome as a string of length approximately 3 billion, built from an alphabet of 4 "base pairs", A, C, G, and T. The task of "sequencing" a genome is that of accurately reading that 3-billion base pair-long string.</a:t>
            </a:r>
            <a:endParaRPr/>
          </a:p>
          <a:p>
            <a:pPr marL="0" marR="0" indent="0" algn="l" defTabSz="914400" rtl="0">
              <a:lnSpc>
                <a:spcPct val="100000"/>
              </a:lnSpc>
              <a:spcBef>
                <a:spcPts val="0"/>
              </a:spcBef>
              <a:spcAft>
                <a:spcPts val="0"/>
              </a:spcAft>
              <a:buClrTx/>
              <a:buSzTx/>
              <a:buFontTx/>
              <a:buNone/>
              <a:defRPr/>
            </a:pPr>
            <a:endParaRPr lang="en-US">
              <a:ea typeface="ＭＳ Ｐゴシック"/>
            </a:endParaRPr>
          </a:p>
          <a:p>
            <a:pPr marL="0" marR="0" indent="0" algn="l" defTabSz="914400" rtl="0">
              <a:lnSpc>
                <a:spcPct val="100000"/>
              </a:lnSpc>
              <a:spcBef>
                <a:spcPts val="0"/>
              </a:spcBef>
              <a:spcAft>
                <a:spcPts val="0"/>
              </a:spcAft>
              <a:buClrTx/>
              <a:buSzTx/>
              <a:buFontTx/>
              <a:buNone/>
              <a:defRPr/>
            </a:pPr>
            <a:r>
              <a:rPr lang="en-US">
                <a:ea typeface="ＭＳ Ｐゴシック"/>
              </a:rPr>
              <a:t>Unfortunately, biologists can't directly read that string. Instead, they randomly cut up that string into substrings, and then an expensive "sequencing machine" tries to read them. Due to quirks of the chemistry underlying sequencing technology, however, most sequencing machines can only read about 100-100k base pairs at a time, and even then there's a lot of error in the resulting output. Thus, the basic problem is given short, error-prone reads from random locations in a genome, piece together an individual's full genome.</a:t>
            </a:r>
            <a:endParaRPr/>
          </a:p>
          <a:p>
            <a:pPr>
              <a:defRPr/>
            </a:pPr>
            <a:endParaRPr lang="en-US">
              <a:ea typeface="ＭＳ Ｐゴシック"/>
            </a:endParaRPr>
          </a:p>
          <a:p>
            <a:pPr>
              <a:defRPr/>
            </a:pPr>
            <a:r>
              <a:rPr lang="en-US">
                <a:ea typeface="ＭＳ Ｐゴシック"/>
              </a:rPr>
              <a:t>One sense of “determining” origins is to piece together the original sequence from these fragments, a process known as assembly.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8216721" name="Slide Image Placeholder 1"/>
          <p:cNvSpPr>
            <a:spLocks noChangeAspect="1" noGrp="1" noRot="1"/>
          </p:cNvSpPr>
          <p:nvPr>
            <p:ph type="sldImg"/>
          </p:nvPr>
        </p:nvSpPr>
        <p:spPr bwMode="auto"/>
      </p:sp>
      <p:sp>
        <p:nvSpPr>
          <p:cNvPr id="596696749" name="Notes Placeholder 2"/>
          <p:cNvSpPr>
            <a:spLocks noGrp="1"/>
          </p:cNvSpPr>
          <p:nvPr>
            <p:ph type="body" idx="1"/>
          </p:nvPr>
        </p:nvSpPr>
        <p:spPr bwMode="auto"/>
        <p:txBody>
          <a:bodyPr/>
          <a:lstStyle/>
          <a:p>
            <a:pPr>
              <a:defRPr/>
            </a:pPr>
            <a:r>
              <a:rPr lang="en-US"/>
              <a:t>Many subproblems, such as the binning problem of first figuring out which genome the read came from, understanding the bacterial composition of the source, etc.</a:t>
            </a:r>
            <a:endParaRPr/>
          </a:p>
        </p:txBody>
      </p:sp>
      <p:sp>
        <p:nvSpPr>
          <p:cNvPr id="1250840987" name="Slide Number Placeholder 3"/>
          <p:cNvSpPr>
            <a:spLocks noGrp="1"/>
          </p:cNvSpPr>
          <p:nvPr>
            <p:ph type="sldNum" sz="quarter" idx="5"/>
          </p:nvPr>
        </p:nvSpPr>
        <p:spPr bwMode="auto"/>
        <p:txBody>
          <a:bodyPr/>
          <a:lstStyle/>
          <a:p>
            <a:pPr>
              <a:defRPr/>
            </a:pPr>
            <a:fld id="{72465BC6-9D09-4FC5-9CE2-1E6A3353C20F}"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3153669" name="Slide Image Placeholder 1"/>
          <p:cNvSpPr>
            <a:spLocks noChangeAspect="1" noGrp="1" noRot="1"/>
          </p:cNvSpPr>
          <p:nvPr>
            <p:ph type="sldImg"/>
          </p:nvPr>
        </p:nvSpPr>
        <p:spPr bwMode="auto"/>
      </p:sp>
      <p:sp>
        <p:nvSpPr>
          <p:cNvPr id="200160574"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a:t>This problem appears throughout computational biology, seen in everything from protein databases to small chemical molecules, but I’ll be focusing on just its instantiations in genomics.</a:t>
            </a:r>
            <a:endParaRPr/>
          </a:p>
          <a:p>
            <a:pPr>
              <a:defRPr/>
            </a:pPr>
            <a:endParaRPr lang="en-US"/>
          </a:p>
          <a:p>
            <a:pPr>
              <a:defRPr/>
            </a:pPr>
            <a:r>
              <a:rPr lang="en-US"/>
              <a:t>One example of this, which we alluded to earlier in genomics, is that of read mapping. We’re trying to find all the locations in a reference genome that are similar to some query read.</a:t>
            </a:r>
            <a:endParaRPr/>
          </a:p>
        </p:txBody>
      </p:sp>
      <p:sp>
        <p:nvSpPr>
          <p:cNvPr id="2081746633" name="Slide Number Placeholder 3"/>
          <p:cNvSpPr>
            <a:spLocks noGrp="1"/>
          </p:cNvSpPr>
          <p:nvPr>
            <p:ph type="sldNum" sz="quarter" idx="5"/>
          </p:nvPr>
        </p:nvSpPr>
        <p:spPr bwMode="auto"/>
        <p:txBody>
          <a:bodyPr/>
          <a:lstStyle/>
          <a:p>
            <a:pPr>
              <a:defRPr/>
            </a:pPr>
            <a:fld id="{5A0E3A12-0C57-4759-BD7E-E0D020E68623}"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0678171" name="Slide Image Placeholder 1"/>
          <p:cNvSpPr>
            <a:spLocks noChangeAspect="1" noGrp="1" noRot="1"/>
          </p:cNvSpPr>
          <p:nvPr>
            <p:ph type="sldImg"/>
          </p:nvPr>
        </p:nvSpPr>
        <p:spPr bwMode="auto"/>
      </p:sp>
      <p:sp>
        <p:nvSpPr>
          <p:cNvPr id="1361726314" name="Notes Placeholder 2"/>
          <p:cNvSpPr>
            <a:spLocks noGrp="1"/>
          </p:cNvSpPr>
          <p:nvPr>
            <p:ph type="body" idx="1"/>
          </p:nvPr>
        </p:nvSpPr>
        <p:spPr bwMode="auto"/>
        <p:txBody>
          <a:bodyPr/>
          <a:lstStyle/>
          <a:p>
            <a:pPr>
              <a:defRPr/>
            </a:pPr>
            <a:r>
              <a:rPr lang="en-US"/>
              <a:t>Even more basic is the sequence alignment problem though, where given a query genome, I want to find genomes in a database that look similar.</a:t>
            </a:r>
            <a:endParaRPr/>
          </a:p>
        </p:txBody>
      </p:sp>
      <p:sp>
        <p:nvSpPr>
          <p:cNvPr id="1568868966" name="Slide Number Placeholder 3"/>
          <p:cNvSpPr>
            <a:spLocks noGrp="1"/>
          </p:cNvSpPr>
          <p:nvPr>
            <p:ph type="sldNum" sz="quarter" idx="5"/>
          </p:nvPr>
        </p:nvSpPr>
        <p:spPr bwMode="auto"/>
        <p:txBody>
          <a:bodyPr/>
          <a:lstStyle/>
          <a:p>
            <a:pPr>
              <a:defRPr/>
            </a:pPr>
            <a:fld id="{5A0E3A12-0C57-4759-BD7E-E0D020E68623}"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5565F3-7A28-696D-49D0-91F3F9D944D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1A28CA-3405-EC30-A5B8-3E9A6A42861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4719EE1-5488-F3A2-ED54-562D017F20B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6934323-9677-A2B9-EC07-2F8A16E303D4}"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A0C153C-7E51-A7D8-F3D6-3B451C75CFCD}"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7A8DFD5-4002-6DB7-525B-940605A993D9}"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6E902F4-A371-76E4-B679-A171EF2FA904}"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4793439" name="Slide Image Placeholder 1"/>
          <p:cNvSpPr>
            <a:spLocks noChangeAspect="1" noGrp="1" noRot="1"/>
          </p:cNvSpPr>
          <p:nvPr>
            <p:ph type="sldImg"/>
          </p:nvPr>
        </p:nvSpPr>
        <p:spPr bwMode="auto"/>
      </p:sp>
      <p:sp>
        <p:nvSpPr>
          <p:cNvPr id="953121474"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a:t>Many of you will already be familiar with the Jaccard index of two sets. Jaccard index is the intersection over union cardinalities. Although it was originally defined to measure ecological diversity, these days it serves as a standard measure of set similarity in many applications. Exactly computing Jaccard index can be expensive because you have to deduplicate all the items of a combined list of both sets.</a:t>
            </a:r>
            <a:endParaRPr/>
          </a:p>
          <a:p>
            <a:pPr>
              <a:defRPr/>
            </a:pPr>
            <a:endParaRPr lang="en-US"/>
          </a:p>
        </p:txBody>
      </p:sp>
      <p:sp>
        <p:nvSpPr>
          <p:cNvPr id="147503158" name="Slide Number Placeholder 3"/>
          <p:cNvSpPr>
            <a:spLocks noGrp="1"/>
          </p:cNvSpPr>
          <p:nvPr>
            <p:ph type="sldNum" sz="quarter" idx="5"/>
          </p:nvPr>
        </p:nvSpPr>
        <p:spPr bwMode="auto"/>
        <p:txBody>
          <a:bodyPr/>
          <a:lstStyle/>
          <a:p>
            <a:pPr>
              <a:defRPr/>
            </a:pPr>
            <a:fld id="{72465BC6-9D09-4FC5-9CE2-1E6A3353C20F}"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4798728" name="Slide Image Placeholder 1"/>
          <p:cNvSpPr>
            <a:spLocks noChangeAspect="1" noGrp="1" noRot="1"/>
          </p:cNvSpPr>
          <p:nvPr>
            <p:ph type="sldImg"/>
          </p:nvPr>
        </p:nvSpPr>
        <p:spPr bwMode="auto"/>
      </p:sp>
      <p:sp>
        <p:nvSpPr>
          <p:cNvPr id="1464010070" name="Notes Placeholder 2"/>
          <p:cNvSpPr>
            <a:spLocks noGrp="1"/>
          </p:cNvSpPr>
          <p:nvPr>
            <p:ph type="body" idx="1"/>
          </p:nvPr>
        </p:nvSpPr>
        <p:spPr bwMode="auto"/>
        <p:txBody>
          <a:bodyPr/>
          <a:lstStyle/>
          <a:p>
            <a:pPr>
              <a:defRPr/>
            </a:pPr>
            <a:r>
              <a:rPr lang="en-US"/>
              <a:t>Accurately and quickly estimating it however, was solved in 1997 by Andrei Broder, who developed the </a:t>
            </a:r>
            <a:r>
              <a:rPr lang="en-US"/>
              <a:t>MinHash</a:t>
            </a:r>
            <a:r>
              <a:rPr lang="en-US"/>
              <a:t> probabilistic sketch data structure.</a:t>
            </a:r>
            <a:endParaRPr/>
          </a:p>
          <a:p>
            <a:pPr>
              <a:defRPr/>
            </a:pPr>
            <a:r>
              <a:rPr lang="en-US"/>
              <a:t>So how does </a:t>
            </a:r>
            <a:r>
              <a:rPr lang="en-US"/>
              <a:t>MinHash</a:t>
            </a:r>
            <a:r>
              <a:rPr lang="en-US"/>
              <a:t> work to compute Jaccard index.</a:t>
            </a:r>
            <a:endParaRPr/>
          </a:p>
          <a:p>
            <a:pPr>
              <a:defRPr/>
            </a:pPr>
            <a:r>
              <a:rPr lang="en-US"/>
              <a:t>Broder was working at Altavista. As some of you might remember, Altavista was one of the popular search engines of the time, before Google took over the world.</a:t>
            </a:r>
            <a:endParaRPr/>
          </a:p>
          <a:p>
            <a:pPr>
              <a:defRPr/>
            </a:pPr>
            <a:r>
              <a:rPr lang="en-US"/>
              <a:t>He wanted to solve the problem of near-duplicate web pages. If you’re a search engine, you want to return, say, the top 10 most relevant results to a user’s search query. But, often web pages get duplicated at different addresses with slight variations. Broder decided to compute the Jaccard index of the sets of phrases within the webpage to do near-duplicate detection.</a:t>
            </a:r>
            <a:endParaRPr/>
          </a:p>
          <a:p>
            <a:pPr>
              <a:defRPr/>
            </a:pPr>
            <a:r>
              <a:rPr lang="en-US"/>
              <a:t>How does it work?</a:t>
            </a:r>
            <a:endParaRPr/>
          </a:p>
          <a:p>
            <a:pPr>
              <a:defRPr/>
            </a:pPr>
            <a:r>
              <a:rPr lang="en-US"/>
              <a:t>Suppose we have two sets A and B, shown here, with some overlap.</a:t>
            </a:r>
            <a:endParaRPr/>
          </a:p>
          <a:p>
            <a:pPr>
              <a:defRPr/>
            </a:pPr>
            <a:r>
              <a:rPr lang="en-US"/>
              <a:t>We’ll do a random permutation, or random shuffling of the union and consider the leftmost item with each set A and B.</a:t>
            </a:r>
            <a:endParaRPr/>
          </a:p>
          <a:p>
            <a:pPr>
              <a:defRPr/>
            </a:pPr>
            <a:r>
              <a:rPr lang="en-US">
                <a:solidFill>
                  <a:schemeClr val="tx1"/>
                </a:solidFill>
                <a:latin typeface="Times"/>
              </a:rPr>
              <a:t>Notice that </a:t>
            </a:r>
            <a:r>
              <a:rPr lang="en-US">
                <a:solidFill>
                  <a:prstClr val="black"/>
                </a:solidFill>
                <a:latin typeface="Calibri"/>
              </a:rPr>
              <a:t>the chance that the minimum of </a:t>
            </a:r>
            <mc:AlternateContent xmlns:mc="http://schemas.openxmlformats.org/markup-compatibility/2006" xmlns:m="http://schemas.openxmlformats.org/officeDocument/2006/math">
              <mc:Choice xmlns:a14="http://schemas.microsoft.com/office/drawing/2010/main" Requires="a14">
                <a14:m>
                  <m:oMathPara>
                    <m:oMathParaPr/>
                    <m:oMath>
                      <m:r>
                        <m:rPr/>
                        <a:rPr lang="en-US" i="1">
                          <a:solidFill>
                            <a:srgbClr val="5B9BD5"/>
                          </a:solidFill>
                          <a:latin typeface="Cambria Math"/>
                        </a:rPr>
                        <m:t>𝐴</m:t>
                      </m:r>
                    </m:oMath>
                  </m:oMathPara>
                </a14:m>
              </mc:Choice>
              <mc:Fallback/>
            </mc:AlternateContent>
            <a:r>
              <a:rPr lang="en-US">
                <a:solidFill>
                  <a:prstClr val="black"/>
                </a:solidFill>
                <a:latin typeface="Calibri"/>
              </a:rPr>
              <a:t> and </a:t>
            </a:r>
            <mc:AlternateContent xmlns:mc="http://schemas.openxmlformats.org/markup-compatibility/2006" xmlns:m="http://schemas.openxmlformats.org/officeDocument/2006/math">
              <mc:Choice xmlns:a14="http://schemas.microsoft.com/office/drawing/2010/main" Requires="a14">
                <a14:m>
                  <m:oMathPara>
                    <m:oMathParaPr/>
                    <m:oMath>
                      <m:r>
                        <m:rPr/>
                        <a:rPr lang="en-US" i="1">
                          <a:solidFill>
                            <a:srgbClr val="70AD47"/>
                          </a:solidFill>
                          <a:latin typeface="Cambria Math"/>
                        </a:rPr>
                        <m:t>𝐵</m:t>
                      </m:r>
                    </m:oMath>
                  </m:oMathPara>
                </a14:m>
              </mc:Choice>
              <mc:Fallback/>
            </mc:AlternateContent>
            <a:r>
              <a:rPr lang="en-US">
                <a:solidFill>
                  <a:prstClr val="black"/>
                </a:solidFill>
                <a:latin typeface="Calibri"/>
              </a:rPr>
              <a:t> are the same is precisely the chance that out of the union, an element of the intersection is randomly selected to be the leftmost item.</a:t>
            </a:r>
            <a:endParaRPr/>
          </a:p>
          <a:p>
            <a:pPr>
              <a:defRPr/>
            </a:pPr>
            <a:r>
              <a:rPr lang="en-US">
                <a:solidFill>
                  <a:prstClr val="black"/>
                </a:solidFill>
                <a:latin typeface="Calibri"/>
              </a:rPr>
              <a:t>Thus, the probability that the </a:t>
            </a:r>
            <a:r>
              <a:rPr lang="en-US">
                <a:solidFill>
                  <a:prstClr val="black"/>
                </a:solidFill>
                <a:latin typeface="Calibri"/>
              </a:rPr>
              <a:t>minhashes</a:t>
            </a:r>
            <a:r>
              <a:rPr lang="en-US">
                <a:solidFill>
                  <a:prstClr val="black"/>
                </a:solidFill>
                <a:latin typeface="Calibri"/>
              </a:rPr>
              <a:t> are the same is exactly the </a:t>
            </a:r>
            <a:r>
              <a:rPr lang="en-US">
                <a:solidFill>
                  <a:prstClr val="black"/>
                </a:solidFill>
                <a:latin typeface="Calibri"/>
              </a:rPr>
              <a:t>Jaccard</a:t>
            </a:r>
            <a:r>
              <a:rPr lang="en-US">
                <a:solidFill>
                  <a:prstClr val="black"/>
                </a:solidFill>
                <a:latin typeface="Calibri"/>
              </a:rPr>
              <a:t> index,</a:t>
            </a:r>
            <a:r>
              <a:rPr lang="en-US">
                <a:solidFill>
                  <a:prstClr val="black"/>
                </a:solidFill>
                <a:latin typeface="Calibri"/>
              </a:rPr>
              <a:t> and we can estimate </a:t>
            </a:r>
            <a:r>
              <a:rPr lang="en-US">
                <a:solidFill>
                  <a:prstClr val="black"/>
                </a:solidFill>
                <a:latin typeface="Calibri"/>
              </a:rPr>
              <a:t>Jaccard</a:t>
            </a:r>
            <a:r>
              <a:rPr lang="en-US">
                <a:solidFill>
                  <a:prstClr val="black"/>
                </a:solidFill>
                <a:latin typeface="Calibri"/>
              </a:rPr>
              <a:t> from the empirical probabilities.</a:t>
            </a:r>
            <a:endParaRPr lang="en-US">
              <a:solidFill>
                <a:prstClr val="black"/>
              </a:solidFill>
              <a:latin typeface="Calibri"/>
            </a:endParaRPr>
          </a:p>
          <a:p>
            <a:pPr marL="0" lvl="0" indent="0" algn="l" defTabSz="457200">
              <a:spcBef>
                <a:spcPts val="0"/>
              </a:spcBef>
              <a:spcAft>
                <a:spcPts val="0"/>
              </a:spcAft>
              <a:buFont typeface="Arial"/>
              <a:buNone/>
              <a:defRPr/>
            </a:pPr>
            <a:r>
              <a:rPr lang="en-US">
                <a:solidFill>
                  <a:prstClr val="black"/>
                </a:solidFill>
                <a:latin typeface="Calibri"/>
              </a:rPr>
              <a:t>Per usual, by repeating this </a:t>
            </a:r>
            <mc:AlternateContent xmlns:mc="http://schemas.openxmlformats.org/markup-compatibility/2006" xmlns:m="http://schemas.openxmlformats.org/officeDocument/2006/math">
              <mc:Choice xmlns:a14="http://schemas.microsoft.com/office/drawing/2010/main" Requires="a14">
                <a14:m>
                  <m:oMathPara>
                    <m:oMathParaPr/>
                    <m:oMath>
                      <m:r>
                        <m:rPr/>
                        <a:rPr lang="en-US" i="1">
                          <a:solidFill>
                            <a:prstClr val="black"/>
                          </a:solidFill>
                          <a:latin typeface="Cambria Math"/>
                        </a:rPr>
                        <m:t>𝑘</m:t>
                      </m:r>
                    </m:oMath>
                  </m:oMathPara>
                </a14:m>
              </mc:Choice>
              <mc:Fallback/>
            </mc:AlternateContent>
            <a:r>
              <a:rPr lang="en-US">
                <a:solidFill>
                  <a:prstClr val="black"/>
                </a:solidFill>
                <a:latin typeface="Calibri"/>
              </a:rPr>
              <a:t> times, the error in the average is on the order of </a:t>
            </a:r>
            <mc:AlternateContent xmlns:mc="http://schemas.openxmlformats.org/markup-compatibility/2006" xmlns:m="http://schemas.openxmlformats.org/officeDocument/2006/math">
              <mc:Choice xmlns:a14="http://schemas.microsoft.com/office/drawing/2010/main" Requires="a14">
                <a14:m>
                  <m:oMathPara>
                    <m:oMathParaPr/>
                    <m:oMath>
                      <m:f>
                        <m:fPr>
                          <m:ctrlPr>
                            <a:rPr lang="en-US" i="1">
                              <a:solidFill>
                                <a:prstClr val="black"/>
                              </a:solidFill>
                              <a:latin typeface="Cambria Math"/>
                              <a:ea typeface="Cambria Math"/>
                              <a:cs typeface="Cambria Math"/>
                            </a:rPr>
                          </m:ctrlPr>
                        </m:fPr>
                        <m:num>
                          <m:r>
                            <m:rPr/>
                            <a:rPr lang="en-US" i="1">
                              <a:solidFill>
                                <a:prstClr val="black"/>
                              </a:solidFill>
                              <a:latin typeface="Cambria Math"/>
                            </a:rPr>
                            <m:t>1</m:t>
                          </m:r>
                        </m:num>
                        <m:den>
                          <m:rad>
                            <m:radPr>
                              <m:degHide m:val="on"/>
                              <m:ctrlPr>
                                <a:rPr lang="en-US" i="1">
                                  <a:solidFill>
                                    <a:prstClr val="black"/>
                                  </a:solidFill>
                                  <a:latin typeface="Cambria Math"/>
                                  <a:ea typeface="Cambria Math"/>
                                  <a:cs typeface="Cambria Math"/>
                                </a:rPr>
                              </m:ctrlPr>
                            </m:radPr>
                            <m:deg>
                              <m:r>
                                <m:rPr/>
                                <a:rPr>
                                  <a:latin typeface="Cambria Math"/>
                                  <a:ea typeface="Cambria Math"/>
                                  <a:cs typeface="Cambria Math"/>
                                </a:rPr>
                                <m:t/>
                              </m:r>
                            </m:deg>
                            <m:e>
                              <m:r>
                                <m:rPr/>
                                <a:rPr lang="en-US" i="1">
                                  <a:solidFill>
                                    <a:prstClr val="black"/>
                                  </a:solidFill>
                                  <a:latin typeface="Cambria Math"/>
                                </a:rPr>
                                <m:t>𝑘</m:t>
                              </m:r>
                            </m:e>
                          </m:rad>
                        </m:den>
                      </m:f>
                    </m:oMath>
                  </m:oMathPara>
                </a14:m>
              </mc:Choice>
              <mc:Fallback/>
            </mc:AlternateContent>
            <a:r>
              <a:rPr lang="en-US">
                <a:solidFill>
                  <a:prstClr val="black"/>
                </a:solidFill>
                <a:latin typeface="Calibri"/>
              </a:rPr>
              <a:t>.</a:t>
            </a:r>
            <a:endParaRPr/>
          </a:p>
        </p:txBody>
      </p:sp>
      <p:sp>
        <p:nvSpPr>
          <p:cNvPr id="200429159" name="Slide Number Placeholder 3"/>
          <p:cNvSpPr>
            <a:spLocks noGrp="1"/>
          </p:cNvSpPr>
          <p:nvPr>
            <p:ph type="sldNum" sz="quarter" idx="10"/>
          </p:nvPr>
        </p:nvSpPr>
        <p:spPr bwMode="auto"/>
        <p:txBody>
          <a:bodyPr/>
          <a:lstStyle/>
          <a:p>
            <a:pPr>
              <a:defRPr/>
            </a:pPr>
            <a:fld id="{5A0E3A12-0C57-4759-BD7E-E0D020E68623}"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4799083" name="Slide Image Placeholder 1"/>
          <p:cNvSpPr>
            <a:spLocks noChangeAspect="1" noGrp="1" noRot="1"/>
          </p:cNvSpPr>
          <p:nvPr>
            <p:ph type="sldImg"/>
          </p:nvPr>
        </p:nvSpPr>
        <p:spPr bwMode="auto"/>
      </p:sp>
      <p:sp>
        <p:nvSpPr>
          <p:cNvPr id="1183751342" name="Notes Placeholder 2"/>
          <p:cNvSpPr>
            <a:spLocks noGrp="1"/>
          </p:cNvSpPr>
          <p:nvPr>
            <p:ph type="body" idx="1"/>
          </p:nvPr>
        </p:nvSpPr>
        <p:spPr bwMode="auto"/>
        <p:txBody>
          <a:bodyPr/>
          <a:lstStyle/>
          <a:p>
            <a:pPr marL="0" lvl="0" indent="0" algn="l" defTabSz="457200">
              <a:spcBef>
                <a:spcPts val="0"/>
              </a:spcBef>
              <a:spcAft>
                <a:spcPts val="0"/>
              </a:spcAft>
              <a:buFont typeface="Arial"/>
              <a:buNone/>
              <a:defRPr/>
            </a:pPr>
            <a:r>
              <a:rPr lang="en-US">
                <a:solidFill>
                  <a:prstClr val="black"/>
                </a:solidFill>
                <a:latin typeface="Calibri"/>
              </a:rPr>
              <a:t>Permutations are hard</a:t>
            </a:r>
            <a:r>
              <a:rPr lang="en-US">
                <a:solidFill>
                  <a:prstClr val="black"/>
                </a:solidFill>
                <a:latin typeface="Calibri"/>
              </a:rPr>
              <a:t> to work with, unfortunately. So, </a:t>
            </a:r>
            <a:r>
              <a:rPr lang="en-US">
                <a:solidFill>
                  <a:prstClr val="black"/>
                </a:solidFill>
                <a:latin typeface="Calibri"/>
              </a:rPr>
              <a:t>instead of random permutations, we store random hashes.</a:t>
            </a:r>
            <a:r>
              <a:rPr lang="en-US">
                <a:solidFill>
                  <a:prstClr val="black"/>
                </a:solidFill>
                <a:latin typeface="Calibri"/>
              </a:rPr>
              <a:t> For each hash function, we’ll store the minimum values for sets A and B. Then, we just need to count the number of times those minimum values are the same between A and B to estimate Jaccard index.</a:t>
            </a:r>
            <a:endParaRPr/>
          </a:p>
          <a:p>
            <a:pPr marL="0" lvl="0" indent="0" algn="l" defTabSz="457200">
              <a:spcBef>
                <a:spcPts val="0"/>
              </a:spcBef>
              <a:spcAft>
                <a:spcPts val="0"/>
              </a:spcAft>
              <a:buFont typeface="Arial"/>
              <a:buNone/>
              <a:defRPr/>
            </a:pPr>
            <a:endParaRPr lang="en-US">
              <a:solidFill>
                <a:prstClr val="black"/>
              </a:solidFill>
              <a:latin typeface="Calibri"/>
            </a:endParaRPr>
          </a:p>
          <a:p>
            <a:pPr marL="0" lvl="0" indent="0" algn="l" defTabSz="457200">
              <a:spcBef>
                <a:spcPts val="0"/>
              </a:spcBef>
              <a:spcAft>
                <a:spcPts val="0"/>
              </a:spcAft>
              <a:buFont typeface="Arial"/>
              <a:buNone/>
              <a:defRPr/>
            </a:pPr>
            <a:r>
              <a:rPr lang="en-US"/>
              <a:t>Though we'll think of these hash functions as mapping onto the unit interval, hash functions need O(log(n)) bits to avoid collisions and approximate permutations. i.e. if you have fewer bits, then often, two objects in the set will map to the same value. In that scenario, equality of hashes no longer corresponds to equality of the hashed items, so the correspondence between hash functions and permutations breaks down.</a:t>
            </a:r>
            <a:endParaRPr/>
          </a:p>
        </p:txBody>
      </p:sp>
      <p:sp>
        <p:nvSpPr>
          <p:cNvPr id="1451827231" name="Slide Number Placeholder 3"/>
          <p:cNvSpPr>
            <a:spLocks noGrp="1"/>
          </p:cNvSpPr>
          <p:nvPr>
            <p:ph type="sldNum" sz="quarter" idx="10"/>
          </p:nvPr>
        </p:nvSpPr>
        <p:spPr bwMode="auto"/>
        <p:txBody>
          <a:bodyPr/>
          <a:lstStyle/>
          <a:p>
            <a:pPr>
              <a:defRPr/>
            </a:pPr>
            <a:fld id="{5A0E3A12-0C57-4759-BD7E-E0D020E68623}"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B063BD-6A7F-D5A6-7F6D-208C927CDC79}"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964313" name="Slide Image Placeholder 1"/>
          <p:cNvSpPr>
            <a:spLocks noChangeAspect="1" noGrp="1" noRot="1"/>
          </p:cNvSpPr>
          <p:nvPr>
            <p:ph type="sldImg"/>
          </p:nvPr>
        </p:nvSpPr>
        <p:spPr bwMode="auto"/>
      </p:sp>
      <p:sp>
        <p:nvSpPr>
          <p:cNvPr id="41497717" name="Notes Placeholder 2"/>
          <p:cNvSpPr>
            <a:spLocks noGrp="1"/>
          </p:cNvSpPr>
          <p:nvPr>
            <p:ph type="body" idx="1"/>
          </p:nvPr>
        </p:nvSpPr>
        <p:spPr bwMode="auto"/>
        <p:txBody>
          <a:bodyPr/>
          <a:lstStyle/>
          <a:p>
            <a:pPr>
              <a:defRPr/>
            </a:pPr>
            <a:r>
              <a:rPr lang="en-US"/>
              <a:t>There are of course other measures of genomic similarity.</a:t>
            </a:r>
            <a:endParaRPr/>
          </a:p>
          <a:p>
            <a:pPr>
              <a:defRPr/>
            </a:pPr>
            <a:endParaRPr lang="en-US"/>
          </a:p>
          <a:p>
            <a:pPr>
              <a:defRPr/>
            </a:pPr>
            <a:r>
              <a:rPr lang="en-US"/>
              <a:t>For example, ANI is defined via % nucleotide shared for orthologous regions (originally the coding regions of orthologous genes).</a:t>
            </a:r>
            <a:endParaRPr/>
          </a:p>
          <a:p>
            <a:pPr>
              <a:defRPr/>
            </a:pPr>
            <a:endParaRPr lang="en-US"/>
          </a:p>
          <a:p>
            <a:pPr>
              <a:defRPr/>
            </a:pPr>
            <a:r>
              <a:rPr lang="en-US"/>
              <a:t>95% ANI seemed to correspond to the 70% DNA-DNA hybridization cut-off value used for species delineations.</a:t>
            </a:r>
            <a:endParaRPr/>
          </a:p>
        </p:txBody>
      </p:sp>
      <p:sp>
        <p:nvSpPr>
          <p:cNvPr id="1276769765" name="Slide Number Placeholder 3"/>
          <p:cNvSpPr>
            <a:spLocks noGrp="1"/>
          </p:cNvSpPr>
          <p:nvPr>
            <p:ph type="sldNum" sz="quarter" idx="5"/>
          </p:nvPr>
        </p:nvSpPr>
        <p:spPr bwMode="auto"/>
        <p:txBody>
          <a:bodyPr/>
          <a:lstStyle/>
          <a:p>
            <a:pPr>
              <a:defRPr/>
            </a:pPr>
            <a:fld id="{72465BC6-9D09-4FC5-9CE2-1E6A3353C20F}"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7A1089C-38DA-1F72-D59D-F2513B15E771}"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B52CD0E-ABAB-54D2-ED86-59A5026E47E0}"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DD9C38-3CFC-7D84-A475-F80DCD3129B0}"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B04B85C-41C4-07D9-6D2E-6EC4629EA9B3}"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04092C2-2913-401D-A7A7-C36122252383}"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9830171" name="Slide Image Placeholder 1"/>
          <p:cNvSpPr>
            <a:spLocks noChangeAspect="1" noGrp="1" noRot="1"/>
          </p:cNvSpPr>
          <p:nvPr>
            <p:ph type="sldImg"/>
          </p:nvPr>
        </p:nvSpPr>
        <p:spPr bwMode="auto"/>
      </p:sp>
      <p:sp>
        <p:nvSpPr>
          <p:cNvPr id="914111276" name="Notes Placeholder 2"/>
          <p:cNvSpPr>
            <a:spLocks noGrp="1"/>
          </p:cNvSpPr>
          <p:nvPr>
            <p:ph type="body" idx="1"/>
          </p:nvPr>
        </p:nvSpPr>
        <p:spPr bwMode="auto"/>
        <p:txBody>
          <a:bodyPr/>
          <a:lstStyle/>
          <a:p>
            <a:pPr>
              <a:defRPr/>
            </a:pPr>
            <a:r>
              <a:rPr lang="en-US"/>
              <a:t>ANI measures nucleotide-level genomic similarity between two genomes by looking at nucleotide overlap in orthologous genes. Generally used for bacterial genomes, and correlated with earlier DNA-DNA hybridization studies.</a:t>
            </a:r>
            <a:endParaRPr/>
          </a:p>
          <a:p>
            <a:pPr>
              <a:defRPr/>
            </a:pPr>
            <a:r>
              <a:rPr lang="en-US"/>
              <a:t>ANI can be computed by alignment, such as the BLAST-based (Ortho)</a:t>
            </a:r>
            <a:r>
              <a:rPr lang="en-US"/>
              <a:t>ANIu</a:t>
            </a:r>
            <a:r>
              <a:rPr lang="en-US"/>
              <a:t>, or the Mummer-based </a:t>
            </a:r>
            <a:r>
              <a:rPr lang="en-US"/>
              <a:t>ANIm.</a:t>
            </a:r>
            <a:r>
              <a:rPr lang="en-US"/>
              <a:t> Typically, chunks of a genome are aligned, and then percent of nucleotide identity computed on orthologous chunks.</a:t>
            </a:r>
            <a:endParaRPr/>
          </a:p>
          <a:p>
            <a:pPr>
              <a:defRPr/>
            </a:pPr>
            <a:r>
              <a:rPr lang="en-US"/>
              <a:t>Mash [</a:t>
            </a:r>
            <a:r>
              <a:rPr lang="en-US"/>
              <a:t>Ondov</a:t>
            </a:r>
            <a:r>
              <a:rPr lang="en-US"/>
              <a:t> et al, 2016, Genome Biology] computes a Jaccard similarity between k-</a:t>
            </a:r>
            <a:r>
              <a:rPr lang="en-US"/>
              <a:t>mer</a:t>
            </a:r>
            <a:r>
              <a:rPr lang="en-US"/>
              <a:t> sets using </a:t>
            </a:r>
            <a:r>
              <a:rPr lang="en-US"/>
              <a:t>MinHash</a:t>
            </a:r>
            <a:r>
              <a:rPr lang="en-US"/>
              <a:t>, which can be correlated with ANI, but omits restrictions to aligned fraction.</a:t>
            </a:r>
            <a:endParaRPr/>
          </a:p>
          <a:p>
            <a:pPr>
              <a:defRPr/>
            </a:pPr>
            <a:r>
              <a:rPr lang="en-US"/>
              <a:t>FastANI</a:t>
            </a:r>
            <a:r>
              <a:rPr lang="en-US"/>
              <a:t> [C Jain et al, 2018, </a:t>
            </a:r>
            <a:r>
              <a:rPr lang="en-US"/>
              <a:t>NComms</a:t>
            </a:r>
            <a:r>
              <a:rPr lang="en-US"/>
              <a:t>] is based off </a:t>
            </a:r>
            <a:r>
              <a:rPr lang="en-US"/>
              <a:t>Mashmap</a:t>
            </a:r>
            <a:r>
              <a:rPr lang="en-US"/>
              <a:t> [M Jain et al, 2018, </a:t>
            </a:r>
            <a:r>
              <a:rPr lang="en-US"/>
              <a:t>Nbiotech</a:t>
            </a:r>
            <a:r>
              <a:rPr lang="en-US"/>
              <a:t>] and uses approximate sequence mapping to get orthologous regions before computing nucleotide identity via sketching minimizers.</a:t>
            </a:r>
            <a:endParaRPr/>
          </a:p>
          <a:p>
            <a:pPr>
              <a:defRPr/>
            </a:pPr>
            <a:endParaRPr lang="en-US"/>
          </a:p>
        </p:txBody>
      </p:sp>
      <p:sp>
        <p:nvSpPr>
          <p:cNvPr id="1999389275" name="Slide Number Placeholder 3"/>
          <p:cNvSpPr>
            <a:spLocks noGrp="1"/>
          </p:cNvSpPr>
          <p:nvPr>
            <p:ph type="sldNum" sz="quarter" idx="5"/>
          </p:nvPr>
        </p:nvSpPr>
        <p:spPr bwMode="auto"/>
        <p:txBody>
          <a:bodyPr/>
          <a:lstStyle/>
          <a:p>
            <a:pPr>
              <a:defRPr/>
            </a:pPr>
            <a:fld id="{72465BC6-9D09-4FC5-9CE2-1E6A3353C20F}"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033FB61-9D36-6DFB-51AD-849680F9C292}"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5E0780F-0DF1-4596-1883-27BFDB412939}"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A877D58-292C-91C6-EAF7-F820D1F79F48}"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1590257" name="Slide Image Placeholder 1"/>
          <p:cNvSpPr>
            <a:spLocks noChangeAspect="1" noGrp="1" noRot="1"/>
          </p:cNvSpPr>
          <p:nvPr>
            <p:ph type="sldImg"/>
          </p:nvPr>
        </p:nvSpPr>
        <p:spPr bwMode="auto"/>
      </p:sp>
      <p:sp>
        <p:nvSpPr>
          <p:cNvPr id="434826196" name="Notes Placeholder 2"/>
          <p:cNvSpPr>
            <a:spLocks noGrp="1"/>
          </p:cNvSpPr>
          <p:nvPr>
            <p:ph type="body" idx="1"/>
          </p:nvPr>
        </p:nvSpPr>
        <p:spPr bwMode="auto"/>
        <p:txBody>
          <a:bodyPr/>
          <a:lstStyle/>
          <a:p>
            <a:pPr>
              <a:defRPr/>
            </a:pPr>
            <a:r>
              <a:rPr lang="en-US"/>
              <a:t>Some parameters</a:t>
            </a:r>
            <a:endParaRPr/>
          </a:p>
          <a:p>
            <a:pPr>
              <a:defRPr/>
            </a:pPr>
            <a:r>
              <a:rPr lang="en-US"/>
              <a:t>- Better scoring genome (total sequence length times mean contig length) used as reference.</a:t>
            </a:r>
            <a:endParaRPr/>
          </a:p>
          <a:p>
            <a:pPr>
              <a:defRPr/>
            </a:pPr>
            <a:r>
              <a:rPr lang="en-US"/>
              <a:t>- Initial screening via max-containment index on </a:t>
            </a:r>
            <a:r>
              <a:rPr lang="en-US"/>
              <a:t>FracMinHash</a:t>
            </a:r>
            <a:r>
              <a:rPr lang="en-US"/>
              <a:t> marker l-</a:t>
            </a:r>
            <a:r>
              <a:rPr lang="en-US"/>
              <a:t>mers</a:t>
            </a:r>
            <a:r>
              <a:rPr lang="en-US"/>
              <a:t>, for l=21 and density 1/1000.</a:t>
            </a:r>
            <a:endParaRPr/>
          </a:p>
          <a:p>
            <a:pPr>
              <a:defRPr/>
            </a:pPr>
            <a:r>
              <a:rPr lang="en-US"/>
              <a:t>- Sparse </a:t>
            </a:r>
            <a:r>
              <a:rPr lang="en-US"/>
              <a:t>FracMinHash</a:t>
            </a:r>
            <a:r>
              <a:rPr lang="en-US"/>
              <a:t> k-</a:t>
            </a:r>
            <a:r>
              <a:rPr lang="en-US"/>
              <a:t>mer</a:t>
            </a:r>
            <a:r>
              <a:rPr lang="en-US"/>
              <a:t> seed with k=15 and density 1/c, for c=125 by default, omitting top seeds that occur more than 2500/c times</a:t>
            </a:r>
            <a:endParaRPr/>
          </a:p>
          <a:p>
            <a:pPr>
              <a:defRPr/>
            </a:pPr>
            <a:r>
              <a:rPr lang="en-US"/>
              <a:t>- Final ANI estimation using  a gradient boosted regression tree to debias the average from chains. Five features used are </a:t>
            </a:r>
            <a:r>
              <a:rPr lang="en-US"/>
              <a:t>skani’s</a:t>
            </a:r>
            <a:r>
              <a:rPr lang="en-US"/>
              <a:t> average and standard deviation on chain ANIs, the 90</a:t>
            </a:r>
            <a:r>
              <a:rPr lang="en-US" baseline="30000"/>
              <a:t>th</a:t>
            </a:r>
            <a:r>
              <a:rPr lang="en-US"/>
              <a:t> percentile contig lengths, and the average k-</a:t>
            </a:r>
            <a:r>
              <a:rPr lang="en-US"/>
              <a:t>mer</a:t>
            </a:r>
            <a:r>
              <a:rPr lang="en-US"/>
              <a:t> chain length. Training was on disjoint set of MAGs than benchmarks.</a:t>
            </a:r>
            <a:endParaRPr/>
          </a:p>
          <a:p>
            <a:pPr>
              <a:defRPr/>
            </a:pPr>
            <a:endParaRPr lang="en-US"/>
          </a:p>
          <a:p>
            <a:pPr marL="0" marR="0" lvl="0" indent="0" algn="l" defTabSz="914400" rtl="0">
              <a:lnSpc>
                <a:spcPct val="100000"/>
              </a:lnSpc>
              <a:spcBef>
                <a:spcPts val="0"/>
              </a:spcBef>
              <a:spcAft>
                <a:spcPts val="0"/>
              </a:spcAft>
              <a:buClrTx/>
              <a:buSzTx/>
              <a:buFontTx/>
              <a:buNone/>
              <a:defRPr/>
            </a:pPr>
            <a:r>
              <a:rPr lang="en-US"/>
              <a:t>Roughly speaking, ANI can be estimated by the number of matching k-</a:t>
            </a:r>
            <a:r>
              <a:rPr lang="en-US"/>
              <a:t>mers</a:t>
            </a:r>
            <a:r>
              <a:rPr lang="en-US"/>
              <a:t>, because each otherwise matching k-</a:t>
            </a:r>
            <a:r>
              <a:rPr lang="en-US"/>
              <a:t>mer</a:t>
            </a:r>
            <a:r>
              <a:rPr lang="en-US"/>
              <a:t> has k chances of becoming non-matching due to mutation.</a:t>
            </a:r>
            <a:endParaRPr/>
          </a:p>
        </p:txBody>
      </p:sp>
      <p:sp>
        <p:nvSpPr>
          <p:cNvPr id="1979294796" name="Slide Number Placeholder 3"/>
          <p:cNvSpPr>
            <a:spLocks noGrp="1"/>
          </p:cNvSpPr>
          <p:nvPr>
            <p:ph type="sldNum" sz="quarter" idx="5"/>
          </p:nvPr>
        </p:nvSpPr>
        <p:spPr bwMode="auto"/>
        <p:txBody>
          <a:bodyPr/>
          <a:lstStyle/>
          <a:p>
            <a:pPr>
              <a:defRPr/>
            </a:pPr>
            <a:fld id="{72465BC6-9D09-4FC5-9CE2-1E6A3353C20F}"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739596-7DFC-1218-291C-DA7D6DBBA2F1}"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9034242-B1A5-EAFC-EC37-6781CD41BCDF}"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F52F67D-043F-051C-0828-B5AEBCA24CA3}"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9117ED4-C284-F12C-E062-4E00E25A6C69}"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F475D1-E0AA-53A2-EBB0-43CDF8E72289}"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91D6925-A465-B1A7-CB49-7979AE51B0F6}"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5A5DDBD-BD7E-B4FF-4401-7C1F039D5C5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7150349" name="Slide Image Placeholder 1"/>
          <p:cNvSpPr>
            <a:spLocks noChangeAspect="1" noGrp="1" noRot="1"/>
          </p:cNvSpPr>
          <p:nvPr>
            <p:ph type="sldImg"/>
          </p:nvPr>
        </p:nvSpPr>
        <p:spPr bwMode="auto"/>
      </p:sp>
      <p:sp>
        <p:nvSpPr>
          <p:cNvPr id="246438908" name="Notes Placeholder 2"/>
          <p:cNvSpPr>
            <a:spLocks noGrp="1"/>
          </p:cNvSpPr>
          <p:nvPr>
            <p:ph type="body" idx="1"/>
          </p:nvPr>
        </p:nvSpPr>
        <p:spPr bwMode="auto"/>
        <p:txBody>
          <a:bodyPr/>
          <a:lstStyle/>
          <a:p>
            <a:pPr>
              <a:defRPr/>
            </a:pPr>
            <a:r>
              <a:rPr lang="en-US"/>
              <a:t>Many subproblems, such as the binning problem of first figuring out which genome the read came from, understanding the bacterial composition of the source, etc.</a:t>
            </a:r>
            <a:endParaRPr/>
          </a:p>
        </p:txBody>
      </p:sp>
      <p:sp>
        <p:nvSpPr>
          <p:cNvPr id="157159537" name="Slide Number Placeholder 3"/>
          <p:cNvSpPr>
            <a:spLocks noGrp="1"/>
          </p:cNvSpPr>
          <p:nvPr>
            <p:ph type="sldNum" sz="quarter" idx="5"/>
          </p:nvPr>
        </p:nvSpPr>
        <p:spPr bwMode="auto"/>
        <p:txBody>
          <a:bodyPr/>
          <a:lstStyle/>
          <a:p>
            <a:pPr>
              <a:defRPr/>
            </a:pPr>
            <a:fld id="{72465BC6-9D09-4FC5-9CE2-1E6A3353C20F}"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7993600" name="Slide Image Placeholder 1"/>
          <p:cNvSpPr>
            <a:spLocks noChangeAspect="1" noGrp="1" noRot="1"/>
          </p:cNvSpPr>
          <p:nvPr>
            <p:ph type="sldImg"/>
          </p:nvPr>
        </p:nvSpPr>
        <p:spPr bwMode="auto"/>
      </p:sp>
      <p:sp>
        <p:nvSpPr>
          <p:cNvPr id="655382089" name="Notes Placeholder 2"/>
          <p:cNvSpPr>
            <a:spLocks noGrp="1"/>
          </p:cNvSpPr>
          <p:nvPr>
            <p:ph type="body" idx="1"/>
          </p:nvPr>
        </p:nvSpPr>
        <p:spPr bwMode="auto"/>
        <p:txBody>
          <a:bodyPr/>
          <a:lstStyle/>
          <a:p>
            <a:pPr>
              <a:defRPr/>
            </a:pPr>
            <a:r>
              <a:rPr lang="en-US"/>
              <a:t>Note that instead of using the Jaccard index, which we used for pairs of genomes, we use containment index instead, to ask what fraction of my query is in the community.</a:t>
            </a:r>
            <a:endParaRPr/>
          </a:p>
          <a:p>
            <a:pPr>
              <a:defRPr/>
            </a:pPr>
            <a:endParaRPr lang="en-US"/>
          </a:p>
          <a:p>
            <a:pPr marL="0" marR="0" lvl="0" indent="0" algn="l" defTabSz="914400" rtl="0">
              <a:lnSpc>
                <a:spcPct val="100000"/>
              </a:lnSpc>
              <a:spcBef>
                <a:spcPts val="0"/>
              </a:spcBef>
              <a:spcAft>
                <a:spcPts val="0"/>
              </a:spcAft>
              <a:buClrTx/>
              <a:buSzTx/>
              <a:buFontTx/>
              <a:buNone/>
              <a:defRPr/>
            </a:pPr>
            <a:r>
              <a:rPr lang="en-US"/>
              <a:t>Roughly speaking, ANI can be estimated by the number of matching k-</a:t>
            </a:r>
            <a:r>
              <a:rPr lang="en-US"/>
              <a:t>mers</a:t>
            </a:r>
            <a:r>
              <a:rPr lang="en-US"/>
              <a:t>, because each otherwise matching k-</a:t>
            </a:r>
            <a:r>
              <a:rPr lang="en-US"/>
              <a:t>mer</a:t>
            </a:r>
            <a:r>
              <a:rPr lang="en-US"/>
              <a:t> has k chances of becoming non-matching due to mutation.</a:t>
            </a:r>
            <a:endParaRPr/>
          </a:p>
          <a:p>
            <a:pPr marL="0" marR="0" lvl="0" indent="0" algn="l" defTabSz="914400" rtl="0">
              <a:lnSpc>
                <a:spcPct val="100000"/>
              </a:lnSpc>
              <a:spcBef>
                <a:spcPts val="0"/>
              </a:spcBef>
              <a:spcAft>
                <a:spcPts val="0"/>
              </a:spcAft>
              <a:buClrTx/>
              <a:buSzTx/>
              <a:buFontTx/>
              <a:buNone/>
              <a:defRPr/>
            </a:pPr>
            <a:endParaRPr lang="en-US"/>
          </a:p>
          <a:p>
            <a:pPr marL="0" marR="0" lvl="0" indent="0" algn="l" defTabSz="914400" rtl="0">
              <a:lnSpc>
                <a:spcPct val="100000"/>
              </a:lnSpc>
              <a:spcBef>
                <a:spcPts val="0"/>
              </a:spcBef>
              <a:spcAft>
                <a:spcPts val="0"/>
              </a:spcAft>
              <a:buClrTx/>
              <a:buSzTx/>
              <a:buFontTx/>
              <a:buNone/>
              <a:defRPr/>
            </a:pPr>
            <a:r>
              <a:rPr lang="en-US"/>
              <a:t>Note that k must be large enough that we assume that if the query genome is not present, then very few of its k-</a:t>
            </a:r>
            <a:r>
              <a:rPr lang="en-US"/>
              <a:t>mers</a:t>
            </a:r>
            <a:r>
              <a:rPr lang="en-US"/>
              <a:t> will be present in the community, which of course only works if the query is sufficiently different from other genomes in the community.</a:t>
            </a:r>
            <a:endParaRPr/>
          </a:p>
        </p:txBody>
      </p:sp>
      <p:sp>
        <p:nvSpPr>
          <p:cNvPr id="1229096466" name="Slide Number Placeholder 3"/>
          <p:cNvSpPr>
            <a:spLocks noGrp="1"/>
          </p:cNvSpPr>
          <p:nvPr>
            <p:ph type="sldNum" sz="quarter" idx="5"/>
          </p:nvPr>
        </p:nvSpPr>
        <p:spPr bwMode="auto"/>
        <p:txBody>
          <a:bodyPr/>
          <a:lstStyle/>
          <a:p>
            <a:pPr>
              <a:defRPr/>
            </a:pPr>
            <a:fld id="{72465BC6-9D09-4FC5-9CE2-1E6A3353C20F}"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244A8B4-B5EE-0B03-BFDC-CBAE946EC1B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C0B7D52-560D-72C5-FDAC-451E3A66D1DB}"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2097152" name="Slide Image Placeholder 1"/>
          <p:cNvSpPr>
            <a:spLocks noChangeAspect="1" noGrp="1" noRot="1"/>
          </p:cNvSpPr>
          <p:nvPr>
            <p:ph type="sldImg"/>
          </p:nvPr>
        </p:nvSpPr>
        <p:spPr bwMode="auto"/>
      </p:sp>
      <p:sp>
        <p:nvSpPr>
          <p:cNvPr id="249225226"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b="0" i="0" u="none" strike="noStrike">
                <a:solidFill>
                  <a:srgbClr val="000000"/>
                </a:solidFill>
                <a:latin typeface="Arial"/>
              </a:rPr>
              <a:t>Querying a genome against simulated reads at low coverages</a:t>
            </a:r>
            <a:endParaRPr lang="en-US"/>
          </a:p>
          <a:p>
            <a:pPr>
              <a:defRPr/>
            </a:pPr>
            <a:endParaRPr lang="en-US"/>
          </a:p>
        </p:txBody>
      </p:sp>
      <p:sp>
        <p:nvSpPr>
          <p:cNvPr id="1486339095" name="Slide Number Placeholder 3"/>
          <p:cNvSpPr>
            <a:spLocks noGrp="1"/>
          </p:cNvSpPr>
          <p:nvPr>
            <p:ph type="sldNum" sz="quarter" idx="5"/>
          </p:nvPr>
        </p:nvSpPr>
        <p:spPr bwMode="auto"/>
        <p:txBody>
          <a:bodyPr/>
          <a:lstStyle/>
          <a:p>
            <a:pPr>
              <a:defRPr/>
            </a:pPr>
            <a:fld id="{72465BC6-9D09-4FC5-9CE2-1E6A3353C20F}"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18FD61-8434-8F20-F718-AD884CCB7E35}"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AE859CF-9AD4-B2E2-1396-37EF1CE45F87}"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8542032" name="Slide Image Placeholder 1"/>
          <p:cNvSpPr>
            <a:spLocks noChangeAspect="1" noGrp="1" noRot="1"/>
          </p:cNvSpPr>
          <p:nvPr>
            <p:ph type="sldImg"/>
          </p:nvPr>
        </p:nvSpPr>
        <p:spPr bwMode="auto"/>
      </p:sp>
      <p:sp>
        <p:nvSpPr>
          <p:cNvPr id="1193370535" name="Notes Placeholder 2"/>
          <p:cNvSpPr>
            <a:spLocks noGrp="1"/>
          </p:cNvSpPr>
          <p:nvPr>
            <p:ph type="body" idx="1"/>
          </p:nvPr>
        </p:nvSpPr>
        <p:spPr bwMode="auto"/>
        <p:txBody>
          <a:bodyPr/>
          <a:lstStyle/>
          <a:p>
            <a:pPr>
              <a:defRPr/>
            </a:pPr>
            <a:r>
              <a:rPr lang="en-US"/>
              <a:t>Mash screen (</a:t>
            </a:r>
            <a:r>
              <a:rPr lang="en-US"/>
              <a:t>Ondov</a:t>
            </a:r>
            <a:r>
              <a:rPr lang="en-US"/>
              <a:t> et al. 2019) uses the naive containment ANI </a:t>
            </a:r>
            <a:endParaRPr/>
          </a:p>
          <a:p>
            <a:pPr>
              <a:defRPr/>
            </a:pPr>
            <a:r>
              <a:rPr lang="en-US"/>
              <a:t>MetaPhlAn4 (Blanco-</a:t>
            </a:r>
            <a:r>
              <a:rPr lang="en-US"/>
              <a:t>Miguez</a:t>
            </a:r>
            <a:r>
              <a:rPr lang="en-US"/>
              <a:t> et al. 2023) aligns all reads to bacterial database</a:t>
            </a:r>
            <a:endParaRPr/>
          </a:p>
          <a:p>
            <a:pPr>
              <a:defRPr/>
            </a:pPr>
            <a:endParaRPr lang="en-US"/>
          </a:p>
          <a:p>
            <a:pPr algn="l">
              <a:defRPr/>
            </a:pPr>
            <a:r>
              <a:rPr lang="en-US" b="0" i="0">
                <a:solidFill>
                  <a:srgbClr val="1D1C1D"/>
                </a:solidFill>
                <a:latin typeface="Slack-Lato"/>
              </a:rPr>
              <a:t>Background: a) is 50 genomes with 95-97.5 % ANI to the reference database. 150 genomes are not present at species level. Results are considered only 50 present genomes except for the last column, which considers genus level abundance. b),c) have all 200 genomes within 95-100% ANI to the reference database</a:t>
            </a:r>
            <a:endParaRPr/>
          </a:p>
          <a:p>
            <a:pPr algn="l">
              <a:defRPr/>
            </a:pPr>
            <a:r>
              <a:rPr lang="en-US" b="0" i="0">
                <a:solidFill>
                  <a:srgbClr val="1D1C1D"/>
                </a:solidFill>
                <a:latin typeface="Slack-Lato"/>
              </a:rPr>
              <a:t>4th column: l1 abundance distance only for present species</a:t>
            </a:r>
            <a:endParaRPr/>
          </a:p>
          <a:p>
            <a:pPr algn="l">
              <a:defRPr/>
            </a:pPr>
            <a:r>
              <a:rPr lang="en-US" b="0" i="0">
                <a:solidFill>
                  <a:srgbClr val="1D1C1D"/>
                </a:solidFill>
                <a:latin typeface="Slack-Lato"/>
              </a:rPr>
              <a:t>So not considering 150 holdouts in a)</a:t>
            </a:r>
            <a:endParaRPr/>
          </a:p>
          <a:p>
            <a:pPr algn="l">
              <a:defRPr/>
            </a:pPr>
            <a:r>
              <a:rPr lang="en-US" b="0" i="0">
                <a:solidFill>
                  <a:srgbClr val="1D1C1D"/>
                </a:solidFill>
                <a:latin typeface="Slack-Lato"/>
              </a:rPr>
              <a:t>Metaphlan</a:t>
            </a:r>
            <a:r>
              <a:rPr lang="en-US" b="0" i="0">
                <a:solidFill>
                  <a:srgbClr val="1D1C1D"/>
                </a:solidFill>
                <a:latin typeface="Slack-Lato"/>
              </a:rPr>
              <a:t> has a star because you can't build your own </a:t>
            </a:r>
            <a:r>
              <a:rPr lang="en-US" b="0" i="0">
                <a:solidFill>
                  <a:srgbClr val="1D1C1D"/>
                </a:solidFill>
                <a:latin typeface="Slack-Lato"/>
              </a:rPr>
              <a:t>metaphlan</a:t>
            </a:r>
            <a:r>
              <a:rPr lang="en-US" b="0" i="0">
                <a:solidFill>
                  <a:srgbClr val="1D1C1D"/>
                </a:solidFill>
                <a:latin typeface="Slack-Lato"/>
              </a:rPr>
              <a:t> database. but all genomes are in an old version of </a:t>
            </a:r>
            <a:r>
              <a:rPr lang="en-US" b="0" i="0">
                <a:solidFill>
                  <a:srgbClr val="1D1C1D"/>
                </a:solidFill>
                <a:latin typeface="Slack-Lato"/>
              </a:rPr>
              <a:t>gtdb</a:t>
            </a:r>
            <a:r>
              <a:rPr lang="en-US" b="0" i="0">
                <a:solidFill>
                  <a:srgbClr val="1D1C1D"/>
                </a:solidFill>
                <a:latin typeface="Slack-Lato"/>
              </a:rPr>
              <a:t>, which </a:t>
            </a:r>
            <a:r>
              <a:rPr lang="en-US" b="0" i="0">
                <a:solidFill>
                  <a:srgbClr val="1D1C1D"/>
                </a:solidFill>
                <a:latin typeface="Slack-Lato"/>
              </a:rPr>
              <a:t>metaphlan</a:t>
            </a:r>
            <a:r>
              <a:rPr lang="en-US" b="0" i="0">
                <a:solidFill>
                  <a:srgbClr val="1D1C1D"/>
                </a:solidFill>
                <a:latin typeface="Slack-Lato"/>
              </a:rPr>
              <a:t> should contain since </a:t>
            </a:r>
            <a:r>
              <a:rPr lang="en-US" b="0" i="0">
                <a:solidFill>
                  <a:srgbClr val="1D1C1D"/>
                </a:solidFill>
                <a:latin typeface="Slack-Lato"/>
              </a:rPr>
              <a:t>metaphlan</a:t>
            </a:r>
            <a:r>
              <a:rPr lang="en-US" b="0" i="0">
                <a:solidFill>
                  <a:srgbClr val="1D1C1D"/>
                </a:solidFill>
                <a:latin typeface="Slack-Lato"/>
              </a:rPr>
              <a:t> has correspondences to new version of </a:t>
            </a:r>
            <a:r>
              <a:rPr lang="en-US" b="0" i="0">
                <a:solidFill>
                  <a:srgbClr val="1D1C1D"/>
                </a:solidFill>
                <a:latin typeface="Slack-Lato"/>
              </a:rPr>
              <a:t>gtdb</a:t>
            </a:r>
            <a:r>
              <a:rPr lang="en-US" b="0" i="0">
                <a:solidFill>
                  <a:srgbClr val="1D1C1D"/>
                </a:solidFill>
                <a:latin typeface="Slack-Lato"/>
              </a:rPr>
              <a:t>. Nevertheless, the 95-97.5% ANI or 97.5-100% doesn't make sense for </a:t>
            </a:r>
            <a:r>
              <a:rPr lang="en-US" b="0" i="0">
                <a:solidFill>
                  <a:srgbClr val="1D1C1D"/>
                </a:solidFill>
                <a:latin typeface="Slack-Lato"/>
              </a:rPr>
              <a:t>metaphlan</a:t>
            </a:r>
            <a:r>
              <a:rPr lang="en-US" b="0" i="0">
                <a:solidFill>
                  <a:srgbClr val="1D1C1D"/>
                </a:solidFill>
                <a:latin typeface="Slack-Lato"/>
              </a:rPr>
              <a:t> since it is using a different database</a:t>
            </a:r>
            <a:endParaRPr/>
          </a:p>
          <a:p>
            <a:pPr algn="l">
              <a:defRPr/>
            </a:pPr>
            <a:r>
              <a:rPr lang="en-US" b="0" i="0">
                <a:solidFill>
                  <a:srgbClr val="1D1C1D"/>
                </a:solidFill>
                <a:latin typeface="Slack-Lato"/>
              </a:rPr>
              <a:t>Note that row a) does not contain </a:t>
            </a:r>
            <a:r>
              <a:rPr lang="en-US" b="0" i="0">
                <a:solidFill>
                  <a:srgbClr val="1D1C1D"/>
                </a:solidFill>
                <a:latin typeface="Slack-Lato"/>
              </a:rPr>
              <a:t>metaphlan</a:t>
            </a:r>
            <a:r>
              <a:rPr lang="en-US" b="0" i="0">
                <a:solidFill>
                  <a:srgbClr val="1D1C1D"/>
                </a:solidFill>
                <a:latin typeface="Slack-Lato"/>
              </a:rPr>
              <a:t>. This is because we can't do holdout</a:t>
            </a:r>
            <a:br>
              <a:rPr lang="en-US" b="0" i="0">
                <a:solidFill>
                  <a:srgbClr val="1D1C1D"/>
                </a:solidFill>
                <a:latin typeface="Slack-Lato"/>
              </a:rPr>
            </a:br>
            <a:r>
              <a:rPr lang="en-US" b="0" i="0">
                <a:solidFill>
                  <a:srgbClr val="1D1C1D"/>
                </a:solidFill>
                <a:latin typeface="Slack-Lato"/>
              </a:rPr>
              <a:t>s for </a:t>
            </a:r>
            <a:r>
              <a:rPr lang="en-US" b="0" i="0">
                <a:solidFill>
                  <a:srgbClr val="1D1C1D"/>
                </a:solidFill>
                <a:latin typeface="Slack-Lato"/>
              </a:rPr>
              <a:t>metaphlan</a:t>
            </a:r>
            <a:r>
              <a:rPr lang="en-US" b="0" i="0">
                <a:solidFill>
                  <a:srgbClr val="1D1C1D"/>
                </a:solidFill>
                <a:latin typeface="Slack-Lato"/>
              </a:rPr>
              <a:t> as it uses a different database.</a:t>
            </a:r>
            <a:endParaRPr/>
          </a:p>
          <a:p>
            <a:pPr>
              <a:defRPr/>
            </a:pPr>
            <a:endParaRPr lang="en-US"/>
          </a:p>
        </p:txBody>
      </p:sp>
      <p:sp>
        <p:nvSpPr>
          <p:cNvPr id="577850032" name="Slide Number Placeholder 3"/>
          <p:cNvSpPr>
            <a:spLocks noGrp="1"/>
          </p:cNvSpPr>
          <p:nvPr>
            <p:ph type="sldNum" sz="quarter" idx="5"/>
          </p:nvPr>
        </p:nvSpPr>
        <p:spPr bwMode="auto"/>
        <p:txBody>
          <a:bodyPr/>
          <a:lstStyle/>
          <a:p>
            <a:pPr>
              <a:defRPr/>
            </a:pPr>
            <a:fld id="{72465BC6-9D09-4FC5-9CE2-1E6A3353C20F}"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8284498" name="Slide Image Placeholder 1"/>
          <p:cNvSpPr>
            <a:spLocks noChangeAspect="1" noGrp="1" noRot="1"/>
          </p:cNvSpPr>
          <p:nvPr>
            <p:ph type="sldImg"/>
          </p:nvPr>
        </p:nvSpPr>
        <p:spPr bwMode="auto"/>
      </p:sp>
      <p:sp>
        <p:nvSpPr>
          <p:cNvPr id="1703704319" name="Notes Placeholder 2"/>
          <p:cNvSpPr>
            <a:spLocks noGrp="1"/>
          </p:cNvSpPr>
          <p:nvPr>
            <p:ph type="body" idx="1"/>
          </p:nvPr>
        </p:nvSpPr>
        <p:spPr bwMode="auto"/>
        <p:txBody>
          <a:bodyPr/>
          <a:lstStyle/>
          <a:p>
            <a:pPr>
              <a:defRPr/>
            </a:pPr>
            <a:r>
              <a:rPr lang="en-US" b="0" i="0">
                <a:solidFill>
                  <a:srgbClr val="1D1C1D"/>
                </a:solidFill>
                <a:latin typeface="Slack-Lato"/>
              </a:rPr>
              <a:t>This is a real result: I tested a bunch of different real microbiomes for GTDB-R214 (85000 prokaryotes) and IMG/VR4(5 million viral genomes) versus </a:t>
            </a:r>
            <a:r>
              <a:rPr lang="en-US" b="0" i="0">
                <a:solidFill>
                  <a:srgbClr val="1D1C1D"/>
                </a:solidFill>
                <a:latin typeface="Slack-Lato"/>
              </a:rPr>
              <a:t>RefSeq</a:t>
            </a:r>
            <a:r>
              <a:rPr lang="en-US" b="0" i="0">
                <a:solidFill>
                  <a:srgbClr val="1D1C1D"/>
                </a:solidFill>
                <a:latin typeface="Slack-Lato"/>
              </a:rPr>
              <a:t> (~17,500 prokaryotes, 15k viruses). Sylph can take advantage of very large databases and detect more stuff. Kraken would take &gt;300 GB RAM for this data set with default params. Sylph takes about 20 GB</a:t>
            </a:r>
            <a:r>
              <a:rPr lang="en-US" b="0" i="0">
                <a:latin typeface="Slack-Lato"/>
              </a:rPr>
              <a:t> (edited)</a:t>
            </a:r>
            <a:endParaRPr lang="en-US"/>
          </a:p>
        </p:txBody>
      </p:sp>
      <p:sp>
        <p:nvSpPr>
          <p:cNvPr id="1851074439" name="Slide Number Placeholder 3"/>
          <p:cNvSpPr>
            <a:spLocks noGrp="1"/>
          </p:cNvSpPr>
          <p:nvPr>
            <p:ph type="sldNum" sz="quarter" idx="5"/>
          </p:nvPr>
        </p:nvSpPr>
        <p:spPr bwMode="auto"/>
        <p:txBody>
          <a:bodyPr/>
          <a:lstStyle/>
          <a:p>
            <a:pPr>
              <a:defRPr/>
            </a:pPr>
            <a:fld id="{72465BC6-9D09-4FC5-9CE2-1E6A3353C20F}"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809C295-81A0-9BE2-C0B7-1AAE449B19A6}"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D9C57E3-DAF2-F9B3-2D44-1E7F1BAB6251}"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AC78799-1878-6DF9-25F8-7F566594101F}"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7382713" name="Slide Image Placeholder 1"/>
          <p:cNvSpPr>
            <a:spLocks noChangeAspect="1" noGrp="1" noRot="1"/>
          </p:cNvSpPr>
          <p:nvPr>
            <p:ph type="sldImg"/>
          </p:nvPr>
        </p:nvSpPr>
        <p:spPr bwMode="auto"/>
      </p:sp>
      <p:sp>
        <p:nvSpPr>
          <p:cNvPr id="2072751237" name="Notes Placeholder 2"/>
          <p:cNvSpPr>
            <a:spLocks noGrp="1"/>
          </p:cNvSpPr>
          <p:nvPr>
            <p:ph type="body" idx="1"/>
          </p:nvPr>
        </p:nvSpPr>
        <p:spPr bwMode="auto"/>
        <p:txBody>
          <a:bodyPr/>
          <a:lstStyle/>
          <a:p>
            <a:pPr>
              <a:defRPr/>
            </a:pPr>
            <a:endParaRPr/>
          </a:p>
        </p:txBody>
      </p:sp>
      <p:sp>
        <p:nvSpPr>
          <p:cNvPr id="90634141" name="Slide Number Placeholder 3"/>
          <p:cNvSpPr>
            <a:spLocks noGrp="1"/>
          </p:cNvSpPr>
          <p:nvPr>
            <p:ph type="sldNum" sz="quarter" idx="10"/>
          </p:nvPr>
        </p:nvSpPr>
        <p:spPr bwMode="auto"/>
        <p:txBody>
          <a:bodyPr/>
          <a:lstStyle/>
          <a:p>
            <a:pPr>
              <a:defRPr/>
            </a:pPr>
            <a:fld id="{A43AA3AE-32E2-28C8-A814-3985EE4A3EBF}"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C6BB62-DA6E-8362-B840-E2786BA4CA14}"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87545996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495347955"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462429975" name="Date Placeholder 3"/>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1929752137" name="Footer Placeholder 4"/>
          <p:cNvSpPr>
            <a:spLocks noGrp="1"/>
          </p:cNvSpPr>
          <p:nvPr>
            <p:ph type="ftr" sz="quarter" idx="11"/>
          </p:nvPr>
        </p:nvSpPr>
        <p:spPr bwMode="auto"/>
        <p:txBody>
          <a:bodyPr/>
          <a:lstStyle/>
          <a:p>
            <a:pPr>
              <a:defRPr/>
            </a:pPr>
            <a:endParaRPr lang="en-US"/>
          </a:p>
        </p:txBody>
      </p:sp>
      <p:sp>
        <p:nvSpPr>
          <p:cNvPr id="2060834639" name="Slide Number Placeholder 5"/>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06263434" name="Title 1"/>
          <p:cNvSpPr>
            <a:spLocks noGrp="1"/>
          </p:cNvSpPr>
          <p:nvPr>
            <p:ph type="title"/>
          </p:nvPr>
        </p:nvSpPr>
        <p:spPr bwMode="auto"/>
        <p:txBody>
          <a:bodyPr/>
          <a:lstStyle/>
          <a:p>
            <a:pPr>
              <a:defRPr/>
            </a:pPr>
            <a:r>
              <a:rPr lang="en-US"/>
              <a:t>Click to edit Master title style</a:t>
            </a:r>
            <a:endParaRPr/>
          </a:p>
        </p:txBody>
      </p:sp>
      <p:sp>
        <p:nvSpPr>
          <p:cNvPr id="152857173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98546540" name="Date Placeholder 3"/>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1861707537" name="Footer Placeholder 4"/>
          <p:cNvSpPr>
            <a:spLocks noGrp="1"/>
          </p:cNvSpPr>
          <p:nvPr>
            <p:ph type="ftr" sz="quarter" idx="11"/>
          </p:nvPr>
        </p:nvSpPr>
        <p:spPr bwMode="auto"/>
        <p:txBody>
          <a:bodyPr/>
          <a:lstStyle/>
          <a:p>
            <a:pPr>
              <a:defRPr/>
            </a:pPr>
            <a:endParaRPr lang="en-US"/>
          </a:p>
        </p:txBody>
      </p:sp>
      <p:sp>
        <p:nvSpPr>
          <p:cNvPr id="2136562343" name="Slide Number Placeholder 5"/>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12420319"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219620172"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987288518" name="Date Placeholder 3"/>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387823418" name="Footer Placeholder 4"/>
          <p:cNvSpPr>
            <a:spLocks noGrp="1"/>
          </p:cNvSpPr>
          <p:nvPr>
            <p:ph type="ftr" sz="quarter" idx="11"/>
          </p:nvPr>
        </p:nvSpPr>
        <p:spPr bwMode="auto"/>
        <p:txBody>
          <a:bodyPr/>
          <a:lstStyle/>
          <a:p>
            <a:pPr>
              <a:defRPr/>
            </a:pPr>
            <a:endParaRPr lang="en-US"/>
          </a:p>
        </p:txBody>
      </p:sp>
      <p:sp>
        <p:nvSpPr>
          <p:cNvPr id="591358649" name="Slide Number Placeholder 5"/>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467470066" name="Title 1"/>
          <p:cNvSpPr>
            <a:spLocks noGrp="1"/>
          </p:cNvSpPr>
          <p:nvPr>
            <p:ph type="title"/>
          </p:nvPr>
        </p:nvSpPr>
        <p:spPr bwMode="auto"/>
        <p:txBody>
          <a:bodyPr/>
          <a:lstStyle/>
          <a:p>
            <a:pPr>
              <a:defRPr/>
            </a:pPr>
            <a:r>
              <a:rPr lang="en-US"/>
              <a:t>Click to edit Master title style</a:t>
            </a:r>
            <a:endParaRPr/>
          </a:p>
        </p:txBody>
      </p:sp>
      <p:sp>
        <p:nvSpPr>
          <p:cNvPr id="421751847"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24671060"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46039418" name="Date Placeholder 4"/>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1663720528" name="Footer Placeholder 5"/>
          <p:cNvSpPr>
            <a:spLocks noGrp="1"/>
          </p:cNvSpPr>
          <p:nvPr>
            <p:ph type="ftr" sz="quarter" idx="11"/>
          </p:nvPr>
        </p:nvSpPr>
        <p:spPr bwMode="auto"/>
        <p:txBody>
          <a:bodyPr/>
          <a:lstStyle/>
          <a:p>
            <a:pPr>
              <a:defRPr/>
            </a:pPr>
            <a:endParaRPr lang="en-US"/>
          </a:p>
        </p:txBody>
      </p:sp>
      <p:sp>
        <p:nvSpPr>
          <p:cNvPr id="633187060" name="Slide Number Placeholder 6"/>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019379878"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1683859099"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149175755"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03045283"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1590082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47631908" name="Date Placeholder 6"/>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26096044" name="Footer Placeholder 7"/>
          <p:cNvSpPr>
            <a:spLocks noGrp="1"/>
          </p:cNvSpPr>
          <p:nvPr>
            <p:ph type="ftr" sz="quarter" idx="11"/>
          </p:nvPr>
        </p:nvSpPr>
        <p:spPr bwMode="auto"/>
        <p:txBody>
          <a:bodyPr/>
          <a:lstStyle/>
          <a:p>
            <a:pPr>
              <a:defRPr/>
            </a:pPr>
            <a:endParaRPr lang="en-US"/>
          </a:p>
        </p:txBody>
      </p:sp>
      <p:sp>
        <p:nvSpPr>
          <p:cNvPr id="1098404737" name="Slide Number Placeholder 8"/>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410758237" name="Title 1"/>
          <p:cNvSpPr>
            <a:spLocks noGrp="1"/>
          </p:cNvSpPr>
          <p:nvPr>
            <p:ph type="title"/>
          </p:nvPr>
        </p:nvSpPr>
        <p:spPr bwMode="auto"/>
        <p:txBody>
          <a:bodyPr/>
          <a:lstStyle/>
          <a:p>
            <a:pPr>
              <a:defRPr/>
            </a:pPr>
            <a:r>
              <a:rPr lang="en-US"/>
              <a:t>Click to edit Master title style</a:t>
            </a:r>
            <a:endParaRPr/>
          </a:p>
        </p:txBody>
      </p:sp>
      <p:sp>
        <p:nvSpPr>
          <p:cNvPr id="1249635822" name="Date Placeholder 2"/>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560005265" name="Footer Placeholder 3"/>
          <p:cNvSpPr>
            <a:spLocks noGrp="1"/>
          </p:cNvSpPr>
          <p:nvPr>
            <p:ph type="ftr" sz="quarter" idx="11"/>
          </p:nvPr>
        </p:nvSpPr>
        <p:spPr bwMode="auto"/>
        <p:txBody>
          <a:bodyPr/>
          <a:lstStyle/>
          <a:p>
            <a:pPr>
              <a:defRPr/>
            </a:pPr>
            <a:endParaRPr lang="en-US"/>
          </a:p>
        </p:txBody>
      </p:sp>
      <p:sp>
        <p:nvSpPr>
          <p:cNvPr id="1619961375" name="Slide Number Placeholder 4"/>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943987472" name="Date Placeholder 1"/>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341356924" name="Footer Placeholder 2"/>
          <p:cNvSpPr>
            <a:spLocks noGrp="1"/>
          </p:cNvSpPr>
          <p:nvPr>
            <p:ph type="ftr" sz="quarter" idx="11"/>
          </p:nvPr>
        </p:nvSpPr>
        <p:spPr bwMode="auto"/>
        <p:txBody>
          <a:bodyPr/>
          <a:lstStyle/>
          <a:p>
            <a:pPr>
              <a:defRPr/>
            </a:pPr>
            <a:endParaRPr lang="en-US"/>
          </a:p>
        </p:txBody>
      </p:sp>
      <p:sp>
        <p:nvSpPr>
          <p:cNvPr id="1568178853" name="Slide Number Placeholder 3"/>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61194709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18853342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9715599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719586002" name="Date Placeholder 4"/>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556698407" name="Footer Placeholder 5"/>
          <p:cNvSpPr>
            <a:spLocks noGrp="1"/>
          </p:cNvSpPr>
          <p:nvPr>
            <p:ph type="ftr" sz="quarter" idx="11"/>
          </p:nvPr>
        </p:nvSpPr>
        <p:spPr bwMode="auto"/>
        <p:txBody>
          <a:bodyPr/>
          <a:lstStyle/>
          <a:p>
            <a:pPr>
              <a:defRPr/>
            </a:pPr>
            <a:endParaRPr lang="en-US"/>
          </a:p>
        </p:txBody>
      </p:sp>
      <p:sp>
        <p:nvSpPr>
          <p:cNvPr id="2104630040" name="Slide Number Placeholder 6"/>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871182681"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701637899"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2751374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45653163" name="Date Placeholder 4"/>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1210838345" name="Footer Placeholder 5"/>
          <p:cNvSpPr>
            <a:spLocks noGrp="1"/>
          </p:cNvSpPr>
          <p:nvPr>
            <p:ph type="ftr" sz="quarter" idx="11"/>
          </p:nvPr>
        </p:nvSpPr>
        <p:spPr bwMode="auto"/>
        <p:txBody>
          <a:bodyPr/>
          <a:lstStyle/>
          <a:p>
            <a:pPr>
              <a:defRPr/>
            </a:pPr>
            <a:endParaRPr lang="en-US"/>
          </a:p>
        </p:txBody>
      </p:sp>
      <p:sp>
        <p:nvSpPr>
          <p:cNvPr id="456130555" name="Slide Number Placeholder 6"/>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663313961" name="Title 1"/>
          <p:cNvSpPr>
            <a:spLocks noGrp="1"/>
          </p:cNvSpPr>
          <p:nvPr>
            <p:ph type="title"/>
          </p:nvPr>
        </p:nvSpPr>
        <p:spPr bwMode="auto"/>
        <p:txBody>
          <a:bodyPr/>
          <a:lstStyle/>
          <a:p>
            <a:pPr>
              <a:defRPr/>
            </a:pPr>
            <a:r>
              <a:rPr lang="en-US"/>
              <a:t>Click to edit Master title style</a:t>
            </a:r>
            <a:endParaRPr/>
          </a:p>
        </p:txBody>
      </p:sp>
      <p:sp>
        <p:nvSpPr>
          <p:cNvPr id="37310378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36291390" name="Date Placeholder 3"/>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1997537219" name="Footer Placeholder 4"/>
          <p:cNvSpPr>
            <a:spLocks noGrp="1"/>
          </p:cNvSpPr>
          <p:nvPr>
            <p:ph type="ftr" sz="quarter" idx="11"/>
          </p:nvPr>
        </p:nvSpPr>
        <p:spPr bwMode="auto"/>
        <p:txBody>
          <a:bodyPr/>
          <a:lstStyle/>
          <a:p>
            <a:pPr>
              <a:defRPr/>
            </a:pPr>
            <a:endParaRPr lang="en-US"/>
          </a:p>
        </p:txBody>
      </p:sp>
      <p:sp>
        <p:nvSpPr>
          <p:cNvPr id="1531797406" name="Slide Number Placeholder 5"/>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738358047"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58409879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9137948" name="Date Placeholder 3"/>
          <p:cNvSpPr>
            <a:spLocks noGrp="1"/>
          </p:cNvSpPr>
          <p:nvPr>
            <p:ph type="dt" sz="half" idx="10"/>
          </p:nvPr>
        </p:nvSpPr>
        <p:spPr bwMode="auto"/>
        <p:txBody>
          <a:bodyPr/>
          <a:lstStyle/>
          <a:p>
            <a:pPr>
              <a:defRPr/>
            </a:pPr>
            <a:fld id="{1B3789C0-A63A-42F9-A977-392D79B563E4}" type="datetimeFigureOut">
              <a:rPr lang="en-US"/>
              <a:t>5/22/2026</a:t>
            </a:fld>
            <a:endParaRPr lang="en-US"/>
          </a:p>
        </p:txBody>
      </p:sp>
      <p:sp>
        <p:nvSpPr>
          <p:cNvPr id="858249302" name="Footer Placeholder 4"/>
          <p:cNvSpPr>
            <a:spLocks noGrp="1"/>
          </p:cNvSpPr>
          <p:nvPr>
            <p:ph type="ftr" sz="quarter" idx="11"/>
          </p:nvPr>
        </p:nvSpPr>
        <p:spPr bwMode="auto"/>
        <p:txBody>
          <a:bodyPr/>
          <a:lstStyle/>
          <a:p>
            <a:pPr>
              <a:defRPr/>
            </a:pPr>
            <a:endParaRPr lang="en-US"/>
          </a:p>
        </p:txBody>
      </p:sp>
      <p:sp>
        <p:nvSpPr>
          <p:cNvPr id="1127122519" name="Slide Number Placeholder 5"/>
          <p:cNvSpPr>
            <a:spLocks noGrp="1"/>
          </p:cNvSpPr>
          <p:nvPr>
            <p:ph type="sldNum" sz="quarter" idx="12"/>
          </p:nvPr>
        </p:nvSpPr>
        <p:spPr bwMode="auto"/>
        <p:txBody>
          <a:bodyPr/>
          <a:lstStyle/>
          <a:p>
            <a:pPr>
              <a:defRPr/>
            </a:pPr>
            <a:fld id="{CC542819-5C5C-4C39-8F31-9BF3C9CE0172}"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1_Title Only">
    <p:spTree>
      <p:nvGrpSpPr>
        <p:cNvPr id="1" name=""/>
        <p:cNvGrpSpPr/>
        <p:nvPr/>
      </p:nvGrpSpPr>
      <p:grpSpPr bwMode="auto">
        <a:xfrm>
          <a:off x="0" y="0"/>
          <a:ext cx="0" cy="0"/>
          <a:chOff x="0" y="0"/>
          <a:chExt cx="0" cy="0"/>
        </a:xfrm>
      </p:grpSpPr>
      <p:sp>
        <p:nvSpPr>
          <p:cNvPr id="997545016" name="Slide Number Placeholder 4"/>
          <p:cNvSpPr>
            <a:spLocks noGrp="1"/>
          </p:cNvSpPr>
          <p:nvPr>
            <p:ph type="sldNum" sz="quarter" idx="16"/>
          </p:nvPr>
        </p:nvSpPr>
        <p:spPr bwMode="auto"/>
        <p:txBody>
          <a:bodyPr/>
          <a:lstStyle>
            <a:lvl1pPr>
              <a:defRPr/>
            </a:lvl1pPr>
          </a:lstStyle>
          <a:p>
            <a:pPr>
              <a:defRPr/>
            </a:pPr>
            <a:fld id="{DF09B9B5-F5C5-4132-88AD-9B4FA1894343}" type="slidenum">
              <a:rPr lang="en-US"/>
              <a:t>‹#›</a:t>
            </a:fld>
            <a:endParaRPr lang="en-US"/>
          </a:p>
        </p:txBody>
      </p:sp>
      <p:sp>
        <p:nvSpPr>
          <p:cNvPr id="746239955" name="Title 1"/>
          <p:cNvSpPr>
            <a:spLocks noGrp="1"/>
          </p:cNvSpPr>
          <p:nvPr>
            <p:ph type="title"/>
          </p:nvPr>
        </p:nvSpPr>
        <p:spPr bwMode="auto">
          <a:xfrm>
            <a:off x="609602" y="253472"/>
            <a:ext cx="9016409" cy="565334"/>
          </a:xfrm>
        </p:spPr>
        <p:txBody>
          <a:bodyPr/>
          <a:lstStyle/>
          <a:p>
            <a:pPr>
              <a:defRPr/>
            </a:pPr>
            <a:r>
              <a:rPr lang="en-US"/>
              <a:t>Click to edit Master title style</a:t>
            </a:r>
            <a:endParaRPr/>
          </a:p>
        </p:txBody>
      </p:sp>
      <p:sp>
        <p:nvSpPr>
          <p:cNvPr id="1608592220" name="Text Placeholder 9"/>
          <p:cNvSpPr>
            <a:spLocks noGrp="1"/>
          </p:cNvSpPr>
          <p:nvPr>
            <p:ph type="body" sz="quarter" idx="13"/>
          </p:nvPr>
        </p:nvSpPr>
        <p:spPr bwMode="auto">
          <a:xfrm>
            <a:off x="609599" y="723006"/>
            <a:ext cx="5373511" cy="393700"/>
          </a:xfrm>
        </p:spPr>
        <p:txBody>
          <a:bodyPr>
            <a:noAutofit/>
          </a:bodyPr>
          <a:lstStyle>
            <a:lvl1pPr>
              <a:buNone/>
              <a:defRPr sz="2000">
                <a:solidFill>
                  <a:srgbClr val="990000"/>
                </a:solidFill>
              </a:defRPr>
            </a:lvl1pPr>
          </a:lstStyle>
          <a:p>
            <a:pPr lvl="0">
              <a:defRPr/>
            </a:pPr>
            <a:r>
              <a:rPr lang="en-US"/>
              <a:t>Click to edit Master text styles</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1_Title and Content">
    <p:spTree>
      <p:nvGrpSpPr>
        <p:cNvPr id="1" name=""/>
        <p:cNvGrpSpPr/>
        <p:nvPr/>
      </p:nvGrpSpPr>
      <p:grpSpPr bwMode="auto">
        <a:xfrm>
          <a:off x="0" y="0"/>
          <a:ext cx="0" cy="0"/>
          <a:chOff x="0" y="0"/>
          <a:chExt cx="0" cy="0"/>
        </a:xfrm>
      </p:grpSpPr>
      <p:sp>
        <p:nvSpPr>
          <p:cNvPr id="242278363" name="Title 1"/>
          <p:cNvSpPr>
            <a:spLocks noGrp="1"/>
          </p:cNvSpPr>
          <p:nvPr>
            <p:ph type="title"/>
          </p:nvPr>
        </p:nvSpPr>
        <p:spPr bwMode="auto">
          <a:xfrm>
            <a:off x="609602" y="253472"/>
            <a:ext cx="9016409" cy="565334"/>
          </a:xfrm>
        </p:spPr>
        <p:txBody>
          <a:bodyPr/>
          <a:lstStyle/>
          <a:p>
            <a:pPr>
              <a:defRPr/>
            </a:pPr>
            <a:r>
              <a:rPr lang="en-US"/>
              <a:t>Click to edit Master title style</a:t>
            </a:r>
            <a:endParaRPr/>
          </a:p>
        </p:txBody>
      </p:sp>
      <p:sp>
        <p:nvSpPr>
          <p:cNvPr id="15428101"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00909138" name="Text Placeholder 9"/>
          <p:cNvSpPr>
            <a:spLocks noGrp="1"/>
          </p:cNvSpPr>
          <p:nvPr>
            <p:ph type="body" sz="quarter" idx="13"/>
          </p:nvPr>
        </p:nvSpPr>
        <p:spPr bwMode="auto">
          <a:xfrm>
            <a:off x="609599" y="723006"/>
            <a:ext cx="5373511" cy="393700"/>
          </a:xfrm>
        </p:spPr>
        <p:txBody>
          <a:bodyPr>
            <a:noAutofit/>
          </a:bodyPr>
          <a:lstStyle>
            <a:lvl1pPr>
              <a:buNone/>
              <a:defRPr sz="2000">
                <a:solidFill>
                  <a:srgbClr val="990000"/>
                </a:solidFill>
              </a:defRPr>
            </a:lvl1pPr>
          </a:lstStyle>
          <a:p>
            <a:pPr lvl="0">
              <a:defRPr/>
            </a:pPr>
            <a:r>
              <a:rPr lang="en-US"/>
              <a:t>Click to edit Master text styles</a:t>
            </a:r>
            <a:endParaRPr/>
          </a:p>
        </p:txBody>
      </p:sp>
      <p:sp>
        <p:nvSpPr>
          <p:cNvPr id="577762948" name="Slide Number Placeholder 5"/>
          <p:cNvSpPr>
            <a:spLocks noGrp="1"/>
          </p:cNvSpPr>
          <p:nvPr>
            <p:ph type="sldNum" sz="quarter" idx="16"/>
          </p:nvPr>
        </p:nvSpPr>
        <p:spPr bwMode="auto"/>
        <p:txBody>
          <a:bodyPr/>
          <a:lstStyle>
            <a:lvl1pPr>
              <a:defRPr/>
            </a:lvl1pPr>
          </a:lstStyle>
          <a:p>
            <a:pPr>
              <a:defRPr/>
            </a:pPr>
            <a:fld id="{A4F5F5D8-B564-4424-B975-B1ACA6BCE299}"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2_Title and Content">
    <p:spTree>
      <p:nvGrpSpPr>
        <p:cNvPr id="1" name=""/>
        <p:cNvGrpSpPr/>
        <p:nvPr/>
      </p:nvGrpSpPr>
      <p:grpSpPr bwMode="auto">
        <a:xfrm>
          <a:off x="0" y="0"/>
          <a:ext cx="0" cy="0"/>
          <a:chOff x="0" y="0"/>
          <a:chExt cx="0" cy="0"/>
        </a:xfrm>
      </p:grpSpPr>
      <p:sp>
        <p:nvSpPr>
          <p:cNvPr id="1276164954" name="Title 1"/>
          <p:cNvSpPr>
            <a:spLocks noGrp="1"/>
          </p:cNvSpPr>
          <p:nvPr>
            <p:ph type="title"/>
          </p:nvPr>
        </p:nvSpPr>
        <p:spPr bwMode="auto">
          <a:xfrm>
            <a:off x="609602" y="253472"/>
            <a:ext cx="9016409" cy="565334"/>
          </a:xfrm>
        </p:spPr>
        <p:txBody>
          <a:bodyPr/>
          <a:lstStyle/>
          <a:p>
            <a:pPr>
              <a:defRPr/>
            </a:pPr>
            <a:r>
              <a:rPr lang="en-US"/>
              <a:t>Click to edit Master title style</a:t>
            </a:r>
            <a:endParaRPr/>
          </a:p>
        </p:txBody>
      </p:sp>
      <p:sp>
        <p:nvSpPr>
          <p:cNvPr id="1563296432"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6421512" name="Text Placeholder 9"/>
          <p:cNvSpPr>
            <a:spLocks noGrp="1"/>
          </p:cNvSpPr>
          <p:nvPr>
            <p:ph type="body" sz="quarter" idx="13"/>
          </p:nvPr>
        </p:nvSpPr>
        <p:spPr bwMode="auto">
          <a:xfrm>
            <a:off x="609599" y="723006"/>
            <a:ext cx="5373511" cy="393700"/>
          </a:xfrm>
        </p:spPr>
        <p:txBody>
          <a:bodyPr>
            <a:noAutofit/>
          </a:bodyPr>
          <a:lstStyle>
            <a:lvl1pPr>
              <a:buNone/>
              <a:defRPr sz="2000">
                <a:solidFill>
                  <a:srgbClr val="990000"/>
                </a:solidFill>
              </a:defRPr>
            </a:lvl1pPr>
          </a:lstStyle>
          <a:p>
            <a:pPr lvl="0">
              <a:defRPr/>
            </a:pPr>
            <a:r>
              <a:rPr lang="en-US"/>
              <a:t>Click to edit Master text styles</a:t>
            </a:r>
            <a:endParaRPr/>
          </a:p>
        </p:txBody>
      </p:sp>
      <p:sp>
        <p:nvSpPr>
          <p:cNvPr id="286571620" name="Slide Number Placeholder 5"/>
          <p:cNvSpPr>
            <a:spLocks noGrp="1"/>
          </p:cNvSpPr>
          <p:nvPr>
            <p:ph type="sldNum" sz="quarter" idx="16"/>
          </p:nvPr>
        </p:nvSpPr>
        <p:spPr bwMode="auto"/>
        <p:txBody>
          <a:bodyPr/>
          <a:lstStyle>
            <a:lvl1pPr>
              <a:defRPr/>
            </a:lvl1pPr>
          </a:lstStyle>
          <a:p>
            <a:pPr>
              <a:defRPr/>
            </a:pPr>
            <a:fld id="{A4F5F5D8-B564-4424-B975-B1ACA6BCE299}" type="slidenum">
              <a:rPr 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 userDrawn="1">
  <p:cSld name="Title &amp; Bullets">
    <p:spTree>
      <p:nvGrpSpPr>
        <p:cNvPr id="1" name=""/>
        <p:cNvGrpSpPr/>
        <p:nvPr/>
      </p:nvGrpSpPr>
      <p:grpSpPr bwMode="auto">
        <a:xfrm>
          <a:off x="0" y="0"/>
          <a:ext cx="0" cy="0"/>
          <a:chOff x="0" y="0"/>
          <a:chExt cx="0" cy="0"/>
        </a:xfrm>
      </p:grpSpPr>
      <p:sp>
        <p:nvSpPr>
          <p:cNvPr id="164263781" name="Shape 10"/>
          <p:cNvSpPr>
            <a:spLocks noGrp="1"/>
          </p:cNvSpPr>
          <p:nvPr>
            <p:ph type="title"/>
          </p:nvPr>
        </p:nvSpPr>
        <p:spPr bwMode="auto">
          <a:prstGeom prst="rect">
            <a:avLst/>
          </a:prstGeom>
        </p:spPr>
        <p:txBody>
          <a:bodyPr/>
          <a:lstStyle/>
          <a:p>
            <a:pPr lvl="0">
              <a:defRPr sz="1800">
                <a:solidFill>
                  <a:srgbClr val="000000"/>
                </a:solidFill>
              </a:defRPr>
            </a:pPr>
            <a:r>
              <a:rPr sz="3500">
                <a:solidFill>
                  <a:srgbClr val="AB1500"/>
                </a:solidFill>
              </a:rPr>
              <a:t>Title Text</a:t>
            </a:r>
            <a:endParaRPr/>
          </a:p>
        </p:txBody>
      </p:sp>
      <p:sp>
        <p:nvSpPr>
          <p:cNvPr id="607758207" name="Shape 11"/>
          <p:cNvSpPr>
            <a:spLocks noGrp="1"/>
          </p:cNvSpPr>
          <p:nvPr>
            <p:ph type="body" idx="1"/>
          </p:nvPr>
        </p:nvSpPr>
        <p:spPr bwMode="auto">
          <a:prstGeom prst="rect">
            <a:avLst/>
          </a:prstGeom>
        </p:spPr>
        <p:txBody>
          <a:bodyPr/>
          <a:lstStyle>
            <a:lvl2pPr marL="550942" indent="-200911">
              <a:spcBef>
                <a:spcPts val="633"/>
              </a:spcBef>
              <a:buChar char="–"/>
              <a:defRPr sz="2700"/>
            </a:lvl2pPr>
            <a:lvl3pPr marL="832217" indent="-160729">
              <a:spcBef>
                <a:spcPts val="562"/>
              </a:spcBef>
              <a:defRPr sz="2400"/>
            </a:lvl3pPr>
            <a:lvl4pPr marL="1153674" indent="-160729">
              <a:spcBef>
                <a:spcPts val="422"/>
              </a:spcBef>
              <a:buChar char="–"/>
              <a:defRPr sz="2000"/>
            </a:lvl4pPr>
            <a:lvl5pPr marL="1475131" indent="-160729">
              <a:spcBef>
                <a:spcPts val="422"/>
              </a:spcBef>
              <a:buChar char="»"/>
              <a:defRPr sz="2000"/>
            </a:lvl5pPr>
          </a:lstStyle>
          <a:p>
            <a:pPr lvl="0">
              <a:defRPr sz="1800"/>
            </a:pPr>
            <a:r>
              <a:rPr sz="3100"/>
              <a:t>Body Level One</a:t>
            </a:r>
            <a:endParaRPr/>
          </a:p>
          <a:p>
            <a:pPr lvl="1">
              <a:defRPr sz="1800"/>
            </a:pPr>
            <a:r>
              <a:rPr sz="2700"/>
              <a:t>Body Level Two</a:t>
            </a:r>
            <a:endParaRPr/>
          </a:p>
          <a:p>
            <a:pPr lvl="2">
              <a:defRPr sz="1800"/>
            </a:pPr>
            <a:r>
              <a:rPr sz="2400"/>
              <a:t>Body Level Three</a:t>
            </a:r>
            <a:endParaRPr/>
          </a:p>
          <a:p>
            <a:pPr lvl="3">
              <a:defRPr sz="1800"/>
            </a:pPr>
            <a:r>
              <a:rPr sz="2000"/>
              <a:t>Body Level Four</a:t>
            </a:r>
            <a:endParaRPr/>
          </a:p>
          <a:p>
            <a:pPr lvl="4">
              <a:defRPr sz="1800"/>
            </a:pPr>
            <a:r>
              <a:rPr sz="2000"/>
              <a:t>Body Level Five</a:t>
            </a:r>
            <a:endParaRPr/>
          </a:p>
        </p:txBody>
      </p:sp>
      <p:sp>
        <p:nvSpPr>
          <p:cNvPr id="1906400363" name="Slide Number Placeholder 3"/>
          <p:cNvSpPr>
            <a:spLocks noGrp="1"/>
          </p:cNvSpPr>
          <p:nvPr>
            <p:ph type="sldNum" sz="quarter" idx="12"/>
          </p:nvPr>
        </p:nvSpPr>
        <p:spPr bwMode="auto"/>
        <p:txBody>
          <a:bodyPr/>
          <a:lstStyle>
            <a:lvl1pPr>
              <a:defRPr/>
            </a:lvl1pPr>
          </a:lstStyle>
          <a:p>
            <a:pPr>
              <a:defRPr/>
            </a:pPr>
            <a:fld id="{CB3471C9-C827-482F-8F3B-3E2B820EA1AD}"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779735548"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47949187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89536559"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B3789C0-A63A-42F9-A977-392D79B563E4}" type="datetimeFigureOut">
              <a:rPr lang="en-US"/>
              <a:t>5/22/2026</a:t>
            </a:fld>
            <a:endParaRPr lang="en-US"/>
          </a:p>
        </p:txBody>
      </p:sp>
      <p:sp>
        <p:nvSpPr>
          <p:cNvPr id="1592429151"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206077047"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C542819-5C5C-4C39-8F31-9BF3C9CE0172}"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1"/>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9.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3.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8.png"/><Relationship Id="rId4" Type="http://schemas.openxmlformats.org/officeDocument/2006/relationships/image" Target="../media/image19.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github.com/bluenote-1577/skani" TargetMode="External"/><Relationship Id="rId4" Type="http://schemas.openxmlformats.org/officeDocument/2006/relationships/hyperlink" Target="https://faust.compbio.cs.cmu.edu/skani" TargetMode="External"/><Relationship Id="rId5" Type="http://schemas.openxmlformats.org/officeDocument/2006/relationships/image" Target="../media/image22.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s://github.com/bluenote-1577/sylph" TargetMode="External"/><Relationship Id="rId4" Type="http://schemas.openxmlformats.org/officeDocument/2006/relationships/hyperlink" Target="https://faust.compbio.cs.cmu.edu/sylph/" TargetMode="External"/><Relationship Id="rId5" Type="http://schemas.openxmlformats.org/officeDocument/2006/relationships/image" Target="../media/image23.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4.png"/><Relationship Id="rId4" Type="http://schemas.openxmlformats.org/officeDocument/2006/relationships/image" Target="../media/image25.jpg"/><Relationship Id="rId5" Type="http://schemas.openxmlformats.org/officeDocument/2006/relationships/image" Target="../media/image26.png"/><Relationship Id="rId6" Type="http://schemas.openxmlformats.org/officeDocument/2006/relationships/image" Target="../media/image1.png"/><Relationship Id="rId7" Type="http://schemas.openxmlformats.org/officeDocument/2006/relationships/image" Target="../media/image27.jpg"/><Relationship Id="rId8"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1110353" name="Title 1"/>
          <p:cNvSpPr>
            <a:spLocks noGrp="1"/>
          </p:cNvSpPr>
          <p:nvPr>
            <p:ph type="ctrTitle"/>
          </p:nvPr>
        </p:nvSpPr>
        <p:spPr bwMode="auto"/>
        <p:txBody>
          <a:bodyPr>
            <a:normAutofit fontScale="90000"/>
          </a:bodyPr>
          <a:lstStyle/>
          <a:p>
            <a:pPr>
              <a:defRPr/>
            </a:pPr>
            <a:r>
              <a:rPr lang="en-US"/>
              <a:t>Abundance profiling using sylph and ANI calculation using </a:t>
            </a:r>
            <a:r>
              <a:rPr lang="en-US"/>
              <a:t>skani</a:t>
            </a:r>
            <a:endParaRPr lang="en-US"/>
          </a:p>
        </p:txBody>
      </p:sp>
      <p:sp>
        <p:nvSpPr>
          <p:cNvPr id="1764264646" name="Subtitle 2"/>
          <p:cNvSpPr>
            <a:spLocks noGrp="1"/>
          </p:cNvSpPr>
          <p:nvPr>
            <p:ph type="subTitle" idx="1"/>
          </p:nvPr>
        </p:nvSpPr>
        <p:spPr bwMode="auto">
          <a:xfrm>
            <a:off x="1524000" y="3602037"/>
            <a:ext cx="9144000" cy="2058929"/>
          </a:xfrm>
        </p:spPr>
        <p:txBody>
          <a:bodyPr>
            <a:normAutofit/>
          </a:bodyPr>
          <a:lstStyle/>
          <a:p>
            <a:pPr>
              <a:defRPr/>
            </a:pPr>
            <a:r>
              <a:rPr lang="en-US"/>
              <a:t>Yun William Yu</a:t>
            </a:r>
            <a:endParaRPr lang="en-US"/>
          </a:p>
          <a:p>
            <a:pPr>
              <a:defRPr/>
            </a:pPr>
            <a:r>
              <a:rPr lang="en-US"/>
              <a:t>(with Jim Shaw, Eoghan McIvor, and Nadia Iskandar)</a:t>
            </a:r>
            <a:endParaRPr/>
          </a:p>
          <a:p>
            <a:pPr>
              <a:defRPr/>
            </a:pPr>
            <a:r>
              <a:rPr lang="en-US"/>
              <a:t>2026-July-12</a:t>
            </a:r>
            <a:br>
              <a:rPr lang="en-US"/>
            </a:br>
            <a:r>
              <a:rPr lang="en-US"/>
              <a:t>ISMB Metagenomics Tutorial</a:t>
            </a:r>
            <a:br>
              <a:rPr lang="en-US"/>
            </a:br>
            <a:endParaRPr lang="en-US"/>
          </a:p>
        </p:txBody>
      </p:sp>
      <p:pic>
        <p:nvPicPr>
          <p:cNvPr id="715957112" name="Picture 4" descr="Neurogenomics Laboratory"/>
          <p:cNvPicPr>
            <a:picLocks noChangeAspect="1" noChangeArrowheads="1"/>
          </p:cNvPicPr>
          <p:nvPr/>
        </p:nvPicPr>
        <p:blipFill rotWithShape="1">
          <a:blip r:embed="rId3"/>
          <a:stretch/>
        </p:blipFill>
        <p:spPr bwMode="auto">
          <a:xfrm>
            <a:off x="9524940" y="5759481"/>
            <a:ext cx="2520562" cy="970810"/>
          </a:xfrm>
          <a:prstGeom prst="rect">
            <a:avLst/>
          </a:prstGeom>
          <a:noFill/>
        </p:spPr>
      </p:pic>
      <p:sp>
        <p:nvSpPr>
          <p:cNvPr id="1435868333" name="Slide Number Placeholder 5"/>
          <p:cNvSpPr>
            <a:spLocks noGrp="1"/>
          </p:cNvSpPr>
          <p:nvPr>
            <p:ph type="sldNum" sz="quarter" idx="12"/>
          </p:nvPr>
        </p:nvSpPr>
        <p:spPr bwMode="auto"/>
        <p:txBody>
          <a:bodyPr/>
          <a:lstStyle/>
          <a:p>
            <a:pPr>
              <a:defRPr/>
            </a:pPr>
            <a:fld id="{B4FD69E0-F2C4-390E-18C5-BB6745A50969}" type="slidenum">
              <a:rPr lang="en-US"/>
              <a:t>1</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167211" name="Title 1"/>
          <p:cNvSpPr>
            <a:spLocks noGrp="1"/>
          </p:cNvSpPr>
          <p:nvPr>
            <p:ph type="title"/>
          </p:nvPr>
        </p:nvSpPr>
        <p:spPr bwMode="auto"/>
        <p:txBody>
          <a:bodyPr/>
          <a:lstStyle/>
          <a:p>
            <a:pPr>
              <a:defRPr/>
            </a:pPr>
            <a:r>
              <a:rPr lang="en-US"/>
              <a:t>Structure of talk</a:t>
            </a:r>
            <a:endParaRPr/>
          </a:p>
        </p:txBody>
      </p:sp>
      <p:sp>
        <p:nvSpPr>
          <p:cNvPr id="1964039579" name="Content Placeholder 2"/>
          <p:cNvSpPr>
            <a:spLocks noGrp="1"/>
          </p:cNvSpPr>
          <p:nvPr>
            <p:ph idx="1"/>
          </p:nvPr>
        </p:nvSpPr>
        <p:spPr bwMode="auto"/>
        <p:txBody>
          <a:bodyPr/>
          <a:lstStyle/>
          <a:p>
            <a:pPr>
              <a:defRPr/>
            </a:pPr>
            <a:r>
              <a:rPr lang="en-US"/>
              <a:t>Background on metagenomics and string sketching</a:t>
            </a:r>
            <a:endParaRPr/>
          </a:p>
          <a:p>
            <a:pPr>
              <a:defRPr/>
            </a:pPr>
            <a:r>
              <a:rPr lang="en-US"/>
              <a:t>Skani</a:t>
            </a:r>
            <a:r>
              <a:rPr lang="en-US"/>
              <a:t>: metagenomic sequence comparison through sparse chaining [Shaw &amp; Yu, 2023, Nature Methods]</a:t>
            </a:r>
            <a:endParaRPr/>
          </a:p>
          <a:p>
            <a:pPr>
              <a:defRPr/>
            </a:pPr>
            <a:r>
              <a:rPr lang="en-US"/>
              <a:t>Sylph: Statistical metagenomic profiling</a:t>
            </a:r>
            <a:br>
              <a:rPr lang="en-US"/>
            </a:br>
            <a:r>
              <a:rPr lang="en-US"/>
              <a:t>[Shaw &amp; Yu, 2024, Nature Biotechnology]</a:t>
            </a:r>
            <a:endParaRPr/>
          </a:p>
          <a:p>
            <a:pPr>
              <a:defRPr/>
            </a:pPr>
            <a:r>
              <a:rPr lang="en-US"/>
              <a:t>Acknowledgements</a:t>
            </a:r>
            <a:endParaRPr/>
          </a:p>
        </p:txBody>
      </p:sp>
      <p:sp>
        <p:nvSpPr>
          <p:cNvPr id="1455767588" name="Slide Number Placeholder 5"/>
          <p:cNvSpPr>
            <a:spLocks noGrp="1"/>
          </p:cNvSpPr>
          <p:nvPr>
            <p:ph type="sldNum" sz="quarter" idx="12"/>
          </p:nvPr>
        </p:nvSpPr>
        <p:spPr bwMode="auto"/>
        <p:txBody>
          <a:bodyPr/>
          <a:lstStyle/>
          <a:p>
            <a:pPr>
              <a:defRPr/>
            </a:pPr>
            <a:fld id="{15010A17-5343-79A7-DDCA-BA713FA7A037}"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0081202" name="TextBox 1"/>
          <p:cNvSpPr txBox="1">
            <a:spLocks noChangeArrowheads="1"/>
          </p:cNvSpPr>
          <p:nvPr/>
        </p:nvSpPr>
        <p:spPr bwMode="auto">
          <a:xfrm>
            <a:off x="1910567" y="4397208"/>
            <a:ext cx="4524610" cy="1729704"/>
          </a:xfrm>
          <a:prstGeom prst="rect">
            <a:avLst/>
          </a:prstGeom>
          <a:noFill/>
          <a:ln w="9525">
            <a:noFill/>
            <a:miter lim="800000"/>
            <a:headEnd/>
            <a:tailEnd/>
          </a:ln>
        </p:spPr>
        <p:txBody>
          <a:bodyPr wrap="square">
            <a:spAutoFit/>
          </a:bodyPr>
          <a:lstStyle/>
          <a:p>
            <a:pPr>
              <a:lnSpc>
                <a:spcPct val="95000"/>
              </a:lnSpc>
              <a:defRPr/>
            </a:pPr>
            <a:r>
              <a:rPr lang="en-US" sz="2800">
                <a:solidFill>
                  <a:srgbClr val="990000"/>
                </a:solidFill>
                <a:latin typeface="Calibri"/>
                <a:ea typeface="ＭＳ Ｐゴシック"/>
                <a:cs typeface="Calibri"/>
              </a:rPr>
              <a:t>Shotgun sequencing: </a:t>
            </a:r>
            <a:r>
              <a:rPr lang="en-US" sz="2800">
                <a:solidFill>
                  <a:srgbClr val="595959"/>
                </a:solidFill>
                <a:latin typeface="Calibri"/>
                <a:ea typeface="ＭＳ Ｐゴシック"/>
                <a:cs typeface="Calibri"/>
              </a:rPr>
              <a:t>Given short, error-prone reads from random locations in a genome, determine origins.</a:t>
            </a:r>
            <a:endParaRPr/>
          </a:p>
        </p:txBody>
      </p:sp>
      <p:sp>
        <p:nvSpPr>
          <p:cNvPr id="590204554" name="Title 5"/>
          <p:cNvSpPr>
            <a:spLocks noGrp="1"/>
          </p:cNvSpPr>
          <p:nvPr>
            <p:ph type="title"/>
          </p:nvPr>
        </p:nvSpPr>
        <p:spPr bwMode="auto"/>
        <p:txBody>
          <a:bodyPr>
            <a:normAutofit fontScale="90000"/>
          </a:bodyPr>
          <a:lstStyle/>
          <a:p>
            <a:pPr algn="l">
              <a:defRPr/>
            </a:pPr>
            <a:r>
              <a:rPr lang="en-US"/>
              <a:t>Genomics sequencing problems</a:t>
            </a:r>
            <a:endParaRPr/>
          </a:p>
        </p:txBody>
      </p:sp>
      <p:grpSp>
        <p:nvGrpSpPr>
          <p:cNvPr id="426022561" name="Group 1"/>
          <p:cNvGrpSpPr/>
          <p:nvPr/>
        </p:nvGrpSpPr>
        <p:grpSpPr bwMode="auto">
          <a:xfrm>
            <a:off x="1562527" y="1585658"/>
            <a:ext cx="5178244" cy="2482337"/>
            <a:chOff x="701675" y="2289175"/>
            <a:chExt cx="7747000" cy="3713742"/>
          </a:xfrm>
        </p:grpSpPr>
        <p:sp>
          <p:nvSpPr>
            <p:cNvPr id="81" name="Line 4"/>
            <p:cNvSpPr>
              <a:spLocks noChangeShapeType="1"/>
            </p:cNvSpPr>
            <p:nvPr/>
          </p:nvSpPr>
          <p:spPr bwMode="auto">
            <a:xfrm>
              <a:off x="762000" y="2289175"/>
              <a:ext cx="7391400" cy="0"/>
            </a:xfrm>
            <a:prstGeom prst="line">
              <a:avLst/>
            </a:prstGeom>
            <a:noFill/>
            <a:ln w="76200">
              <a:solidFill>
                <a:srgbClr val="99FF66"/>
              </a:solidFill>
              <a:round/>
              <a:headEnd/>
              <a:tailEnd/>
            </a:ln>
            <a:effectLst/>
          </p:spPr>
          <p:txBody>
            <a:bodyPr/>
            <a:lstStyle/>
            <a:p>
              <a:pPr>
                <a:defRPr/>
              </a:pPr>
              <a:endParaRPr lang="en-US"/>
            </a:p>
          </p:txBody>
        </p:sp>
        <p:grpSp>
          <p:nvGrpSpPr>
            <p:cNvPr id="82" name="Group 5"/>
            <p:cNvGrpSpPr/>
            <p:nvPr/>
          </p:nvGrpSpPr>
          <p:grpSpPr bwMode="auto">
            <a:xfrm>
              <a:off x="3635375" y="2292350"/>
              <a:ext cx="4813300" cy="1381126"/>
              <a:chOff x="2289" y="1444"/>
              <a:chExt cx="3032" cy="870"/>
            </a:xfrm>
          </p:grpSpPr>
          <p:sp>
            <p:nvSpPr>
              <p:cNvPr id="83" name="Line 6"/>
              <p:cNvSpPr>
                <a:spLocks noChangeShapeType="1"/>
              </p:cNvSpPr>
              <p:nvPr/>
            </p:nvSpPr>
            <p:spPr bwMode="auto">
              <a:xfrm>
                <a:off x="2818" y="1736"/>
                <a:ext cx="0" cy="288"/>
              </a:xfrm>
              <a:prstGeom prst="line">
                <a:avLst/>
              </a:prstGeom>
              <a:noFill/>
              <a:ln w="57150">
                <a:solidFill>
                  <a:srgbClr val="990000"/>
                </a:solidFill>
                <a:round/>
                <a:headEnd/>
                <a:tailEnd type="triangle" w="med" len="med"/>
              </a:ln>
              <a:effectLst/>
            </p:spPr>
            <p:txBody>
              <a:bodyPr/>
              <a:lstStyle/>
              <a:p>
                <a:pPr>
                  <a:defRPr/>
                </a:pPr>
                <a:endParaRPr lang="en-US"/>
              </a:p>
            </p:txBody>
          </p:sp>
          <p:sp>
            <p:nvSpPr>
              <p:cNvPr id="84" name="Line 7"/>
              <p:cNvSpPr>
                <a:spLocks noChangeShapeType="1"/>
              </p:cNvSpPr>
              <p:nvPr/>
            </p:nvSpPr>
            <p:spPr bwMode="auto">
              <a:xfrm>
                <a:off x="3058" y="1736"/>
                <a:ext cx="0" cy="288"/>
              </a:xfrm>
              <a:prstGeom prst="line">
                <a:avLst/>
              </a:prstGeom>
              <a:noFill/>
              <a:ln w="57150">
                <a:solidFill>
                  <a:srgbClr val="990000"/>
                </a:solidFill>
                <a:round/>
                <a:headEnd/>
                <a:tailEnd type="triangle" w="med" len="med"/>
              </a:ln>
              <a:effectLst/>
            </p:spPr>
            <p:txBody>
              <a:bodyPr/>
              <a:lstStyle/>
              <a:p>
                <a:pPr>
                  <a:defRPr/>
                </a:pPr>
                <a:endParaRPr lang="en-US"/>
              </a:p>
            </p:txBody>
          </p:sp>
          <p:sp>
            <p:nvSpPr>
              <p:cNvPr id="85" name="Line 8"/>
              <p:cNvSpPr>
                <a:spLocks noChangeShapeType="1"/>
              </p:cNvSpPr>
              <p:nvPr/>
            </p:nvSpPr>
            <p:spPr bwMode="auto">
              <a:xfrm>
                <a:off x="2530" y="1736"/>
                <a:ext cx="0" cy="288"/>
              </a:xfrm>
              <a:prstGeom prst="line">
                <a:avLst/>
              </a:prstGeom>
              <a:noFill/>
              <a:ln w="57150">
                <a:solidFill>
                  <a:srgbClr val="990000"/>
                </a:solidFill>
                <a:round/>
                <a:headEnd/>
                <a:tailEnd type="triangle" w="med" len="med"/>
              </a:ln>
              <a:effectLst/>
            </p:spPr>
            <p:txBody>
              <a:bodyPr/>
              <a:lstStyle/>
              <a:p>
                <a:pPr>
                  <a:defRPr/>
                </a:pPr>
                <a:endParaRPr lang="en-US"/>
              </a:p>
            </p:txBody>
          </p:sp>
          <p:sp>
            <p:nvSpPr>
              <p:cNvPr id="86" name="Line 9"/>
              <p:cNvSpPr>
                <a:spLocks noChangeShapeType="1"/>
              </p:cNvSpPr>
              <p:nvPr/>
            </p:nvSpPr>
            <p:spPr bwMode="auto">
              <a:xfrm>
                <a:off x="3298" y="1736"/>
                <a:ext cx="0" cy="288"/>
              </a:xfrm>
              <a:prstGeom prst="line">
                <a:avLst/>
              </a:prstGeom>
              <a:noFill/>
              <a:ln w="57150">
                <a:solidFill>
                  <a:srgbClr val="990000"/>
                </a:solidFill>
                <a:round/>
                <a:headEnd/>
                <a:tailEnd type="triangle" w="med" len="med"/>
              </a:ln>
              <a:effectLst/>
            </p:spPr>
            <p:txBody>
              <a:bodyPr/>
              <a:lstStyle/>
              <a:p>
                <a:pPr>
                  <a:defRPr/>
                </a:pPr>
                <a:endParaRPr lang="en-US"/>
              </a:p>
            </p:txBody>
          </p:sp>
          <p:sp>
            <p:nvSpPr>
              <p:cNvPr id="87" name="Line 10"/>
              <p:cNvSpPr>
                <a:spLocks noChangeShapeType="1"/>
              </p:cNvSpPr>
              <p:nvPr/>
            </p:nvSpPr>
            <p:spPr bwMode="auto">
              <a:xfrm>
                <a:off x="2289" y="1736"/>
                <a:ext cx="0" cy="288"/>
              </a:xfrm>
              <a:prstGeom prst="line">
                <a:avLst/>
              </a:prstGeom>
              <a:noFill/>
              <a:ln w="57150">
                <a:solidFill>
                  <a:srgbClr val="990000"/>
                </a:solidFill>
                <a:round/>
                <a:headEnd/>
                <a:tailEnd type="triangle" w="med" len="med"/>
              </a:ln>
              <a:effectLst/>
            </p:spPr>
            <p:txBody>
              <a:bodyPr/>
              <a:lstStyle/>
              <a:p>
                <a:pPr>
                  <a:defRPr/>
                </a:pPr>
                <a:endParaRPr lang="en-US"/>
              </a:p>
            </p:txBody>
          </p:sp>
          <p:sp>
            <p:nvSpPr>
              <p:cNvPr id="88" name="Text Box 11"/>
              <p:cNvSpPr txBox="1">
                <a:spLocks noChangeArrowheads="1"/>
              </p:cNvSpPr>
              <p:nvPr/>
            </p:nvSpPr>
            <p:spPr bwMode="auto">
              <a:xfrm>
                <a:off x="3589" y="1444"/>
                <a:ext cx="1733" cy="870"/>
              </a:xfrm>
              <a:prstGeom prst="rect">
                <a:avLst/>
              </a:prstGeom>
              <a:noFill/>
              <a:ln>
                <a:noFill/>
              </a:ln>
              <a:effectLst/>
            </p:spPr>
            <p:txBody>
              <a:bodyPr>
                <a:spAutoFit/>
              </a:bodyPr>
              <a:lstStyle/>
              <a:p>
                <a:pPr>
                  <a:defRPr/>
                </a:pPr>
                <a:r>
                  <a:rPr lang="en-US" b="1">
                    <a:latin typeface="Calibri"/>
                    <a:cs typeface="Calibri"/>
                  </a:rPr>
                  <a:t>cut many </a:t>
                </a:r>
                <a:endParaRPr/>
              </a:p>
              <a:p>
                <a:pPr>
                  <a:defRPr/>
                </a:pPr>
                <a:r>
                  <a:rPr lang="en-US" b="1">
                    <a:latin typeface="Calibri"/>
                    <a:cs typeface="Calibri"/>
                  </a:rPr>
                  <a:t>times at random (</a:t>
                </a:r>
                <a:r>
                  <a:rPr lang="en-US" b="1" i="1">
                    <a:latin typeface="Calibri"/>
                    <a:cs typeface="Calibri"/>
                  </a:rPr>
                  <a:t>Shotgun</a:t>
                </a:r>
                <a:r>
                  <a:rPr lang="en-US" b="1">
                    <a:latin typeface="Calibri"/>
                    <a:cs typeface="Calibri"/>
                  </a:rPr>
                  <a:t>)</a:t>
                </a:r>
                <a:endParaRPr/>
              </a:p>
            </p:txBody>
          </p:sp>
        </p:grpSp>
        <p:grpSp>
          <p:nvGrpSpPr>
            <p:cNvPr id="89" name="Group 184"/>
            <p:cNvGrpSpPr/>
            <p:nvPr/>
          </p:nvGrpSpPr>
          <p:grpSpPr bwMode="auto">
            <a:xfrm>
              <a:off x="1158875" y="4203700"/>
              <a:ext cx="3200400" cy="1689100"/>
              <a:chOff x="730" y="2648"/>
              <a:chExt cx="2016" cy="1064"/>
            </a:xfrm>
          </p:grpSpPr>
          <p:sp>
            <p:nvSpPr>
              <p:cNvPr id="90" name="Line 13"/>
              <p:cNvSpPr>
                <a:spLocks noChangeShapeType="1"/>
              </p:cNvSpPr>
              <p:nvPr/>
            </p:nvSpPr>
            <p:spPr bwMode="auto">
              <a:xfrm flipH="1">
                <a:off x="730" y="2648"/>
                <a:ext cx="816" cy="1064"/>
              </a:xfrm>
              <a:prstGeom prst="line">
                <a:avLst/>
              </a:prstGeom>
              <a:noFill/>
              <a:ln w="19050">
                <a:solidFill>
                  <a:srgbClr val="99FF66"/>
                </a:solidFill>
                <a:prstDash val="sysDot"/>
                <a:round/>
                <a:headEnd/>
                <a:tailEnd/>
              </a:ln>
              <a:effectLst/>
            </p:spPr>
            <p:txBody>
              <a:bodyPr/>
              <a:lstStyle/>
              <a:p>
                <a:pPr>
                  <a:defRPr/>
                </a:pPr>
                <a:endParaRPr lang="en-US"/>
              </a:p>
            </p:txBody>
          </p:sp>
          <p:sp>
            <p:nvSpPr>
              <p:cNvPr id="91" name="Line 14"/>
              <p:cNvSpPr>
                <a:spLocks noChangeShapeType="1"/>
              </p:cNvSpPr>
              <p:nvPr/>
            </p:nvSpPr>
            <p:spPr bwMode="auto">
              <a:xfrm>
                <a:off x="730" y="3712"/>
                <a:ext cx="2016" cy="0"/>
              </a:xfrm>
              <a:prstGeom prst="line">
                <a:avLst/>
              </a:prstGeom>
              <a:noFill/>
              <a:ln w="57150">
                <a:solidFill>
                  <a:srgbClr val="99FF66"/>
                </a:solidFill>
                <a:round/>
                <a:headEnd/>
                <a:tailEnd/>
              </a:ln>
              <a:effectLst/>
            </p:spPr>
            <p:txBody>
              <a:bodyPr/>
              <a:lstStyle/>
              <a:p>
                <a:pPr>
                  <a:defRPr/>
                </a:pPr>
                <a:endParaRPr lang="en-US"/>
              </a:p>
            </p:txBody>
          </p:sp>
          <p:sp>
            <p:nvSpPr>
              <p:cNvPr id="92" name="Line 15"/>
              <p:cNvSpPr>
                <a:spLocks noChangeShapeType="1"/>
              </p:cNvSpPr>
              <p:nvPr/>
            </p:nvSpPr>
            <p:spPr bwMode="auto">
              <a:xfrm>
                <a:off x="1906" y="2648"/>
                <a:ext cx="840" cy="1064"/>
              </a:xfrm>
              <a:prstGeom prst="line">
                <a:avLst/>
              </a:prstGeom>
              <a:noFill/>
              <a:ln w="19050">
                <a:solidFill>
                  <a:srgbClr val="99FF66"/>
                </a:solidFill>
                <a:prstDash val="sysDot"/>
                <a:round/>
                <a:headEnd/>
                <a:tailEnd/>
              </a:ln>
              <a:effectLst/>
            </p:spPr>
            <p:txBody>
              <a:bodyPr/>
              <a:lstStyle/>
              <a:p>
                <a:pPr>
                  <a:defRPr/>
                </a:pPr>
                <a:endParaRPr lang="en-US"/>
              </a:p>
            </p:txBody>
          </p:sp>
        </p:grpSp>
        <p:grpSp>
          <p:nvGrpSpPr>
            <p:cNvPr id="93" name="Group 185"/>
            <p:cNvGrpSpPr/>
            <p:nvPr/>
          </p:nvGrpSpPr>
          <p:grpSpPr bwMode="auto">
            <a:xfrm>
              <a:off x="701675" y="3746500"/>
              <a:ext cx="7658100" cy="457200"/>
              <a:chOff x="442" y="2360"/>
              <a:chExt cx="4824" cy="288"/>
            </a:xfrm>
          </p:grpSpPr>
          <p:grpSp>
            <p:nvGrpSpPr>
              <p:cNvPr id="94" name="Group 121"/>
              <p:cNvGrpSpPr/>
              <p:nvPr/>
            </p:nvGrpSpPr>
            <p:grpSpPr bwMode="auto">
              <a:xfrm>
                <a:off x="442" y="2528"/>
                <a:ext cx="4752" cy="120"/>
                <a:chOff x="442" y="2528"/>
                <a:chExt cx="4752" cy="120"/>
              </a:xfrm>
            </p:grpSpPr>
            <p:sp>
              <p:nvSpPr>
                <p:cNvPr id="121" name="Line 122"/>
                <p:cNvSpPr>
                  <a:spLocks noChangeShapeType="1"/>
                </p:cNvSpPr>
                <p:nvPr/>
              </p:nvSpPr>
              <p:spPr bwMode="auto">
                <a:xfrm>
                  <a:off x="706" y="2528"/>
                  <a:ext cx="384" cy="0"/>
                </a:xfrm>
                <a:prstGeom prst="line">
                  <a:avLst/>
                </a:prstGeom>
                <a:noFill/>
                <a:ln w="38100">
                  <a:solidFill>
                    <a:srgbClr val="99FF66"/>
                  </a:solidFill>
                  <a:round/>
                  <a:headEnd/>
                  <a:tailEnd/>
                </a:ln>
                <a:effectLst/>
              </p:spPr>
              <p:txBody>
                <a:bodyPr/>
                <a:lstStyle/>
                <a:p>
                  <a:pPr>
                    <a:defRPr/>
                  </a:pPr>
                  <a:endParaRPr lang="en-US"/>
                </a:p>
              </p:txBody>
            </p:sp>
            <p:sp>
              <p:nvSpPr>
                <p:cNvPr id="122" name="Line 123"/>
                <p:cNvSpPr>
                  <a:spLocks noChangeShapeType="1"/>
                </p:cNvSpPr>
                <p:nvPr/>
              </p:nvSpPr>
              <p:spPr bwMode="auto">
                <a:xfrm>
                  <a:off x="2986" y="2528"/>
                  <a:ext cx="384" cy="0"/>
                </a:xfrm>
                <a:prstGeom prst="line">
                  <a:avLst/>
                </a:prstGeom>
                <a:noFill/>
                <a:ln w="38100">
                  <a:solidFill>
                    <a:srgbClr val="99FF66"/>
                  </a:solidFill>
                  <a:round/>
                  <a:headEnd/>
                  <a:tailEnd/>
                </a:ln>
                <a:effectLst/>
              </p:spPr>
              <p:txBody>
                <a:bodyPr/>
                <a:lstStyle/>
                <a:p>
                  <a:pPr>
                    <a:defRPr/>
                  </a:pPr>
                  <a:endParaRPr lang="en-US"/>
                </a:p>
              </p:txBody>
            </p:sp>
            <p:sp>
              <p:nvSpPr>
                <p:cNvPr id="123" name="Line 124"/>
                <p:cNvSpPr>
                  <a:spLocks noChangeShapeType="1"/>
                </p:cNvSpPr>
                <p:nvPr/>
              </p:nvSpPr>
              <p:spPr bwMode="auto">
                <a:xfrm>
                  <a:off x="4186" y="2552"/>
                  <a:ext cx="144" cy="0"/>
                </a:xfrm>
                <a:prstGeom prst="line">
                  <a:avLst/>
                </a:prstGeom>
                <a:noFill/>
                <a:ln w="38100">
                  <a:solidFill>
                    <a:srgbClr val="99FF66"/>
                  </a:solidFill>
                  <a:round/>
                  <a:headEnd/>
                  <a:tailEnd/>
                </a:ln>
                <a:effectLst/>
              </p:spPr>
              <p:txBody>
                <a:bodyPr/>
                <a:lstStyle/>
                <a:p>
                  <a:pPr>
                    <a:defRPr/>
                  </a:pPr>
                  <a:endParaRPr lang="en-US"/>
                </a:p>
              </p:txBody>
            </p:sp>
            <p:sp>
              <p:nvSpPr>
                <p:cNvPr id="124" name="Line 125"/>
                <p:cNvSpPr>
                  <a:spLocks noChangeShapeType="1"/>
                </p:cNvSpPr>
                <p:nvPr/>
              </p:nvSpPr>
              <p:spPr bwMode="auto">
                <a:xfrm flipV="1">
                  <a:off x="2506" y="2528"/>
                  <a:ext cx="336" cy="0"/>
                </a:xfrm>
                <a:prstGeom prst="line">
                  <a:avLst/>
                </a:prstGeom>
                <a:noFill/>
                <a:ln w="38100">
                  <a:solidFill>
                    <a:srgbClr val="99FF66"/>
                  </a:solidFill>
                  <a:round/>
                  <a:headEnd/>
                  <a:tailEnd/>
                </a:ln>
                <a:effectLst/>
              </p:spPr>
              <p:txBody>
                <a:bodyPr/>
                <a:lstStyle/>
                <a:p>
                  <a:pPr>
                    <a:defRPr/>
                  </a:pPr>
                  <a:endParaRPr lang="en-US"/>
                </a:p>
              </p:txBody>
            </p:sp>
            <p:sp>
              <p:nvSpPr>
                <p:cNvPr id="125" name="Line 126"/>
                <p:cNvSpPr>
                  <a:spLocks noChangeShapeType="1"/>
                </p:cNvSpPr>
                <p:nvPr/>
              </p:nvSpPr>
              <p:spPr bwMode="auto">
                <a:xfrm>
                  <a:off x="442" y="2599"/>
                  <a:ext cx="432" cy="0"/>
                </a:xfrm>
                <a:prstGeom prst="line">
                  <a:avLst/>
                </a:prstGeom>
                <a:noFill/>
                <a:ln w="38100">
                  <a:solidFill>
                    <a:srgbClr val="99FF66"/>
                  </a:solidFill>
                  <a:round/>
                  <a:headEnd/>
                  <a:tailEnd/>
                </a:ln>
                <a:effectLst/>
              </p:spPr>
              <p:txBody>
                <a:bodyPr/>
                <a:lstStyle/>
                <a:p>
                  <a:pPr>
                    <a:defRPr/>
                  </a:pPr>
                  <a:endParaRPr lang="en-US"/>
                </a:p>
              </p:txBody>
            </p:sp>
            <p:sp>
              <p:nvSpPr>
                <p:cNvPr id="126" name="Line 127"/>
                <p:cNvSpPr>
                  <a:spLocks noChangeShapeType="1"/>
                </p:cNvSpPr>
                <p:nvPr/>
              </p:nvSpPr>
              <p:spPr bwMode="auto">
                <a:xfrm>
                  <a:off x="970" y="2648"/>
                  <a:ext cx="432" cy="0"/>
                </a:xfrm>
                <a:prstGeom prst="line">
                  <a:avLst/>
                </a:prstGeom>
                <a:noFill/>
                <a:ln w="38100">
                  <a:solidFill>
                    <a:srgbClr val="99FF66"/>
                  </a:solidFill>
                  <a:round/>
                  <a:headEnd/>
                  <a:tailEnd/>
                </a:ln>
                <a:effectLst/>
              </p:spPr>
              <p:txBody>
                <a:bodyPr/>
                <a:lstStyle/>
                <a:p>
                  <a:pPr>
                    <a:defRPr/>
                  </a:pPr>
                  <a:endParaRPr lang="en-US"/>
                </a:p>
              </p:txBody>
            </p:sp>
            <p:sp>
              <p:nvSpPr>
                <p:cNvPr id="127" name="Line 128"/>
                <p:cNvSpPr>
                  <a:spLocks noChangeShapeType="1"/>
                </p:cNvSpPr>
                <p:nvPr/>
              </p:nvSpPr>
              <p:spPr bwMode="auto">
                <a:xfrm>
                  <a:off x="1066" y="2599"/>
                  <a:ext cx="432" cy="0"/>
                </a:xfrm>
                <a:prstGeom prst="line">
                  <a:avLst/>
                </a:prstGeom>
                <a:noFill/>
                <a:ln w="38100">
                  <a:solidFill>
                    <a:srgbClr val="99FF66"/>
                  </a:solidFill>
                  <a:round/>
                  <a:headEnd/>
                  <a:tailEnd/>
                </a:ln>
                <a:effectLst/>
              </p:spPr>
              <p:txBody>
                <a:bodyPr/>
                <a:lstStyle/>
                <a:p>
                  <a:pPr>
                    <a:defRPr/>
                  </a:pPr>
                  <a:endParaRPr lang="en-US"/>
                </a:p>
              </p:txBody>
            </p:sp>
            <p:sp>
              <p:nvSpPr>
                <p:cNvPr id="128" name="Line 129"/>
                <p:cNvSpPr>
                  <a:spLocks noChangeShapeType="1"/>
                </p:cNvSpPr>
                <p:nvPr/>
              </p:nvSpPr>
              <p:spPr bwMode="auto">
                <a:xfrm flipV="1">
                  <a:off x="1401" y="2552"/>
                  <a:ext cx="408" cy="0"/>
                </a:xfrm>
                <a:prstGeom prst="line">
                  <a:avLst/>
                </a:prstGeom>
                <a:noFill/>
                <a:ln w="38100">
                  <a:solidFill>
                    <a:srgbClr val="99FF66"/>
                  </a:solidFill>
                  <a:round/>
                  <a:headEnd/>
                  <a:tailEnd/>
                </a:ln>
                <a:effectLst/>
              </p:spPr>
              <p:txBody>
                <a:bodyPr/>
                <a:lstStyle/>
                <a:p>
                  <a:pPr>
                    <a:defRPr/>
                  </a:pPr>
                  <a:endParaRPr lang="en-US"/>
                </a:p>
              </p:txBody>
            </p:sp>
            <p:sp>
              <p:nvSpPr>
                <p:cNvPr id="129" name="Line 130"/>
                <p:cNvSpPr>
                  <a:spLocks noChangeShapeType="1"/>
                </p:cNvSpPr>
                <p:nvPr/>
              </p:nvSpPr>
              <p:spPr bwMode="auto">
                <a:xfrm flipV="1">
                  <a:off x="1522" y="2648"/>
                  <a:ext cx="408" cy="0"/>
                </a:xfrm>
                <a:prstGeom prst="line">
                  <a:avLst/>
                </a:prstGeom>
                <a:noFill/>
                <a:ln w="38100">
                  <a:solidFill>
                    <a:srgbClr val="99FF66"/>
                  </a:solidFill>
                  <a:round/>
                  <a:headEnd/>
                  <a:tailEnd/>
                </a:ln>
                <a:effectLst/>
              </p:spPr>
              <p:txBody>
                <a:bodyPr/>
                <a:lstStyle/>
                <a:p>
                  <a:pPr>
                    <a:defRPr/>
                  </a:pPr>
                  <a:endParaRPr lang="en-US"/>
                </a:p>
              </p:txBody>
            </p:sp>
            <p:sp>
              <p:nvSpPr>
                <p:cNvPr id="130" name="Line 131"/>
                <p:cNvSpPr>
                  <a:spLocks noChangeShapeType="1"/>
                </p:cNvSpPr>
                <p:nvPr/>
              </p:nvSpPr>
              <p:spPr bwMode="auto">
                <a:xfrm>
                  <a:off x="1762" y="2599"/>
                  <a:ext cx="456" cy="0"/>
                </a:xfrm>
                <a:prstGeom prst="line">
                  <a:avLst/>
                </a:prstGeom>
                <a:noFill/>
                <a:ln w="38100">
                  <a:solidFill>
                    <a:srgbClr val="99FF66"/>
                  </a:solidFill>
                  <a:round/>
                  <a:headEnd/>
                  <a:tailEnd/>
                </a:ln>
                <a:effectLst/>
              </p:spPr>
              <p:txBody>
                <a:bodyPr/>
                <a:lstStyle/>
                <a:p>
                  <a:pPr>
                    <a:defRPr/>
                  </a:pPr>
                  <a:endParaRPr lang="en-US"/>
                </a:p>
              </p:txBody>
            </p:sp>
            <p:sp>
              <p:nvSpPr>
                <p:cNvPr id="131" name="Line 132"/>
                <p:cNvSpPr>
                  <a:spLocks noChangeShapeType="1"/>
                </p:cNvSpPr>
                <p:nvPr/>
              </p:nvSpPr>
              <p:spPr bwMode="auto">
                <a:xfrm>
                  <a:off x="1930" y="2552"/>
                  <a:ext cx="336" cy="0"/>
                </a:xfrm>
                <a:prstGeom prst="line">
                  <a:avLst/>
                </a:prstGeom>
                <a:noFill/>
                <a:ln w="38100">
                  <a:solidFill>
                    <a:srgbClr val="99FF66"/>
                  </a:solidFill>
                  <a:round/>
                  <a:headEnd/>
                  <a:tailEnd/>
                </a:ln>
                <a:effectLst/>
              </p:spPr>
              <p:txBody>
                <a:bodyPr/>
                <a:lstStyle/>
                <a:p>
                  <a:pPr>
                    <a:defRPr/>
                  </a:pPr>
                  <a:endParaRPr lang="en-US"/>
                </a:p>
              </p:txBody>
            </p:sp>
            <p:sp>
              <p:nvSpPr>
                <p:cNvPr id="132" name="Line 133"/>
                <p:cNvSpPr>
                  <a:spLocks noChangeShapeType="1"/>
                </p:cNvSpPr>
                <p:nvPr/>
              </p:nvSpPr>
              <p:spPr bwMode="auto">
                <a:xfrm>
                  <a:off x="2794" y="2599"/>
                  <a:ext cx="336" cy="0"/>
                </a:xfrm>
                <a:prstGeom prst="line">
                  <a:avLst/>
                </a:prstGeom>
                <a:noFill/>
                <a:ln w="38100">
                  <a:solidFill>
                    <a:srgbClr val="99FF66"/>
                  </a:solidFill>
                  <a:round/>
                  <a:headEnd/>
                  <a:tailEnd/>
                </a:ln>
                <a:effectLst/>
              </p:spPr>
              <p:txBody>
                <a:bodyPr/>
                <a:lstStyle/>
                <a:p>
                  <a:pPr>
                    <a:defRPr/>
                  </a:pPr>
                  <a:endParaRPr lang="en-US"/>
                </a:p>
              </p:txBody>
            </p:sp>
            <p:sp>
              <p:nvSpPr>
                <p:cNvPr id="133" name="Line 134"/>
                <p:cNvSpPr>
                  <a:spLocks noChangeShapeType="1"/>
                </p:cNvSpPr>
                <p:nvPr/>
              </p:nvSpPr>
              <p:spPr bwMode="auto">
                <a:xfrm>
                  <a:off x="3130" y="2648"/>
                  <a:ext cx="384" cy="0"/>
                </a:xfrm>
                <a:prstGeom prst="line">
                  <a:avLst/>
                </a:prstGeom>
                <a:noFill/>
                <a:ln w="38100">
                  <a:solidFill>
                    <a:srgbClr val="99FF66"/>
                  </a:solidFill>
                  <a:round/>
                  <a:headEnd/>
                  <a:tailEnd/>
                </a:ln>
                <a:effectLst/>
              </p:spPr>
              <p:txBody>
                <a:bodyPr/>
                <a:lstStyle/>
                <a:p>
                  <a:pPr>
                    <a:defRPr/>
                  </a:pPr>
                  <a:endParaRPr lang="en-US"/>
                </a:p>
              </p:txBody>
            </p:sp>
            <p:sp>
              <p:nvSpPr>
                <p:cNvPr id="134" name="Line 135"/>
                <p:cNvSpPr>
                  <a:spLocks noChangeShapeType="1"/>
                </p:cNvSpPr>
                <p:nvPr/>
              </p:nvSpPr>
              <p:spPr bwMode="auto">
                <a:xfrm>
                  <a:off x="3226" y="2599"/>
                  <a:ext cx="384" cy="0"/>
                </a:xfrm>
                <a:prstGeom prst="line">
                  <a:avLst/>
                </a:prstGeom>
                <a:noFill/>
                <a:ln w="38100">
                  <a:solidFill>
                    <a:srgbClr val="99FF66"/>
                  </a:solidFill>
                  <a:round/>
                  <a:headEnd/>
                  <a:tailEnd/>
                </a:ln>
                <a:effectLst/>
              </p:spPr>
              <p:txBody>
                <a:bodyPr/>
                <a:lstStyle/>
                <a:p>
                  <a:pPr>
                    <a:defRPr/>
                  </a:pPr>
                  <a:endParaRPr lang="en-US"/>
                </a:p>
              </p:txBody>
            </p:sp>
            <p:sp>
              <p:nvSpPr>
                <p:cNvPr id="135" name="Line 136"/>
                <p:cNvSpPr>
                  <a:spLocks noChangeShapeType="1"/>
                </p:cNvSpPr>
                <p:nvPr/>
              </p:nvSpPr>
              <p:spPr bwMode="auto">
                <a:xfrm flipV="1">
                  <a:off x="3586" y="2552"/>
                  <a:ext cx="336" cy="0"/>
                </a:xfrm>
                <a:prstGeom prst="line">
                  <a:avLst/>
                </a:prstGeom>
                <a:noFill/>
                <a:ln w="38100">
                  <a:solidFill>
                    <a:srgbClr val="99FF66"/>
                  </a:solidFill>
                  <a:round/>
                  <a:headEnd/>
                  <a:tailEnd/>
                </a:ln>
                <a:effectLst/>
              </p:spPr>
              <p:txBody>
                <a:bodyPr/>
                <a:lstStyle/>
                <a:p>
                  <a:pPr>
                    <a:defRPr/>
                  </a:pPr>
                  <a:endParaRPr lang="en-US"/>
                </a:p>
              </p:txBody>
            </p:sp>
            <p:sp>
              <p:nvSpPr>
                <p:cNvPr id="136" name="Line 137"/>
                <p:cNvSpPr>
                  <a:spLocks noChangeShapeType="1"/>
                </p:cNvSpPr>
                <p:nvPr/>
              </p:nvSpPr>
              <p:spPr bwMode="auto">
                <a:xfrm flipV="1">
                  <a:off x="3850" y="2648"/>
                  <a:ext cx="432" cy="0"/>
                </a:xfrm>
                <a:prstGeom prst="line">
                  <a:avLst/>
                </a:prstGeom>
                <a:noFill/>
                <a:ln w="38100">
                  <a:solidFill>
                    <a:srgbClr val="99FF66"/>
                  </a:solidFill>
                  <a:round/>
                  <a:headEnd/>
                  <a:tailEnd/>
                </a:ln>
                <a:effectLst/>
              </p:spPr>
              <p:txBody>
                <a:bodyPr/>
                <a:lstStyle/>
                <a:p>
                  <a:pPr>
                    <a:defRPr/>
                  </a:pPr>
                  <a:endParaRPr lang="en-US"/>
                </a:p>
              </p:txBody>
            </p:sp>
            <p:sp>
              <p:nvSpPr>
                <p:cNvPr id="137" name="Line 138"/>
                <p:cNvSpPr>
                  <a:spLocks noChangeShapeType="1"/>
                </p:cNvSpPr>
                <p:nvPr/>
              </p:nvSpPr>
              <p:spPr bwMode="auto">
                <a:xfrm>
                  <a:off x="4282" y="2599"/>
                  <a:ext cx="432" cy="0"/>
                </a:xfrm>
                <a:prstGeom prst="line">
                  <a:avLst/>
                </a:prstGeom>
                <a:noFill/>
                <a:ln w="38100">
                  <a:solidFill>
                    <a:srgbClr val="99FF66"/>
                  </a:solidFill>
                  <a:round/>
                  <a:headEnd/>
                  <a:tailEnd/>
                </a:ln>
                <a:effectLst/>
              </p:spPr>
              <p:txBody>
                <a:bodyPr/>
                <a:lstStyle/>
                <a:p>
                  <a:pPr>
                    <a:defRPr/>
                  </a:pPr>
                  <a:endParaRPr lang="en-US"/>
                </a:p>
              </p:txBody>
            </p:sp>
            <p:sp>
              <p:nvSpPr>
                <p:cNvPr id="138" name="Line 139"/>
                <p:cNvSpPr>
                  <a:spLocks noChangeShapeType="1"/>
                </p:cNvSpPr>
                <p:nvPr/>
              </p:nvSpPr>
              <p:spPr bwMode="auto">
                <a:xfrm>
                  <a:off x="3706" y="2599"/>
                  <a:ext cx="336" cy="0"/>
                </a:xfrm>
                <a:prstGeom prst="line">
                  <a:avLst/>
                </a:prstGeom>
                <a:noFill/>
                <a:ln w="38100">
                  <a:solidFill>
                    <a:srgbClr val="99FF66"/>
                  </a:solidFill>
                  <a:round/>
                  <a:headEnd/>
                  <a:tailEnd/>
                </a:ln>
                <a:effectLst/>
              </p:spPr>
              <p:txBody>
                <a:bodyPr/>
                <a:lstStyle/>
                <a:p>
                  <a:pPr>
                    <a:defRPr/>
                  </a:pPr>
                  <a:endParaRPr lang="en-US"/>
                </a:p>
              </p:txBody>
            </p:sp>
            <p:sp>
              <p:nvSpPr>
                <p:cNvPr id="139" name="Line 140"/>
                <p:cNvSpPr>
                  <a:spLocks noChangeShapeType="1"/>
                </p:cNvSpPr>
                <p:nvPr/>
              </p:nvSpPr>
              <p:spPr bwMode="auto">
                <a:xfrm>
                  <a:off x="4042" y="2552"/>
                  <a:ext cx="288" cy="0"/>
                </a:xfrm>
                <a:prstGeom prst="line">
                  <a:avLst/>
                </a:prstGeom>
                <a:noFill/>
                <a:ln w="38100">
                  <a:solidFill>
                    <a:srgbClr val="99FF66"/>
                  </a:solidFill>
                  <a:round/>
                  <a:headEnd/>
                  <a:tailEnd/>
                </a:ln>
                <a:effectLst/>
              </p:spPr>
              <p:txBody>
                <a:bodyPr/>
                <a:lstStyle/>
                <a:p>
                  <a:pPr>
                    <a:defRPr/>
                  </a:pPr>
                  <a:endParaRPr lang="en-US"/>
                </a:p>
              </p:txBody>
            </p:sp>
            <p:sp>
              <p:nvSpPr>
                <p:cNvPr id="140" name="Line 141"/>
                <p:cNvSpPr>
                  <a:spLocks noChangeShapeType="1"/>
                </p:cNvSpPr>
                <p:nvPr/>
              </p:nvSpPr>
              <p:spPr bwMode="auto">
                <a:xfrm>
                  <a:off x="4450" y="2552"/>
                  <a:ext cx="312" cy="0"/>
                </a:xfrm>
                <a:prstGeom prst="line">
                  <a:avLst/>
                </a:prstGeom>
                <a:noFill/>
                <a:ln w="38100">
                  <a:solidFill>
                    <a:srgbClr val="99FF66"/>
                  </a:solidFill>
                  <a:round/>
                  <a:headEnd/>
                  <a:tailEnd/>
                </a:ln>
                <a:effectLst/>
              </p:spPr>
              <p:txBody>
                <a:bodyPr/>
                <a:lstStyle/>
                <a:p>
                  <a:pPr>
                    <a:defRPr/>
                  </a:pPr>
                  <a:endParaRPr lang="en-US"/>
                </a:p>
              </p:txBody>
            </p:sp>
            <p:sp>
              <p:nvSpPr>
                <p:cNvPr id="141" name="Line 142"/>
                <p:cNvSpPr>
                  <a:spLocks noChangeShapeType="1"/>
                </p:cNvSpPr>
                <p:nvPr/>
              </p:nvSpPr>
              <p:spPr bwMode="auto">
                <a:xfrm>
                  <a:off x="4666" y="2648"/>
                  <a:ext cx="408" cy="0"/>
                </a:xfrm>
                <a:prstGeom prst="line">
                  <a:avLst/>
                </a:prstGeom>
                <a:noFill/>
                <a:ln w="38100">
                  <a:solidFill>
                    <a:srgbClr val="99FF66"/>
                  </a:solidFill>
                  <a:round/>
                  <a:headEnd/>
                  <a:tailEnd/>
                </a:ln>
                <a:effectLst/>
              </p:spPr>
              <p:txBody>
                <a:bodyPr/>
                <a:lstStyle/>
                <a:p>
                  <a:pPr>
                    <a:defRPr/>
                  </a:pPr>
                  <a:endParaRPr lang="en-US"/>
                </a:p>
              </p:txBody>
            </p:sp>
            <p:sp>
              <p:nvSpPr>
                <p:cNvPr id="142" name="Line 143"/>
                <p:cNvSpPr>
                  <a:spLocks noChangeShapeType="1"/>
                </p:cNvSpPr>
                <p:nvPr/>
              </p:nvSpPr>
              <p:spPr bwMode="auto">
                <a:xfrm>
                  <a:off x="4882" y="2552"/>
                  <a:ext cx="312" cy="0"/>
                </a:xfrm>
                <a:prstGeom prst="line">
                  <a:avLst/>
                </a:prstGeom>
                <a:noFill/>
                <a:ln w="38100">
                  <a:solidFill>
                    <a:srgbClr val="99FF66"/>
                  </a:solidFill>
                  <a:round/>
                  <a:headEnd/>
                  <a:tailEnd/>
                </a:ln>
                <a:effectLst/>
              </p:spPr>
              <p:txBody>
                <a:bodyPr/>
                <a:lstStyle/>
                <a:p>
                  <a:pPr>
                    <a:defRPr/>
                  </a:pPr>
                  <a:endParaRPr lang="en-US"/>
                </a:p>
              </p:txBody>
            </p:sp>
            <p:sp>
              <p:nvSpPr>
                <p:cNvPr id="143" name="Line 144"/>
                <p:cNvSpPr>
                  <a:spLocks noChangeShapeType="1"/>
                </p:cNvSpPr>
                <p:nvPr/>
              </p:nvSpPr>
              <p:spPr bwMode="auto">
                <a:xfrm>
                  <a:off x="2218" y="2648"/>
                  <a:ext cx="336" cy="0"/>
                </a:xfrm>
                <a:prstGeom prst="line">
                  <a:avLst/>
                </a:prstGeom>
                <a:noFill/>
                <a:ln w="38100">
                  <a:solidFill>
                    <a:srgbClr val="99FF66"/>
                  </a:solidFill>
                  <a:round/>
                  <a:headEnd/>
                  <a:tailEnd/>
                </a:ln>
                <a:effectLst/>
              </p:spPr>
              <p:txBody>
                <a:bodyPr/>
                <a:lstStyle/>
                <a:p>
                  <a:pPr>
                    <a:defRPr/>
                  </a:pPr>
                  <a:endParaRPr lang="en-US"/>
                </a:p>
              </p:txBody>
            </p:sp>
            <p:sp>
              <p:nvSpPr>
                <p:cNvPr id="144" name="Line 145"/>
                <p:cNvSpPr>
                  <a:spLocks noChangeShapeType="1"/>
                </p:cNvSpPr>
                <p:nvPr/>
              </p:nvSpPr>
              <p:spPr bwMode="auto">
                <a:xfrm>
                  <a:off x="2650" y="2648"/>
                  <a:ext cx="360" cy="0"/>
                </a:xfrm>
                <a:prstGeom prst="line">
                  <a:avLst/>
                </a:prstGeom>
                <a:noFill/>
                <a:ln w="38100">
                  <a:solidFill>
                    <a:srgbClr val="99FF66"/>
                  </a:solidFill>
                  <a:round/>
                  <a:headEnd/>
                  <a:tailEnd/>
                </a:ln>
                <a:effectLst/>
              </p:spPr>
              <p:txBody>
                <a:bodyPr/>
                <a:lstStyle/>
                <a:p>
                  <a:pPr>
                    <a:defRPr/>
                  </a:pPr>
                  <a:endParaRPr lang="en-US"/>
                </a:p>
              </p:txBody>
            </p:sp>
            <p:sp>
              <p:nvSpPr>
                <p:cNvPr id="145" name="Line 146"/>
                <p:cNvSpPr>
                  <a:spLocks noChangeShapeType="1"/>
                </p:cNvSpPr>
                <p:nvPr/>
              </p:nvSpPr>
              <p:spPr bwMode="auto">
                <a:xfrm>
                  <a:off x="2314" y="2576"/>
                  <a:ext cx="336" cy="0"/>
                </a:xfrm>
                <a:prstGeom prst="line">
                  <a:avLst/>
                </a:prstGeom>
                <a:noFill/>
                <a:ln w="38100">
                  <a:solidFill>
                    <a:srgbClr val="99FF66"/>
                  </a:solidFill>
                  <a:round/>
                  <a:headEnd/>
                  <a:tailEnd/>
                </a:ln>
                <a:effectLst/>
              </p:spPr>
              <p:txBody>
                <a:bodyPr/>
                <a:lstStyle/>
                <a:p>
                  <a:pPr>
                    <a:defRPr/>
                  </a:pPr>
                  <a:endParaRPr lang="en-US"/>
                </a:p>
              </p:txBody>
            </p:sp>
          </p:grpSp>
          <p:grpSp>
            <p:nvGrpSpPr>
              <p:cNvPr id="95" name="Group 148"/>
              <p:cNvGrpSpPr/>
              <p:nvPr/>
            </p:nvGrpSpPr>
            <p:grpSpPr bwMode="auto">
              <a:xfrm>
                <a:off x="514" y="2360"/>
                <a:ext cx="4752" cy="120"/>
                <a:chOff x="442" y="2528"/>
                <a:chExt cx="4752" cy="120"/>
              </a:xfrm>
            </p:grpSpPr>
            <p:sp>
              <p:nvSpPr>
                <p:cNvPr id="96" name="Line 149"/>
                <p:cNvSpPr>
                  <a:spLocks noChangeShapeType="1"/>
                </p:cNvSpPr>
                <p:nvPr/>
              </p:nvSpPr>
              <p:spPr bwMode="auto">
                <a:xfrm>
                  <a:off x="706" y="2528"/>
                  <a:ext cx="384" cy="0"/>
                </a:xfrm>
                <a:prstGeom prst="line">
                  <a:avLst/>
                </a:prstGeom>
                <a:noFill/>
                <a:ln w="38100">
                  <a:solidFill>
                    <a:srgbClr val="99FF66"/>
                  </a:solidFill>
                  <a:round/>
                  <a:headEnd/>
                  <a:tailEnd/>
                </a:ln>
                <a:effectLst/>
              </p:spPr>
              <p:txBody>
                <a:bodyPr/>
                <a:lstStyle/>
                <a:p>
                  <a:pPr>
                    <a:defRPr/>
                  </a:pPr>
                  <a:endParaRPr lang="en-US"/>
                </a:p>
              </p:txBody>
            </p:sp>
            <p:sp>
              <p:nvSpPr>
                <p:cNvPr id="97" name="Line 150"/>
                <p:cNvSpPr>
                  <a:spLocks noChangeShapeType="1"/>
                </p:cNvSpPr>
                <p:nvPr/>
              </p:nvSpPr>
              <p:spPr bwMode="auto">
                <a:xfrm>
                  <a:off x="2986" y="2528"/>
                  <a:ext cx="384" cy="0"/>
                </a:xfrm>
                <a:prstGeom prst="line">
                  <a:avLst/>
                </a:prstGeom>
                <a:noFill/>
                <a:ln w="38100">
                  <a:solidFill>
                    <a:srgbClr val="99FF66"/>
                  </a:solidFill>
                  <a:round/>
                  <a:headEnd/>
                  <a:tailEnd/>
                </a:ln>
                <a:effectLst/>
              </p:spPr>
              <p:txBody>
                <a:bodyPr/>
                <a:lstStyle/>
                <a:p>
                  <a:pPr>
                    <a:defRPr/>
                  </a:pPr>
                  <a:endParaRPr lang="en-US"/>
                </a:p>
              </p:txBody>
            </p:sp>
            <p:sp>
              <p:nvSpPr>
                <p:cNvPr id="98" name="Line 151"/>
                <p:cNvSpPr>
                  <a:spLocks noChangeShapeType="1"/>
                </p:cNvSpPr>
                <p:nvPr/>
              </p:nvSpPr>
              <p:spPr bwMode="auto">
                <a:xfrm>
                  <a:off x="4186" y="2552"/>
                  <a:ext cx="144" cy="0"/>
                </a:xfrm>
                <a:prstGeom prst="line">
                  <a:avLst/>
                </a:prstGeom>
                <a:noFill/>
                <a:ln w="38100">
                  <a:solidFill>
                    <a:srgbClr val="99FF66"/>
                  </a:solidFill>
                  <a:round/>
                  <a:headEnd/>
                  <a:tailEnd/>
                </a:ln>
                <a:effectLst/>
              </p:spPr>
              <p:txBody>
                <a:bodyPr/>
                <a:lstStyle/>
                <a:p>
                  <a:pPr>
                    <a:defRPr/>
                  </a:pPr>
                  <a:endParaRPr lang="en-US"/>
                </a:p>
              </p:txBody>
            </p:sp>
            <p:sp>
              <p:nvSpPr>
                <p:cNvPr id="99" name="Line 152"/>
                <p:cNvSpPr>
                  <a:spLocks noChangeShapeType="1"/>
                </p:cNvSpPr>
                <p:nvPr/>
              </p:nvSpPr>
              <p:spPr bwMode="auto">
                <a:xfrm flipV="1">
                  <a:off x="2506" y="2528"/>
                  <a:ext cx="336" cy="0"/>
                </a:xfrm>
                <a:prstGeom prst="line">
                  <a:avLst/>
                </a:prstGeom>
                <a:noFill/>
                <a:ln w="38100">
                  <a:solidFill>
                    <a:srgbClr val="99FF66"/>
                  </a:solidFill>
                  <a:round/>
                  <a:headEnd/>
                  <a:tailEnd/>
                </a:ln>
                <a:effectLst/>
              </p:spPr>
              <p:txBody>
                <a:bodyPr/>
                <a:lstStyle/>
                <a:p>
                  <a:pPr>
                    <a:defRPr/>
                  </a:pPr>
                  <a:endParaRPr lang="en-US"/>
                </a:p>
              </p:txBody>
            </p:sp>
            <p:sp>
              <p:nvSpPr>
                <p:cNvPr id="100" name="Line 153"/>
                <p:cNvSpPr>
                  <a:spLocks noChangeShapeType="1"/>
                </p:cNvSpPr>
                <p:nvPr/>
              </p:nvSpPr>
              <p:spPr bwMode="auto">
                <a:xfrm>
                  <a:off x="442" y="2599"/>
                  <a:ext cx="432" cy="0"/>
                </a:xfrm>
                <a:prstGeom prst="line">
                  <a:avLst/>
                </a:prstGeom>
                <a:noFill/>
                <a:ln w="38100">
                  <a:solidFill>
                    <a:srgbClr val="99FF66"/>
                  </a:solidFill>
                  <a:round/>
                  <a:headEnd/>
                  <a:tailEnd/>
                </a:ln>
                <a:effectLst/>
              </p:spPr>
              <p:txBody>
                <a:bodyPr/>
                <a:lstStyle/>
                <a:p>
                  <a:pPr>
                    <a:defRPr/>
                  </a:pPr>
                  <a:endParaRPr lang="en-US"/>
                </a:p>
              </p:txBody>
            </p:sp>
            <p:sp>
              <p:nvSpPr>
                <p:cNvPr id="101" name="Line 154"/>
                <p:cNvSpPr>
                  <a:spLocks noChangeShapeType="1"/>
                </p:cNvSpPr>
                <p:nvPr/>
              </p:nvSpPr>
              <p:spPr bwMode="auto">
                <a:xfrm>
                  <a:off x="970" y="2648"/>
                  <a:ext cx="432" cy="0"/>
                </a:xfrm>
                <a:prstGeom prst="line">
                  <a:avLst/>
                </a:prstGeom>
                <a:noFill/>
                <a:ln w="38100">
                  <a:solidFill>
                    <a:srgbClr val="99FF66"/>
                  </a:solidFill>
                  <a:round/>
                  <a:headEnd/>
                  <a:tailEnd/>
                </a:ln>
                <a:effectLst/>
              </p:spPr>
              <p:txBody>
                <a:bodyPr/>
                <a:lstStyle/>
                <a:p>
                  <a:pPr>
                    <a:defRPr/>
                  </a:pPr>
                  <a:endParaRPr lang="en-US"/>
                </a:p>
              </p:txBody>
            </p:sp>
            <p:sp>
              <p:nvSpPr>
                <p:cNvPr id="102" name="Line 155"/>
                <p:cNvSpPr>
                  <a:spLocks noChangeShapeType="1"/>
                </p:cNvSpPr>
                <p:nvPr/>
              </p:nvSpPr>
              <p:spPr bwMode="auto">
                <a:xfrm>
                  <a:off x="1066" y="2599"/>
                  <a:ext cx="432" cy="0"/>
                </a:xfrm>
                <a:prstGeom prst="line">
                  <a:avLst/>
                </a:prstGeom>
                <a:noFill/>
                <a:ln w="38100">
                  <a:solidFill>
                    <a:srgbClr val="99FF66"/>
                  </a:solidFill>
                  <a:round/>
                  <a:headEnd/>
                  <a:tailEnd/>
                </a:ln>
                <a:effectLst/>
              </p:spPr>
              <p:txBody>
                <a:bodyPr/>
                <a:lstStyle/>
                <a:p>
                  <a:pPr>
                    <a:defRPr/>
                  </a:pPr>
                  <a:endParaRPr lang="en-US"/>
                </a:p>
              </p:txBody>
            </p:sp>
            <p:sp>
              <p:nvSpPr>
                <p:cNvPr id="103" name="Line 156"/>
                <p:cNvSpPr>
                  <a:spLocks noChangeShapeType="1"/>
                </p:cNvSpPr>
                <p:nvPr/>
              </p:nvSpPr>
              <p:spPr bwMode="auto">
                <a:xfrm flipV="1">
                  <a:off x="1401" y="2552"/>
                  <a:ext cx="408" cy="0"/>
                </a:xfrm>
                <a:prstGeom prst="line">
                  <a:avLst/>
                </a:prstGeom>
                <a:noFill/>
                <a:ln w="38100">
                  <a:solidFill>
                    <a:srgbClr val="99FF66"/>
                  </a:solidFill>
                  <a:round/>
                  <a:headEnd/>
                  <a:tailEnd/>
                </a:ln>
                <a:effectLst/>
              </p:spPr>
              <p:txBody>
                <a:bodyPr/>
                <a:lstStyle/>
                <a:p>
                  <a:pPr>
                    <a:defRPr/>
                  </a:pPr>
                  <a:endParaRPr lang="en-US"/>
                </a:p>
              </p:txBody>
            </p:sp>
            <p:sp>
              <p:nvSpPr>
                <p:cNvPr id="104" name="Line 157"/>
                <p:cNvSpPr>
                  <a:spLocks noChangeShapeType="1"/>
                </p:cNvSpPr>
                <p:nvPr/>
              </p:nvSpPr>
              <p:spPr bwMode="auto">
                <a:xfrm flipV="1">
                  <a:off x="1522" y="2648"/>
                  <a:ext cx="408" cy="0"/>
                </a:xfrm>
                <a:prstGeom prst="line">
                  <a:avLst/>
                </a:prstGeom>
                <a:noFill/>
                <a:ln w="38100">
                  <a:solidFill>
                    <a:srgbClr val="99FF66"/>
                  </a:solidFill>
                  <a:round/>
                  <a:headEnd/>
                  <a:tailEnd/>
                </a:ln>
                <a:effectLst/>
              </p:spPr>
              <p:txBody>
                <a:bodyPr/>
                <a:lstStyle/>
                <a:p>
                  <a:pPr>
                    <a:defRPr/>
                  </a:pPr>
                  <a:endParaRPr lang="en-US"/>
                </a:p>
              </p:txBody>
            </p:sp>
            <p:sp>
              <p:nvSpPr>
                <p:cNvPr id="105" name="Line 158"/>
                <p:cNvSpPr>
                  <a:spLocks noChangeShapeType="1"/>
                </p:cNvSpPr>
                <p:nvPr/>
              </p:nvSpPr>
              <p:spPr bwMode="auto">
                <a:xfrm>
                  <a:off x="1762" y="2599"/>
                  <a:ext cx="456" cy="0"/>
                </a:xfrm>
                <a:prstGeom prst="line">
                  <a:avLst/>
                </a:prstGeom>
                <a:noFill/>
                <a:ln w="38100">
                  <a:solidFill>
                    <a:srgbClr val="99FF66"/>
                  </a:solidFill>
                  <a:round/>
                  <a:headEnd/>
                  <a:tailEnd/>
                </a:ln>
                <a:effectLst/>
              </p:spPr>
              <p:txBody>
                <a:bodyPr/>
                <a:lstStyle/>
                <a:p>
                  <a:pPr>
                    <a:defRPr/>
                  </a:pPr>
                  <a:endParaRPr lang="en-US"/>
                </a:p>
              </p:txBody>
            </p:sp>
            <p:sp>
              <p:nvSpPr>
                <p:cNvPr id="106" name="Line 159"/>
                <p:cNvSpPr>
                  <a:spLocks noChangeShapeType="1"/>
                </p:cNvSpPr>
                <p:nvPr/>
              </p:nvSpPr>
              <p:spPr bwMode="auto">
                <a:xfrm>
                  <a:off x="1930" y="2552"/>
                  <a:ext cx="336" cy="0"/>
                </a:xfrm>
                <a:prstGeom prst="line">
                  <a:avLst/>
                </a:prstGeom>
                <a:noFill/>
                <a:ln w="38100">
                  <a:solidFill>
                    <a:srgbClr val="99FF66"/>
                  </a:solidFill>
                  <a:round/>
                  <a:headEnd/>
                  <a:tailEnd/>
                </a:ln>
                <a:effectLst/>
              </p:spPr>
              <p:txBody>
                <a:bodyPr/>
                <a:lstStyle/>
                <a:p>
                  <a:pPr>
                    <a:defRPr/>
                  </a:pPr>
                  <a:endParaRPr lang="en-US"/>
                </a:p>
              </p:txBody>
            </p:sp>
            <p:sp>
              <p:nvSpPr>
                <p:cNvPr id="107" name="Line 160"/>
                <p:cNvSpPr>
                  <a:spLocks noChangeShapeType="1"/>
                </p:cNvSpPr>
                <p:nvPr/>
              </p:nvSpPr>
              <p:spPr bwMode="auto">
                <a:xfrm>
                  <a:off x="2794" y="2599"/>
                  <a:ext cx="336" cy="0"/>
                </a:xfrm>
                <a:prstGeom prst="line">
                  <a:avLst/>
                </a:prstGeom>
                <a:noFill/>
                <a:ln w="38100">
                  <a:solidFill>
                    <a:srgbClr val="99FF66"/>
                  </a:solidFill>
                  <a:round/>
                  <a:headEnd/>
                  <a:tailEnd/>
                </a:ln>
                <a:effectLst/>
              </p:spPr>
              <p:txBody>
                <a:bodyPr/>
                <a:lstStyle/>
                <a:p>
                  <a:pPr>
                    <a:defRPr/>
                  </a:pPr>
                  <a:endParaRPr lang="en-US"/>
                </a:p>
              </p:txBody>
            </p:sp>
            <p:sp>
              <p:nvSpPr>
                <p:cNvPr id="108" name="Line 161"/>
                <p:cNvSpPr>
                  <a:spLocks noChangeShapeType="1"/>
                </p:cNvSpPr>
                <p:nvPr/>
              </p:nvSpPr>
              <p:spPr bwMode="auto">
                <a:xfrm>
                  <a:off x="3130" y="2648"/>
                  <a:ext cx="384" cy="0"/>
                </a:xfrm>
                <a:prstGeom prst="line">
                  <a:avLst/>
                </a:prstGeom>
                <a:noFill/>
                <a:ln w="38100">
                  <a:solidFill>
                    <a:srgbClr val="99FF66"/>
                  </a:solidFill>
                  <a:round/>
                  <a:headEnd/>
                  <a:tailEnd/>
                </a:ln>
                <a:effectLst/>
              </p:spPr>
              <p:txBody>
                <a:bodyPr/>
                <a:lstStyle/>
                <a:p>
                  <a:pPr>
                    <a:defRPr/>
                  </a:pPr>
                  <a:endParaRPr lang="en-US"/>
                </a:p>
              </p:txBody>
            </p:sp>
            <p:sp>
              <p:nvSpPr>
                <p:cNvPr id="109" name="Line 162"/>
                <p:cNvSpPr>
                  <a:spLocks noChangeShapeType="1"/>
                </p:cNvSpPr>
                <p:nvPr/>
              </p:nvSpPr>
              <p:spPr bwMode="auto">
                <a:xfrm>
                  <a:off x="3226" y="2599"/>
                  <a:ext cx="384" cy="0"/>
                </a:xfrm>
                <a:prstGeom prst="line">
                  <a:avLst/>
                </a:prstGeom>
                <a:noFill/>
                <a:ln w="38100">
                  <a:solidFill>
                    <a:srgbClr val="99FF66"/>
                  </a:solidFill>
                  <a:round/>
                  <a:headEnd/>
                  <a:tailEnd/>
                </a:ln>
                <a:effectLst/>
              </p:spPr>
              <p:txBody>
                <a:bodyPr/>
                <a:lstStyle/>
                <a:p>
                  <a:pPr>
                    <a:defRPr/>
                  </a:pPr>
                  <a:endParaRPr lang="en-US"/>
                </a:p>
              </p:txBody>
            </p:sp>
            <p:sp>
              <p:nvSpPr>
                <p:cNvPr id="110" name="Line 163"/>
                <p:cNvSpPr>
                  <a:spLocks noChangeShapeType="1"/>
                </p:cNvSpPr>
                <p:nvPr/>
              </p:nvSpPr>
              <p:spPr bwMode="auto">
                <a:xfrm flipV="1">
                  <a:off x="3586" y="2552"/>
                  <a:ext cx="336" cy="0"/>
                </a:xfrm>
                <a:prstGeom prst="line">
                  <a:avLst/>
                </a:prstGeom>
                <a:noFill/>
                <a:ln w="38100">
                  <a:solidFill>
                    <a:srgbClr val="99FF66"/>
                  </a:solidFill>
                  <a:round/>
                  <a:headEnd/>
                  <a:tailEnd/>
                </a:ln>
                <a:effectLst/>
              </p:spPr>
              <p:txBody>
                <a:bodyPr/>
                <a:lstStyle/>
                <a:p>
                  <a:pPr>
                    <a:defRPr/>
                  </a:pPr>
                  <a:endParaRPr lang="en-US"/>
                </a:p>
              </p:txBody>
            </p:sp>
            <p:sp>
              <p:nvSpPr>
                <p:cNvPr id="111" name="Line 164"/>
                <p:cNvSpPr>
                  <a:spLocks noChangeShapeType="1"/>
                </p:cNvSpPr>
                <p:nvPr/>
              </p:nvSpPr>
              <p:spPr bwMode="auto">
                <a:xfrm flipV="1">
                  <a:off x="3850" y="2648"/>
                  <a:ext cx="432" cy="0"/>
                </a:xfrm>
                <a:prstGeom prst="line">
                  <a:avLst/>
                </a:prstGeom>
                <a:noFill/>
                <a:ln w="38100">
                  <a:solidFill>
                    <a:srgbClr val="99FF66"/>
                  </a:solidFill>
                  <a:round/>
                  <a:headEnd/>
                  <a:tailEnd/>
                </a:ln>
                <a:effectLst/>
              </p:spPr>
              <p:txBody>
                <a:bodyPr/>
                <a:lstStyle/>
                <a:p>
                  <a:pPr>
                    <a:defRPr/>
                  </a:pPr>
                  <a:endParaRPr lang="en-US"/>
                </a:p>
              </p:txBody>
            </p:sp>
            <p:sp>
              <p:nvSpPr>
                <p:cNvPr id="112" name="Line 165"/>
                <p:cNvSpPr>
                  <a:spLocks noChangeShapeType="1"/>
                </p:cNvSpPr>
                <p:nvPr/>
              </p:nvSpPr>
              <p:spPr bwMode="auto">
                <a:xfrm>
                  <a:off x="4282" y="2599"/>
                  <a:ext cx="432" cy="0"/>
                </a:xfrm>
                <a:prstGeom prst="line">
                  <a:avLst/>
                </a:prstGeom>
                <a:noFill/>
                <a:ln w="38100">
                  <a:solidFill>
                    <a:srgbClr val="99FF66"/>
                  </a:solidFill>
                  <a:round/>
                  <a:headEnd/>
                  <a:tailEnd/>
                </a:ln>
                <a:effectLst/>
              </p:spPr>
              <p:txBody>
                <a:bodyPr/>
                <a:lstStyle/>
                <a:p>
                  <a:pPr>
                    <a:defRPr/>
                  </a:pPr>
                  <a:endParaRPr lang="en-US"/>
                </a:p>
              </p:txBody>
            </p:sp>
            <p:sp>
              <p:nvSpPr>
                <p:cNvPr id="113" name="Line 166"/>
                <p:cNvSpPr>
                  <a:spLocks noChangeShapeType="1"/>
                </p:cNvSpPr>
                <p:nvPr/>
              </p:nvSpPr>
              <p:spPr bwMode="auto">
                <a:xfrm>
                  <a:off x="3706" y="2599"/>
                  <a:ext cx="336" cy="0"/>
                </a:xfrm>
                <a:prstGeom prst="line">
                  <a:avLst/>
                </a:prstGeom>
                <a:noFill/>
                <a:ln w="38100">
                  <a:solidFill>
                    <a:srgbClr val="99FF66"/>
                  </a:solidFill>
                  <a:round/>
                  <a:headEnd/>
                  <a:tailEnd/>
                </a:ln>
                <a:effectLst/>
              </p:spPr>
              <p:txBody>
                <a:bodyPr/>
                <a:lstStyle/>
                <a:p>
                  <a:pPr>
                    <a:defRPr/>
                  </a:pPr>
                  <a:endParaRPr lang="en-US"/>
                </a:p>
              </p:txBody>
            </p:sp>
            <p:sp>
              <p:nvSpPr>
                <p:cNvPr id="114" name="Line 167"/>
                <p:cNvSpPr>
                  <a:spLocks noChangeShapeType="1"/>
                </p:cNvSpPr>
                <p:nvPr/>
              </p:nvSpPr>
              <p:spPr bwMode="auto">
                <a:xfrm>
                  <a:off x="4042" y="2552"/>
                  <a:ext cx="288" cy="0"/>
                </a:xfrm>
                <a:prstGeom prst="line">
                  <a:avLst/>
                </a:prstGeom>
                <a:noFill/>
                <a:ln w="38100">
                  <a:solidFill>
                    <a:srgbClr val="99FF66"/>
                  </a:solidFill>
                  <a:round/>
                  <a:headEnd/>
                  <a:tailEnd/>
                </a:ln>
                <a:effectLst/>
              </p:spPr>
              <p:txBody>
                <a:bodyPr/>
                <a:lstStyle/>
                <a:p>
                  <a:pPr>
                    <a:defRPr/>
                  </a:pPr>
                  <a:endParaRPr lang="en-US"/>
                </a:p>
              </p:txBody>
            </p:sp>
            <p:sp>
              <p:nvSpPr>
                <p:cNvPr id="115" name="Line 168"/>
                <p:cNvSpPr>
                  <a:spLocks noChangeShapeType="1"/>
                </p:cNvSpPr>
                <p:nvPr/>
              </p:nvSpPr>
              <p:spPr bwMode="auto">
                <a:xfrm>
                  <a:off x="4450" y="2552"/>
                  <a:ext cx="312" cy="0"/>
                </a:xfrm>
                <a:prstGeom prst="line">
                  <a:avLst/>
                </a:prstGeom>
                <a:noFill/>
                <a:ln w="38100">
                  <a:solidFill>
                    <a:srgbClr val="99FF66"/>
                  </a:solidFill>
                  <a:round/>
                  <a:headEnd/>
                  <a:tailEnd/>
                </a:ln>
                <a:effectLst/>
              </p:spPr>
              <p:txBody>
                <a:bodyPr/>
                <a:lstStyle/>
                <a:p>
                  <a:pPr>
                    <a:defRPr/>
                  </a:pPr>
                  <a:endParaRPr lang="en-US"/>
                </a:p>
              </p:txBody>
            </p:sp>
            <p:sp>
              <p:nvSpPr>
                <p:cNvPr id="116" name="Line 169"/>
                <p:cNvSpPr>
                  <a:spLocks noChangeShapeType="1"/>
                </p:cNvSpPr>
                <p:nvPr/>
              </p:nvSpPr>
              <p:spPr bwMode="auto">
                <a:xfrm>
                  <a:off x="4666" y="2648"/>
                  <a:ext cx="408" cy="0"/>
                </a:xfrm>
                <a:prstGeom prst="line">
                  <a:avLst/>
                </a:prstGeom>
                <a:noFill/>
                <a:ln w="38100">
                  <a:solidFill>
                    <a:srgbClr val="99FF66"/>
                  </a:solidFill>
                  <a:round/>
                  <a:headEnd/>
                  <a:tailEnd/>
                </a:ln>
                <a:effectLst/>
              </p:spPr>
              <p:txBody>
                <a:bodyPr/>
                <a:lstStyle/>
                <a:p>
                  <a:pPr>
                    <a:defRPr/>
                  </a:pPr>
                  <a:endParaRPr lang="en-US"/>
                </a:p>
              </p:txBody>
            </p:sp>
            <p:sp>
              <p:nvSpPr>
                <p:cNvPr id="117" name="Line 170"/>
                <p:cNvSpPr>
                  <a:spLocks noChangeShapeType="1"/>
                </p:cNvSpPr>
                <p:nvPr/>
              </p:nvSpPr>
              <p:spPr bwMode="auto">
                <a:xfrm>
                  <a:off x="4882" y="2552"/>
                  <a:ext cx="312" cy="0"/>
                </a:xfrm>
                <a:prstGeom prst="line">
                  <a:avLst/>
                </a:prstGeom>
                <a:noFill/>
                <a:ln w="38100">
                  <a:solidFill>
                    <a:srgbClr val="99FF66"/>
                  </a:solidFill>
                  <a:round/>
                  <a:headEnd/>
                  <a:tailEnd/>
                </a:ln>
                <a:effectLst/>
              </p:spPr>
              <p:txBody>
                <a:bodyPr/>
                <a:lstStyle/>
                <a:p>
                  <a:pPr>
                    <a:defRPr/>
                  </a:pPr>
                  <a:endParaRPr lang="en-US"/>
                </a:p>
              </p:txBody>
            </p:sp>
            <p:sp>
              <p:nvSpPr>
                <p:cNvPr id="118" name="Line 171"/>
                <p:cNvSpPr>
                  <a:spLocks noChangeShapeType="1"/>
                </p:cNvSpPr>
                <p:nvPr/>
              </p:nvSpPr>
              <p:spPr bwMode="auto">
                <a:xfrm>
                  <a:off x="2218" y="2648"/>
                  <a:ext cx="336" cy="0"/>
                </a:xfrm>
                <a:prstGeom prst="line">
                  <a:avLst/>
                </a:prstGeom>
                <a:noFill/>
                <a:ln w="38100">
                  <a:solidFill>
                    <a:srgbClr val="99FF66"/>
                  </a:solidFill>
                  <a:round/>
                  <a:headEnd/>
                  <a:tailEnd/>
                </a:ln>
                <a:effectLst/>
              </p:spPr>
              <p:txBody>
                <a:bodyPr/>
                <a:lstStyle/>
                <a:p>
                  <a:pPr>
                    <a:defRPr/>
                  </a:pPr>
                  <a:endParaRPr lang="en-US"/>
                </a:p>
              </p:txBody>
            </p:sp>
            <p:sp>
              <p:nvSpPr>
                <p:cNvPr id="119" name="Line 172"/>
                <p:cNvSpPr>
                  <a:spLocks noChangeShapeType="1"/>
                </p:cNvSpPr>
                <p:nvPr/>
              </p:nvSpPr>
              <p:spPr bwMode="auto">
                <a:xfrm>
                  <a:off x="2650" y="2648"/>
                  <a:ext cx="360" cy="0"/>
                </a:xfrm>
                <a:prstGeom prst="line">
                  <a:avLst/>
                </a:prstGeom>
                <a:noFill/>
                <a:ln w="38100">
                  <a:solidFill>
                    <a:srgbClr val="99FF66"/>
                  </a:solidFill>
                  <a:round/>
                  <a:headEnd/>
                  <a:tailEnd/>
                </a:ln>
                <a:effectLst/>
              </p:spPr>
              <p:txBody>
                <a:bodyPr/>
                <a:lstStyle/>
                <a:p>
                  <a:pPr>
                    <a:defRPr/>
                  </a:pPr>
                  <a:endParaRPr lang="en-US"/>
                </a:p>
              </p:txBody>
            </p:sp>
            <p:sp>
              <p:nvSpPr>
                <p:cNvPr id="120" name="Line 173"/>
                <p:cNvSpPr>
                  <a:spLocks noChangeShapeType="1"/>
                </p:cNvSpPr>
                <p:nvPr/>
              </p:nvSpPr>
              <p:spPr bwMode="auto">
                <a:xfrm>
                  <a:off x="2314" y="2576"/>
                  <a:ext cx="336" cy="0"/>
                </a:xfrm>
                <a:prstGeom prst="line">
                  <a:avLst/>
                </a:prstGeom>
                <a:noFill/>
                <a:ln w="38100">
                  <a:solidFill>
                    <a:srgbClr val="99FF66"/>
                  </a:solidFill>
                  <a:round/>
                  <a:headEnd/>
                  <a:tailEnd/>
                </a:ln>
                <a:effectLst/>
              </p:spPr>
              <p:txBody>
                <a:bodyPr/>
                <a:lstStyle/>
                <a:p>
                  <a:pPr>
                    <a:defRPr/>
                  </a:pPr>
                  <a:endParaRPr lang="en-US"/>
                </a:p>
              </p:txBody>
            </p:sp>
          </p:grpSp>
        </p:grpSp>
        <p:sp>
          <p:nvSpPr>
            <p:cNvPr id="146" name="Text Box 174"/>
            <p:cNvSpPr txBox="1">
              <a:spLocks noChangeArrowheads="1"/>
            </p:cNvSpPr>
            <p:nvPr/>
          </p:nvSpPr>
          <p:spPr bwMode="auto">
            <a:xfrm>
              <a:off x="4935953" y="5035963"/>
              <a:ext cx="2961444" cy="966954"/>
            </a:xfrm>
            <a:prstGeom prst="rect">
              <a:avLst/>
            </a:prstGeom>
            <a:noFill/>
            <a:ln>
              <a:noFill/>
            </a:ln>
            <a:effectLst/>
          </p:spPr>
          <p:txBody>
            <a:bodyPr wrap="square">
              <a:spAutoFit/>
            </a:bodyPr>
            <a:lstStyle/>
            <a:p>
              <a:pPr>
                <a:defRPr/>
              </a:pPr>
              <a:r>
                <a:rPr lang="en-US" b="1">
                  <a:latin typeface="Calibri"/>
                  <a:cs typeface="Calibri"/>
                </a:rPr>
                <a:t>Read 100-100,000 bases (bp)</a:t>
              </a:r>
              <a:endParaRPr/>
            </a:p>
          </p:txBody>
        </p:sp>
      </p:grpSp>
      <p:sp>
        <p:nvSpPr>
          <p:cNvPr id="87333726" name="Slide Number Placeholder 3"/>
          <p:cNvSpPr>
            <a:spLocks noGrp="1"/>
          </p:cNvSpPr>
          <p:nvPr>
            <p:ph type="sldNum" sz="quarter" idx="16"/>
          </p:nvPr>
        </p:nvSpPr>
        <p:spPr bwMode="auto"/>
        <p:txBody>
          <a:bodyPr/>
          <a:lstStyle/>
          <a:p>
            <a:pPr>
              <a:defRPr/>
            </a:pPr>
            <a:fld id="{DF09B9B5-F5C5-4132-88AD-9B4FA1894343}" type="slidenum">
              <a:rPr lang="en-US"/>
              <a:t>3</a:t>
            </a:fld>
            <a:endParaRPr lang="en-US"/>
          </a:p>
        </p:txBody>
      </p:sp>
      <p:sp>
        <p:nvSpPr>
          <p:cNvPr id="1542148245" name="TextBox 5"/>
          <p:cNvSpPr txBox="1"/>
          <p:nvPr/>
        </p:nvSpPr>
        <p:spPr bwMode="auto">
          <a:xfrm>
            <a:off x="1503512" y="1197258"/>
            <a:ext cx="5139226" cy="369332"/>
          </a:xfrm>
          <a:prstGeom prst="rect">
            <a:avLst/>
          </a:prstGeom>
          <a:noFill/>
        </p:spPr>
        <p:txBody>
          <a:bodyPr wrap="none" rtlCol="0">
            <a:spAutoFit/>
          </a:bodyPr>
          <a:lstStyle/>
          <a:p>
            <a:pPr>
              <a:spcAft>
                <a:spcPts val="1650"/>
              </a:spcAft>
              <a:defRPr/>
            </a:pPr>
            <a:r>
              <a:rPr lang="en-US">
                <a:solidFill>
                  <a:srgbClr val="990000"/>
                </a:solidFill>
                <a:latin typeface="+mj-lt"/>
              </a:rPr>
              <a:t>AAAACCCAGGGGTTTTAAAATTAAAACCCAGGGGTTTT…</a:t>
            </a:r>
            <a:endParaRPr/>
          </a:p>
        </p:txBody>
      </p:sp>
      <p:sp>
        <p:nvSpPr>
          <p:cNvPr id="417729013" name="TextBox 7"/>
          <p:cNvSpPr txBox="1"/>
          <p:nvPr/>
        </p:nvSpPr>
        <p:spPr bwMode="auto">
          <a:xfrm>
            <a:off x="2130809" y="3630065"/>
            <a:ext cx="1494527" cy="369332"/>
          </a:xfrm>
          <a:prstGeom prst="rect">
            <a:avLst/>
          </a:prstGeom>
          <a:noFill/>
        </p:spPr>
        <p:txBody>
          <a:bodyPr wrap="square">
            <a:spAutoFit/>
          </a:bodyPr>
          <a:lstStyle/>
          <a:p>
            <a:pPr>
              <a:defRPr/>
            </a:pPr>
            <a:r>
              <a:rPr lang="en-US" sz="1800">
                <a:solidFill>
                  <a:srgbClr val="990000"/>
                </a:solidFill>
                <a:latin typeface="+mj-lt"/>
              </a:rPr>
              <a:t>GTTTTAAAATT</a:t>
            </a:r>
            <a:endParaRPr lang="en-US"/>
          </a:p>
        </p:txBody>
      </p:sp>
      <p:grpSp>
        <p:nvGrpSpPr>
          <p:cNvPr id="1755471310" name="Group 10"/>
          <p:cNvGrpSpPr/>
          <p:nvPr/>
        </p:nvGrpSpPr>
        <p:grpSpPr bwMode="auto">
          <a:xfrm>
            <a:off x="7125062" y="1548164"/>
            <a:ext cx="4381035" cy="2044040"/>
            <a:chOff x="7125062" y="1548164"/>
            <a:chExt cx="4381035" cy="2044040"/>
          </a:xfrm>
        </p:grpSpPr>
        <p:sp>
          <p:nvSpPr>
            <p:cNvPr id="9" name="Arrow: Curved Right 8"/>
            <p:cNvSpPr/>
            <p:nvPr/>
          </p:nvSpPr>
          <p:spPr bwMode="auto">
            <a:xfrm rot="10800000">
              <a:off x="7125062" y="1548164"/>
              <a:ext cx="575734" cy="1490134"/>
            </a:xfrm>
            <a:prstGeom prst="curvedRightArrow">
              <a:avLst>
                <a:gd name="adj1" fmla="val 25000"/>
                <a:gd name="adj2" fmla="val 50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10" name="TextBox 1"/>
            <p:cNvSpPr txBox="1">
              <a:spLocks noChangeArrowheads="1"/>
            </p:cNvSpPr>
            <p:nvPr/>
          </p:nvSpPr>
          <p:spPr bwMode="auto">
            <a:xfrm>
              <a:off x="8143734" y="1862500"/>
              <a:ext cx="3362363" cy="1729704"/>
            </a:xfrm>
            <a:prstGeom prst="rect">
              <a:avLst/>
            </a:prstGeom>
            <a:noFill/>
            <a:ln w="9525">
              <a:noFill/>
              <a:miter lim="800000"/>
              <a:headEnd/>
              <a:tailEnd/>
            </a:ln>
          </p:spPr>
          <p:txBody>
            <a:bodyPr wrap="square">
              <a:spAutoFit/>
            </a:bodyPr>
            <a:lstStyle/>
            <a:p>
              <a:pPr>
                <a:lnSpc>
                  <a:spcPct val="95000"/>
                </a:lnSpc>
                <a:defRPr/>
              </a:pPr>
              <a:r>
                <a:rPr lang="en-US" sz="2800">
                  <a:solidFill>
                    <a:srgbClr val="990000"/>
                  </a:solidFill>
                  <a:latin typeface="Calibri"/>
                  <a:ea typeface="ＭＳ Ｐゴシック"/>
                  <a:cs typeface="Calibri"/>
                </a:rPr>
                <a:t>Genome assembly: </a:t>
              </a:r>
              <a:endParaRPr/>
            </a:p>
            <a:p>
              <a:pPr>
                <a:lnSpc>
                  <a:spcPct val="95000"/>
                </a:lnSpc>
                <a:defRPr/>
              </a:pPr>
              <a:r>
                <a:rPr lang="en-US" sz="2800">
                  <a:solidFill>
                    <a:srgbClr val="595959"/>
                  </a:solidFill>
                  <a:latin typeface="Calibri"/>
                  <a:ea typeface="ＭＳ Ｐゴシック"/>
                  <a:cs typeface="Calibri"/>
                </a:rPr>
                <a:t>Piecing together the original superstring from the fragments.</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5471310"/>
                                        </p:tgtEl>
                                        <p:attrNameLst>
                                          <p:attrName>style.visibility</p:attrName>
                                        </p:attrNameLst>
                                      </p:cBhvr>
                                      <p:to>
                                        <p:strVal val="visible"/>
                                      </p:to>
                                    </p:set>
                                    <p:animEffect transition="in" filter="fade">
                                      <p:cBhvr>
                                        <p:cTn id="7" dur="500"/>
                                        <p:tgtEl>
                                          <p:spTgt spid="1755471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5326196" name="Title 1"/>
          <p:cNvSpPr>
            <a:spLocks noGrp="1"/>
          </p:cNvSpPr>
          <p:nvPr>
            <p:ph type="title"/>
          </p:nvPr>
        </p:nvSpPr>
        <p:spPr bwMode="auto">
          <a:xfrm>
            <a:off x="119266" y="98302"/>
            <a:ext cx="9016409" cy="565334"/>
          </a:xfrm>
        </p:spPr>
        <p:txBody>
          <a:bodyPr>
            <a:normAutofit fontScale="90000"/>
          </a:bodyPr>
          <a:lstStyle/>
          <a:p>
            <a:pPr>
              <a:defRPr/>
            </a:pPr>
            <a:r>
              <a:rPr lang="en-US"/>
              <a:t>Metagenomics problems</a:t>
            </a:r>
            <a:endParaRPr/>
          </a:p>
        </p:txBody>
      </p:sp>
      <p:sp>
        <p:nvSpPr>
          <p:cNvPr id="128774404" name="TextBox 10"/>
          <p:cNvSpPr txBox="1"/>
          <p:nvPr/>
        </p:nvSpPr>
        <p:spPr bwMode="auto">
          <a:xfrm>
            <a:off x="415548" y="1941093"/>
            <a:ext cx="2337819" cy="369332"/>
          </a:xfrm>
          <a:prstGeom prst="rect">
            <a:avLst/>
          </a:prstGeom>
          <a:noFill/>
        </p:spPr>
        <p:txBody>
          <a:bodyPr wrap="none" rtlCol="0">
            <a:spAutoFit/>
          </a:bodyPr>
          <a:lstStyle/>
          <a:p>
            <a:pPr>
              <a:spcAft>
                <a:spcPts val="1650"/>
              </a:spcAft>
              <a:defRPr/>
            </a:pPr>
            <a:r>
              <a:rPr lang="en-US">
                <a:solidFill>
                  <a:srgbClr val="990000"/>
                </a:solidFill>
                <a:latin typeface="+mj-lt"/>
              </a:rPr>
              <a:t>Environmental samples</a:t>
            </a:r>
            <a:endParaRPr/>
          </a:p>
        </p:txBody>
      </p:sp>
      <p:grpSp>
        <p:nvGrpSpPr>
          <p:cNvPr id="1160613855" name="Group 11"/>
          <p:cNvGrpSpPr/>
          <p:nvPr/>
        </p:nvGrpSpPr>
        <p:grpSpPr bwMode="auto">
          <a:xfrm>
            <a:off x="899435" y="916885"/>
            <a:ext cx="917614" cy="917614"/>
            <a:chOff x="2402270" y="1428605"/>
            <a:chExt cx="4339461" cy="4339461"/>
          </a:xfrm>
        </p:grpSpPr>
        <p:pic>
          <p:nvPicPr>
            <p:cNvPr id="13" name="wb7.png"/>
            <p:cNvPicPr/>
            <p:nvPr/>
          </p:nvPicPr>
          <p:blipFill rotWithShape="1">
            <a:blip r:embed="rId3"/>
            <a:stretch/>
          </p:blipFill>
          <p:spPr bwMode="auto">
            <a:xfrm>
              <a:off x="2402270" y="1428605"/>
              <a:ext cx="4339461" cy="4339461"/>
            </a:xfrm>
            <a:prstGeom prst="rect">
              <a:avLst/>
            </a:prstGeom>
            <a:ln w="12700">
              <a:miter lim="400000"/>
            </a:ln>
          </p:spPr>
        </p:pic>
        <p:pic>
          <p:nvPicPr>
            <p:cNvPr id="14" name="Straw-4oz.jpg"/>
            <p:cNvPicPr/>
            <p:nvPr/>
          </p:nvPicPr>
          <p:blipFill rotWithShape="1">
            <a:blip r:embed="rId4"/>
            <a:stretch/>
          </p:blipFill>
          <p:spPr bwMode="auto">
            <a:xfrm>
              <a:off x="3278519" y="2271084"/>
              <a:ext cx="2623376" cy="2654629"/>
            </a:xfrm>
            <a:prstGeom prst="rect">
              <a:avLst/>
            </a:prstGeom>
            <a:ln w="12700">
              <a:miter lim="400000"/>
            </a:ln>
          </p:spPr>
        </p:pic>
      </p:grpSp>
      <p:sp>
        <p:nvSpPr>
          <p:cNvPr id="1878658026" name="TextBox 14"/>
          <p:cNvSpPr txBox="1"/>
          <p:nvPr/>
        </p:nvSpPr>
        <p:spPr bwMode="auto">
          <a:xfrm>
            <a:off x="3614174" y="2185156"/>
            <a:ext cx="3986669" cy="369332"/>
          </a:xfrm>
          <a:prstGeom prst="rect">
            <a:avLst/>
          </a:prstGeom>
          <a:noFill/>
        </p:spPr>
        <p:txBody>
          <a:bodyPr wrap="none" rtlCol="0">
            <a:spAutoFit/>
          </a:bodyPr>
          <a:lstStyle/>
          <a:p>
            <a:pPr>
              <a:spcAft>
                <a:spcPts val="1650"/>
              </a:spcAft>
              <a:defRPr/>
            </a:pPr>
            <a:r>
              <a:rPr lang="en-US">
                <a:solidFill>
                  <a:srgbClr val="990000"/>
                </a:solidFill>
                <a:latin typeface="+mj-lt"/>
              </a:rPr>
              <a:t>Many different bacterial source genomes</a:t>
            </a:r>
            <a:endParaRPr/>
          </a:p>
        </p:txBody>
      </p:sp>
      <p:cxnSp>
        <p:nvCxnSpPr>
          <p:cNvPr id="738706482" name="Straight Connector 15"/>
          <p:cNvCxnSpPr/>
          <p:nvPr/>
        </p:nvCxnSpPr>
        <p:spPr bwMode="auto">
          <a:xfrm>
            <a:off x="2435505"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862836527" name="Straight Connector 16"/>
          <p:cNvCxnSpPr/>
          <p:nvPr/>
        </p:nvCxnSpPr>
        <p:spPr bwMode="auto">
          <a:xfrm>
            <a:off x="2587905"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749414121" name="Straight Connector 17"/>
          <p:cNvCxnSpPr/>
          <p:nvPr/>
        </p:nvCxnSpPr>
        <p:spPr bwMode="auto">
          <a:xfrm>
            <a:off x="2740305"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76733695" name="Straight Connector 18"/>
          <p:cNvCxnSpPr/>
          <p:nvPr/>
        </p:nvCxnSpPr>
        <p:spPr bwMode="auto">
          <a:xfrm>
            <a:off x="2892705"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24744651" name="Straight Connector 19"/>
          <p:cNvCxnSpPr/>
          <p:nvPr/>
        </p:nvCxnSpPr>
        <p:spPr bwMode="auto">
          <a:xfrm>
            <a:off x="3045105"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109788942" name="Straight Connector 20"/>
          <p:cNvCxnSpPr/>
          <p:nvPr/>
        </p:nvCxnSpPr>
        <p:spPr bwMode="auto">
          <a:xfrm>
            <a:off x="3197505"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47335865" name="Straight Connector 21"/>
          <p:cNvCxnSpPr/>
          <p:nvPr/>
        </p:nvCxnSpPr>
        <p:spPr bwMode="auto">
          <a:xfrm>
            <a:off x="3349905"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23604775" name="Straight Connector 22"/>
          <p:cNvCxnSpPr/>
          <p:nvPr/>
        </p:nvCxnSpPr>
        <p:spPr bwMode="auto">
          <a:xfrm>
            <a:off x="2951071"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43116585" name="Straight Connector 23"/>
          <p:cNvCxnSpPr/>
          <p:nvPr/>
        </p:nvCxnSpPr>
        <p:spPr bwMode="auto">
          <a:xfrm>
            <a:off x="3103471"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36838178" name="Straight Connector 24"/>
          <p:cNvCxnSpPr/>
          <p:nvPr/>
        </p:nvCxnSpPr>
        <p:spPr bwMode="auto">
          <a:xfrm>
            <a:off x="3255870"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638634200" name="Straight Connector 25"/>
          <p:cNvCxnSpPr/>
          <p:nvPr/>
        </p:nvCxnSpPr>
        <p:spPr bwMode="auto">
          <a:xfrm>
            <a:off x="3408271"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9521624" name="Straight Connector 26"/>
          <p:cNvCxnSpPr/>
          <p:nvPr/>
        </p:nvCxnSpPr>
        <p:spPr bwMode="auto">
          <a:xfrm>
            <a:off x="3560671"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210318452" name="Straight Connector 27"/>
          <p:cNvCxnSpPr/>
          <p:nvPr/>
        </p:nvCxnSpPr>
        <p:spPr bwMode="auto">
          <a:xfrm>
            <a:off x="3713071"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00156928" name="Straight Connector 28"/>
          <p:cNvCxnSpPr/>
          <p:nvPr/>
        </p:nvCxnSpPr>
        <p:spPr bwMode="auto">
          <a:xfrm>
            <a:off x="3865471"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14764753" name="Straight Connector 29"/>
          <p:cNvCxnSpPr/>
          <p:nvPr/>
        </p:nvCxnSpPr>
        <p:spPr bwMode="auto">
          <a:xfrm>
            <a:off x="3466637"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885263983" name="Straight Connector 30"/>
          <p:cNvCxnSpPr/>
          <p:nvPr/>
        </p:nvCxnSpPr>
        <p:spPr bwMode="auto">
          <a:xfrm>
            <a:off x="3619037"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07402616" name="Straight Connector 31"/>
          <p:cNvCxnSpPr/>
          <p:nvPr/>
        </p:nvCxnSpPr>
        <p:spPr bwMode="auto">
          <a:xfrm>
            <a:off x="3771437"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21659052" name="Straight Connector 32"/>
          <p:cNvCxnSpPr/>
          <p:nvPr/>
        </p:nvCxnSpPr>
        <p:spPr bwMode="auto">
          <a:xfrm>
            <a:off x="3923837"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58195327" name="Straight Connector 33"/>
          <p:cNvCxnSpPr/>
          <p:nvPr/>
        </p:nvCxnSpPr>
        <p:spPr bwMode="auto">
          <a:xfrm>
            <a:off x="4076237"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745039139" name="Straight Connector 34"/>
          <p:cNvCxnSpPr/>
          <p:nvPr/>
        </p:nvCxnSpPr>
        <p:spPr bwMode="auto">
          <a:xfrm>
            <a:off x="4228637"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759039789" name="Straight Connector 35"/>
          <p:cNvCxnSpPr/>
          <p:nvPr/>
        </p:nvCxnSpPr>
        <p:spPr bwMode="auto">
          <a:xfrm>
            <a:off x="4381037"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35903581" name="Straight Connector 36"/>
          <p:cNvCxnSpPr/>
          <p:nvPr/>
        </p:nvCxnSpPr>
        <p:spPr bwMode="auto">
          <a:xfrm>
            <a:off x="3982203"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60336224" name="Straight Connector 37"/>
          <p:cNvCxnSpPr/>
          <p:nvPr/>
        </p:nvCxnSpPr>
        <p:spPr bwMode="auto">
          <a:xfrm>
            <a:off x="4134603"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44269336" name="Straight Connector 38"/>
          <p:cNvCxnSpPr/>
          <p:nvPr/>
        </p:nvCxnSpPr>
        <p:spPr bwMode="auto">
          <a:xfrm>
            <a:off x="4287003"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73398612" name="Straight Connector 39"/>
          <p:cNvCxnSpPr/>
          <p:nvPr/>
        </p:nvCxnSpPr>
        <p:spPr bwMode="auto">
          <a:xfrm>
            <a:off x="4439403"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794646533" name="Straight Connector 40"/>
          <p:cNvCxnSpPr/>
          <p:nvPr/>
        </p:nvCxnSpPr>
        <p:spPr bwMode="auto">
          <a:xfrm>
            <a:off x="4591803"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873242296" name="Straight Connector 41"/>
          <p:cNvCxnSpPr/>
          <p:nvPr/>
        </p:nvCxnSpPr>
        <p:spPr bwMode="auto">
          <a:xfrm>
            <a:off x="4744202"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86709600" name="Straight Connector 42"/>
          <p:cNvCxnSpPr/>
          <p:nvPr/>
        </p:nvCxnSpPr>
        <p:spPr bwMode="auto">
          <a:xfrm>
            <a:off x="4896603"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939331706" name="Straight Connector 43"/>
          <p:cNvCxnSpPr/>
          <p:nvPr/>
        </p:nvCxnSpPr>
        <p:spPr bwMode="auto">
          <a:xfrm>
            <a:off x="4497769"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84628014" name="Straight Connector 44"/>
          <p:cNvCxnSpPr/>
          <p:nvPr/>
        </p:nvCxnSpPr>
        <p:spPr bwMode="auto">
          <a:xfrm>
            <a:off x="4650169"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975607373" name="Straight Connector 45"/>
          <p:cNvCxnSpPr/>
          <p:nvPr/>
        </p:nvCxnSpPr>
        <p:spPr bwMode="auto">
          <a:xfrm>
            <a:off x="4802568"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1286242" name="Straight Connector 46"/>
          <p:cNvCxnSpPr/>
          <p:nvPr/>
        </p:nvCxnSpPr>
        <p:spPr bwMode="auto">
          <a:xfrm>
            <a:off x="5107369"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01574349" name="Straight Connector 47"/>
          <p:cNvCxnSpPr/>
          <p:nvPr/>
        </p:nvCxnSpPr>
        <p:spPr bwMode="auto">
          <a:xfrm>
            <a:off x="5259769"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46383611" name="Straight Connector 48"/>
          <p:cNvCxnSpPr/>
          <p:nvPr/>
        </p:nvCxnSpPr>
        <p:spPr bwMode="auto">
          <a:xfrm>
            <a:off x="5412169"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99242146" name="Straight Connector 49"/>
          <p:cNvCxnSpPr/>
          <p:nvPr/>
        </p:nvCxnSpPr>
        <p:spPr bwMode="auto">
          <a:xfrm>
            <a:off x="5013335"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774308355" name="Straight Connector 50"/>
          <p:cNvCxnSpPr/>
          <p:nvPr/>
        </p:nvCxnSpPr>
        <p:spPr bwMode="auto">
          <a:xfrm>
            <a:off x="5165735"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050033133" name="Straight Connector 51"/>
          <p:cNvCxnSpPr/>
          <p:nvPr/>
        </p:nvCxnSpPr>
        <p:spPr bwMode="auto">
          <a:xfrm>
            <a:off x="5318135"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36197284" name="Straight Connector 52"/>
          <p:cNvCxnSpPr/>
          <p:nvPr/>
        </p:nvCxnSpPr>
        <p:spPr bwMode="auto">
          <a:xfrm>
            <a:off x="5470535"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064397212" name="Straight Connector 53"/>
          <p:cNvCxnSpPr/>
          <p:nvPr/>
        </p:nvCxnSpPr>
        <p:spPr bwMode="auto">
          <a:xfrm>
            <a:off x="5622935"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22683503" name="Straight Connector 54"/>
          <p:cNvCxnSpPr/>
          <p:nvPr/>
        </p:nvCxnSpPr>
        <p:spPr bwMode="auto">
          <a:xfrm>
            <a:off x="5775335"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680742546" name="Straight Connector 55"/>
          <p:cNvCxnSpPr/>
          <p:nvPr/>
        </p:nvCxnSpPr>
        <p:spPr bwMode="auto">
          <a:xfrm>
            <a:off x="5927735"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67083082" name="Straight Connector 56"/>
          <p:cNvCxnSpPr/>
          <p:nvPr/>
        </p:nvCxnSpPr>
        <p:spPr bwMode="auto">
          <a:xfrm>
            <a:off x="5528901"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56062696" name="Straight Connector 57"/>
          <p:cNvCxnSpPr/>
          <p:nvPr/>
        </p:nvCxnSpPr>
        <p:spPr bwMode="auto">
          <a:xfrm>
            <a:off x="5681301"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78975845" name="Straight Connector 58"/>
          <p:cNvCxnSpPr/>
          <p:nvPr/>
        </p:nvCxnSpPr>
        <p:spPr bwMode="auto">
          <a:xfrm>
            <a:off x="5833701"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853455633" name="Straight Connector 59"/>
          <p:cNvCxnSpPr/>
          <p:nvPr/>
        </p:nvCxnSpPr>
        <p:spPr bwMode="auto">
          <a:xfrm>
            <a:off x="5986101"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88991784" name="Straight Connector 60"/>
          <p:cNvCxnSpPr/>
          <p:nvPr/>
        </p:nvCxnSpPr>
        <p:spPr bwMode="auto">
          <a:xfrm>
            <a:off x="6138501"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827185519" name="Straight Connector 61"/>
          <p:cNvCxnSpPr/>
          <p:nvPr/>
        </p:nvCxnSpPr>
        <p:spPr bwMode="auto">
          <a:xfrm>
            <a:off x="6290901"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922208376" name="Straight Connector 62"/>
          <p:cNvCxnSpPr/>
          <p:nvPr/>
        </p:nvCxnSpPr>
        <p:spPr bwMode="auto">
          <a:xfrm>
            <a:off x="6443301"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44059816" name="Straight Connector 63"/>
          <p:cNvCxnSpPr/>
          <p:nvPr/>
        </p:nvCxnSpPr>
        <p:spPr bwMode="auto">
          <a:xfrm>
            <a:off x="6044467"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55479977" name="Straight Connector 64"/>
          <p:cNvCxnSpPr/>
          <p:nvPr/>
        </p:nvCxnSpPr>
        <p:spPr bwMode="auto">
          <a:xfrm>
            <a:off x="6196867"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97390993" name="Straight Connector 65"/>
          <p:cNvCxnSpPr/>
          <p:nvPr/>
        </p:nvCxnSpPr>
        <p:spPr bwMode="auto">
          <a:xfrm>
            <a:off x="6349267"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45658446" name="Straight Connector 66"/>
          <p:cNvCxnSpPr/>
          <p:nvPr/>
        </p:nvCxnSpPr>
        <p:spPr bwMode="auto">
          <a:xfrm>
            <a:off x="6501667"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06281915" name="Straight Connector 67"/>
          <p:cNvCxnSpPr/>
          <p:nvPr/>
        </p:nvCxnSpPr>
        <p:spPr bwMode="auto">
          <a:xfrm>
            <a:off x="6654067"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111261734" name="Straight Connector 68"/>
          <p:cNvCxnSpPr/>
          <p:nvPr/>
        </p:nvCxnSpPr>
        <p:spPr bwMode="auto">
          <a:xfrm>
            <a:off x="6806467"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620637900" name="Straight Connector 69"/>
          <p:cNvCxnSpPr/>
          <p:nvPr/>
        </p:nvCxnSpPr>
        <p:spPr bwMode="auto">
          <a:xfrm>
            <a:off x="6958867"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48653912" name="Straight Connector 70"/>
          <p:cNvCxnSpPr/>
          <p:nvPr/>
        </p:nvCxnSpPr>
        <p:spPr bwMode="auto">
          <a:xfrm>
            <a:off x="6560033"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333642255" name="Straight Connector 71"/>
          <p:cNvCxnSpPr/>
          <p:nvPr/>
        </p:nvCxnSpPr>
        <p:spPr bwMode="auto">
          <a:xfrm>
            <a:off x="6712433"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98018209" name="Straight Connector 72"/>
          <p:cNvCxnSpPr/>
          <p:nvPr/>
        </p:nvCxnSpPr>
        <p:spPr bwMode="auto">
          <a:xfrm>
            <a:off x="6864833"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10910400" name="Straight Connector 73"/>
          <p:cNvCxnSpPr/>
          <p:nvPr/>
        </p:nvCxnSpPr>
        <p:spPr bwMode="auto">
          <a:xfrm>
            <a:off x="7017233"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854389353" name="Straight Connector 74"/>
          <p:cNvCxnSpPr/>
          <p:nvPr/>
        </p:nvCxnSpPr>
        <p:spPr bwMode="auto">
          <a:xfrm>
            <a:off x="7169633"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390674296" name="Straight Connector 75"/>
          <p:cNvCxnSpPr/>
          <p:nvPr/>
        </p:nvCxnSpPr>
        <p:spPr bwMode="auto">
          <a:xfrm>
            <a:off x="7322033"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754657557" name="Straight Connector 76"/>
          <p:cNvCxnSpPr/>
          <p:nvPr/>
        </p:nvCxnSpPr>
        <p:spPr bwMode="auto">
          <a:xfrm>
            <a:off x="7474433"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04866402" name="Straight Connector 77"/>
          <p:cNvCxnSpPr/>
          <p:nvPr/>
        </p:nvCxnSpPr>
        <p:spPr bwMode="auto">
          <a:xfrm>
            <a:off x="7075599"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838119804" name="Straight Connector 78"/>
          <p:cNvCxnSpPr/>
          <p:nvPr/>
        </p:nvCxnSpPr>
        <p:spPr bwMode="auto">
          <a:xfrm>
            <a:off x="7227999"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59726981" name="Straight Connector 79"/>
          <p:cNvCxnSpPr/>
          <p:nvPr/>
        </p:nvCxnSpPr>
        <p:spPr bwMode="auto">
          <a:xfrm>
            <a:off x="7380399"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762367819" name="Straight Connector 80"/>
          <p:cNvCxnSpPr/>
          <p:nvPr/>
        </p:nvCxnSpPr>
        <p:spPr bwMode="auto">
          <a:xfrm>
            <a:off x="7532799"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040768053" name="Straight Connector 81"/>
          <p:cNvCxnSpPr/>
          <p:nvPr/>
        </p:nvCxnSpPr>
        <p:spPr bwMode="auto">
          <a:xfrm>
            <a:off x="7685198"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93031386" name="Straight Connector 82"/>
          <p:cNvCxnSpPr/>
          <p:nvPr/>
        </p:nvCxnSpPr>
        <p:spPr bwMode="auto">
          <a:xfrm>
            <a:off x="7837599"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12293378" name="Straight Connector 83"/>
          <p:cNvCxnSpPr/>
          <p:nvPr/>
        </p:nvCxnSpPr>
        <p:spPr bwMode="auto">
          <a:xfrm>
            <a:off x="7989999"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79491990" name="Straight Connector 84"/>
          <p:cNvCxnSpPr/>
          <p:nvPr/>
        </p:nvCxnSpPr>
        <p:spPr bwMode="auto">
          <a:xfrm>
            <a:off x="4970125" y="3609539"/>
            <a:ext cx="340468" cy="0"/>
          </a:xfrm>
          <a:prstGeom prst="line">
            <a:avLst/>
          </a:prstGeom>
        </p:spPr>
        <p:style>
          <a:lnRef idx="3">
            <a:schemeClr val="dk1"/>
          </a:lnRef>
          <a:fillRef idx="0">
            <a:schemeClr val="dk1"/>
          </a:fillRef>
          <a:effectRef idx="2">
            <a:schemeClr val="dk1"/>
          </a:effectRef>
          <a:fontRef idx="minor">
            <a:schemeClr val="tx1"/>
          </a:fontRef>
        </p:style>
      </p:cxnSp>
      <p:sp>
        <p:nvSpPr>
          <p:cNvPr id="1386570282" name="TextBox 85"/>
          <p:cNvSpPr txBox="1"/>
          <p:nvPr/>
        </p:nvSpPr>
        <p:spPr bwMode="auto">
          <a:xfrm>
            <a:off x="3299883" y="4210122"/>
            <a:ext cx="4429033" cy="369332"/>
          </a:xfrm>
          <a:prstGeom prst="rect">
            <a:avLst/>
          </a:prstGeom>
          <a:noFill/>
        </p:spPr>
        <p:txBody>
          <a:bodyPr wrap="none" rtlCol="0">
            <a:spAutoFit/>
          </a:bodyPr>
          <a:lstStyle/>
          <a:p>
            <a:pPr>
              <a:spcAft>
                <a:spcPts val="1650"/>
              </a:spcAft>
              <a:defRPr/>
            </a:pPr>
            <a:r>
              <a:rPr lang="en-US">
                <a:solidFill>
                  <a:srgbClr val="990000"/>
                </a:solidFill>
                <a:latin typeface="+mj-lt"/>
              </a:rPr>
              <a:t>Read sequences from many different species. </a:t>
            </a:r>
            <a:endParaRPr/>
          </a:p>
        </p:txBody>
      </p:sp>
      <p:cxnSp>
        <p:nvCxnSpPr>
          <p:cNvPr id="521789990" name="Straight Arrow Connector 88"/>
          <p:cNvCxnSpPr/>
          <p:nvPr/>
        </p:nvCxnSpPr>
        <p:spPr bwMode="auto">
          <a:xfrm>
            <a:off x="2108007" y="1472885"/>
            <a:ext cx="1183532"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545990817" name="Straight Arrow Connector 89"/>
          <p:cNvCxnSpPr/>
          <p:nvPr/>
        </p:nvCxnSpPr>
        <p:spPr bwMode="auto">
          <a:xfrm>
            <a:off x="5143037" y="2642615"/>
            <a:ext cx="0" cy="31517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1696059370" name="Oval 2"/>
          <p:cNvSpPr/>
          <p:nvPr/>
        </p:nvSpPr>
        <p:spPr bwMode="auto">
          <a:xfrm>
            <a:off x="3673366" y="943712"/>
            <a:ext cx="781396" cy="738522"/>
          </a:xfrm>
          <a:prstGeom prst="ellipse">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57345518" name="Oval 3"/>
          <p:cNvSpPr/>
          <p:nvPr/>
        </p:nvSpPr>
        <p:spPr bwMode="auto">
          <a:xfrm>
            <a:off x="4200980" y="1763567"/>
            <a:ext cx="687186" cy="460021"/>
          </a:xfrm>
          <a:prstGeom prst="ellipse">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47138116" name="Oval 86"/>
          <p:cNvSpPr/>
          <p:nvPr/>
        </p:nvSpPr>
        <p:spPr bwMode="auto">
          <a:xfrm>
            <a:off x="4604773" y="918931"/>
            <a:ext cx="687186" cy="460021"/>
          </a:xfrm>
          <a:prstGeom prst="ellipse">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01448141" name="Oval 87"/>
          <p:cNvSpPr/>
          <p:nvPr/>
        </p:nvSpPr>
        <p:spPr bwMode="auto">
          <a:xfrm>
            <a:off x="5433356" y="619124"/>
            <a:ext cx="579121" cy="738522"/>
          </a:xfrm>
          <a:prstGeom prst="ellipse">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57380169" name="Oval 92"/>
          <p:cNvSpPr/>
          <p:nvPr/>
        </p:nvSpPr>
        <p:spPr bwMode="auto">
          <a:xfrm>
            <a:off x="5152818" y="1462398"/>
            <a:ext cx="579121" cy="738522"/>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44580365" name="Oval 93"/>
          <p:cNvSpPr/>
          <p:nvPr/>
        </p:nvSpPr>
        <p:spPr bwMode="auto">
          <a:xfrm>
            <a:off x="5884078" y="1518396"/>
            <a:ext cx="989747" cy="738522"/>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66984738" name="Oval 94"/>
          <p:cNvSpPr/>
          <p:nvPr/>
        </p:nvSpPr>
        <p:spPr bwMode="auto">
          <a:xfrm>
            <a:off x="6268203" y="723444"/>
            <a:ext cx="989747" cy="738522"/>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03919641" name="TextBox 1"/>
          <p:cNvSpPr txBox="1">
            <a:spLocks noChangeArrowheads="1"/>
          </p:cNvSpPr>
          <p:nvPr/>
        </p:nvSpPr>
        <p:spPr bwMode="auto">
          <a:xfrm>
            <a:off x="364938" y="2773925"/>
            <a:ext cx="1990596" cy="1408078"/>
          </a:xfrm>
          <a:prstGeom prst="rect">
            <a:avLst/>
          </a:prstGeom>
          <a:noFill/>
          <a:ln w="9525">
            <a:noFill/>
            <a:miter lim="800000"/>
            <a:headEnd/>
            <a:tailEnd/>
          </a:ln>
        </p:spPr>
        <p:txBody>
          <a:bodyPr wrap="square">
            <a:spAutoFit/>
          </a:bodyPr>
          <a:lstStyle/>
          <a:p>
            <a:pPr>
              <a:lnSpc>
                <a:spcPct val="95000"/>
              </a:lnSpc>
              <a:defRPr/>
            </a:pPr>
            <a:r>
              <a:rPr lang="en-US">
                <a:solidFill>
                  <a:srgbClr val="990000"/>
                </a:solidFill>
                <a:latin typeface="Calibri"/>
                <a:ea typeface="ＭＳ Ｐゴシック"/>
                <a:cs typeface="Calibri"/>
              </a:rPr>
              <a:t>Read binning: </a:t>
            </a:r>
            <a:r>
              <a:rPr lang="en-US">
                <a:solidFill>
                  <a:srgbClr val="595959"/>
                </a:solidFill>
                <a:ea typeface="ＭＳ Ｐゴシック"/>
                <a:cs typeface="Calibri"/>
              </a:rPr>
              <a:t>Determine most likely source reference genome for reads.</a:t>
            </a:r>
            <a:r>
              <a:rPr lang="en-US">
                <a:solidFill>
                  <a:srgbClr val="595959"/>
                </a:solidFill>
                <a:latin typeface="Calibri"/>
                <a:ea typeface="ＭＳ Ｐゴシック"/>
                <a:cs typeface="Calibri"/>
              </a:rPr>
              <a:t>.</a:t>
            </a:r>
            <a:endParaRPr/>
          </a:p>
        </p:txBody>
      </p:sp>
      <p:grpSp>
        <p:nvGrpSpPr>
          <p:cNvPr id="1293864660" name="Group 96"/>
          <p:cNvGrpSpPr/>
          <p:nvPr/>
        </p:nvGrpSpPr>
        <p:grpSpPr bwMode="auto">
          <a:xfrm>
            <a:off x="526600" y="4294678"/>
            <a:ext cx="2249373" cy="1692854"/>
            <a:chOff x="6395985" y="-1389838"/>
            <a:chExt cx="2249373" cy="1692854"/>
          </a:xfrm>
        </p:grpSpPr>
        <p:sp>
          <p:nvSpPr>
            <p:cNvPr id="98" name="Arrow: Curved Right 97"/>
            <p:cNvSpPr/>
            <p:nvPr/>
          </p:nvSpPr>
          <p:spPr bwMode="auto">
            <a:xfrm>
              <a:off x="8199520" y="-1389838"/>
              <a:ext cx="445838" cy="1261244"/>
            </a:xfrm>
            <a:prstGeom prst="curvedRightArrow">
              <a:avLst>
                <a:gd name="adj1" fmla="val 25000"/>
                <a:gd name="adj2" fmla="val 50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99" name="TextBox 1"/>
            <p:cNvSpPr txBox="1">
              <a:spLocks noChangeArrowheads="1"/>
            </p:cNvSpPr>
            <p:nvPr/>
          </p:nvSpPr>
          <p:spPr bwMode="auto">
            <a:xfrm>
              <a:off x="6395985" y="-1105062"/>
              <a:ext cx="1908905" cy="1408078"/>
            </a:xfrm>
            <a:prstGeom prst="rect">
              <a:avLst/>
            </a:prstGeom>
            <a:noFill/>
            <a:ln w="9525">
              <a:noFill/>
              <a:miter lim="800000"/>
              <a:headEnd/>
              <a:tailEnd/>
            </a:ln>
          </p:spPr>
          <p:txBody>
            <a:bodyPr wrap="square">
              <a:spAutoFit/>
            </a:bodyPr>
            <a:lstStyle/>
            <a:p>
              <a:pPr>
                <a:lnSpc>
                  <a:spcPct val="95000"/>
                </a:lnSpc>
                <a:defRPr/>
              </a:pPr>
              <a:r>
                <a:rPr lang="en-US">
                  <a:solidFill>
                    <a:srgbClr val="990000"/>
                  </a:solidFill>
                  <a:latin typeface="Calibri"/>
                  <a:ea typeface="ＭＳ Ｐゴシック"/>
                  <a:cs typeface="Calibri"/>
                </a:rPr>
                <a:t>Metagenome assembly: </a:t>
              </a:r>
              <a:endParaRPr/>
            </a:p>
            <a:p>
              <a:pPr>
                <a:lnSpc>
                  <a:spcPct val="95000"/>
                </a:lnSpc>
                <a:defRPr/>
              </a:pPr>
              <a:r>
                <a:rPr lang="en-US">
                  <a:solidFill>
                    <a:srgbClr val="595959"/>
                  </a:solidFill>
                  <a:latin typeface="Calibri"/>
                  <a:ea typeface="ＭＳ Ｐゴシック"/>
                  <a:cs typeface="Calibri"/>
                </a:rPr>
                <a:t>Piecing together the contigs from the fragments</a:t>
              </a:r>
              <a:endParaRPr/>
            </a:p>
          </p:txBody>
        </p:sp>
      </p:grpSp>
      <p:grpSp>
        <p:nvGrpSpPr>
          <p:cNvPr id="2113509289" name="Group 106"/>
          <p:cNvGrpSpPr/>
          <p:nvPr/>
        </p:nvGrpSpPr>
        <p:grpSpPr bwMode="auto">
          <a:xfrm>
            <a:off x="3023859" y="4743565"/>
            <a:ext cx="3584584" cy="1637794"/>
            <a:chOff x="4290694" y="4773734"/>
            <a:chExt cx="3584584" cy="1637794"/>
          </a:xfrm>
        </p:grpSpPr>
        <p:sp>
          <p:nvSpPr>
            <p:cNvPr id="100" name="Oval 99"/>
            <p:cNvSpPr/>
            <p:nvPr/>
          </p:nvSpPr>
          <p:spPr bwMode="auto">
            <a:xfrm>
              <a:off x="4290694" y="5098322"/>
              <a:ext cx="781396" cy="738522"/>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1" name="Oval 100"/>
            <p:cNvSpPr/>
            <p:nvPr/>
          </p:nvSpPr>
          <p:spPr bwMode="auto">
            <a:xfrm>
              <a:off x="4818308" y="5918177"/>
              <a:ext cx="687186" cy="460021"/>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2" name="Oval 101"/>
            <p:cNvSpPr/>
            <p:nvPr/>
          </p:nvSpPr>
          <p:spPr bwMode="auto">
            <a:xfrm>
              <a:off x="5222101" y="5073541"/>
              <a:ext cx="687186" cy="460021"/>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3" name="Oval 102"/>
            <p:cNvSpPr/>
            <p:nvPr/>
          </p:nvSpPr>
          <p:spPr bwMode="auto">
            <a:xfrm>
              <a:off x="6050684" y="4773734"/>
              <a:ext cx="579121" cy="738522"/>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4" name="Oval 103"/>
            <p:cNvSpPr/>
            <p:nvPr/>
          </p:nvSpPr>
          <p:spPr bwMode="auto">
            <a:xfrm>
              <a:off x="5770146" y="5617008"/>
              <a:ext cx="579121" cy="738522"/>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5" name="Oval 104"/>
            <p:cNvSpPr/>
            <p:nvPr/>
          </p:nvSpPr>
          <p:spPr bwMode="auto">
            <a:xfrm>
              <a:off x="6501406" y="5673005"/>
              <a:ext cx="989747" cy="738522"/>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6" name="Oval 105"/>
            <p:cNvSpPr/>
            <p:nvPr/>
          </p:nvSpPr>
          <p:spPr bwMode="auto">
            <a:xfrm>
              <a:off x="6885531" y="4878054"/>
              <a:ext cx="989747" cy="738522"/>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276829158" name="Group 107"/>
          <p:cNvGrpSpPr/>
          <p:nvPr/>
        </p:nvGrpSpPr>
        <p:grpSpPr bwMode="auto">
          <a:xfrm>
            <a:off x="3024401" y="4743565"/>
            <a:ext cx="3584584" cy="1637794"/>
            <a:chOff x="4290694" y="4773734"/>
            <a:chExt cx="3584584" cy="1637794"/>
          </a:xfrm>
        </p:grpSpPr>
        <p:sp>
          <p:nvSpPr>
            <p:cNvPr id="109" name="Oval 108"/>
            <p:cNvSpPr/>
            <p:nvPr/>
          </p:nvSpPr>
          <p:spPr bwMode="auto">
            <a:xfrm>
              <a:off x="4290694" y="5098322"/>
              <a:ext cx="781396" cy="738522"/>
            </a:xfrm>
            <a:prstGeom prst="ellipse">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0" name="Oval 109"/>
            <p:cNvSpPr/>
            <p:nvPr/>
          </p:nvSpPr>
          <p:spPr bwMode="auto">
            <a:xfrm>
              <a:off x="4818308" y="5918177"/>
              <a:ext cx="687186" cy="460021"/>
            </a:xfrm>
            <a:prstGeom prst="ellipse">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1" name="Oval 110"/>
            <p:cNvSpPr/>
            <p:nvPr/>
          </p:nvSpPr>
          <p:spPr bwMode="auto">
            <a:xfrm>
              <a:off x="5222101" y="5073541"/>
              <a:ext cx="687186" cy="460021"/>
            </a:xfrm>
            <a:prstGeom prst="ellipse">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2" name="Oval 111"/>
            <p:cNvSpPr/>
            <p:nvPr/>
          </p:nvSpPr>
          <p:spPr bwMode="auto">
            <a:xfrm>
              <a:off x="6050684" y="4773734"/>
              <a:ext cx="579121" cy="738522"/>
            </a:xfrm>
            <a:prstGeom prst="ellipse">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3" name="Oval 112"/>
            <p:cNvSpPr/>
            <p:nvPr/>
          </p:nvSpPr>
          <p:spPr bwMode="auto">
            <a:xfrm>
              <a:off x="5770146" y="5617008"/>
              <a:ext cx="579121" cy="738522"/>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4" name="Oval 113"/>
            <p:cNvSpPr/>
            <p:nvPr/>
          </p:nvSpPr>
          <p:spPr bwMode="auto">
            <a:xfrm>
              <a:off x="6501406" y="5673005"/>
              <a:ext cx="989747" cy="738522"/>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5" name="Oval 114"/>
            <p:cNvSpPr/>
            <p:nvPr/>
          </p:nvSpPr>
          <p:spPr bwMode="auto">
            <a:xfrm>
              <a:off x="6885531" y="4878054"/>
              <a:ext cx="989747" cy="738522"/>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241786873" name="Group 128"/>
          <p:cNvGrpSpPr/>
          <p:nvPr/>
        </p:nvGrpSpPr>
        <p:grpSpPr bwMode="auto">
          <a:xfrm>
            <a:off x="2908300" y="4628137"/>
            <a:ext cx="3629035" cy="1864726"/>
            <a:chOff x="4175135" y="4658306"/>
            <a:chExt cx="3629035" cy="1864726"/>
          </a:xfrm>
        </p:grpSpPr>
        <p:sp>
          <p:nvSpPr>
            <p:cNvPr id="116" name="Rectangle 115"/>
            <p:cNvSpPr/>
            <p:nvPr/>
          </p:nvSpPr>
          <p:spPr bwMode="auto">
            <a:xfrm>
              <a:off x="4175135" y="5027635"/>
              <a:ext cx="434502" cy="3693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7" name="Rectangle 116"/>
            <p:cNvSpPr/>
            <p:nvPr/>
          </p:nvSpPr>
          <p:spPr bwMode="auto">
            <a:xfrm>
              <a:off x="4632335" y="5654169"/>
              <a:ext cx="434502" cy="3693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8" name="Rectangle 117"/>
            <p:cNvSpPr/>
            <p:nvPr/>
          </p:nvSpPr>
          <p:spPr bwMode="auto">
            <a:xfrm>
              <a:off x="4948484" y="6153702"/>
              <a:ext cx="434502" cy="3693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9" name="Rectangle 118"/>
            <p:cNvSpPr/>
            <p:nvPr/>
          </p:nvSpPr>
          <p:spPr bwMode="auto">
            <a:xfrm>
              <a:off x="6237399" y="6039401"/>
              <a:ext cx="434502" cy="3693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0" name="Rectangle 119"/>
            <p:cNvSpPr/>
            <p:nvPr/>
          </p:nvSpPr>
          <p:spPr bwMode="auto">
            <a:xfrm>
              <a:off x="7369668" y="5556800"/>
              <a:ext cx="434502" cy="3693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1" name="Rectangle 120"/>
            <p:cNvSpPr/>
            <p:nvPr/>
          </p:nvSpPr>
          <p:spPr bwMode="auto">
            <a:xfrm>
              <a:off x="6752965" y="4658306"/>
              <a:ext cx="434502" cy="3693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2" name="Rectangle 121"/>
            <p:cNvSpPr/>
            <p:nvPr/>
          </p:nvSpPr>
          <p:spPr bwMode="auto">
            <a:xfrm>
              <a:off x="6367101" y="5130799"/>
              <a:ext cx="434502" cy="175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3" name="Rectangle 122"/>
            <p:cNvSpPr/>
            <p:nvPr/>
          </p:nvSpPr>
          <p:spPr bwMode="auto">
            <a:xfrm>
              <a:off x="5335969" y="4976759"/>
              <a:ext cx="434502" cy="175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4" name="Rectangle 123"/>
            <p:cNvSpPr/>
            <p:nvPr/>
          </p:nvSpPr>
          <p:spPr bwMode="auto">
            <a:xfrm>
              <a:off x="5681301" y="5593185"/>
              <a:ext cx="434502" cy="175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5" name="Rectangle 124"/>
            <p:cNvSpPr/>
            <p:nvPr/>
          </p:nvSpPr>
          <p:spPr bwMode="auto">
            <a:xfrm>
              <a:off x="5183569" y="6023344"/>
              <a:ext cx="434502" cy="175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6" name="Rectangle 125"/>
            <p:cNvSpPr/>
            <p:nvPr/>
          </p:nvSpPr>
          <p:spPr bwMode="auto">
            <a:xfrm>
              <a:off x="6582731" y="5602603"/>
              <a:ext cx="434502" cy="175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7" name="Rectangle 126"/>
            <p:cNvSpPr/>
            <p:nvPr/>
          </p:nvSpPr>
          <p:spPr bwMode="auto">
            <a:xfrm>
              <a:off x="5827216" y="4940031"/>
              <a:ext cx="434502" cy="175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8" name="Rectangle 127"/>
            <p:cNvSpPr/>
            <p:nvPr/>
          </p:nvSpPr>
          <p:spPr bwMode="auto">
            <a:xfrm>
              <a:off x="5752637" y="5323093"/>
              <a:ext cx="434502" cy="175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242960288" name="TextBox 1"/>
          <p:cNvSpPr txBox="1">
            <a:spLocks noChangeArrowheads="1"/>
          </p:cNvSpPr>
          <p:nvPr/>
        </p:nvSpPr>
        <p:spPr bwMode="auto">
          <a:xfrm>
            <a:off x="6761874" y="4771011"/>
            <a:ext cx="2796718" cy="881780"/>
          </a:xfrm>
          <a:prstGeom prst="rect">
            <a:avLst/>
          </a:prstGeom>
          <a:noFill/>
          <a:ln w="9525">
            <a:noFill/>
            <a:miter lim="800000"/>
            <a:headEnd/>
            <a:tailEnd/>
          </a:ln>
        </p:spPr>
        <p:txBody>
          <a:bodyPr wrap="square">
            <a:spAutoFit/>
          </a:bodyPr>
          <a:lstStyle/>
          <a:p>
            <a:pPr>
              <a:lnSpc>
                <a:spcPct val="95000"/>
              </a:lnSpc>
              <a:defRPr/>
            </a:pPr>
            <a:r>
              <a:rPr lang="en-US">
                <a:solidFill>
                  <a:srgbClr val="990000"/>
                </a:solidFill>
                <a:latin typeface="Calibri"/>
                <a:ea typeface="ＭＳ Ｐゴシック"/>
                <a:cs typeface="Calibri"/>
              </a:rPr>
              <a:t>Contig binning: </a:t>
            </a:r>
            <a:r>
              <a:rPr lang="en-US">
                <a:solidFill>
                  <a:srgbClr val="595959"/>
                </a:solidFill>
                <a:latin typeface="Calibri"/>
                <a:ea typeface="ＭＳ Ｐゴシック"/>
                <a:cs typeface="Calibri"/>
              </a:rPr>
              <a:t>Group together contigs into putative species</a:t>
            </a:r>
            <a:endParaRPr/>
          </a:p>
        </p:txBody>
      </p:sp>
      <p:grpSp>
        <p:nvGrpSpPr>
          <p:cNvPr id="1176918565" name="Group 161"/>
          <p:cNvGrpSpPr/>
          <p:nvPr/>
        </p:nvGrpSpPr>
        <p:grpSpPr bwMode="auto">
          <a:xfrm>
            <a:off x="7873267" y="698499"/>
            <a:ext cx="3632933" cy="2213636"/>
            <a:chOff x="7873267" y="698499"/>
            <a:chExt cx="3632933" cy="2213636"/>
          </a:xfrm>
        </p:grpSpPr>
        <p:cxnSp>
          <p:nvCxnSpPr>
            <p:cNvPr id="137" name="Straight Arrow Connector 136"/>
            <p:cNvCxnSpPr/>
            <p:nvPr/>
          </p:nvCxnSpPr>
          <p:spPr bwMode="auto">
            <a:xfrm>
              <a:off x="7873267" y="1575279"/>
              <a:ext cx="1183532"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39" name="Straight Connector 138"/>
            <p:cNvCxnSpPr/>
            <p:nvPr/>
          </p:nvCxnSpPr>
          <p:spPr bwMode="auto">
            <a:xfrm>
              <a:off x="9575800" y="698499"/>
              <a:ext cx="0" cy="1826355"/>
            </a:xfrm>
            <a:prstGeom prst="line">
              <a:avLst/>
            </a:prstGeom>
            <a:ln w="28575"/>
          </p:spPr>
          <p:style>
            <a:lnRef idx="1">
              <a:schemeClr val="dk1"/>
            </a:lnRef>
            <a:fillRef idx="0">
              <a:schemeClr val="dk1"/>
            </a:fillRef>
            <a:effectRef idx="0">
              <a:schemeClr val="dk1"/>
            </a:effectRef>
            <a:fontRef idx="minor">
              <a:schemeClr val="tx1"/>
            </a:fontRef>
          </p:style>
        </p:cxnSp>
        <p:cxnSp>
          <p:nvCxnSpPr>
            <p:cNvPr id="140" name="Straight Connector 139"/>
            <p:cNvCxnSpPr/>
            <p:nvPr/>
          </p:nvCxnSpPr>
          <p:spPr bwMode="auto">
            <a:xfrm flipH="1">
              <a:off x="9563100" y="2524854"/>
              <a:ext cx="1943100" cy="0"/>
            </a:xfrm>
            <a:prstGeom prst="line">
              <a:avLst/>
            </a:prstGeom>
            <a:ln w="28575"/>
          </p:spPr>
          <p:style>
            <a:lnRef idx="1">
              <a:schemeClr val="dk1"/>
            </a:lnRef>
            <a:fillRef idx="0">
              <a:schemeClr val="dk1"/>
            </a:fillRef>
            <a:effectRef idx="0">
              <a:schemeClr val="dk1"/>
            </a:effectRef>
            <a:fontRef idx="minor">
              <a:schemeClr val="tx1"/>
            </a:fontRef>
          </p:style>
        </p:cxnSp>
        <p:sp>
          <p:nvSpPr>
            <p:cNvPr id="143" name="TextBox 142"/>
            <p:cNvSpPr txBox="1"/>
            <p:nvPr/>
          </p:nvSpPr>
          <p:spPr bwMode="auto">
            <a:xfrm>
              <a:off x="10066867" y="2542803"/>
              <a:ext cx="883575" cy="369332"/>
            </a:xfrm>
            <a:prstGeom prst="rect">
              <a:avLst/>
            </a:prstGeom>
            <a:noFill/>
          </p:spPr>
          <p:txBody>
            <a:bodyPr wrap="none" rtlCol="0">
              <a:spAutoFit/>
            </a:bodyPr>
            <a:lstStyle/>
            <a:p>
              <a:pPr>
                <a:defRPr/>
              </a:pPr>
              <a:r>
                <a:rPr lang="en-US"/>
                <a:t>Species</a:t>
              </a:r>
              <a:endParaRPr/>
            </a:p>
          </p:txBody>
        </p:sp>
        <p:sp>
          <p:nvSpPr>
            <p:cNvPr id="144" name="TextBox 143"/>
            <p:cNvSpPr txBox="1"/>
            <p:nvPr/>
          </p:nvSpPr>
          <p:spPr bwMode="auto">
            <a:xfrm rot="16199999">
              <a:off x="8758769" y="1459468"/>
              <a:ext cx="1250663" cy="369332"/>
            </a:xfrm>
            <a:prstGeom prst="rect">
              <a:avLst/>
            </a:prstGeom>
            <a:noFill/>
          </p:spPr>
          <p:txBody>
            <a:bodyPr wrap="none" rtlCol="0">
              <a:spAutoFit/>
            </a:bodyPr>
            <a:lstStyle/>
            <a:p>
              <a:pPr>
                <a:defRPr/>
              </a:pPr>
              <a:r>
                <a:rPr lang="en-US"/>
                <a:t>Abundance</a:t>
              </a:r>
              <a:endParaRPr/>
            </a:p>
          </p:txBody>
        </p:sp>
        <p:cxnSp>
          <p:nvCxnSpPr>
            <p:cNvPr id="145" name="Straight Connector 144"/>
            <p:cNvCxnSpPr/>
            <p:nvPr/>
          </p:nvCxnSpPr>
          <p:spPr bwMode="auto">
            <a:xfrm>
              <a:off x="9880600" y="2243667"/>
              <a:ext cx="0" cy="276954"/>
            </a:xfrm>
            <a:prstGeom prst="line">
              <a:avLst/>
            </a:prstGeom>
            <a:ln w="76200">
              <a:solidFill>
                <a:schemeClr val="accent6"/>
              </a:solidFill>
            </a:ln>
          </p:spPr>
          <p:style>
            <a:lnRef idx="1">
              <a:schemeClr val="dk1"/>
            </a:lnRef>
            <a:fillRef idx="0">
              <a:schemeClr val="dk1"/>
            </a:fillRef>
            <a:effectRef idx="0">
              <a:schemeClr val="dk1"/>
            </a:effectRef>
            <a:fontRef idx="minor">
              <a:schemeClr val="tx1"/>
            </a:fontRef>
          </p:style>
        </p:cxnSp>
        <p:cxnSp>
          <p:nvCxnSpPr>
            <p:cNvPr id="147" name="Straight Connector 146"/>
            <p:cNvCxnSpPr/>
            <p:nvPr/>
          </p:nvCxnSpPr>
          <p:spPr bwMode="auto">
            <a:xfrm>
              <a:off x="10033000" y="1472885"/>
              <a:ext cx="0" cy="1040026"/>
            </a:xfrm>
            <a:prstGeom prst="line">
              <a:avLst/>
            </a:prstGeom>
            <a:ln w="76200">
              <a:solidFill>
                <a:schemeClr val="accent5"/>
              </a:solidFill>
            </a:ln>
          </p:spPr>
          <p:style>
            <a:lnRef idx="1">
              <a:schemeClr val="dk1"/>
            </a:lnRef>
            <a:fillRef idx="0">
              <a:schemeClr val="dk1"/>
            </a:fillRef>
            <a:effectRef idx="0">
              <a:schemeClr val="dk1"/>
            </a:effectRef>
            <a:fontRef idx="minor">
              <a:schemeClr val="tx1"/>
            </a:fontRef>
          </p:style>
        </p:cxnSp>
        <p:cxnSp>
          <p:nvCxnSpPr>
            <p:cNvPr id="149" name="Straight Connector 148"/>
            <p:cNvCxnSpPr/>
            <p:nvPr/>
          </p:nvCxnSpPr>
          <p:spPr bwMode="auto">
            <a:xfrm>
              <a:off x="10185400" y="1941093"/>
              <a:ext cx="0" cy="571818"/>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cxnSp>
          <p:nvCxnSpPr>
            <p:cNvPr id="151" name="Straight Connector 150"/>
            <p:cNvCxnSpPr/>
            <p:nvPr/>
          </p:nvCxnSpPr>
          <p:spPr bwMode="auto">
            <a:xfrm>
              <a:off x="10329334" y="977900"/>
              <a:ext cx="0" cy="1535011"/>
            </a:xfrm>
            <a:prstGeom prst="line">
              <a:avLst/>
            </a:prstGeom>
            <a:ln w="76200">
              <a:solidFill>
                <a:srgbClr val="92D050"/>
              </a:solidFill>
            </a:ln>
          </p:spPr>
          <p:style>
            <a:lnRef idx="1">
              <a:schemeClr val="dk1"/>
            </a:lnRef>
            <a:fillRef idx="0">
              <a:schemeClr val="dk1"/>
            </a:fillRef>
            <a:effectRef idx="0">
              <a:schemeClr val="dk1"/>
            </a:effectRef>
            <a:fontRef idx="minor">
              <a:schemeClr val="tx1"/>
            </a:fontRef>
          </p:style>
        </p:cxnSp>
        <p:cxnSp>
          <p:nvCxnSpPr>
            <p:cNvPr id="152" name="Straight Connector 151"/>
            <p:cNvCxnSpPr/>
            <p:nvPr/>
          </p:nvCxnSpPr>
          <p:spPr bwMode="auto">
            <a:xfrm>
              <a:off x="10473268" y="2404533"/>
              <a:ext cx="0" cy="108378"/>
            </a:xfrm>
            <a:prstGeom prst="line">
              <a:avLst/>
            </a:prstGeom>
            <a:ln w="76200">
              <a:solidFill>
                <a:schemeClr val="accent4"/>
              </a:solidFill>
            </a:ln>
          </p:spPr>
          <p:style>
            <a:lnRef idx="1">
              <a:schemeClr val="dk1"/>
            </a:lnRef>
            <a:fillRef idx="0">
              <a:schemeClr val="dk1"/>
            </a:fillRef>
            <a:effectRef idx="0">
              <a:schemeClr val="dk1"/>
            </a:effectRef>
            <a:fontRef idx="minor">
              <a:schemeClr val="tx1"/>
            </a:fontRef>
          </p:style>
        </p:cxnSp>
        <p:cxnSp>
          <p:nvCxnSpPr>
            <p:cNvPr id="153" name="Straight Connector 152"/>
            <p:cNvCxnSpPr/>
            <p:nvPr/>
          </p:nvCxnSpPr>
          <p:spPr bwMode="auto">
            <a:xfrm>
              <a:off x="10617202" y="1875367"/>
              <a:ext cx="0" cy="637544"/>
            </a:xfrm>
            <a:prstGeom prst="line">
              <a:avLst/>
            </a:prstGeom>
            <a:ln w="76200">
              <a:solidFill>
                <a:schemeClr val="accent1"/>
              </a:solidFill>
            </a:ln>
          </p:spPr>
          <p:style>
            <a:lnRef idx="1">
              <a:schemeClr val="dk1"/>
            </a:lnRef>
            <a:fillRef idx="0">
              <a:schemeClr val="dk1"/>
            </a:fillRef>
            <a:effectRef idx="0">
              <a:schemeClr val="dk1"/>
            </a:effectRef>
            <a:fontRef idx="minor">
              <a:schemeClr val="tx1"/>
            </a:fontRef>
          </p:style>
        </p:cxnSp>
        <p:cxnSp>
          <p:nvCxnSpPr>
            <p:cNvPr id="154" name="Straight Connector 153"/>
            <p:cNvCxnSpPr/>
            <p:nvPr/>
          </p:nvCxnSpPr>
          <p:spPr bwMode="auto">
            <a:xfrm>
              <a:off x="10761136" y="2185156"/>
              <a:ext cx="0" cy="327755"/>
            </a:xfrm>
            <a:prstGeom prst="line">
              <a:avLst/>
            </a:prstGeom>
            <a:ln w="76200">
              <a:solidFill>
                <a:schemeClr val="accent2"/>
              </a:solidFill>
            </a:ln>
          </p:spPr>
          <p:style>
            <a:lnRef idx="1">
              <a:schemeClr val="dk1"/>
            </a:lnRef>
            <a:fillRef idx="0">
              <a:schemeClr val="dk1"/>
            </a:fillRef>
            <a:effectRef idx="0">
              <a:schemeClr val="dk1"/>
            </a:effectRef>
            <a:fontRef idx="minor">
              <a:schemeClr val="tx1"/>
            </a:fontRef>
          </p:style>
        </p:cxnSp>
      </p:grpSp>
      <p:sp>
        <p:nvSpPr>
          <p:cNvPr id="201961183" name="TextBox 1"/>
          <p:cNvSpPr txBox="1">
            <a:spLocks noChangeArrowheads="1"/>
          </p:cNvSpPr>
          <p:nvPr/>
        </p:nvSpPr>
        <p:spPr bwMode="auto">
          <a:xfrm>
            <a:off x="9037434" y="3032559"/>
            <a:ext cx="2796718" cy="881780"/>
          </a:xfrm>
          <a:prstGeom prst="rect">
            <a:avLst/>
          </a:prstGeom>
          <a:noFill/>
          <a:ln w="9525">
            <a:noFill/>
            <a:miter lim="800000"/>
            <a:headEnd/>
            <a:tailEnd/>
          </a:ln>
        </p:spPr>
        <p:txBody>
          <a:bodyPr wrap="square">
            <a:spAutoFit/>
          </a:bodyPr>
          <a:lstStyle/>
          <a:p>
            <a:pPr>
              <a:lnSpc>
                <a:spcPct val="95000"/>
              </a:lnSpc>
              <a:defRPr/>
            </a:pPr>
            <a:r>
              <a:rPr lang="en-US">
                <a:solidFill>
                  <a:srgbClr val="990000"/>
                </a:solidFill>
                <a:latin typeface="Calibri"/>
                <a:ea typeface="ＭＳ Ｐゴシック"/>
                <a:cs typeface="Calibri"/>
              </a:rPr>
              <a:t>Profiling: </a:t>
            </a:r>
            <a:r>
              <a:rPr lang="en-US">
                <a:solidFill>
                  <a:srgbClr val="595959"/>
                </a:solidFill>
                <a:latin typeface="Calibri"/>
                <a:ea typeface="ＭＳ Ｐゴシック"/>
                <a:cs typeface="Calibri"/>
              </a:rPr>
              <a:t>Determine the relative abundance of bacterial species present</a:t>
            </a:r>
            <a:endParaRPr/>
          </a:p>
        </p:txBody>
      </p:sp>
      <p:sp>
        <p:nvSpPr>
          <p:cNvPr id="355479545" name="TextBox 1"/>
          <p:cNvSpPr txBox="1">
            <a:spLocks noChangeArrowheads="1"/>
          </p:cNvSpPr>
          <p:nvPr/>
        </p:nvSpPr>
        <p:spPr bwMode="auto">
          <a:xfrm>
            <a:off x="9211900" y="5401777"/>
            <a:ext cx="2796718" cy="1144929"/>
          </a:xfrm>
          <a:prstGeom prst="rect">
            <a:avLst/>
          </a:prstGeom>
          <a:noFill/>
          <a:ln w="9525">
            <a:noFill/>
            <a:miter lim="800000"/>
            <a:headEnd/>
            <a:tailEnd/>
          </a:ln>
        </p:spPr>
        <p:txBody>
          <a:bodyPr wrap="square">
            <a:spAutoFit/>
          </a:bodyPr>
          <a:lstStyle/>
          <a:p>
            <a:pPr>
              <a:lnSpc>
                <a:spcPct val="95000"/>
              </a:lnSpc>
              <a:defRPr/>
            </a:pPr>
            <a:r>
              <a:rPr lang="en-US">
                <a:solidFill>
                  <a:srgbClr val="990000"/>
                </a:solidFill>
                <a:latin typeface="Calibri"/>
                <a:ea typeface="ＭＳ Ｐゴシック"/>
                <a:cs typeface="Calibri"/>
              </a:rPr>
              <a:t>Species determination: </a:t>
            </a:r>
            <a:r>
              <a:rPr lang="en-US">
                <a:solidFill>
                  <a:srgbClr val="595959"/>
                </a:solidFill>
                <a:latin typeface="Calibri"/>
                <a:ea typeface="ＭＳ Ｐゴシック"/>
                <a:cs typeface="Calibri"/>
              </a:rPr>
              <a:t>Decide that a metagenome-assembled-genome (MAG) is from a particular species</a:t>
            </a:r>
            <a:endParaRPr/>
          </a:p>
        </p:txBody>
      </p:sp>
      <p:sp>
        <p:nvSpPr>
          <p:cNvPr id="352434955" name="Slide Number Placeholder 5"/>
          <p:cNvSpPr>
            <a:spLocks noGrp="1"/>
          </p:cNvSpPr>
          <p:nvPr>
            <p:ph type="sldNum" sz="quarter" idx="16"/>
          </p:nvPr>
        </p:nvSpPr>
        <p:spPr bwMode="auto"/>
        <p:txBody>
          <a:bodyPr/>
          <a:lstStyle>
            <a:lvl1pPr>
              <a:defRPr/>
            </a:lvl1pPr>
          </a:lstStyle>
          <a:p>
            <a:pPr>
              <a:defRPr/>
            </a:pPr>
            <a:fld id="{7F643728-0F3D-60AE-E062-90BFCBDF01F2}" type="slidenum">
              <a:rPr lang="en-US"/>
              <a:t>36</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78658026"/>
                                        </p:tgtEl>
                                        <p:attrNameLst>
                                          <p:attrName>style.visibility</p:attrName>
                                        </p:attrNameLst>
                                      </p:cBhvr>
                                      <p:to>
                                        <p:strVal val="visible"/>
                                      </p:to>
                                    </p:set>
                                    <p:animEffect transition="in" filter="fade">
                                      <p:cBhvr>
                                        <p:cTn id="7" dur="500"/>
                                        <p:tgtEl>
                                          <p:spTgt spid="1878658026"/>
                                        </p:tgtEl>
                                      </p:cBhvr>
                                    </p:animEffect>
                                  </p:childTnLst>
                                </p:cTn>
                              </p:par>
                              <p:par>
                                <p:cTn id="8" presetID="10" presetClass="entr" presetSubtype="0" fill="hold" nodeType="withEffect">
                                  <p:stCondLst>
                                    <p:cond delay="0"/>
                                  </p:stCondLst>
                                  <p:childTnLst>
                                    <p:set>
                                      <p:cBhvr>
                                        <p:cTn id="9" dur="1" fill="hold">
                                          <p:stCondLst>
                                            <p:cond delay="0"/>
                                          </p:stCondLst>
                                        </p:cTn>
                                        <p:tgtEl>
                                          <p:spTgt spid="521789990"/>
                                        </p:tgtEl>
                                        <p:attrNameLst>
                                          <p:attrName>style.visibility</p:attrName>
                                        </p:attrNameLst>
                                      </p:cBhvr>
                                      <p:to>
                                        <p:strVal val="visible"/>
                                      </p:to>
                                    </p:set>
                                    <p:animEffect transition="in" filter="fade">
                                      <p:cBhvr>
                                        <p:cTn id="10" dur="500"/>
                                        <p:tgtEl>
                                          <p:spTgt spid="52178999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38706482"/>
                                        </p:tgtEl>
                                        <p:attrNameLst>
                                          <p:attrName>style.visibility</p:attrName>
                                        </p:attrNameLst>
                                      </p:cBhvr>
                                      <p:to>
                                        <p:strVal val="visible"/>
                                      </p:to>
                                    </p:set>
                                    <p:animEffect transition="in" filter="fade">
                                      <p:cBhvr>
                                        <p:cTn id="15" dur="500"/>
                                        <p:tgtEl>
                                          <p:spTgt spid="738706482"/>
                                        </p:tgtEl>
                                      </p:cBhvr>
                                    </p:animEffect>
                                  </p:childTnLst>
                                </p:cTn>
                              </p:par>
                              <p:par>
                                <p:cTn id="16" presetID="10" presetClass="entr" presetSubtype="0" fill="hold" nodeType="withEffect">
                                  <p:stCondLst>
                                    <p:cond delay="0"/>
                                  </p:stCondLst>
                                  <p:childTnLst>
                                    <p:set>
                                      <p:cBhvr>
                                        <p:cTn id="17" dur="1" fill="hold">
                                          <p:stCondLst>
                                            <p:cond delay="0"/>
                                          </p:stCondLst>
                                        </p:cTn>
                                        <p:tgtEl>
                                          <p:spTgt spid="862836527"/>
                                        </p:tgtEl>
                                        <p:attrNameLst>
                                          <p:attrName>style.visibility</p:attrName>
                                        </p:attrNameLst>
                                      </p:cBhvr>
                                      <p:to>
                                        <p:strVal val="visible"/>
                                      </p:to>
                                    </p:set>
                                    <p:animEffect transition="in" filter="fade">
                                      <p:cBhvr>
                                        <p:cTn id="18" dur="500"/>
                                        <p:tgtEl>
                                          <p:spTgt spid="862836527"/>
                                        </p:tgtEl>
                                      </p:cBhvr>
                                    </p:animEffect>
                                  </p:childTnLst>
                                </p:cTn>
                              </p:par>
                              <p:par>
                                <p:cTn id="19" presetID="10" presetClass="entr" presetSubtype="0" fill="hold" nodeType="withEffect">
                                  <p:stCondLst>
                                    <p:cond delay="0"/>
                                  </p:stCondLst>
                                  <p:childTnLst>
                                    <p:set>
                                      <p:cBhvr>
                                        <p:cTn id="20" dur="1" fill="hold">
                                          <p:stCondLst>
                                            <p:cond delay="0"/>
                                          </p:stCondLst>
                                        </p:cTn>
                                        <p:tgtEl>
                                          <p:spTgt spid="1749414121"/>
                                        </p:tgtEl>
                                        <p:attrNameLst>
                                          <p:attrName>style.visibility</p:attrName>
                                        </p:attrNameLst>
                                      </p:cBhvr>
                                      <p:to>
                                        <p:strVal val="visible"/>
                                      </p:to>
                                    </p:set>
                                    <p:animEffect transition="in" filter="fade">
                                      <p:cBhvr>
                                        <p:cTn id="21" dur="500"/>
                                        <p:tgtEl>
                                          <p:spTgt spid="1749414121"/>
                                        </p:tgtEl>
                                      </p:cBhvr>
                                    </p:animEffect>
                                  </p:childTnLst>
                                </p:cTn>
                              </p:par>
                              <p:par>
                                <p:cTn id="22" presetID="10" presetClass="entr" presetSubtype="0" fill="hold" nodeType="withEffect">
                                  <p:stCondLst>
                                    <p:cond delay="0"/>
                                  </p:stCondLst>
                                  <p:childTnLst>
                                    <p:set>
                                      <p:cBhvr>
                                        <p:cTn id="23" dur="1" fill="hold">
                                          <p:stCondLst>
                                            <p:cond delay="0"/>
                                          </p:stCondLst>
                                        </p:cTn>
                                        <p:tgtEl>
                                          <p:spTgt spid="1576733695"/>
                                        </p:tgtEl>
                                        <p:attrNameLst>
                                          <p:attrName>style.visibility</p:attrName>
                                        </p:attrNameLst>
                                      </p:cBhvr>
                                      <p:to>
                                        <p:strVal val="visible"/>
                                      </p:to>
                                    </p:set>
                                    <p:animEffect transition="in" filter="fade">
                                      <p:cBhvr>
                                        <p:cTn id="24" dur="500"/>
                                        <p:tgtEl>
                                          <p:spTgt spid="1576733695"/>
                                        </p:tgtEl>
                                      </p:cBhvr>
                                    </p:animEffect>
                                  </p:childTnLst>
                                </p:cTn>
                              </p:par>
                              <p:par>
                                <p:cTn id="25" presetID="10" presetClass="entr" presetSubtype="0" fill="hold" nodeType="withEffect">
                                  <p:stCondLst>
                                    <p:cond delay="0"/>
                                  </p:stCondLst>
                                  <p:childTnLst>
                                    <p:set>
                                      <p:cBhvr>
                                        <p:cTn id="26" dur="1" fill="hold">
                                          <p:stCondLst>
                                            <p:cond delay="0"/>
                                          </p:stCondLst>
                                        </p:cTn>
                                        <p:tgtEl>
                                          <p:spTgt spid="1524744651"/>
                                        </p:tgtEl>
                                        <p:attrNameLst>
                                          <p:attrName>style.visibility</p:attrName>
                                        </p:attrNameLst>
                                      </p:cBhvr>
                                      <p:to>
                                        <p:strVal val="visible"/>
                                      </p:to>
                                    </p:set>
                                    <p:animEffect transition="in" filter="fade">
                                      <p:cBhvr>
                                        <p:cTn id="27" dur="500"/>
                                        <p:tgtEl>
                                          <p:spTgt spid="1524744651"/>
                                        </p:tgtEl>
                                      </p:cBhvr>
                                    </p:animEffect>
                                  </p:childTnLst>
                                </p:cTn>
                              </p:par>
                              <p:par>
                                <p:cTn id="28" presetID="10" presetClass="entr" presetSubtype="0" fill="hold" nodeType="withEffect">
                                  <p:stCondLst>
                                    <p:cond delay="0"/>
                                  </p:stCondLst>
                                  <p:childTnLst>
                                    <p:set>
                                      <p:cBhvr>
                                        <p:cTn id="29" dur="1" fill="hold">
                                          <p:stCondLst>
                                            <p:cond delay="0"/>
                                          </p:stCondLst>
                                        </p:cTn>
                                        <p:tgtEl>
                                          <p:spTgt spid="2109788942"/>
                                        </p:tgtEl>
                                        <p:attrNameLst>
                                          <p:attrName>style.visibility</p:attrName>
                                        </p:attrNameLst>
                                      </p:cBhvr>
                                      <p:to>
                                        <p:strVal val="visible"/>
                                      </p:to>
                                    </p:set>
                                    <p:animEffect transition="in" filter="fade">
                                      <p:cBhvr>
                                        <p:cTn id="30" dur="500"/>
                                        <p:tgtEl>
                                          <p:spTgt spid="2109788942"/>
                                        </p:tgtEl>
                                      </p:cBhvr>
                                    </p:animEffect>
                                  </p:childTnLst>
                                </p:cTn>
                              </p:par>
                              <p:par>
                                <p:cTn id="31" presetID="10" presetClass="entr" presetSubtype="0" fill="hold" nodeType="withEffect">
                                  <p:stCondLst>
                                    <p:cond delay="0"/>
                                  </p:stCondLst>
                                  <p:childTnLst>
                                    <p:set>
                                      <p:cBhvr>
                                        <p:cTn id="32" dur="1" fill="hold">
                                          <p:stCondLst>
                                            <p:cond delay="0"/>
                                          </p:stCondLst>
                                        </p:cTn>
                                        <p:tgtEl>
                                          <p:spTgt spid="1447335865"/>
                                        </p:tgtEl>
                                        <p:attrNameLst>
                                          <p:attrName>style.visibility</p:attrName>
                                        </p:attrNameLst>
                                      </p:cBhvr>
                                      <p:to>
                                        <p:strVal val="visible"/>
                                      </p:to>
                                    </p:set>
                                    <p:animEffect transition="in" filter="fade">
                                      <p:cBhvr>
                                        <p:cTn id="33" dur="500"/>
                                        <p:tgtEl>
                                          <p:spTgt spid="1447335865"/>
                                        </p:tgtEl>
                                      </p:cBhvr>
                                    </p:animEffect>
                                  </p:childTnLst>
                                </p:cTn>
                              </p:par>
                              <p:par>
                                <p:cTn id="34" presetID="10" presetClass="entr" presetSubtype="0" fill="hold" nodeType="withEffect">
                                  <p:stCondLst>
                                    <p:cond delay="0"/>
                                  </p:stCondLst>
                                  <p:childTnLst>
                                    <p:set>
                                      <p:cBhvr>
                                        <p:cTn id="35" dur="1" fill="hold">
                                          <p:stCondLst>
                                            <p:cond delay="0"/>
                                          </p:stCondLst>
                                        </p:cTn>
                                        <p:tgtEl>
                                          <p:spTgt spid="1123604775"/>
                                        </p:tgtEl>
                                        <p:attrNameLst>
                                          <p:attrName>style.visibility</p:attrName>
                                        </p:attrNameLst>
                                      </p:cBhvr>
                                      <p:to>
                                        <p:strVal val="visible"/>
                                      </p:to>
                                    </p:set>
                                    <p:animEffect transition="in" filter="fade">
                                      <p:cBhvr>
                                        <p:cTn id="36" dur="500"/>
                                        <p:tgtEl>
                                          <p:spTgt spid="1123604775"/>
                                        </p:tgtEl>
                                      </p:cBhvr>
                                    </p:animEffect>
                                  </p:childTnLst>
                                </p:cTn>
                              </p:par>
                              <p:par>
                                <p:cTn id="37" presetID="10" presetClass="entr" presetSubtype="0" fill="hold" nodeType="withEffect">
                                  <p:stCondLst>
                                    <p:cond delay="0"/>
                                  </p:stCondLst>
                                  <p:childTnLst>
                                    <p:set>
                                      <p:cBhvr>
                                        <p:cTn id="38" dur="1" fill="hold">
                                          <p:stCondLst>
                                            <p:cond delay="0"/>
                                          </p:stCondLst>
                                        </p:cTn>
                                        <p:tgtEl>
                                          <p:spTgt spid="943116585"/>
                                        </p:tgtEl>
                                        <p:attrNameLst>
                                          <p:attrName>style.visibility</p:attrName>
                                        </p:attrNameLst>
                                      </p:cBhvr>
                                      <p:to>
                                        <p:strVal val="visible"/>
                                      </p:to>
                                    </p:set>
                                    <p:animEffect transition="in" filter="fade">
                                      <p:cBhvr>
                                        <p:cTn id="39" dur="500"/>
                                        <p:tgtEl>
                                          <p:spTgt spid="943116585"/>
                                        </p:tgtEl>
                                      </p:cBhvr>
                                    </p:animEffect>
                                  </p:childTnLst>
                                </p:cTn>
                              </p:par>
                              <p:par>
                                <p:cTn id="40" presetID="10" presetClass="entr" presetSubtype="0" fill="hold" nodeType="withEffect">
                                  <p:stCondLst>
                                    <p:cond delay="0"/>
                                  </p:stCondLst>
                                  <p:childTnLst>
                                    <p:set>
                                      <p:cBhvr>
                                        <p:cTn id="41" dur="1" fill="hold">
                                          <p:stCondLst>
                                            <p:cond delay="0"/>
                                          </p:stCondLst>
                                        </p:cTn>
                                        <p:tgtEl>
                                          <p:spTgt spid="1536838178"/>
                                        </p:tgtEl>
                                        <p:attrNameLst>
                                          <p:attrName>style.visibility</p:attrName>
                                        </p:attrNameLst>
                                      </p:cBhvr>
                                      <p:to>
                                        <p:strVal val="visible"/>
                                      </p:to>
                                    </p:set>
                                    <p:animEffect transition="in" filter="fade">
                                      <p:cBhvr>
                                        <p:cTn id="42" dur="500"/>
                                        <p:tgtEl>
                                          <p:spTgt spid="1536838178"/>
                                        </p:tgtEl>
                                      </p:cBhvr>
                                    </p:animEffect>
                                  </p:childTnLst>
                                </p:cTn>
                              </p:par>
                              <p:par>
                                <p:cTn id="43" presetID="10" presetClass="entr" presetSubtype="0" fill="hold" nodeType="withEffect">
                                  <p:stCondLst>
                                    <p:cond delay="0"/>
                                  </p:stCondLst>
                                  <p:childTnLst>
                                    <p:set>
                                      <p:cBhvr>
                                        <p:cTn id="44" dur="1" fill="hold">
                                          <p:stCondLst>
                                            <p:cond delay="0"/>
                                          </p:stCondLst>
                                        </p:cTn>
                                        <p:tgtEl>
                                          <p:spTgt spid="1638634200"/>
                                        </p:tgtEl>
                                        <p:attrNameLst>
                                          <p:attrName>style.visibility</p:attrName>
                                        </p:attrNameLst>
                                      </p:cBhvr>
                                      <p:to>
                                        <p:strVal val="visible"/>
                                      </p:to>
                                    </p:set>
                                    <p:animEffect transition="in" filter="fade">
                                      <p:cBhvr>
                                        <p:cTn id="45" dur="500"/>
                                        <p:tgtEl>
                                          <p:spTgt spid="1638634200"/>
                                        </p:tgtEl>
                                      </p:cBhvr>
                                    </p:animEffect>
                                  </p:childTnLst>
                                </p:cTn>
                              </p:par>
                              <p:par>
                                <p:cTn id="46" presetID="10" presetClass="entr" presetSubtype="0" fill="hold" nodeType="withEffect">
                                  <p:stCondLst>
                                    <p:cond delay="0"/>
                                  </p:stCondLst>
                                  <p:childTnLst>
                                    <p:set>
                                      <p:cBhvr>
                                        <p:cTn id="47" dur="1" fill="hold">
                                          <p:stCondLst>
                                            <p:cond delay="0"/>
                                          </p:stCondLst>
                                        </p:cTn>
                                        <p:tgtEl>
                                          <p:spTgt spid="149521624"/>
                                        </p:tgtEl>
                                        <p:attrNameLst>
                                          <p:attrName>style.visibility</p:attrName>
                                        </p:attrNameLst>
                                      </p:cBhvr>
                                      <p:to>
                                        <p:strVal val="visible"/>
                                      </p:to>
                                    </p:set>
                                    <p:animEffect transition="in" filter="fade">
                                      <p:cBhvr>
                                        <p:cTn id="48" dur="500"/>
                                        <p:tgtEl>
                                          <p:spTgt spid="149521624"/>
                                        </p:tgtEl>
                                      </p:cBhvr>
                                    </p:animEffect>
                                  </p:childTnLst>
                                </p:cTn>
                              </p:par>
                              <p:par>
                                <p:cTn id="49" presetID="10" presetClass="entr" presetSubtype="0" fill="hold" nodeType="withEffect">
                                  <p:stCondLst>
                                    <p:cond delay="0"/>
                                  </p:stCondLst>
                                  <p:childTnLst>
                                    <p:set>
                                      <p:cBhvr>
                                        <p:cTn id="50" dur="1" fill="hold">
                                          <p:stCondLst>
                                            <p:cond delay="0"/>
                                          </p:stCondLst>
                                        </p:cTn>
                                        <p:tgtEl>
                                          <p:spTgt spid="1210318452"/>
                                        </p:tgtEl>
                                        <p:attrNameLst>
                                          <p:attrName>style.visibility</p:attrName>
                                        </p:attrNameLst>
                                      </p:cBhvr>
                                      <p:to>
                                        <p:strVal val="visible"/>
                                      </p:to>
                                    </p:set>
                                    <p:animEffect transition="in" filter="fade">
                                      <p:cBhvr>
                                        <p:cTn id="51" dur="500"/>
                                        <p:tgtEl>
                                          <p:spTgt spid="1210318452"/>
                                        </p:tgtEl>
                                      </p:cBhvr>
                                    </p:animEffect>
                                  </p:childTnLst>
                                </p:cTn>
                              </p:par>
                              <p:par>
                                <p:cTn id="52" presetID="10" presetClass="entr" presetSubtype="0" fill="hold" nodeType="withEffect">
                                  <p:stCondLst>
                                    <p:cond delay="0"/>
                                  </p:stCondLst>
                                  <p:childTnLst>
                                    <p:set>
                                      <p:cBhvr>
                                        <p:cTn id="53" dur="1" fill="hold">
                                          <p:stCondLst>
                                            <p:cond delay="0"/>
                                          </p:stCondLst>
                                        </p:cTn>
                                        <p:tgtEl>
                                          <p:spTgt spid="300156928"/>
                                        </p:tgtEl>
                                        <p:attrNameLst>
                                          <p:attrName>style.visibility</p:attrName>
                                        </p:attrNameLst>
                                      </p:cBhvr>
                                      <p:to>
                                        <p:strVal val="visible"/>
                                      </p:to>
                                    </p:set>
                                    <p:animEffect transition="in" filter="fade">
                                      <p:cBhvr>
                                        <p:cTn id="54" dur="500"/>
                                        <p:tgtEl>
                                          <p:spTgt spid="300156928"/>
                                        </p:tgtEl>
                                      </p:cBhvr>
                                    </p:animEffect>
                                  </p:childTnLst>
                                </p:cTn>
                              </p:par>
                              <p:par>
                                <p:cTn id="55" presetID="10" presetClass="entr" presetSubtype="0" fill="hold" nodeType="withEffect">
                                  <p:stCondLst>
                                    <p:cond delay="0"/>
                                  </p:stCondLst>
                                  <p:childTnLst>
                                    <p:set>
                                      <p:cBhvr>
                                        <p:cTn id="56" dur="1" fill="hold">
                                          <p:stCondLst>
                                            <p:cond delay="0"/>
                                          </p:stCondLst>
                                        </p:cTn>
                                        <p:tgtEl>
                                          <p:spTgt spid="1114764753"/>
                                        </p:tgtEl>
                                        <p:attrNameLst>
                                          <p:attrName>style.visibility</p:attrName>
                                        </p:attrNameLst>
                                      </p:cBhvr>
                                      <p:to>
                                        <p:strVal val="visible"/>
                                      </p:to>
                                    </p:set>
                                    <p:animEffect transition="in" filter="fade">
                                      <p:cBhvr>
                                        <p:cTn id="57" dur="500"/>
                                        <p:tgtEl>
                                          <p:spTgt spid="1114764753"/>
                                        </p:tgtEl>
                                      </p:cBhvr>
                                    </p:animEffect>
                                  </p:childTnLst>
                                </p:cTn>
                              </p:par>
                              <p:par>
                                <p:cTn id="58" presetID="10" presetClass="entr" presetSubtype="0" fill="hold" nodeType="withEffect">
                                  <p:stCondLst>
                                    <p:cond delay="0"/>
                                  </p:stCondLst>
                                  <p:childTnLst>
                                    <p:set>
                                      <p:cBhvr>
                                        <p:cTn id="59" dur="1" fill="hold">
                                          <p:stCondLst>
                                            <p:cond delay="0"/>
                                          </p:stCondLst>
                                        </p:cTn>
                                        <p:tgtEl>
                                          <p:spTgt spid="1885263983"/>
                                        </p:tgtEl>
                                        <p:attrNameLst>
                                          <p:attrName>style.visibility</p:attrName>
                                        </p:attrNameLst>
                                      </p:cBhvr>
                                      <p:to>
                                        <p:strVal val="visible"/>
                                      </p:to>
                                    </p:set>
                                    <p:animEffect transition="in" filter="fade">
                                      <p:cBhvr>
                                        <p:cTn id="60" dur="500"/>
                                        <p:tgtEl>
                                          <p:spTgt spid="1885263983"/>
                                        </p:tgtEl>
                                      </p:cBhvr>
                                    </p:animEffect>
                                  </p:childTnLst>
                                </p:cTn>
                              </p:par>
                              <p:par>
                                <p:cTn id="61" presetID="10" presetClass="entr" presetSubtype="0" fill="hold" nodeType="withEffect">
                                  <p:stCondLst>
                                    <p:cond delay="0"/>
                                  </p:stCondLst>
                                  <p:childTnLst>
                                    <p:set>
                                      <p:cBhvr>
                                        <p:cTn id="62" dur="1" fill="hold">
                                          <p:stCondLst>
                                            <p:cond delay="0"/>
                                          </p:stCondLst>
                                        </p:cTn>
                                        <p:tgtEl>
                                          <p:spTgt spid="907402616"/>
                                        </p:tgtEl>
                                        <p:attrNameLst>
                                          <p:attrName>style.visibility</p:attrName>
                                        </p:attrNameLst>
                                      </p:cBhvr>
                                      <p:to>
                                        <p:strVal val="visible"/>
                                      </p:to>
                                    </p:set>
                                    <p:animEffect transition="in" filter="fade">
                                      <p:cBhvr>
                                        <p:cTn id="63" dur="500"/>
                                        <p:tgtEl>
                                          <p:spTgt spid="907402616"/>
                                        </p:tgtEl>
                                      </p:cBhvr>
                                    </p:animEffect>
                                  </p:childTnLst>
                                </p:cTn>
                              </p:par>
                              <p:par>
                                <p:cTn id="64" presetID="10" presetClass="entr" presetSubtype="0" fill="hold" nodeType="withEffect">
                                  <p:stCondLst>
                                    <p:cond delay="0"/>
                                  </p:stCondLst>
                                  <p:childTnLst>
                                    <p:set>
                                      <p:cBhvr>
                                        <p:cTn id="65" dur="1" fill="hold">
                                          <p:stCondLst>
                                            <p:cond delay="0"/>
                                          </p:stCondLst>
                                        </p:cTn>
                                        <p:tgtEl>
                                          <p:spTgt spid="221659052"/>
                                        </p:tgtEl>
                                        <p:attrNameLst>
                                          <p:attrName>style.visibility</p:attrName>
                                        </p:attrNameLst>
                                      </p:cBhvr>
                                      <p:to>
                                        <p:strVal val="visible"/>
                                      </p:to>
                                    </p:set>
                                    <p:animEffect transition="in" filter="fade">
                                      <p:cBhvr>
                                        <p:cTn id="66" dur="500"/>
                                        <p:tgtEl>
                                          <p:spTgt spid="221659052"/>
                                        </p:tgtEl>
                                      </p:cBhvr>
                                    </p:animEffect>
                                  </p:childTnLst>
                                </p:cTn>
                              </p:par>
                              <p:par>
                                <p:cTn id="67" presetID="10" presetClass="entr" presetSubtype="0" fill="hold" nodeType="withEffect">
                                  <p:stCondLst>
                                    <p:cond delay="0"/>
                                  </p:stCondLst>
                                  <p:childTnLst>
                                    <p:set>
                                      <p:cBhvr>
                                        <p:cTn id="68" dur="1" fill="hold">
                                          <p:stCondLst>
                                            <p:cond delay="0"/>
                                          </p:stCondLst>
                                        </p:cTn>
                                        <p:tgtEl>
                                          <p:spTgt spid="458195327"/>
                                        </p:tgtEl>
                                        <p:attrNameLst>
                                          <p:attrName>style.visibility</p:attrName>
                                        </p:attrNameLst>
                                      </p:cBhvr>
                                      <p:to>
                                        <p:strVal val="visible"/>
                                      </p:to>
                                    </p:set>
                                    <p:animEffect transition="in" filter="fade">
                                      <p:cBhvr>
                                        <p:cTn id="69" dur="500"/>
                                        <p:tgtEl>
                                          <p:spTgt spid="458195327"/>
                                        </p:tgtEl>
                                      </p:cBhvr>
                                    </p:animEffect>
                                  </p:childTnLst>
                                </p:cTn>
                              </p:par>
                              <p:par>
                                <p:cTn id="70" presetID="10" presetClass="entr" presetSubtype="0" fill="hold" nodeType="withEffect">
                                  <p:stCondLst>
                                    <p:cond delay="0"/>
                                  </p:stCondLst>
                                  <p:childTnLst>
                                    <p:set>
                                      <p:cBhvr>
                                        <p:cTn id="71" dur="1" fill="hold">
                                          <p:stCondLst>
                                            <p:cond delay="0"/>
                                          </p:stCondLst>
                                        </p:cTn>
                                        <p:tgtEl>
                                          <p:spTgt spid="1745039139"/>
                                        </p:tgtEl>
                                        <p:attrNameLst>
                                          <p:attrName>style.visibility</p:attrName>
                                        </p:attrNameLst>
                                      </p:cBhvr>
                                      <p:to>
                                        <p:strVal val="visible"/>
                                      </p:to>
                                    </p:set>
                                    <p:animEffect transition="in" filter="fade">
                                      <p:cBhvr>
                                        <p:cTn id="72" dur="500"/>
                                        <p:tgtEl>
                                          <p:spTgt spid="1745039139"/>
                                        </p:tgtEl>
                                      </p:cBhvr>
                                    </p:animEffect>
                                  </p:childTnLst>
                                </p:cTn>
                              </p:par>
                              <p:par>
                                <p:cTn id="73" presetID="10" presetClass="entr" presetSubtype="0" fill="hold" nodeType="withEffect">
                                  <p:stCondLst>
                                    <p:cond delay="0"/>
                                  </p:stCondLst>
                                  <p:childTnLst>
                                    <p:set>
                                      <p:cBhvr>
                                        <p:cTn id="74" dur="1" fill="hold">
                                          <p:stCondLst>
                                            <p:cond delay="0"/>
                                          </p:stCondLst>
                                        </p:cTn>
                                        <p:tgtEl>
                                          <p:spTgt spid="1759039789"/>
                                        </p:tgtEl>
                                        <p:attrNameLst>
                                          <p:attrName>style.visibility</p:attrName>
                                        </p:attrNameLst>
                                      </p:cBhvr>
                                      <p:to>
                                        <p:strVal val="visible"/>
                                      </p:to>
                                    </p:set>
                                    <p:animEffect transition="in" filter="fade">
                                      <p:cBhvr>
                                        <p:cTn id="75" dur="500"/>
                                        <p:tgtEl>
                                          <p:spTgt spid="1759039789"/>
                                        </p:tgtEl>
                                      </p:cBhvr>
                                    </p:animEffect>
                                  </p:childTnLst>
                                </p:cTn>
                              </p:par>
                              <p:par>
                                <p:cTn id="76" presetID="10" presetClass="entr" presetSubtype="0" fill="hold" nodeType="withEffect">
                                  <p:stCondLst>
                                    <p:cond delay="0"/>
                                  </p:stCondLst>
                                  <p:childTnLst>
                                    <p:set>
                                      <p:cBhvr>
                                        <p:cTn id="77" dur="1" fill="hold">
                                          <p:stCondLst>
                                            <p:cond delay="0"/>
                                          </p:stCondLst>
                                        </p:cTn>
                                        <p:tgtEl>
                                          <p:spTgt spid="1135903581"/>
                                        </p:tgtEl>
                                        <p:attrNameLst>
                                          <p:attrName>style.visibility</p:attrName>
                                        </p:attrNameLst>
                                      </p:cBhvr>
                                      <p:to>
                                        <p:strVal val="visible"/>
                                      </p:to>
                                    </p:set>
                                    <p:animEffect transition="in" filter="fade">
                                      <p:cBhvr>
                                        <p:cTn id="78" dur="500"/>
                                        <p:tgtEl>
                                          <p:spTgt spid="1135903581"/>
                                        </p:tgtEl>
                                      </p:cBhvr>
                                    </p:animEffect>
                                  </p:childTnLst>
                                </p:cTn>
                              </p:par>
                              <p:par>
                                <p:cTn id="79" presetID="10" presetClass="entr" presetSubtype="0" fill="hold" nodeType="withEffect">
                                  <p:stCondLst>
                                    <p:cond delay="0"/>
                                  </p:stCondLst>
                                  <p:childTnLst>
                                    <p:set>
                                      <p:cBhvr>
                                        <p:cTn id="80" dur="1" fill="hold">
                                          <p:stCondLst>
                                            <p:cond delay="0"/>
                                          </p:stCondLst>
                                        </p:cTn>
                                        <p:tgtEl>
                                          <p:spTgt spid="160336224"/>
                                        </p:tgtEl>
                                        <p:attrNameLst>
                                          <p:attrName>style.visibility</p:attrName>
                                        </p:attrNameLst>
                                      </p:cBhvr>
                                      <p:to>
                                        <p:strVal val="visible"/>
                                      </p:to>
                                    </p:set>
                                    <p:animEffect transition="in" filter="fade">
                                      <p:cBhvr>
                                        <p:cTn id="81" dur="500"/>
                                        <p:tgtEl>
                                          <p:spTgt spid="160336224"/>
                                        </p:tgtEl>
                                      </p:cBhvr>
                                    </p:animEffect>
                                  </p:childTnLst>
                                </p:cTn>
                              </p:par>
                              <p:par>
                                <p:cTn id="82" presetID="10" presetClass="entr" presetSubtype="0" fill="hold" nodeType="withEffect">
                                  <p:stCondLst>
                                    <p:cond delay="0"/>
                                  </p:stCondLst>
                                  <p:childTnLst>
                                    <p:set>
                                      <p:cBhvr>
                                        <p:cTn id="83" dur="1" fill="hold">
                                          <p:stCondLst>
                                            <p:cond delay="0"/>
                                          </p:stCondLst>
                                        </p:cTn>
                                        <p:tgtEl>
                                          <p:spTgt spid="544269336"/>
                                        </p:tgtEl>
                                        <p:attrNameLst>
                                          <p:attrName>style.visibility</p:attrName>
                                        </p:attrNameLst>
                                      </p:cBhvr>
                                      <p:to>
                                        <p:strVal val="visible"/>
                                      </p:to>
                                    </p:set>
                                    <p:animEffect transition="in" filter="fade">
                                      <p:cBhvr>
                                        <p:cTn id="84" dur="500"/>
                                        <p:tgtEl>
                                          <p:spTgt spid="544269336"/>
                                        </p:tgtEl>
                                      </p:cBhvr>
                                    </p:animEffect>
                                  </p:childTnLst>
                                </p:cTn>
                              </p:par>
                              <p:par>
                                <p:cTn id="85" presetID="10" presetClass="entr" presetSubtype="0" fill="hold" nodeType="withEffect">
                                  <p:stCondLst>
                                    <p:cond delay="0"/>
                                  </p:stCondLst>
                                  <p:childTnLst>
                                    <p:set>
                                      <p:cBhvr>
                                        <p:cTn id="86" dur="1" fill="hold">
                                          <p:stCondLst>
                                            <p:cond delay="0"/>
                                          </p:stCondLst>
                                        </p:cTn>
                                        <p:tgtEl>
                                          <p:spTgt spid="473398612"/>
                                        </p:tgtEl>
                                        <p:attrNameLst>
                                          <p:attrName>style.visibility</p:attrName>
                                        </p:attrNameLst>
                                      </p:cBhvr>
                                      <p:to>
                                        <p:strVal val="visible"/>
                                      </p:to>
                                    </p:set>
                                    <p:animEffect transition="in" filter="fade">
                                      <p:cBhvr>
                                        <p:cTn id="87" dur="500"/>
                                        <p:tgtEl>
                                          <p:spTgt spid="473398612"/>
                                        </p:tgtEl>
                                      </p:cBhvr>
                                    </p:animEffect>
                                  </p:childTnLst>
                                </p:cTn>
                              </p:par>
                              <p:par>
                                <p:cTn id="88" presetID="10" presetClass="entr" presetSubtype="0" fill="hold" nodeType="withEffect">
                                  <p:stCondLst>
                                    <p:cond delay="0"/>
                                  </p:stCondLst>
                                  <p:childTnLst>
                                    <p:set>
                                      <p:cBhvr>
                                        <p:cTn id="89" dur="1" fill="hold">
                                          <p:stCondLst>
                                            <p:cond delay="0"/>
                                          </p:stCondLst>
                                        </p:cTn>
                                        <p:tgtEl>
                                          <p:spTgt spid="794646533"/>
                                        </p:tgtEl>
                                        <p:attrNameLst>
                                          <p:attrName>style.visibility</p:attrName>
                                        </p:attrNameLst>
                                      </p:cBhvr>
                                      <p:to>
                                        <p:strVal val="visible"/>
                                      </p:to>
                                    </p:set>
                                    <p:animEffect transition="in" filter="fade">
                                      <p:cBhvr>
                                        <p:cTn id="90" dur="500"/>
                                        <p:tgtEl>
                                          <p:spTgt spid="794646533"/>
                                        </p:tgtEl>
                                      </p:cBhvr>
                                    </p:animEffect>
                                  </p:childTnLst>
                                </p:cTn>
                              </p:par>
                              <p:par>
                                <p:cTn id="91" presetID="10" presetClass="entr" presetSubtype="0" fill="hold" nodeType="withEffect">
                                  <p:stCondLst>
                                    <p:cond delay="0"/>
                                  </p:stCondLst>
                                  <p:childTnLst>
                                    <p:set>
                                      <p:cBhvr>
                                        <p:cTn id="92" dur="1" fill="hold">
                                          <p:stCondLst>
                                            <p:cond delay="0"/>
                                          </p:stCondLst>
                                        </p:cTn>
                                        <p:tgtEl>
                                          <p:spTgt spid="873242296"/>
                                        </p:tgtEl>
                                        <p:attrNameLst>
                                          <p:attrName>style.visibility</p:attrName>
                                        </p:attrNameLst>
                                      </p:cBhvr>
                                      <p:to>
                                        <p:strVal val="visible"/>
                                      </p:to>
                                    </p:set>
                                    <p:animEffect transition="in" filter="fade">
                                      <p:cBhvr>
                                        <p:cTn id="93" dur="500"/>
                                        <p:tgtEl>
                                          <p:spTgt spid="873242296"/>
                                        </p:tgtEl>
                                      </p:cBhvr>
                                    </p:animEffect>
                                  </p:childTnLst>
                                </p:cTn>
                              </p:par>
                              <p:par>
                                <p:cTn id="94" presetID="10" presetClass="entr" presetSubtype="0" fill="hold" nodeType="withEffect">
                                  <p:stCondLst>
                                    <p:cond delay="0"/>
                                  </p:stCondLst>
                                  <p:childTnLst>
                                    <p:set>
                                      <p:cBhvr>
                                        <p:cTn id="95" dur="1" fill="hold">
                                          <p:stCondLst>
                                            <p:cond delay="0"/>
                                          </p:stCondLst>
                                        </p:cTn>
                                        <p:tgtEl>
                                          <p:spTgt spid="586709600"/>
                                        </p:tgtEl>
                                        <p:attrNameLst>
                                          <p:attrName>style.visibility</p:attrName>
                                        </p:attrNameLst>
                                      </p:cBhvr>
                                      <p:to>
                                        <p:strVal val="visible"/>
                                      </p:to>
                                    </p:set>
                                    <p:animEffect transition="in" filter="fade">
                                      <p:cBhvr>
                                        <p:cTn id="96" dur="500"/>
                                        <p:tgtEl>
                                          <p:spTgt spid="586709600"/>
                                        </p:tgtEl>
                                      </p:cBhvr>
                                    </p:animEffect>
                                  </p:childTnLst>
                                </p:cTn>
                              </p:par>
                              <p:par>
                                <p:cTn id="97" presetID="10" presetClass="entr" presetSubtype="0" fill="hold" nodeType="withEffect">
                                  <p:stCondLst>
                                    <p:cond delay="0"/>
                                  </p:stCondLst>
                                  <p:childTnLst>
                                    <p:set>
                                      <p:cBhvr>
                                        <p:cTn id="98" dur="1" fill="hold">
                                          <p:stCondLst>
                                            <p:cond delay="0"/>
                                          </p:stCondLst>
                                        </p:cTn>
                                        <p:tgtEl>
                                          <p:spTgt spid="1939331706"/>
                                        </p:tgtEl>
                                        <p:attrNameLst>
                                          <p:attrName>style.visibility</p:attrName>
                                        </p:attrNameLst>
                                      </p:cBhvr>
                                      <p:to>
                                        <p:strVal val="visible"/>
                                      </p:to>
                                    </p:set>
                                    <p:animEffect transition="in" filter="fade">
                                      <p:cBhvr>
                                        <p:cTn id="99" dur="500"/>
                                        <p:tgtEl>
                                          <p:spTgt spid="1939331706"/>
                                        </p:tgtEl>
                                      </p:cBhvr>
                                    </p:animEffect>
                                  </p:childTnLst>
                                </p:cTn>
                              </p:par>
                              <p:par>
                                <p:cTn id="100" presetID="10" presetClass="entr" presetSubtype="0" fill="hold" nodeType="withEffect">
                                  <p:stCondLst>
                                    <p:cond delay="0"/>
                                  </p:stCondLst>
                                  <p:childTnLst>
                                    <p:set>
                                      <p:cBhvr>
                                        <p:cTn id="101" dur="1" fill="hold">
                                          <p:stCondLst>
                                            <p:cond delay="0"/>
                                          </p:stCondLst>
                                        </p:cTn>
                                        <p:tgtEl>
                                          <p:spTgt spid="384628014"/>
                                        </p:tgtEl>
                                        <p:attrNameLst>
                                          <p:attrName>style.visibility</p:attrName>
                                        </p:attrNameLst>
                                      </p:cBhvr>
                                      <p:to>
                                        <p:strVal val="visible"/>
                                      </p:to>
                                    </p:set>
                                    <p:animEffect transition="in" filter="fade">
                                      <p:cBhvr>
                                        <p:cTn id="102" dur="500"/>
                                        <p:tgtEl>
                                          <p:spTgt spid="384628014"/>
                                        </p:tgtEl>
                                      </p:cBhvr>
                                    </p:animEffect>
                                  </p:childTnLst>
                                </p:cTn>
                              </p:par>
                              <p:par>
                                <p:cTn id="103" presetID="10" presetClass="entr" presetSubtype="0" fill="hold" nodeType="withEffect">
                                  <p:stCondLst>
                                    <p:cond delay="0"/>
                                  </p:stCondLst>
                                  <p:childTnLst>
                                    <p:set>
                                      <p:cBhvr>
                                        <p:cTn id="104" dur="1" fill="hold">
                                          <p:stCondLst>
                                            <p:cond delay="0"/>
                                          </p:stCondLst>
                                        </p:cTn>
                                        <p:tgtEl>
                                          <p:spTgt spid="1975607373"/>
                                        </p:tgtEl>
                                        <p:attrNameLst>
                                          <p:attrName>style.visibility</p:attrName>
                                        </p:attrNameLst>
                                      </p:cBhvr>
                                      <p:to>
                                        <p:strVal val="visible"/>
                                      </p:to>
                                    </p:set>
                                    <p:animEffect transition="in" filter="fade">
                                      <p:cBhvr>
                                        <p:cTn id="105" dur="500"/>
                                        <p:tgtEl>
                                          <p:spTgt spid="1975607373"/>
                                        </p:tgtEl>
                                      </p:cBhvr>
                                    </p:animEffect>
                                  </p:childTnLst>
                                </p:cTn>
                              </p:par>
                              <p:par>
                                <p:cTn id="106" presetID="10" presetClass="entr" presetSubtype="0" fill="hold" nodeType="withEffect">
                                  <p:stCondLst>
                                    <p:cond delay="0"/>
                                  </p:stCondLst>
                                  <p:childTnLst>
                                    <p:set>
                                      <p:cBhvr>
                                        <p:cTn id="107" dur="1" fill="hold">
                                          <p:stCondLst>
                                            <p:cond delay="0"/>
                                          </p:stCondLst>
                                        </p:cTn>
                                        <p:tgtEl>
                                          <p:spTgt spid="91286242"/>
                                        </p:tgtEl>
                                        <p:attrNameLst>
                                          <p:attrName>style.visibility</p:attrName>
                                        </p:attrNameLst>
                                      </p:cBhvr>
                                      <p:to>
                                        <p:strVal val="visible"/>
                                      </p:to>
                                    </p:set>
                                    <p:animEffect transition="in" filter="fade">
                                      <p:cBhvr>
                                        <p:cTn id="108" dur="500"/>
                                        <p:tgtEl>
                                          <p:spTgt spid="91286242"/>
                                        </p:tgtEl>
                                      </p:cBhvr>
                                    </p:animEffect>
                                  </p:childTnLst>
                                </p:cTn>
                              </p:par>
                              <p:par>
                                <p:cTn id="109" presetID="10" presetClass="entr" presetSubtype="0" fill="hold" nodeType="withEffect">
                                  <p:stCondLst>
                                    <p:cond delay="0"/>
                                  </p:stCondLst>
                                  <p:childTnLst>
                                    <p:set>
                                      <p:cBhvr>
                                        <p:cTn id="110" dur="1" fill="hold">
                                          <p:stCondLst>
                                            <p:cond delay="0"/>
                                          </p:stCondLst>
                                        </p:cTn>
                                        <p:tgtEl>
                                          <p:spTgt spid="1401574349"/>
                                        </p:tgtEl>
                                        <p:attrNameLst>
                                          <p:attrName>style.visibility</p:attrName>
                                        </p:attrNameLst>
                                      </p:cBhvr>
                                      <p:to>
                                        <p:strVal val="visible"/>
                                      </p:to>
                                    </p:set>
                                    <p:animEffect transition="in" filter="fade">
                                      <p:cBhvr>
                                        <p:cTn id="111" dur="500"/>
                                        <p:tgtEl>
                                          <p:spTgt spid="1401574349"/>
                                        </p:tgtEl>
                                      </p:cBhvr>
                                    </p:animEffect>
                                  </p:childTnLst>
                                </p:cTn>
                              </p:par>
                              <p:par>
                                <p:cTn id="112" presetID="10" presetClass="entr" presetSubtype="0" fill="hold" nodeType="withEffect">
                                  <p:stCondLst>
                                    <p:cond delay="0"/>
                                  </p:stCondLst>
                                  <p:childTnLst>
                                    <p:set>
                                      <p:cBhvr>
                                        <p:cTn id="113" dur="1" fill="hold">
                                          <p:stCondLst>
                                            <p:cond delay="0"/>
                                          </p:stCondLst>
                                        </p:cTn>
                                        <p:tgtEl>
                                          <p:spTgt spid="546383611"/>
                                        </p:tgtEl>
                                        <p:attrNameLst>
                                          <p:attrName>style.visibility</p:attrName>
                                        </p:attrNameLst>
                                      </p:cBhvr>
                                      <p:to>
                                        <p:strVal val="visible"/>
                                      </p:to>
                                    </p:set>
                                    <p:animEffect transition="in" filter="fade">
                                      <p:cBhvr>
                                        <p:cTn id="114" dur="500"/>
                                        <p:tgtEl>
                                          <p:spTgt spid="546383611"/>
                                        </p:tgtEl>
                                      </p:cBhvr>
                                    </p:animEffect>
                                  </p:childTnLst>
                                </p:cTn>
                              </p:par>
                              <p:par>
                                <p:cTn id="115" presetID="10" presetClass="entr" presetSubtype="0" fill="hold" nodeType="withEffect">
                                  <p:stCondLst>
                                    <p:cond delay="0"/>
                                  </p:stCondLst>
                                  <p:childTnLst>
                                    <p:set>
                                      <p:cBhvr>
                                        <p:cTn id="116" dur="1" fill="hold">
                                          <p:stCondLst>
                                            <p:cond delay="0"/>
                                          </p:stCondLst>
                                        </p:cTn>
                                        <p:tgtEl>
                                          <p:spTgt spid="699242146"/>
                                        </p:tgtEl>
                                        <p:attrNameLst>
                                          <p:attrName>style.visibility</p:attrName>
                                        </p:attrNameLst>
                                      </p:cBhvr>
                                      <p:to>
                                        <p:strVal val="visible"/>
                                      </p:to>
                                    </p:set>
                                    <p:animEffect transition="in" filter="fade">
                                      <p:cBhvr>
                                        <p:cTn id="117" dur="500"/>
                                        <p:tgtEl>
                                          <p:spTgt spid="699242146"/>
                                        </p:tgtEl>
                                      </p:cBhvr>
                                    </p:animEffect>
                                  </p:childTnLst>
                                </p:cTn>
                              </p:par>
                              <p:par>
                                <p:cTn id="118" presetID="10" presetClass="entr" presetSubtype="0" fill="hold" nodeType="withEffect">
                                  <p:stCondLst>
                                    <p:cond delay="0"/>
                                  </p:stCondLst>
                                  <p:childTnLst>
                                    <p:set>
                                      <p:cBhvr>
                                        <p:cTn id="119" dur="1" fill="hold">
                                          <p:stCondLst>
                                            <p:cond delay="0"/>
                                          </p:stCondLst>
                                        </p:cTn>
                                        <p:tgtEl>
                                          <p:spTgt spid="1774308355"/>
                                        </p:tgtEl>
                                        <p:attrNameLst>
                                          <p:attrName>style.visibility</p:attrName>
                                        </p:attrNameLst>
                                      </p:cBhvr>
                                      <p:to>
                                        <p:strVal val="visible"/>
                                      </p:to>
                                    </p:set>
                                    <p:animEffect transition="in" filter="fade">
                                      <p:cBhvr>
                                        <p:cTn id="120" dur="500"/>
                                        <p:tgtEl>
                                          <p:spTgt spid="1774308355"/>
                                        </p:tgtEl>
                                      </p:cBhvr>
                                    </p:animEffect>
                                  </p:childTnLst>
                                </p:cTn>
                              </p:par>
                              <p:par>
                                <p:cTn id="121" presetID="10" presetClass="entr" presetSubtype="0" fill="hold" nodeType="withEffect">
                                  <p:stCondLst>
                                    <p:cond delay="0"/>
                                  </p:stCondLst>
                                  <p:childTnLst>
                                    <p:set>
                                      <p:cBhvr>
                                        <p:cTn id="122" dur="1" fill="hold">
                                          <p:stCondLst>
                                            <p:cond delay="0"/>
                                          </p:stCondLst>
                                        </p:cTn>
                                        <p:tgtEl>
                                          <p:spTgt spid="1050033133"/>
                                        </p:tgtEl>
                                        <p:attrNameLst>
                                          <p:attrName>style.visibility</p:attrName>
                                        </p:attrNameLst>
                                      </p:cBhvr>
                                      <p:to>
                                        <p:strVal val="visible"/>
                                      </p:to>
                                    </p:set>
                                    <p:animEffect transition="in" filter="fade">
                                      <p:cBhvr>
                                        <p:cTn id="123" dur="500"/>
                                        <p:tgtEl>
                                          <p:spTgt spid="1050033133"/>
                                        </p:tgtEl>
                                      </p:cBhvr>
                                    </p:animEffect>
                                  </p:childTnLst>
                                </p:cTn>
                              </p:par>
                              <p:par>
                                <p:cTn id="124" presetID="10" presetClass="entr" presetSubtype="0" fill="hold" nodeType="withEffect">
                                  <p:stCondLst>
                                    <p:cond delay="0"/>
                                  </p:stCondLst>
                                  <p:childTnLst>
                                    <p:set>
                                      <p:cBhvr>
                                        <p:cTn id="125" dur="1" fill="hold">
                                          <p:stCondLst>
                                            <p:cond delay="0"/>
                                          </p:stCondLst>
                                        </p:cTn>
                                        <p:tgtEl>
                                          <p:spTgt spid="236197284"/>
                                        </p:tgtEl>
                                        <p:attrNameLst>
                                          <p:attrName>style.visibility</p:attrName>
                                        </p:attrNameLst>
                                      </p:cBhvr>
                                      <p:to>
                                        <p:strVal val="visible"/>
                                      </p:to>
                                    </p:set>
                                    <p:animEffect transition="in" filter="fade">
                                      <p:cBhvr>
                                        <p:cTn id="126" dur="500"/>
                                        <p:tgtEl>
                                          <p:spTgt spid="236197284"/>
                                        </p:tgtEl>
                                      </p:cBhvr>
                                    </p:animEffect>
                                  </p:childTnLst>
                                </p:cTn>
                              </p:par>
                              <p:par>
                                <p:cTn id="127" presetID="10" presetClass="entr" presetSubtype="0" fill="hold" nodeType="withEffect">
                                  <p:stCondLst>
                                    <p:cond delay="0"/>
                                  </p:stCondLst>
                                  <p:childTnLst>
                                    <p:set>
                                      <p:cBhvr>
                                        <p:cTn id="128" dur="1" fill="hold">
                                          <p:stCondLst>
                                            <p:cond delay="0"/>
                                          </p:stCondLst>
                                        </p:cTn>
                                        <p:tgtEl>
                                          <p:spTgt spid="1064397212"/>
                                        </p:tgtEl>
                                        <p:attrNameLst>
                                          <p:attrName>style.visibility</p:attrName>
                                        </p:attrNameLst>
                                      </p:cBhvr>
                                      <p:to>
                                        <p:strVal val="visible"/>
                                      </p:to>
                                    </p:set>
                                    <p:animEffect transition="in" filter="fade">
                                      <p:cBhvr>
                                        <p:cTn id="129" dur="500"/>
                                        <p:tgtEl>
                                          <p:spTgt spid="1064397212"/>
                                        </p:tgtEl>
                                      </p:cBhvr>
                                    </p:animEffect>
                                  </p:childTnLst>
                                </p:cTn>
                              </p:par>
                              <p:par>
                                <p:cTn id="130" presetID="10" presetClass="entr" presetSubtype="0" fill="hold" nodeType="withEffect">
                                  <p:stCondLst>
                                    <p:cond delay="0"/>
                                  </p:stCondLst>
                                  <p:childTnLst>
                                    <p:set>
                                      <p:cBhvr>
                                        <p:cTn id="131" dur="1" fill="hold">
                                          <p:stCondLst>
                                            <p:cond delay="0"/>
                                          </p:stCondLst>
                                        </p:cTn>
                                        <p:tgtEl>
                                          <p:spTgt spid="1522683503"/>
                                        </p:tgtEl>
                                        <p:attrNameLst>
                                          <p:attrName>style.visibility</p:attrName>
                                        </p:attrNameLst>
                                      </p:cBhvr>
                                      <p:to>
                                        <p:strVal val="visible"/>
                                      </p:to>
                                    </p:set>
                                    <p:animEffect transition="in" filter="fade">
                                      <p:cBhvr>
                                        <p:cTn id="132" dur="500"/>
                                        <p:tgtEl>
                                          <p:spTgt spid="1522683503"/>
                                        </p:tgtEl>
                                      </p:cBhvr>
                                    </p:animEffect>
                                  </p:childTnLst>
                                </p:cTn>
                              </p:par>
                              <p:par>
                                <p:cTn id="133" presetID="10" presetClass="entr" presetSubtype="0" fill="hold" nodeType="withEffect">
                                  <p:stCondLst>
                                    <p:cond delay="0"/>
                                  </p:stCondLst>
                                  <p:childTnLst>
                                    <p:set>
                                      <p:cBhvr>
                                        <p:cTn id="134" dur="1" fill="hold">
                                          <p:stCondLst>
                                            <p:cond delay="0"/>
                                          </p:stCondLst>
                                        </p:cTn>
                                        <p:tgtEl>
                                          <p:spTgt spid="1680742546"/>
                                        </p:tgtEl>
                                        <p:attrNameLst>
                                          <p:attrName>style.visibility</p:attrName>
                                        </p:attrNameLst>
                                      </p:cBhvr>
                                      <p:to>
                                        <p:strVal val="visible"/>
                                      </p:to>
                                    </p:set>
                                    <p:animEffect transition="in" filter="fade">
                                      <p:cBhvr>
                                        <p:cTn id="135" dur="500"/>
                                        <p:tgtEl>
                                          <p:spTgt spid="1680742546"/>
                                        </p:tgtEl>
                                      </p:cBhvr>
                                    </p:animEffect>
                                  </p:childTnLst>
                                </p:cTn>
                              </p:par>
                              <p:par>
                                <p:cTn id="136" presetID="10" presetClass="entr" presetSubtype="0" fill="hold" nodeType="withEffect">
                                  <p:stCondLst>
                                    <p:cond delay="0"/>
                                  </p:stCondLst>
                                  <p:childTnLst>
                                    <p:set>
                                      <p:cBhvr>
                                        <p:cTn id="137" dur="1" fill="hold">
                                          <p:stCondLst>
                                            <p:cond delay="0"/>
                                          </p:stCondLst>
                                        </p:cTn>
                                        <p:tgtEl>
                                          <p:spTgt spid="367083082"/>
                                        </p:tgtEl>
                                        <p:attrNameLst>
                                          <p:attrName>style.visibility</p:attrName>
                                        </p:attrNameLst>
                                      </p:cBhvr>
                                      <p:to>
                                        <p:strVal val="visible"/>
                                      </p:to>
                                    </p:set>
                                    <p:animEffect transition="in" filter="fade">
                                      <p:cBhvr>
                                        <p:cTn id="138" dur="500"/>
                                        <p:tgtEl>
                                          <p:spTgt spid="367083082"/>
                                        </p:tgtEl>
                                      </p:cBhvr>
                                    </p:animEffect>
                                  </p:childTnLst>
                                </p:cTn>
                              </p:par>
                              <p:par>
                                <p:cTn id="139" presetID="10" presetClass="entr" presetSubtype="0" fill="hold" nodeType="withEffect">
                                  <p:stCondLst>
                                    <p:cond delay="0"/>
                                  </p:stCondLst>
                                  <p:childTnLst>
                                    <p:set>
                                      <p:cBhvr>
                                        <p:cTn id="140" dur="1" fill="hold">
                                          <p:stCondLst>
                                            <p:cond delay="0"/>
                                          </p:stCondLst>
                                        </p:cTn>
                                        <p:tgtEl>
                                          <p:spTgt spid="456062696"/>
                                        </p:tgtEl>
                                        <p:attrNameLst>
                                          <p:attrName>style.visibility</p:attrName>
                                        </p:attrNameLst>
                                      </p:cBhvr>
                                      <p:to>
                                        <p:strVal val="visible"/>
                                      </p:to>
                                    </p:set>
                                    <p:animEffect transition="in" filter="fade">
                                      <p:cBhvr>
                                        <p:cTn id="141" dur="500"/>
                                        <p:tgtEl>
                                          <p:spTgt spid="456062696"/>
                                        </p:tgtEl>
                                      </p:cBhvr>
                                    </p:animEffect>
                                  </p:childTnLst>
                                </p:cTn>
                              </p:par>
                              <p:par>
                                <p:cTn id="142" presetID="10" presetClass="entr" presetSubtype="0" fill="hold" nodeType="withEffect">
                                  <p:stCondLst>
                                    <p:cond delay="0"/>
                                  </p:stCondLst>
                                  <p:childTnLst>
                                    <p:set>
                                      <p:cBhvr>
                                        <p:cTn id="143" dur="1" fill="hold">
                                          <p:stCondLst>
                                            <p:cond delay="0"/>
                                          </p:stCondLst>
                                        </p:cTn>
                                        <p:tgtEl>
                                          <p:spTgt spid="978975845"/>
                                        </p:tgtEl>
                                        <p:attrNameLst>
                                          <p:attrName>style.visibility</p:attrName>
                                        </p:attrNameLst>
                                      </p:cBhvr>
                                      <p:to>
                                        <p:strVal val="visible"/>
                                      </p:to>
                                    </p:set>
                                    <p:animEffect transition="in" filter="fade">
                                      <p:cBhvr>
                                        <p:cTn id="144" dur="500"/>
                                        <p:tgtEl>
                                          <p:spTgt spid="978975845"/>
                                        </p:tgtEl>
                                      </p:cBhvr>
                                    </p:animEffect>
                                  </p:childTnLst>
                                </p:cTn>
                              </p:par>
                              <p:par>
                                <p:cTn id="145" presetID="10" presetClass="entr" presetSubtype="0" fill="hold" nodeType="withEffect">
                                  <p:stCondLst>
                                    <p:cond delay="0"/>
                                  </p:stCondLst>
                                  <p:childTnLst>
                                    <p:set>
                                      <p:cBhvr>
                                        <p:cTn id="146" dur="1" fill="hold">
                                          <p:stCondLst>
                                            <p:cond delay="0"/>
                                          </p:stCondLst>
                                        </p:cTn>
                                        <p:tgtEl>
                                          <p:spTgt spid="1853455633"/>
                                        </p:tgtEl>
                                        <p:attrNameLst>
                                          <p:attrName>style.visibility</p:attrName>
                                        </p:attrNameLst>
                                      </p:cBhvr>
                                      <p:to>
                                        <p:strVal val="visible"/>
                                      </p:to>
                                    </p:set>
                                    <p:animEffect transition="in" filter="fade">
                                      <p:cBhvr>
                                        <p:cTn id="147" dur="500"/>
                                        <p:tgtEl>
                                          <p:spTgt spid="1853455633"/>
                                        </p:tgtEl>
                                      </p:cBhvr>
                                    </p:animEffect>
                                  </p:childTnLst>
                                </p:cTn>
                              </p:par>
                              <p:par>
                                <p:cTn id="148" presetID="10" presetClass="entr" presetSubtype="0" fill="hold" nodeType="withEffect">
                                  <p:stCondLst>
                                    <p:cond delay="0"/>
                                  </p:stCondLst>
                                  <p:childTnLst>
                                    <p:set>
                                      <p:cBhvr>
                                        <p:cTn id="149" dur="1" fill="hold">
                                          <p:stCondLst>
                                            <p:cond delay="0"/>
                                          </p:stCondLst>
                                        </p:cTn>
                                        <p:tgtEl>
                                          <p:spTgt spid="488991784"/>
                                        </p:tgtEl>
                                        <p:attrNameLst>
                                          <p:attrName>style.visibility</p:attrName>
                                        </p:attrNameLst>
                                      </p:cBhvr>
                                      <p:to>
                                        <p:strVal val="visible"/>
                                      </p:to>
                                    </p:set>
                                    <p:animEffect transition="in" filter="fade">
                                      <p:cBhvr>
                                        <p:cTn id="150" dur="500"/>
                                        <p:tgtEl>
                                          <p:spTgt spid="488991784"/>
                                        </p:tgtEl>
                                      </p:cBhvr>
                                    </p:animEffect>
                                  </p:childTnLst>
                                </p:cTn>
                              </p:par>
                              <p:par>
                                <p:cTn id="151" presetID="10" presetClass="entr" presetSubtype="0" fill="hold" nodeType="withEffect">
                                  <p:stCondLst>
                                    <p:cond delay="0"/>
                                  </p:stCondLst>
                                  <p:childTnLst>
                                    <p:set>
                                      <p:cBhvr>
                                        <p:cTn id="152" dur="1" fill="hold">
                                          <p:stCondLst>
                                            <p:cond delay="0"/>
                                          </p:stCondLst>
                                        </p:cTn>
                                        <p:tgtEl>
                                          <p:spTgt spid="1827185519"/>
                                        </p:tgtEl>
                                        <p:attrNameLst>
                                          <p:attrName>style.visibility</p:attrName>
                                        </p:attrNameLst>
                                      </p:cBhvr>
                                      <p:to>
                                        <p:strVal val="visible"/>
                                      </p:to>
                                    </p:set>
                                    <p:animEffect transition="in" filter="fade">
                                      <p:cBhvr>
                                        <p:cTn id="153" dur="500"/>
                                        <p:tgtEl>
                                          <p:spTgt spid="1827185519"/>
                                        </p:tgtEl>
                                      </p:cBhvr>
                                    </p:animEffect>
                                  </p:childTnLst>
                                </p:cTn>
                              </p:par>
                              <p:par>
                                <p:cTn id="154" presetID="10" presetClass="entr" presetSubtype="0" fill="hold" nodeType="withEffect">
                                  <p:stCondLst>
                                    <p:cond delay="0"/>
                                  </p:stCondLst>
                                  <p:childTnLst>
                                    <p:set>
                                      <p:cBhvr>
                                        <p:cTn id="155" dur="1" fill="hold">
                                          <p:stCondLst>
                                            <p:cond delay="0"/>
                                          </p:stCondLst>
                                        </p:cTn>
                                        <p:tgtEl>
                                          <p:spTgt spid="1922208376"/>
                                        </p:tgtEl>
                                        <p:attrNameLst>
                                          <p:attrName>style.visibility</p:attrName>
                                        </p:attrNameLst>
                                      </p:cBhvr>
                                      <p:to>
                                        <p:strVal val="visible"/>
                                      </p:to>
                                    </p:set>
                                    <p:animEffect transition="in" filter="fade">
                                      <p:cBhvr>
                                        <p:cTn id="156" dur="500"/>
                                        <p:tgtEl>
                                          <p:spTgt spid="1922208376"/>
                                        </p:tgtEl>
                                      </p:cBhvr>
                                    </p:animEffect>
                                  </p:childTnLst>
                                </p:cTn>
                              </p:par>
                              <p:par>
                                <p:cTn id="157" presetID="10" presetClass="entr" presetSubtype="0" fill="hold" nodeType="withEffect">
                                  <p:stCondLst>
                                    <p:cond delay="0"/>
                                  </p:stCondLst>
                                  <p:childTnLst>
                                    <p:set>
                                      <p:cBhvr>
                                        <p:cTn id="158" dur="1" fill="hold">
                                          <p:stCondLst>
                                            <p:cond delay="0"/>
                                          </p:stCondLst>
                                        </p:cTn>
                                        <p:tgtEl>
                                          <p:spTgt spid="944059816"/>
                                        </p:tgtEl>
                                        <p:attrNameLst>
                                          <p:attrName>style.visibility</p:attrName>
                                        </p:attrNameLst>
                                      </p:cBhvr>
                                      <p:to>
                                        <p:strVal val="visible"/>
                                      </p:to>
                                    </p:set>
                                    <p:animEffect transition="in" filter="fade">
                                      <p:cBhvr>
                                        <p:cTn id="159" dur="500"/>
                                        <p:tgtEl>
                                          <p:spTgt spid="944059816"/>
                                        </p:tgtEl>
                                      </p:cBhvr>
                                    </p:animEffect>
                                  </p:childTnLst>
                                </p:cTn>
                              </p:par>
                              <p:par>
                                <p:cTn id="160" presetID="10" presetClass="entr" presetSubtype="0" fill="hold" nodeType="withEffect">
                                  <p:stCondLst>
                                    <p:cond delay="0"/>
                                  </p:stCondLst>
                                  <p:childTnLst>
                                    <p:set>
                                      <p:cBhvr>
                                        <p:cTn id="161" dur="1" fill="hold">
                                          <p:stCondLst>
                                            <p:cond delay="0"/>
                                          </p:stCondLst>
                                        </p:cTn>
                                        <p:tgtEl>
                                          <p:spTgt spid="955479977"/>
                                        </p:tgtEl>
                                        <p:attrNameLst>
                                          <p:attrName>style.visibility</p:attrName>
                                        </p:attrNameLst>
                                      </p:cBhvr>
                                      <p:to>
                                        <p:strVal val="visible"/>
                                      </p:to>
                                    </p:set>
                                    <p:animEffect transition="in" filter="fade">
                                      <p:cBhvr>
                                        <p:cTn id="162" dur="500"/>
                                        <p:tgtEl>
                                          <p:spTgt spid="955479977"/>
                                        </p:tgtEl>
                                      </p:cBhvr>
                                    </p:animEffect>
                                  </p:childTnLst>
                                </p:cTn>
                              </p:par>
                              <p:par>
                                <p:cTn id="163" presetID="10" presetClass="entr" presetSubtype="0" fill="hold" nodeType="withEffect">
                                  <p:stCondLst>
                                    <p:cond delay="0"/>
                                  </p:stCondLst>
                                  <p:childTnLst>
                                    <p:set>
                                      <p:cBhvr>
                                        <p:cTn id="164" dur="1" fill="hold">
                                          <p:stCondLst>
                                            <p:cond delay="0"/>
                                          </p:stCondLst>
                                        </p:cTn>
                                        <p:tgtEl>
                                          <p:spTgt spid="1497390993"/>
                                        </p:tgtEl>
                                        <p:attrNameLst>
                                          <p:attrName>style.visibility</p:attrName>
                                        </p:attrNameLst>
                                      </p:cBhvr>
                                      <p:to>
                                        <p:strVal val="visible"/>
                                      </p:to>
                                    </p:set>
                                    <p:animEffect transition="in" filter="fade">
                                      <p:cBhvr>
                                        <p:cTn id="165" dur="500"/>
                                        <p:tgtEl>
                                          <p:spTgt spid="1497390993"/>
                                        </p:tgtEl>
                                      </p:cBhvr>
                                    </p:animEffect>
                                  </p:childTnLst>
                                </p:cTn>
                              </p:par>
                              <p:par>
                                <p:cTn id="166" presetID="10" presetClass="entr" presetSubtype="0" fill="hold" nodeType="withEffect">
                                  <p:stCondLst>
                                    <p:cond delay="0"/>
                                  </p:stCondLst>
                                  <p:childTnLst>
                                    <p:set>
                                      <p:cBhvr>
                                        <p:cTn id="167" dur="1" fill="hold">
                                          <p:stCondLst>
                                            <p:cond delay="0"/>
                                          </p:stCondLst>
                                        </p:cTn>
                                        <p:tgtEl>
                                          <p:spTgt spid="1145658446"/>
                                        </p:tgtEl>
                                        <p:attrNameLst>
                                          <p:attrName>style.visibility</p:attrName>
                                        </p:attrNameLst>
                                      </p:cBhvr>
                                      <p:to>
                                        <p:strVal val="visible"/>
                                      </p:to>
                                    </p:set>
                                    <p:animEffect transition="in" filter="fade">
                                      <p:cBhvr>
                                        <p:cTn id="168" dur="500"/>
                                        <p:tgtEl>
                                          <p:spTgt spid="1145658446"/>
                                        </p:tgtEl>
                                      </p:cBhvr>
                                    </p:animEffect>
                                  </p:childTnLst>
                                </p:cTn>
                              </p:par>
                              <p:par>
                                <p:cTn id="169" presetID="10" presetClass="entr" presetSubtype="0" fill="hold" nodeType="withEffect">
                                  <p:stCondLst>
                                    <p:cond delay="0"/>
                                  </p:stCondLst>
                                  <p:childTnLst>
                                    <p:set>
                                      <p:cBhvr>
                                        <p:cTn id="170" dur="1" fill="hold">
                                          <p:stCondLst>
                                            <p:cond delay="0"/>
                                          </p:stCondLst>
                                        </p:cTn>
                                        <p:tgtEl>
                                          <p:spTgt spid="2006281915"/>
                                        </p:tgtEl>
                                        <p:attrNameLst>
                                          <p:attrName>style.visibility</p:attrName>
                                        </p:attrNameLst>
                                      </p:cBhvr>
                                      <p:to>
                                        <p:strVal val="visible"/>
                                      </p:to>
                                    </p:set>
                                    <p:animEffect transition="in" filter="fade">
                                      <p:cBhvr>
                                        <p:cTn id="171" dur="500"/>
                                        <p:tgtEl>
                                          <p:spTgt spid="2006281915"/>
                                        </p:tgtEl>
                                      </p:cBhvr>
                                    </p:animEffect>
                                  </p:childTnLst>
                                </p:cTn>
                              </p:par>
                              <p:par>
                                <p:cTn id="172" presetID="10" presetClass="entr" presetSubtype="0" fill="hold" nodeType="withEffect">
                                  <p:stCondLst>
                                    <p:cond delay="0"/>
                                  </p:stCondLst>
                                  <p:childTnLst>
                                    <p:set>
                                      <p:cBhvr>
                                        <p:cTn id="173" dur="1" fill="hold">
                                          <p:stCondLst>
                                            <p:cond delay="0"/>
                                          </p:stCondLst>
                                        </p:cTn>
                                        <p:tgtEl>
                                          <p:spTgt spid="2111261734"/>
                                        </p:tgtEl>
                                        <p:attrNameLst>
                                          <p:attrName>style.visibility</p:attrName>
                                        </p:attrNameLst>
                                      </p:cBhvr>
                                      <p:to>
                                        <p:strVal val="visible"/>
                                      </p:to>
                                    </p:set>
                                    <p:animEffect transition="in" filter="fade">
                                      <p:cBhvr>
                                        <p:cTn id="174" dur="500"/>
                                        <p:tgtEl>
                                          <p:spTgt spid="2111261734"/>
                                        </p:tgtEl>
                                      </p:cBhvr>
                                    </p:animEffect>
                                  </p:childTnLst>
                                </p:cTn>
                              </p:par>
                              <p:par>
                                <p:cTn id="175" presetID="10" presetClass="entr" presetSubtype="0" fill="hold" nodeType="withEffect">
                                  <p:stCondLst>
                                    <p:cond delay="0"/>
                                  </p:stCondLst>
                                  <p:childTnLst>
                                    <p:set>
                                      <p:cBhvr>
                                        <p:cTn id="176" dur="1" fill="hold">
                                          <p:stCondLst>
                                            <p:cond delay="0"/>
                                          </p:stCondLst>
                                        </p:cTn>
                                        <p:tgtEl>
                                          <p:spTgt spid="1620637900"/>
                                        </p:tgtEl>
                                        <p:attrNameLst>
                                          <p:attrName>style.visibility</p:attrName>
                                        </p:attrNameLst>
                                      </p:cBhvr>
                                      <p:to>
                                        <p:strVal val="visible"/>
                                      </p:to>
                                    </p:set>
                                    <p:animEffect transition="in" filter="fade">
                                      <p:cBhvr>
                                        <p:cTn id="177" dur="500"/>
                                        <p:tgtEl>
                                          <p:spTgt spid="1620637900"/>
                                        </p:tgtEl>
                                      </p:cBhvr>
                                    </p:animEffect>
                                  </p:childTnLst>
                                </p:cTn>
                              </p:par>
                              <p:par>
                                <p:cTn id="178" presetID="10" presetClass="entr" presetSubtype="0" fill="hold" nodeType="withEffect">
                                  <p:stCondLst>
                                    <p:cond delay="0"/>
                                  </p:stCondLst>
                                  <p:childTnLst>
                                    <p:set>
                                      <p:cBhvr>
                                        <p:cTn id="179" dur="1" fill="hold">
                                          <p:stCondLst>
                                            <p:cond delay="0"/>
                                          </p:stCondLst>
                                        </p:cTn>
                                        <p:tgtEl>
                                          <p:spTgt spid="648653912"/>
                                        </p:tgtEl>
                                        <p:attrNameLst>
                                          <p:attrName>style.visibility</p:attrName>
                                        </p:attrNameLst>
                                      </p:cBhvr>
                                      <p:to>
                                        <p:strVal val="visible"/>
                                      </p:to>
                                    </p:set>
                                    <p:animEffect transition="in" filter="fade">
                                      <p:cBhvr>
                                        <p:cTn id="180" dur="500"/>
                                        <p:tgtEl>
                                          <p:spTgt spid="648653912"/>
                                        </p:tgtEl>
                                      </p:cBhvr>
                                    </p:animEffect>
                                  </p:childTnLst>
                                </p:cTn>
                              </p:par>
                              <p:par>
                                <p:cTn id="181" presetID="10" presetClass="entr" presetSubtype="0" fill="hold" nodeType="withEffect">
                                  <p:stCondLst>
                                    <p:cond delay="0"/>
                                  </p:stCondLst>
                                  <p:childTnLst>
                                    <p:set>
                                      <p:cBhvr>
                                        <p:cTn id="182" dur="1" fill="hold">
                                          <p:stCondLst>
                                            <p:cond delay="0"/>
                                          </p:stCondLst>
                                        </p:cTn>
                                        <p:tgtEl>
                                          <p:spTgt spid="1333642255"/>
                                        </p:tgtEl>
                                        <p:attrNameLst>
                                          <p:attrName>style.visibility</p:attrName>
                                        </p:attrNameLst>
                                      </p:cBhvr>
                                      <p:to>
                                        <p:strVal val="visible"/>
                                      </p:to>
                                    </p:set>
                                    <p:animEffect transition="in" filter="fade">
                                      <p:cBhvr>
                                        <p:cTn id="183" dur="500"/>
                                        <p:tgtEl>
                                          <p:spTgt spid="1333642255"/>
                                        </p:tgtEl>
                                      </p:cBhvr>
                                    </p:animEffect>
                                  </p:childTnLst>
                                </p:cTn>
                              </p:par>
                              <p:par>
                                <p:cTn id="184" presetID="10" presetClass="entr" presetSubtype="0" fill="hold" nodeType="withEffect">
                                  <p:stCondLst>
                                    <p:cond delay="0"/>
                                  </p:stCondLst>
                                  <p:childTnLst>
                                    <p:set>
                                      <p:cBhvr>
                                        <p:cTn id="185" dur="1" fill="hold">
                                          <p:stCondLst>
                                            <p:cond delay="0"/>
                                          </p:stCondLst>
                                        </p:cTn>
                                        <p:tgtEl>
                                          <p:spTgt spid="698018209"/>
                                        </p:tgtEl>
                                        <p:attrNameLst>
                                          <p:attrName>style.visibility</p:attrName>
                                        </p:attrNameLst>
                                      </p:cBhvr>
                                      <p:to>
                                        <p:strVal val="visible"/>
                                      </p:to>
                                    </p:set>
                                    <p:animEffect transition="in" filter="fade">
                                      <p:cBhvr>
                                        <p:cTn id="186" dur="500"/>
                                        <p:tgtEl>
                                          <p:spTgt spid="698018209"/>
                                        </p:tgtEl>
                                      </p:cBhvr>
                                    </p:animEffect>
                                  </p:childTnLst>
                                </p:cTn>
                              </p:par>
                              <p:par>
                                <p:cTn id="187" presetID="10" presetClass="entr" presetSubtype="0" fill="hold" nodeType="withEffect">
                                  <p:stCondLst>
                                    <p:cond delay="0"/>
                                  </p:stCondLst>
                                  <p:childTnLst>
                                    <p:set>
                                      <p:cBhvr>
                                        <p:cTn id="188" dur="1" fill="hold">
                                          <p:stCondLst>
                                            <p:cond delay="0"/>
                                          </p:stCondLst>
                                        </p:cTn>
                                        <p:tgtEl>
                                          <p:spTgt spid="2010910400"/>
                                        </p:tgtEl>
                                        <p:attrNameLst>
                                          <p:attrName>style.visibility</p:attrName>
                                        </p:attrNameLst>
                                      </p:cBhvr>
                                      <p:to>
                                        <p:strVal val="visible"/>
                                      </p:to>
                                    </p:set>
                                    <p:animEffect transition="in" filter="fade">
                                      <p:cBhvr>
                                        <p:cTn id="189" dur="500"/>
                                        <p:tgtEl>
                                          <p:spTgt spid="2010910400"/>
                                        </p:tgtEl>
                                      </p:cBhvr>
                                    </p:animEffect>
                                  </p:childTnLst>
                                </p:cTn>
                              </p:par>
                              <p:par>
                                <p:cTn id="190" presetID="10" presetClass="entr" presetSubtype="0" fill="hold" nodeType="withEffect">
                                  <p:stCondLst>
                                    <p:cond delay="0"/>
                                  </p:stCondLst>
                                  <p:childTnLst>
                                    <p:set>
                                      <p:cBhvr>
                                        <p:cTn id="191" dur="1" fill="hold">
                                          <p:stCondLst>
                                            <p:cond delay="0"/>
                                          </p:stCondLst>
                                        </p:cTn>
                                        <p:tgtEl>
                                          <p:spTgt spid="1854389353"/>
                                        </p:tgtEl>
                                        <p:attrNameLst>
                                          <p:attrName>style.visibility</p:attrName>
                                        </p:attrNameLst>
                                      </p:cBhvr>
                                      <p:to>
                                        <p:strVal val="visible"/>
                                      </p:to>
                                    </p:set>
                                    <p:animEffect transition="in" filter="fade">
                                      <p:cBhvr>
                                        <p:cTn id="192" dur="500"/>
                                        <p:tgtEl>
                                          <p:spTgt spid="1854389353"/>
                                        </p:tgtEl>
                                      </p:cBhvr>
                                    </p:animEffect>
                                  </p:childTnLst>
                                </p:cTn>
                              </p:par>
                              <p:par>
                                <p:cTn id="193" presetID="10" presetClass="entr" presetSubtype="0" fill="hold" nodeType="withEffect">
                                  <p:stCondLst>
                                    <p:cond delay="0"/>
                                  </p:stCondLst>
                                  <p:childTnLst>
                                    <p:set>
                                      <p:cBhvr>
                                        <p:cTn id="194" dur="1" fill="hold">
                                          <p:stCondLst>
                                            <p:cond delay="0"/>
                                          </p:stCondLst>
                                        </p:cTn>
                                        <p:tgtEl>
                                          <p:spTgt spid="1390674296"/>
                                        </p:tgtEl>
                                        <p:attrNameLst>
                                          <p:attrName>style.visibility</p:attrName>
                                        </p:attrNameLst>
                                      </p:cBhvr>
                                      <p:to>
                                        <p:strVal val="visible"/>
                                      </p:to>
                                    </p:set>
                                    <p:animEffect transition="in" filter="fade">
                                      <p:cBhvr>
                                        <p:cTn id="195" dur="500"/>
                                        <p:tgtEl>
                                          <p:spTgt spid="1390674296"/>
                                        </p:tgtEl>
                                      </p:cBhvr>
                                    </p:animEffect>
                                  </p:childTnLst>
                                </p:cTn>
                              </p:par>
                              <p:par>
                                <p:cTn id="196" presetID="10" presetClass="entr" presetSubtype="0" fill="hold" nodeType="withEffect">
                                  <p:stCondLst>
                                    <p:cond delay="0"/>
                                  </p:stCondLst>
                                  <p:childTnLst>
                                    <p:set>
                                      <p:cBhvr>
                                        <p:cTn id="197" dur="1" fill="hold">
                                          <p:stCondLst>
                                            <p:cond delay="0"/>
                                          </p:stCondLst>
                                        </p:cTn>
                                        <p:tgtEl>
                                          <p:spTgt spid="1754657557"/>
                                        </p:tgtEl>
                                        <p:attrNameLst>
                                          <p:attrName>style.visibility</p:attrName>
                                        </p:attrNameLst>
                                      </p:cBhvr>
                                      <p:to>
                                        <p:strVal val="visible"/>
                                      </p:to>
                                    </p:set>
                                    <p:animEffect transition="in" filter="fade">
                                      <p:cBhvr>
                                        <p:cTn id="198" dur="500"/>
                                        <p:tgtEl>
                                          <p:spTgt spid="1754657557"/>
                                        </p:tgtEl>
                                      </p:cBhvr>
                                    </p:animEffect>
                                  </p:childTnLst>
                                </p:cTn>
                              </p:par>
                              <p:par>
                                <p:cTn id="199" presetID="10" presetClass="entr" presetSubtype="0" fill="hold" nodeType="withEffect">
                                  <p:stCondLst>
                                    <p:cond delay="0"/>
                                  </p:stCondLst>
                                  <p:childTnLst>
                                    <p:set>
                                      <p:cBhvr>
                                        <p:cTn id="200" dur="1" fill="hold">
                                          <p:stCondLst>
                                            <p:cond delay="0"/>
                                          </p:stCondLst>
                                        </p:cTn>
                                        <p:tgtEl>
                                          <p:spTgt spid="304866402"/>
                                        </p:tgtEl>
                                        <p:attrNameLst>
                                          <p:attrName>style.visibility</p:attrName>
                                        </p:attrNameLst>
                                      </p:cBhvr>
                                      <p:to>
                                        <p:strVal val="visible"/>
                                      </p:to>
                                    </p:set>
                                    <p:animEffect transition="in" filter="fade">
                                      <p:cBhvr>
                                        <p:cTn id="201" dur="500"/>
                                        <p:tgtEl>
                                          <p:spTgt spid="304866402"/>
                                        </p:tgtEl>
                                      </p:cBhvr>
                                    </p:animEffect>
                                  </p:childTnLst>
                                </p:cTn>
                              </p:par>
                              <p:par>
                                <p:cTn id="202" presetID="10" presetClass="entr" presetSubtype="0" fill="hold" nodeType="withEffect">
                                  <p:stCondLst>
                                    <p:cond delay="0"/>
                                  </p:stCondLst>
                                  <p:childTnLst>
                                    <p:set>
                                      <p:cBhvr>
                                        <p:cTn id="203" dur="1" fill="hold">
                                          <p:stCondLst>
                                            <p:cond delay="0"/>
                                          </p:stCondLst>
                                        </p:cTn>
                                        <p:tgtEl>
                                          <p:spTgt spid="838119804"/>
                                        </p:tgtEl>
                                        <p:attrNameLst>
                                          <p:attrName>style.visibility</p:attrName>
                                        </p:attrNameLst>
                                      </p:cBhvr>
                                      <p:to>
                                        <p:strVal val="visible"/>
                                      </p:to>
                                    </p:set>
                                    <p:animEffect transition="in" filter="fade">
                                      <p:cBhvr>
                                        <p:cTn id="204" dur="500"/>
                                        <p:tgtEl>
                                          <p:spTgt spid="838119804"/>
                                        </p:tgtEl>
                                      </p:cBhvr>
                                    </p:animEffect>
                                  </p:childTnLst>
                                </p:cTn>
                              </p:par>
                              <p:par>
                                <p:cTn id="205" presetID="10" presetClass="entr" presetSubtype="0" fill="hold" nodeType="withEffect">
                                  <p:stCondLst>
                                    <p:cond delay="0"/>
                                  </p:stCondLst>
                                  <p:childTnLst>
                                    <p:set>
                                      <p:cBhvr>
                                        <p:cTn id="206" dur="1" fill="hold">
                                          <p:stCondLst>
                                            <p:cond delay="0"/>
                                          </p:stCondLst>
                                        </p:cTn>
                                        <p:tgtEl>
                                          <p:spTgt spid="559726981"/>
                                        </p:tgtEl>
                                        <p:attrNameLst>
                                          <p:attrName>style.visibility</p:attrName>
                                        </p:attrNameLst>
                                      </p:cBhvr>
                                      <p:to>
                                        <p:strVal val="visible"/>
                                      </p:to>
                                    </p:set>
                                    <p:animEffect transition="in" filter="fade">
                                      <p:cBhvr>
                                        <p:cTn id="207" dur="500"/>
                                        <p:tgtEl>
                                          <p:spTgt spid="559726981"/>
                                        </p:tgtEl>
                                      </p:cBhvr>
                                    </p:animEffect>
                                  </p:childTnLst>
                                </p:cTn>
                              </p:par>
                              <p:par>
                                <p:cTn id="208" presetID="10" presetClass="entr" presetSubtype="0" fill="hold" nodeType="withEffect">
                                  <p:stCondLst>
                                    <p:cond delay="0"/>
                                  </p:stCondLst>
                                  <p:childTnLst>
                                    <p:set>
                                      <p:cBhvr>
                                        <p:cTn id="209" dur="1" fill="hold">
                                          <p:stCondLst>
                                            <p:cond delay="0"/>
                                          </p:stCondLst>
                                        </p:cTn>
                                        <p:tgtEl>
                                          <p:spTgt spid="1762367819"/>
                                        </p:tgtEl>
                                        <p:attrNameLst>
                                          <p:attrName>style.visibility</p:attrName>
                                        </p:attrNameLst>
                                      </p:cBhvr>
                                      <p:to>
                                        <p:strVal val="visible"/>
                                      </p:to>
                                    </p:set>
                                    <p:animEffect transition="in" filter="fade">
                                      <p:cBhvr>
                                        <p:cTn id="210" dur="500"/>
                                        <p:tgtEl>
                                          <p:spTgt spid="1762367819"/>
                                        </p:tgtEl>
                                      </p:cBhvr>
                                    </p:animEffect>
                                  </p:childTnLst>
                                </p:cTn>
                              </p:par>
                              <p:par>
                                <p:cTn id="211" presetID="10" presetClass="entr" presetSubtype="0" fill="hold" nodeType="withEffect">
                                  <p:stCondLst>
                                    <p:cond delay="0"/>
                                  </p:stCondLst>
                                  <p:childTnLst>
                                    <p:set>
                                      <p:cBhvr>
                                        <p:cTn id="212" dur="1" fill="hold">
                                          <p:stCondLst>
                                            <p:cond delay="0"/>
                                          </p:stCondLst>
                                        </p:cTn>
                                        <p:tgtEl>
                                          <p:spTgt spid="1040768053"/>
                                        </p:tgtEl>
                                        <p:attrNameLst>
                                          <p:attrName>style.visibility</p:attrName>
                                        </p:attrNameLst>
                                      </p:cBhvr>
                                      <p:to>
                                        <p:strVal val="visible"/>
                                      </p:to>
                                    </p:set>
                                    <p:animEffect transition="in" filter="fade">
                                      <p:cBhvr>
                                        <p:cTn id="213" dur="500"/>
                                        <p:tgtEl>
                                          <p:spTgt spid="1040768053"/>
                                        </p:tgtEl>
                                      </p:cBhvr>
                                    </p:animEffect>
                                  </p:childTnLst>
                                </p:cTn>
                              </p:par>
                              <p:par>
                                <p:cTn id="214" presetID="10" presetClass="entr" presetSubtype="0" fill="hold" nodeType="withEffect">
                                  <p:stCondLst>
                                    <p:cond delay="0"/>
                                  </p:stCondLst>
                                  <p:childTnLst>
                                    <p:set>
                                      <p:cBhvr>
                                        <p:cTn id="215" dur="1" fill="hold">
                                          <p:stCondLst>
                                            <p:cond delay="0"/>
                                          </p:stCondLst>
                                        </p:cTn>
                                        <p:tgtEl>
                                          <p:spTgt spid="1193031386"/>
                                        </p:tgtEl>
                                        <p:attrNameLst>
                                          <p:attrName>style.visibility</p:attrName>
                                        </p:attrNameLst>
                                      </p:cBhvr>
                                      <p:to>
                                        <p:strVal val="visible"/>
                                      </p:to>
                                    </p:set>
                                    <p:animEffect transition="in" filter="fade">
                                      <p:cBhvr>
                                        <p:cTn id="216" dur="500"/>
                                        <p:tgtEl>
                                          <p:spTgt spid="1193031386"/>
                                        </p:tgtEl>
                                      </p:cBhvr>
                                    </p:animEffect>
                                  </p:childTnLst>
                                </p:cTn>
                              </p:par>
                              <p:par>
                                <p:cTn id="217" presetID="10" presetClass="entr" presetSubtype="0" fill="hold" nodeType="withEffect">
                                  <p:stCondLst>
                                    <p:cond delay="0"/>
                                  </p:stCondLst>
                                  <p:childTnLst>
                                    <p:set>
                                      <p:cBhvr>
                                        <p:cTn id="218" dur="1" fill="hold">
                                          <p:stCondLst>
                                            <p:cond delay="0"/>
                                          </p:stCondLst>
                                        </p:cTn>
                                        <p:tgtEl>
                                          <p:spTgt spid="512293378"/>
                                        </p:tgtEl>
                                        <p:attrNameLst>
                                          <p:attrName>style.visibility</p:attrName>
                                        </p:attrNameLst>
                                      </p:cBhvr>
                                      <p:to>
                                        <p:strVal val="visible"/>
                                      </p:to>
                                    </p:set>
                                    <p:animEffect transition="in" filter="fade">
                                      <p:cBhvr>
                                        <p:cTn id="219" dur="500"/>
                                        <p:tgtEl>
                                          <p:spTgt spid="512293378"/>
                                        </p:tgtEl>
                                      </p:cBhvr>
                                    </p:animEffect>
                                  </p:childTnLst>
                                </p:cTn>
                              </p:par>
                              <p:par>
                                <p:cTn id="220" presetID="10" presetClass="entr" presetSubtype="0" fill="hold" nodeType="withEffect">
                                  <p:stCondLst>
                                    <p:cond delay="0"/>
                                  </p:stCondLst>
                                  <p:childTnLst>
                                    <p:set>
                                      <p:cBhvr>
                                        <p:cTn id="221" dur="1" fill="hold">
                                          <p:stCondLst>
                                            <p:cond delay="0"/>
                                          </p:stCondLst>
                                        </p:cTn>
                                        <p:tgtEl>
                                          <p:spTgt spid="379491990"/>
                                        </p:tgtEl>
                                        <p:attrNameLst>
                                          <p:attrName>style.visibility</p:attrName>
                                        </p:attrNameLst>
                                      </p:cBhvr>
                                      <p:to>
                                        <p:strVal val="visible"/>
                                      </p:to>
                                    </p:set>
                                    <p:animEffect transition="in" filter="fade">
                                      <p:cBhvr>
                                        <p:cTn id="222" dur="500"/>
                                        <p:tgtEl>
                                          <p:spTgt spid="379491990"/>
                                        </p:tgtEl>
                                      </p:cBhvr>
                                    </p:animEffect>
                                  </p:childTnLst>
                                </p:cTn>
                              </p:par>
                              <p:par>
                                <p:cTn id="223" presetID="10" presetClass="entr" presetSubtype="0" fill="hold" nodeType="withEffect">
                                  <p:stCondLst>
                                    <p:cond delay="0"/>
                                  </p:stCondLst>
                                  <p:childTnLst>
                                    <p:set>
                                      <p:cBhvr>
                                        <p:cTn id="224" dur="1" fill="hold">
                                          <p:stCondLst>
                                            <p:cond delay="0"/>
                                          </p:stCondLst>
                                        </p:cTn>
                                        <p:tgtEl>
                                          <p:spTgt spid="1545990817"/>
                                        </p:tgtEl>
                                        <p:attrNameLst>
                                          <p:attrName>style.visibility</p:attrName>
                                        </p:attrNameLst>
                                      </p:cBhvr>
                                      <p:to>
                                        <p:strVal val="visible"/>
                                      </p:to>
                                    </p:set>
                                    <p:animEffect transition="in" filter="fade">
                                      <p:cBhvr>
                                        <p:cTn id="225" dur="500"/>
                                        <p:tgtEl>
                                          <p:spTgt spid="1545990817"/>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1386570282"/>
                                        </p:tgtEl>
                                        <p:attrNameLst>
                                          <p:attrName>style.visibility</p:attrName>
                                        </p:attrNameLst>
                                      </p:cBhvr>
                                      <p:to>
                                        <p:strVal val="visible"/>
                                      </p:to>
                                    </p:set>
                                    <p:animEffect transition="in" filter="fade">
                                      <p:cBhvr>
                                        <p:cTn id="228" dur="500"/>
                                        <p:tgtEl>
                                          <p:spTgt spid="1386570282"/>
                                        </p:tgtEl>
                                      </p:cBhvr>
                                    </p:animEffect>
                                  </p:childTnLst>
                                </p:cTn>
                              </p:par>
                            </p:childTnLst>
                          </p:cTn>
                        </p:par>
                      </p:childTnLst>
                    </p:cTn>
                  </p:par>
                  <p:par>
                    <p:cTn id="229" fill="hold">
                      <p:stCondLst>
                        <p:cond delay="indefinite"/>
                      </p:stCondLst>
                      <p:childTnLst>
                        <p:par>
                          <p:cTn id="230" fill="hold">
                            <p:stCondLst>
                              <p:cond delay="0"/>
                            </p:stCondLst>
                            <p:childTnLst>
                              <p:par>
                                <p:cTn id="231" presetID="7" presetClass="emph" presetSubtype="2" fill="hold" nodeType="clickEffect">
                                  <p:stCondLst>
                                    <p:cond delay="0"/>
                                  </p:stCondLst>
                                  <p:childTnLst>
                                    <p:animClr clrSpc="rgb" dir="cw">
                                      <p:cBhvr>
                                        <p:cTn id="232" dur="2000" fill="hold"/>
                                        <p:tgtEl>
                                          <p:spTgt spid="738706482"/>
                                        </p:tgtEl>
                                        <p:attrNameLst>
                                          <p:attrName>stroke.color</p:attrName>
                                        </p:attrNameLst>
                                      </p:cBhvr>
                                      <p:to>
                                        <a:srgbClr val="00CCFF"/>
                                      </p:to>
                                    </p:animClr>
                                    <p:set>
                                      <p:cBhvr>
                                        <p:cTn id="233" dur="2000" fill="hold"/>
                                        <p:tgtEl>
                                          <p:spTgt spid="738706482"/>
                                        </p:tgtEl>
                                        <p:attrNameLst>
                                          <p:attrName>stroke.on</p:attrName>
                                        </p:attrNameLst>
                                      </p:cBhvr>
                                      <p:to>
                                        <p:strVal val="true"/>
                                      </p:to>
                                    </p:set>
                                  </p:childTnLst>
                                </p:cTn>
                              </p:par>
                              <p:par>
                                <p:cTn id="234" presetID="7" presetClass="emph" presetSubtype="2" fill="hold" nodeType="withEffect">
                                  <p:stCondLst>
                                    <p:cond delay="0"/>
                                  </p:stCondLst>
                                  <p:childTnLst>
                                    <p:animClr clrSpc="rgb" dir="cw">
                                      <p:cBhvr>
                                        <p:cTn id="235" dur="2000" fill="hold"/>
                                        <p:tgtEl>
                                          <p:spTgt spid="862836527"/>
                                        </p:tgtEl>
                                        <p:attrNameLst>
                                          <p:attrName>stroke.color</p:attrName>
                                        </p:attrNameLst>
                                      </p:cBhvr>
                                      <p:to>
                                        <a:srgbClr val="800000"/>
                                      </p:to>
                                    </p:animClr>
                                    <p:set>
                                      <p:cBhvr>
                                        <p:cTn id="236" dur="2000" fill="hold"/>
                                        <p:tgtEl>
                                          <p:spTgt spid="862836527"/>
                                        </p:tgtEl>
                                        <p:attrNameLst>
                                          <p:attrName>stroke.on</p:attrName>
                                        </p:attrNameLst>
                                      </p:cBhvr>
                                      <p:to>
                                        <p:strVal val="true"/>
                                      </p:to>
                                    </p:set>
                                  </p:childTnLst>
                                </p:cTn>
                              </p:par>
                              <p:par>
                                <p:cTn id="237" presetID="7" presetClass="emph" presetSubtype="2" fill="hold" nodeType="withEffect">
                                  <p:stCondLst>
                                    <p:cond delay="0"/>
                                  </p:stCondLst>
                                  <p:childTnLst>
                                    <p:animClr clrSpc="rgb" dir="cw">
                                      <p:cBhvr>
                                        <p:cTn id="238" dur="2000" fill="hold"/>
                                        <p:tgtEl>
                                          <p:spTgt spid="1749414121"/>
                                        </p:tgtEl>
                                        <p:attrNameLst>
                                          <p:attrName>stroke.color</p:attrName>
                                        </p:attrNameLst>
                                      </p:cBhvr>
                                      <p:to>
                                        <a:srgbClr val="9933FF"/>
                                      </p:to>
                                    </p:animClr>
                                    <p:set>
                                      <p:cBhvr>
                                        <p:cTn id="239" dur="2000" fill="hold"/>
                                        <p:tgtEl>
                                          <p:spTgt spid="1749414121"/>
                                        </p:tgtEl>
                                        <p:attrNameLst>
                                          <p:attrName>stroke.on</p:attrName>
                                        </p:attrNameLst>
                                      </p:cBhvr>
                                      <p:to>
                                        <p:strVal val="true"/>
                                      </p:to>
                                    </p:set>
                                  </p:childTnLst>
                                </p:cTn>
                              </p:par>
                              <p:par>
                                <p:cTn id="240" presetID="7" presetClass="emph" presetSubtype="2" fill="hold" nodeType="withEffect">
                                  <p:stCondLst>
                                    <p:cond delay="0"/>
                                  </p:stCondLst>
                                  <p:childTnLst>
                                    <p:animClr clrSpc="rgb" dir="cw">
                                      <p:cBhvr>
                                        <p:cTn id="241" dur="2000" fill="hold"/>
                                        <p:tgtEl>
                                          <p:spTgt spid="1576733695"/>
                                        </p:tgtEl>
                                        <p:attrNameLst>
                                          <p:attrName>stroke.color</p:attrName>
                                        </p:attrNameLst>
                                      </p:cBhvr>
                                      <p:to>
                                        <a:schemeClr val="accent2"/>
                                      </p:to>
                                    </p:animClr>
                                    <p:set>
                                      <p:cBhvr>
                                        <p:cTn id="242" dur="2000" fill="hold"/>
                                        <p:tgtEl>
                                          <p:spTgt spid="1576733695"/>
                                        </p:tgtEl>
                                        <p:attrNameLst>
                                          <p:attrName>stroke.on</p:attrName>
                                        </p:attrNameLst>
                                      </p:cBhvr>
                                      <p:to>
                                        <p:strVal val="true"/>
                                      </p:to>
                                    </p:set>
                                  </p:childTnLst>
                                </p:cTn>
                              </p:par>
                              <p:par>
                                <p:cTn id="243" presetID="7" presetClass="emph" presetSubtype="2" fill="hold" nodeType="withEffect">
                                  <p:stCondLst>
                                    <p:cond delay="0"/>
                                  </p:stCondLst>
                                  <p:childTnLst>
                                    <p:animClr clrSpc="rgb" dir="cw">
                                      <p:cBhvr>
                                        <p:cTn id="244" dur="2000" fill="hold"/>
                                        <p:tgtEl>
                                          <p:spTgt spid="1524744651"/>
                                        </p:tgtEl>
                                        <p:attrNameLst>
                                          <p:attrName>stroke.color</p:attrName>
                                        </p:attrNameLst>
                                      </p:cBhvr>
                                      <p:to>
                                        <a:srgbClr val="339933"/>
                                      </p:to>
                                    </p:animClr>
                                    <p:set>
                                      <p:cBhvr>
                                        <p:cTn id="245" dur="2000" fill="hold"/>
                                        <p:tgtEl>
                                          <p:spTgt spid="1524744651"/>
                                        </p:tgtEl>
                                        <p:attrNameLst>
                                          <p:attrName>stroke.on</p:attrName>
                                        </p:attrNameLst>
                                      </p:cBhvr>
                                      <p:to>
                                        <p:strVal val="true"/>
                                      </p:to>
                                    </p:set>
                                  </p:childTnLst>
                                </p:cTn>
                              </p:par>
                              <p:par>
                                <p:cTn id="246" presetID="7" presetClass="emph" presetSubtype="2" fill="hold" nodeType="withEffect">
                                  <p:stCondLst>
                                    <p:cond delay="0"/>
                                  </p:stCondLst>
                                  <p:childTnLst>
                                    <p:animClr clrSpc="rgb" dir="cw">
                                      <p:cBhvr>
                                        <p:cTn id="247" dur="2000" fill="hold"/>
                                        <p:tgtEl>
                                          <p:spTgt spid="2109788942"/>
                                        </p:tgtEl>
                                        <p:attrNameLst>
                                          <p:attrName>stroke.color</p:attrName>
                                        </p:attrNameLst>
                                      </p:cBhvr>
                                      <p:to>
                                        <a:schemeClr val="accent2"/>
                                      </p:to>
                                    </p:animClr>
                                    <p:set>
                                      <p:cBhvr>
                                        <p:cTn id="248" dur="2000" fill="hold"/>
                                        <p:tgtEl>
                                          <p:spTgt spid="2109788942"/>
                                        </p:tgtEl>
                                        <p:attrNameLst>
                                          <p:attrName>stroke.on</p:attrName>
                                        </p:attrNameLst>
                                      </p:cBhvr>
                                      <p:to>
                                        <p:strVal val="true"/>
                                      </p:to>
                                    </p:set>
                                  </p:childTnLst>
                                </p:cTn>
                              </p:par>
                              <p:par>
                                <p:cTn id="249" presetID="7" presetClass="emph" presetSubtype="2" fill="hold" nodeType="withEffect">
                                  <p:stCondLst>
                                    <p:cond delay="0"/>
                                  </p:stCondLst>
                                  <p:childTnLst>
                                    <p:animClr clrSpc="rgb" dir="cw">
                                      <p:cBhvr>
                                        <p:cTn id="250" dur="2000" fill="hold"/>
                                        <p:tgtEl>
                                          <p:spTgt spid="1447335865"/>
                                        </p:tgtEl>
                                        <p:attrNameLst>
                                          <p:attrName>stroke.color</p:attrName>
                                        </p:attrNameLst>
                                      </p:cBhvr>
                                      <p:to>
                                        <a:srgbClr val="FF6600"/>
                                      </p:to>
                                    </p:animClr>
                                    <p:set>
                                      <p:cBhvr>
                                        <p:cTn id="251" dur="2000" fill="hold"/>
                                        <p:tgtEl>
                                          <p:spTgt spid="1447335865"/>
                                        </p:tgtEl>
                                        <p:attrNameLst>
                                          <p:attrName>stroke.on</p:attrName>
                                        </p:attrNameLst>
                                      </p:cBhvr>
                                      <p:to>
                                        <p:strVal val="true"/>
                                      </p:to>
                                    </p:set>
                                  </p:childTnLst>
                                </p:cTn>
                              </p:par>
                              <p:par>
                                <p:cTn id="252" presetID="7" presetClass="emph" presetSubtype="2" fill="hold" nodeType="withEffect">
                                  <p:stCondLst>
                                    <p:cond delay="0"/>
                                  </p:stCondLst>
                                  <p:childTnLst>
                                    <p:animClr clrSpc="rgb" dir="cw">
                                      <p:cBhvr>
                                        <p:cTn id="253" dur="2000" fill="hold"/>
                                        <p:tgtEl>
                                          <p:spTgt spid="1123604775"/>
                                        </p:tgtEl>
                                        <p:attrNameLst>
                                          <p:attrName>stroke.color</p:attrName>
                                        </p:attrNameLst>
                                      </p:cBhvr>
                                      <p:to>
                                        <a:schemeClr val="accent2"/>
                                      </p:to>
                                    </p:animClr>
                                    <p:set>
                                      <p:cBhvr>
                                        <p:cTn id="254" dur="2000" fill="hold"/>
                                        <p:tgtEl>
                                          <p:spTgt spid="1123604775"/>
                                        </p:tgtEl>
                                        <p:attrNameLst>
                                          <p:attrName>stroke.on</p:attrName>
                                        </p:attrNameLst>
                                      </p:cBhvr>
                                      <p:to>
                                        <p:strVal val="true"/>
                                      </p:to>
                                    </p:set>
                                  </p:childTnLst>
                                </p:cTn>
                              </p:par>
                              <p:par>
                                <p:cTn id="255" presetID="7" presetClass="emph" presetSubtype="2" fill="hold" nodeType="withEffect">
                                  <p:stCondLst>
                                    <p:cond delay="0"/>
                                  </p:stCondLst>
                                  <p:childTnLst>
                                    <p:animClr clrSpc="rgb" dir="cw">
                                      <p:cBhvr>
                                        <p:cTn id="256" dur="2000" fill="hold"/>
                                        <p:tgtEl>
                                          <p:spTgt spid="943116585"/>
                                        </p:tgtEl>
                                        <p:attrNameLst>
                                          <p:attrName>stroke.color</p:attrName>
                                        </p:attrNameLst>
                                      </p:cBhvr>
                                      <p:to>
                                        <a:srgbClr val="9933FF"/>
                                      </p:to>
                                    </p:animClr>
                                    <p:set>
                                      <p:cBhvr>
                                        <p:cTn id="257" dur="2000" fill="hold"/>
                                        <p:tgtEl>
                                          <p:spTgt spid="943116585"/>
                                        </p:tgtEl>
                                        <p:attrNameLst>
                                          <p:attrName>stroke.on</p:attrName>
                                        </p:attrNameLst>
                                      </p:cBhvr>
                                      <p:to>
                                        <p:strVal val="true"/>
                                      </p:to>
                                    </p:set>
                                  </p:childTnLst>
                                </p:cTn>
                              </p:par>
                              <p:par>
                                <p:cTn id="258" presetID="7" presetClass="emph" presetSubtype="2" fill="hold" nodeType="withEffect">
                                  <p:stCondLst>
                                    <p:cond delay="0"/>
                                  </p:stCondLst>
                                  <p:childTnLst>
                                    <p:animClr clrSpc="rgb" dir="cw">
                                      <p:cBhvr>
                                        <p:cTn id="259" dur="2000" fill="hold"/>
                                        <p:tgtEl>
                                          <p:spTgt spid="1536838178"/>
                                        </p:tgtEl>
                                        <p:attrNameLst>
                                          <p:attrName>stroke.color</p:attrName>
                                        </p:attrNameLst>
                                      </p:cBhvr>
                                      <p:to>
                                        <a:srgbClr val="FF6600"/>
                                      </p:to>
                                    </p:animClr>
                                    <p:set>
                                      <p:cBhvr>
                                        <p:cTn id="260" dur="2000" fill="hold"/>
                                        <p:tgtEl>
                                          <p:spTgt spid="1536838178"/>
                                        </p:tgtEl>
                                        <p:attrNameLst>
                                          <p:attrName>stroke.on</p:attrName>
                                        </p:attrNameLst>
                                      </p:cBhvr>
                                      <p:to>
                                        <p:strVal val="true"/>
                                      </p:to>
                                    </p:set>
                                  </p:childTnLst>
                                </p:cTn>
                              </p:par>
                              <p:par>
                                <p:cTn id="261" presetID="7" presetClass="emph" presetSubtype="2" fill="hold" nodeType="withEffect">
                                  <p:stCondLst>
                                    <p:cond delay="0"/>
                                  </p:stCondLst>
                                  <p:childTnLst>
                                    <p:animClr clrSpc="rgb" dir="cw">
                                      <p:cBhvr>
                                        <p:cTn id="262" dur="2000" fill="hold"/>
                                        <p:tgtEl>
                                          <p:spTgt spid="1638634200"/>
                                        </p:tgtEl>
                                        <p:attrNameLst>
                                          <p:attrName>stroke.color</p:attrName>
                                        </p:attrNameLst>
                                      </p:cBhvr>
                                      <p:to>
                                        <a:schemeClr val="accent2"/>
                                      </p:to>
                                    </p:animClr>
                                    <p:set>
                                      <p:cBhvr>
                                        <p:cTn id="263" dur="2000" fill="hold"/>
                                        <p:tgtEl>
                                          <p:spTgt spid="1638634200"/>
                                        </p:tgtEl>
                                        <p:attrNameLst>
                                          <p:attrName>stroke.on</p:attrName>
                                        </p:attrNameLst>
                                      </p:cBhvr>
                                      <p:to>
                                        <p:strVal val="true"/>
                                      </p:to>
                                    </p:set>
                                  </p:childTnLst>
                                </p:cTn>
                              </p:par>
                              <p:par>
                                <p:cTn id="264" presetID="7" presetClass="emph" presetSubtype="2" fill="hold" nodeType="withEffect">
                                  <p:stCondLst>
                                    <p:cond delay="0"/>
                                  </p:stCondLst>
                                  <p:childTnLst>
                                    <p:animClr clrSpc="rgb" dir="cw">
                                      <p:cBhvr>
                                        <p:cTn id="265" dur="2000" fill="hold"/>
                                        <p:tgtEl>
                                          <p:spTgt spid="149521624"/>
                                        </p:tgtEl>
                                        <p:attrNameLst>
                                          <p:attrName>stroke.color</p:attrName>
                                        </p:attrNameLst>
                                      </p:cBhvr>
                                      <p:to>
                                        <a:schemeClr val="accent2"/>
                                      </p:to>
                                    </p:animClr>
                                    <p:set>
                                      <p:cBhvr>
                                        <p:cTn id="266" dur="2000" fill="hold"/>
                                        <p:tgtEl>
                                          <p:spTgt spid="149521624"/>
                                        </p:tgtEl>
                                        <p:attrNameLst>
                                          <p:attrName>stroke.on</p:attrName>
                                        </p:attrNameLst>
                                      </p:cBhvr>
                                      <p:to>
                                        <p:strVal val="true"/>
                                      </p:to>
                                    </p:set>
                                  </p:childTnLst>
                                </p:cTn>
                              </p:par>
                              <p:par>
                                <p:cTn id="267" presetID="7" presetClass="emph" presetSubtype="2" fill="hold" nodeType="withEffect">
                                  <p:stCondLst>
                                    <p:cond delay="0"/>
                                  </p:stCondLst>
                                  <p:childTnLst>
                                    <p:animClr clrSpc="rgb" dir="cw">
                                      <p:cBhvr>
                                        <p:cTn id="268" dur="2000" fill="hold"/>
                                        <p:tgtEl>
                                          <p:spTgt spid="1210318452"/>
                                        </p:tgtEl>
                                        <p:attrNameLst>
                                          <p:attrName>stroke.color</p:attrName>
                                        </p:attrNameLst>
                                      </p:cBhvr>
                                      <p:to>
                                        <a:srgbClr val="003399"/>
                                      </p:to>
                                    </p:animClr>
                                    <p:set>
                                      <p:cBhvr>
                                        <p:cTn id="269" dur="2000" fill="hold"/>
                                        <p:tgtEl>
                                          <p:spTgt spid="1210318452"/>
                                        </p:tgtEl>
                                        <p:attrNameLst>
                                          <p:attrName>stroke.on</p:attrName>
                                        </p:attrNameLst>
                                      </p:cBhvr>
                                      <p:to>
                                        <p:strVal val="true"/>
                                      </p:to>
                                    </p:set>
                                  </p:childTnLst>
                                </p:cTn>
                              </p:par>
                              <p:par>
                                <p:cTn id="270" presetID="7" presetClass="emph" presetSubtype="2" fill="hold" nodeType="withEffect">
                                  <p:stCondLst>
                                    <p:cond delay="0"/>
                                  </p:stCondLst>
                                  <p:childTnLst>
                                    <p:animClr clrSpc="rgb" dir="cw">
                                      <p:cBhvr>
                                        <p:cTn id="271" dur="2000" fill="hold"/>
                                        <p:tgtEl>
                                          <p:spTgt spid="300156928"/>
                                        </p:tgtEl>
                                        <p:attrNameLst>
                                          <p:attrName>stroke.color</p:attrName>
                                        </p:attrNameLst>
                                      </p:cBhvr>
                                      <p:to>
                                        <a:srgbClr val="9933FF"/>
                                      </p:to>
                                    </p:animClr>
                                    <p:set>
                                      <p:cBhvr>
                                        <p:cTn id="272" dur="2000" fill="hold"/>
                                        <p:tgtEl>
                                          <p:spTgt spid="300156928"/>
                                        </p:tgtEl>
                                        <p:attrNameLst>
                                          <p:attrName>stroke.on</p:attrName>
                                        </p:attrNameLst>
                                      </p:cBhvr>
                                      <p:to>
                                        <p:strVal val="true"/>
                                      </p:to>
                                    </p:set>
                                  </p:childTnLst>
                                </p:cTn>
                              </p:par>
                              <p:par>
                                <p:cTn id="273" presetID="7" presetClass="emph" presetSubtype="2" fill="hold" nodeType="withEffect">
                                  <p:stCondLst>
                                    <p:cond delay="0"/>
                                  </p:stCondLst>
                                  <p:childTnLst>
                                    <p:animClr clrSpc="rgb" dir="cw">
                                      <p:cBhvr>
                                        <p:cTn id="274" dur="2000" fill="hold"/>
                                        <p:tgtEl>
                                          <p:spTgt spid="1114764753"/>
                                        </p:tgtEl>
                                        <p:attrNameLst>
                                          <p:attrName>stroke.color</p:attrName>
                                        </p:attrNameLst>
                                      </p:cBhvr>
                                      <p:to>
                                        <a:srgbClr val="FF6600"/>
                                      </p:to>
                                    </p:animClr>
                                    <p:set>
                                      <p:cBhvr>
                                        <p:cTn id="275" dur="2000" fill="hold"/>
                                        <p:tgtEl>
                                          <p:spTgt spid="1114764753"/>
                                        </p:tgtEl>
                                        <p:attrNameLst>
                                          <p:attrName>stroke.on</p:attrName>
                                        </p:attrNameLst>
                                      </p:cBhvr>
                                      <p:to>
                                        <p:strVal val="true"/>
                                      </p:to>
                                    </p:set>
                                  </p:childTnLst>
                                </p:cTn>
                              </p:par>
                              <p:par>
                                <p:cTn id="276" presetID="7" presetClass="emph" presetSubtype="2" fill="hold" nodeType="withEffect">
                                  <p:stCondLst>
                                    <p:cond delay="0"/>
                                  </p:stCondLst>
                                  <p:childTnLst>
                                    <p:animClr clrSpc="rgb" dir="cw">
                                      <p:cBhvr>
                                        <p:cTn id="277" dur="2000" fill="hold"/>
                                        <p:tgtEl>
                                          <p:spTgt spid="1885263983"/>
                                        </p:tgtEl>
                                        <p:attrNameLst>
                                          <p:attrName>stroke.color</p:attrName>
                                        </p:attrNameLst>
                                      </p:cBhvr>
                                      <p:to>
                                        <a:srgbClr val="800000"/>
                                      </p:to>
                                    </p:animClr>
                                    <p:set>
                                      <p:cBhvr>
                                        <p:cTn id="278" dur="2000" fill="hold"/>
                                        <p:tgtEl>
                                          <p:spTgt spid="1885263983"/>
                                        </p:tgtEl>
                                        <p:attrNameLst>
                                          <p:attrName>stroke.on</p:attrName>
                                        </p:attrNameLst>
                                      </p:cBhvr>
                                      <p:to>
                                        <p:strVal val="true"/>
                                      </p:to>
                                    </p:set>
                                  </p:childTnLst>
                                </p:cTn>
                              </p:par>
                              <p:par>
                                <p:cTn id="279" presetID="7" presetClass="emph" presetSubtype="2" fill="hold" nodeType="withEffect">
                                  <p:stCondLst>
                                    <p:cond delay="0"/>
                                  </p:stCondLst>
                                  <p:childTnLst>
                                    <p:animClr clrSpc="rgb" dir="cw">
                                      <p:cBhvr>
                                        <p:cTn id="280" dur="2000" fill="hold"/>
                                        <p:tgtEl>
                                          <p:spTgt spid="907402616"/>
                                        </p:tgtEl>
                                        <p:attrNameLst>
                                          <p:attrName>stroke.color</p:attrName>
                                        </p:attrNameLst>
                                      </p:cBhvr>
                                      <p:to>
                                        <a:srgbClr val="003399"/>
                                      </p:to>
                                    </p:animClr>
                                    <p:set>
                                      <p:cBhvr>
                                        <p:cTn id="281" dur="2000" fill="hold"/>
                                        <p:tgtEl>
                                          <p:spTgt spid="907402616"/>
                                        </p:tgtEl>
                                        <p:attrNameLst>
                                          <p:attrName>stroke.on</p:attrName>
                                        </p:attrNameLst>
                                      </p:cBhvr>
                                      <p:to>
                                        <p:strVal val="true"/>
                                      </p:to>
                                    </p:set>
                                  </p:childTnLst>
                                </p:cTn>
                              </p:par>
                              <p:par>
                                <p:cTn id="282" presetID="7" presetClass="emph" presetSubtype="2" fill="hold" nodeType="withEffect">
                                  <p:stCondLst>
                                    <p:cond delay="0"/>
                                  </p:stCondLst>
                                  <p:childTnLst>
                                    <p:animClr clrSpc="rgb" dir="cw">
                                      <p:cBhvr>
                                        <p:cTn id="283" dur="2000" fill="hold"/>
                                        <p:tgtEl>
                                          <p:spTgt spid="221659052"/>
                                        </p:tgtEl>
                                        <p:attrNameLst>
                                          <p:attrName>stroke.color</p:attrName>
                                        </p:attrNameLst>
                                      </p:cBhvr>
                                      <p:to>
                                        <a:srgbClr val="9933FF"/>
                                      </p:to>
                                    </p:animClr>
                                    <p:set>
                                      <p:cBhvr>
                                        <p:cTn id="284" dur="2000" fill="hold"/>
                                        <p:tgtEl>
                                          <p:spTgt spid="221659052"/>
                                        </p:tgtEl>
                                        <p:attrNameLst>
                                          <p:attrName>stroke.on</p:attrName>
                                        </p:attrNameLst>
                                      </p:cBhvr>
                                      <p:to>
                                        <p:strVal val="true"/>
                                      </p:to>
                                    </p:set>
                                  </p:childTnLst>
                                </p:cTn>
                              </p:par>
                              <p:par>
                                <p:cTn id="285" presetID="7" presetClass="emph" presetSubtype="2" fill="hold" nodeType="withEffect">
                                  <p:stCondLst>
                                    <p:cond delay="0"/>
                                  </p:stCondLst>
                                  <p:childTnLst>
                                    <p:animClr clrSpc="rgb" dir="cw">
                                      <p:cBhvr>
                                        <p:cTn id="286" dur="2000" fill="hold"/>
                                        <p:tgtEl>
                                          <p:spTgt spid="458195327"/>
                                        </p:tgtEl>
                                        <p:attrNameLst>
                                          <p:attrName>stroke.color</p:attrName>
                                        </p:attrNameLst>
                                      </p:cBhvr>
                                      <p:to>
                                        <a:srgbClr val="FF6600"/>
                                      </p:to>
                                    </p:animClr>
                                    <p:set>
                                      <p:cBhvr>
                                        <p:cTn id="287" dur="2000" fill="hold"/>
                                        <p:tgtEl>
                                          <p:spTgt spid="458195327"/>
                                        </p:tgtEl>
                                        <p:attrNameLst>
                                          <p:attrName>stroke.on</p:attrName>
                                        </p:attrNameLst>
                                      </p:cBhvr>
                                      <p:to>
                                        <p:strVal val="true"/>
                                      </p:to>
                                    </p:set>
                                  </p:childTnLst>
                                </p:cTn>
                              </p:par>
                              <p:par>
                                <p:cTn id="288" presetID="7" presetClass="emph" presetSubtype="2" fill="hold" nodeType="withEffect">
                                  <p:stCondLst>
                                    <p:cond delay="0"/>
                                  </p:stCondLst>
                                  <p:childTnLst>
                                    <p:animClr clrSpc="rgb" dir="cw">
                                      <p:cBhvr>
                                        <p:cTn id="289" dur="2000" fill="hold"/>
                                        <p:tgtEl>
                                          <p:spTgt spid="1745039139"/>
                                        </p:tgtEl>
                                        <p:attrNameLst>
                                          <p:attrName>stroke.color</p:attrName>
                                        </p:attrNameLst>
                                      </p:cBhvr>
                                      <p:to>
                                        <a:srgbClr val="00CCFF"/>
                                      </p:to>
                                    </p:animClr>
                                    <p:set>
                                      <p:cBhvr>
                                        <p:cTn id="290" dur="2000" fill="hold"/>
                                        <p:tgtEl>
                                          <p:spTgt spid="1745039139"/>
                                        </p:tgtEl>
                                        <p:attrNameLst>
                                          <p:attrName>stroke.on</p:attrName>
                                        </p:attrNameLst>
                                      </p:cBhvr>
                                      <p:to>
                                        <p:strVal val="true"/>
                                      </p:to>
                                    </p:set>
                                  </p:childTnLst>
                                </p:cTn>
                              </p:par>
                              <p:par>
                                <p:cTn id="291" presetID="7" presetClass="emph" presetSubtype="2" fill="hold" nodeType="withEffect">
                                  <p:stCondLst>
                                    <p:cond delay="0"/>
                                  </p:stCondLst>
                                  <p:childTnLst>
                                    <p:animClr clrSpc="rgb" dir="cw">
                                      <p:cBhvr>
                                        <p:cTn id="292" dur="2000" fill="hold"/>
                                        <p:tgtEl>
                                          <p:spTgt spid="1759039789"/>
                                        </p:tgtEl>
                                        <p:attrNameLst>
                                          <p:attrName>stroke.color</p:attrName>
                                        </p:attrNameLst>
                                      </p:cBhvr>
                                      <p:to>
                                        <a:srgbClr val="003399"/>
                                      </p:to>
                                    </p:animClr>
                                    <p:set>
                                      <p:cBhvr>
                                        <p:cTn id="293" dur="2000" fill="hold"/>
                                        <p:tgtEl>
                                          <p:spTgt spid="1759039789"/>
                                        </p:tgtEl>
                                        <p:attrNameLst>
                                          <p:attrName>stroke.on</p:attrName>
                                        </p:attrNameLst>
                                      </p:cBhvr>
                                      <p:to>
                                        <p:strVal val="true"/>
                                      </p:to>
                                    </p:set>
                                  </p:childTnLst>
                                </p:cTn>
                              </p:par>
                              <p:par>
                                <p:cTn id="294" presetID="7" presetClass="emph" presetSubtype="2" fill="hold" nodeType="withEffect">
                                  <p:stCondLst>
                                    <p:cond delay="0"/>
                                  </p:stCondLst>
                                  <p:childTnLst>
                                    <p:animClr clrSpc="rgb" dir="cw">
                                      <p:cBhvr>
                                        <p:cTn id="295" dur="2000" fill="hold"/>
                                        <p:tgtEl>
                                          <p:spTgt spid="1135903581"/>
                                        </p:tgtEl>
                                        <p:attrNameLst>
                                          <p:attrName>stroke.color</p:attrName>
                                        </p:attrNameLst>
                                      </p:cBhvr>
                                      <p:to>
                                        <a:srgbClr val="339933"/>
                                      </p:to>
                                    </p:animClr>
                                    <p:set>
                                      <p:cBhvr>
                                        <p:cTn id="296" dur="2000" fill="hold"/>
                                        <p:tgtEl>
                                          <p:spTgt spid="1135903581"/>
                                        </p:tgtEl>
                                        <p:attrNameLst>
                                          <p:attrName>stroke.on</p:attrName>
                                        </p:attrNameLst>
                                      </p:cBhvr>
                                      <p:to>
                                        <p:strVal val="true"/>
                                      </p:to>
                                    </p:set>
                                  </p:childTnLst>
                                </p:cTn>
                              </p:par>
                              <p:par>
                                <p:cTn id="297" presetID="7" presetClass="emph" presetSubtype="2" fill="hold" nodeType="withEffect">
                                  <p:stCondLst>
                                    <p:cond delay="0"/>
                                  </p:stCondLst>
                                  <p:childTnLst>
                                    <p:animClr clrSpc="rgb" dir="cw">
                                      <p:cBhvr>
                                        <p:cTn id="298" dur="2000" fill="hold"/>
                                        <p:tgtEl>
                                          <p:spTgt spid="160336224"/>
                                        </p:tgtEl>
                                        <p:attrNameLst>
                                          <p:attrName>stroke.color</p:attrName>
                                        </p:attrNameLst>
                                      </p:cBhvr>
                                      <p:to>
                                        <a:srgbClr val="9933FF"/>
                                      </p:to>
                                    </p:animClr>
                                    <p:set>
                                      <p:cBhvr>
                                        <p:cTn id="299" dur="2000" fill="hold"/>
                                        <p:tgtEl>
                                          <p:spTgt spid="160336224"/>
                                        </p:tgtEl>
                                        <p:attrNameLst>
                                          <p:attrName>stroke.on</p:attrName>
                                        </p:attrNameLst>
                                      </p:cBhvr>
                                      <p:to>
                                        <p:strVal val="true"/>
                                      </p:to>
                                    </p:set>
                                  </p:childTnLst>
                                </p:cTn>
                              </p:par>
                              <p:par>
                                <p:cTn id="300" presetID="7" presetClass="emph" presetSubtype="2" fill="hold" nodeType="withEffect">
                                  <p:stCondLst>
                                    <p:cond delay="0"/>
                                  </p:stCondLst>
                                  <p:childTnLst>
                                    <p:animClr clrSpc="rgb" dir="cw">
                                      <p:cBhvr>
                                        <p:cTn id="301" dur="2000" fill="hold"/>
                                        <p:tgtEl>
                                          <p:spTgt spid="544269336"/>
                                        </p:tgtEl>
                                        <p:attrNameLst>
                                          <p:attrName>stroke.color</p:attrName>
                                        </p:attrNameLst>
                                      </p:cBhvr>
                                      <p:to>
                                        <a:srgbClr val="00CCFF"/>
                                      </p:to>
                                    </p:animClr>
                                    <p:set>
                                      <p:cBhvr>
                                        <p:cTn id="302" dur="2000" fill="hold"/>
                                        <p:tgtEl>
                                          <p:spTgt spid="544269336"/>
                                        </p:tgtEl>
                                        <p:attrNameLst>
                                          <p:attrName>stroke.on</p:attrName>
                                        </p:attrNameLst>
                                      </p:cBhvr>
                                      <p:to>
                                        <p:strVal val="true"/>
                                      </p:to>
                                    </p:set>
                                  </p:childTnLst>
                                </p:cTn>
                              </p:par>
                              <p:par>
                                <p:cTn id="303" presetID="7" presetClass="emph" presetSubtype="2" fill="hold" nodeType="withEffect">
                                  <p:stCondLst>
                                    <p:cond delay="0"/>
                                  </p:stCondLst>
                                  <p:childTnLst>
                                    <p:animClr clrSpc="rgb" dir="cw">
                                      <p:cBhvr>
                                        <p:cTn id="304" dur="2000" fill="hold"/>
                                        <p:tgtEl>
                                          <p:spTgt spid="473398612"/>
                                        </p:tgtEl>
                                        <p:attrNameLst>
                                          <p:attrName>stroke.color</p:attrName>
                                        </p:attrNameLst>
                                      </p:cBhvr>
                                      <p:to>
                                        <a:srgbClr val="339933"/>
                                      </p:to>
                                    </p:animClr>
                                    <p:set>
                                      <p:cBhvr>
                                        <p:cTn id="305" dur="2000" fill="hold"/>
                                        <p:tgtEl>
                                          <p:spTgt spid="473398612"/>
                                        </p:tgtEl>
                                        <p:attrNameLst>
                                          <p:attrName>stroke.on</p:attrName>
                                        </p:attrNameLst>
                                      </p:cBhvr>
                                      <p:to>
                                        <p:strVal val="true"/>
                                      </p:to>
                                    </p:set>
                                  </p:childTnLst>
                                </p:cTn>
                              </p:par>
                              <p:par>
                                <p:cTn id="306" presetID="7" presetClass="emph" presetSubtype="2" fill="hold" nodeType="withEffect">
                                  <p:stCondLst>
                                    <p:cond delay="0"/>
                                  </p:stCondLst>
                                  <p:childTnLst>
                                    <p:animClr clrSpc="rgb" dir="cw">
                                      <p:cBhvr>
                                        <p:cTn id="307" dur="2000" fill="hold"/>
                                        <p:tgtEl>
                                          <p:spTgt spid="794646533"/>
                                        </p:tgtEl>
                                        <p:attrNameLst>
                                          <p:attrName>stroke.color</p:attrName>
                                        </p:attrNameLst>
                                      </p:cBhvr>
                                      <p:to>
                                        <a:srgbClr val="9933FF"/>
                                      </p:to>
                                    </p:animClr>
                                    <p:set>
                                      <p:cBhvr>
                                        <p:cTn id="308" dur="2000" fill="hold"/>
                                        <p:tgtEl>
                                          <p:spTgt spid="794646533"/>
                                        </p:tgtEl>
                                        <p:attrNameLst>
                                          <p:attrName>stroke.on</p:attrName>
                                        </p:attrNameLst>
                                      </p:cBhvr>
                                      <p:to>
                                        <p:strVal val="true"/>
                                      </p:to>
                                    </p:set>
                                  </p:childTnLst>
                                </p:cTn>
                              </p:par>
                              <p:par>
                                <p:cTn id="309" presetID="7" presetClass="emph" presetSubtype="2" fill="hold" nodeType="withEffect">
                                  <p:stCondLst>
                                    <p:cond delay="0"/>
                                  </p:stCondLst>
                                  <p:childTnLst>
                                    <p:animClr clrSpc="rgb" dir="cw">
                                      <p:cBhvr>
                                        <p:cTn id="310" dur="2000" fill="hold"/>
                                        <p:tgtEl>
                                          <p:spTgt spid="873242296"/>
                                        </p:tgtEl>
                                        <p:attrNameLst>
                                          <p:attrName>stroke.color</p:attrName>
                                        </p:attrNameLst>
                                      </p:cBhvr>
                                      <p:to>
                                        <a:schemeClr val="accent2"/>
                                      </p:to>
                                    </p:animClr>
                                    <p:set>
                                      <p:cBhvr>
                                        <p:cTn id="311" dur="2000" fill="hold"/>
                                        <p:tgtEl>
                                          <p:spTgt spid="873242296"/>
                                        </p:tgtEl>
                                        <p:attrNameLst>
                                          <p:attrName>stroke.on</p:attrName>
                                        </p:attrNameLst>
                                      </p:cBhvr>
                                      <p:to>
                                        <p:strVal val="true"/>
                                      </p:to>
                                    </p:set>
                                  </p:childTnLst>
                                </p:cTn>
                              </p:par>
                              <p:par>
                                <p:cTn id="312" presetID="7" presetClass="emph" presetSubtype="2" fill="hold" nodeType="withEffect">
                                  <p:stCondLst>
                                    <p:cond delay="0"/>
                                  </p:stCondLst>
                                  <p:childTnLst>
                                    <p:animClr clrSpc="rgb" dir="cw">
                                      <p:cBhvr>
                                        <p:cTn id="313" dur="2000" fill="hold"/>
                                        <p:tgtEl>
                                          <p:spTgt spid="586709600"/>
                                        </p:tgtEl>
                                        <p:attrNameLst>
                                          <p:attrName>stroke.color</p:attrName>
                                        </p:attrNameLst>
                                      </p:cBhvr>
                                      <p:to>
                                        <a:srgbClr val="003399"/>
                                      </p:to>
                                    </p:animClr>
                                    <p:set>
                                      <p:cBhvr>
                                        <p:cTn id="314" dur="2000" fill="hold"/>
                                        <p:tgtEl>
                                          <p:spTgt spid="586709600"/>
                                        </p:tgtEl>
                                        <p:attrNameLst>
                                          <p:attrName>stroke.on</p:attrName>
                                        </p:attrNameLst>
                                      </p:cBhvr>
                                      <p:to>
                                        <p:strVal val="true"/>
                                      </p:to>
                                    </p:set>
                                  </p:childTnLst>
                                </p:cTn>
                              </p:par>
                              <p:par>
                                <p:cTn id="315" presetID="7" presetClass="emph" presetSubtype="2" fill="hold" nodeType="withEffect">
                                  <p:stCondLst>
                                    <p:cond delay="0"/>
                                  </p:stCondLst>
                                  <p:childTnLst>
                                    <p:animClr clrSpc="rgb" dir="cw">
                                      <p:cBhvr>
                                        <p:cTn id="316" dur="2000" fill="hold"/>
                                        <p:tgtEl>
                                          <p:spTgt spid="1939331706"/>
                                        </p:tgtEl>
                                        <p:attrNameLst>
                                          <p:attrName>stroke.color</p:attrName>
                                        </p:attrNameLst>
                                      </p:cBhvr>
                                      <p:to>
                                        <a:srgbClr val="FF6600"/>
                                      </p:to>
                                    </p:animClr>
                                    <p:set>
                                      <p:cBhvr>
                                        <p:cTn id="317" dur="2000" fill="hold"/>
                                        <p:tgtEl>
                                          <p:spTgt spid="1939331706"/>
                                        </p:tgtEl>
                                        <p:attrNameLst>
                                          <p:attrName>stroke.on</p:attrName>
                                        </p:attrNameLst>
                                      </p:cBhvr>
                                      <p:to>
                                        <p:strVal val="true"/>
                                      </p:to>
                                    </p:set>
                                  </p:childTnLst>
                                </p:cTn>
                              </p:par>
                              <p:par>
                                <p:cTn id="318" presetID="7" presetClass="emph" presetSubtype="2" fill="hold" nodeType="withEffect">
                                  <p:stCondLst>
                                    <p:cond delay="0"/>
                                  </p:stCondLst>
                                  <p:childTnLst>
                                    <p:animClr clrSpc="rgb" dir="cw">
                                      <p:cBhvr>
                                        <p:cTn id="319" dur="2000" fill="hold"/>
                                        <p:tgtEl>
                                          <p:spTgt spid="384628014"/>
                                        </p:tgtEl>
                                        <p:attrNameLst>
                                          <p:attrName>stroke.color</p:attrName>
                                        </p:attrNameLst>
                                      </p:cBhvr>
                                      <p:to>
                                        <a:srgbClr val="003399"/>
                                      </p:to>
                                    </p:animClr>
                                    <p:set>
                                      <p:cBhvr>
                                        <p:cTn id="320" dur="2000" fill="hold"/>
                                        <p:tgtEl>
                                          <p:spTgt spid="384628014"/>
                                        </p:tgtEl>
                                        <p:attrNameLst>
                                          <p:attrName>stroke.on</p:attrName>
                                        </p:attrNameLst>
                                      </p:cBhvr>
                                      <p:to>
                                        <p:strVal val="true"/>
                                      </p:to>
                                    </p:set>
                                  </p:childTnLst>
                                </p:cTn>
                              </p:par>
                              <p:par>
                                <p:cTn id="321" presetID="7" presetClass="emph" presetSubtype="2" fill="hold" nodeType="withEffect">
                                  <p:stCondLst>
                                    <p:cond delay="0"/>
                                  </p:stCondLst>
                                  <p:childTnLst>
                                    <p:animClr clrSpc="rgb" dir="cw">
                                      <p:cBhvr>
                                        <p:cTn id="322" dur="2000" fill="hold"/>
                                        <p:tgtEl>
                                          <p:spTgt spid="1975607373"/>
                                        </p:tgtEl>
                                        <p:attrNameLst>
                                          <p:attrName>stroke.color</p:attrName>
                                        </p:attrNameLst>
                                      </p:cBhvr>
                                      <p:to>
                                        <a:srgbClr val="9933FF"/>
                                      </p:to>
                                    </p:animClr>
                                    <p:set>
                                      <p:cBhvr>
                                        <p:cTn id="323" dur="2000" fill="hold"/>
                                        <p:tgtEl>
                                          <p:spTgt spid="1975607373"/>
                                        </p:tgtEl>
                                        <p:attrNameLst>
                                          <p:attrName>stroke.on</p:attrName>
                                        </p:attrNameLst>
                                      </p:cBhvr>
                                      <p:to>
                                        <p:strVal val="true"/>
                                      </p:to>
                                    </p:set>
                                  </p:childTnLst>
                                </p:cTn>
                              </p:par>
                              <p:par>
                                <p:cTn id="324" presetID="7" presetClass="emph" presetSubtype="2" fill="hold" nodeType="withEffect">
                                  <p:stCondLst>
                                    <p:cond delay="0"/>
                                  </p:stCondLst>
                                  <p:childTnLst>
                                    <p:animClr clrSpc="rgb" dir="cw">
                                      <p:cBhvr>
                                        <p:cTn id="325" dur="2000" fill="hold"/>
                                        <p:tgtEl>
                                          <p:spTgt spid="91286242"/>
                                        </p:tgtEl>
                                        <p:attrNameLst>
                                          <p:attrName>stroke.color</p:attrName>
                                        </p:attrNameLst>
                                      </p:cBhvr>
                                      <p:to>
                                        <a:srgbClr val="FF6600"/>
                                      </p:to>
                                    </p:animClr>
                                    <p:set>
                                      <p:cBhvr>
                                        <p:cTn id="326" dur="2000" fill="hold"/>
                                        <p:tgtEl>
                                          <p:spTgt spid="91286242"/>
                                        </p:tgtEl>
                                        <p:attrNameLst>
                                          <p:attrName>stroke.on</p:attrName>
                                        </p:attrNameLst>
                                      </p:cBhvr>
                                      <p:to>
                                        <p:strVal val="true"/>
                                      </p:to>
                                    </p:set>
                                  </p:childTnLst>
                                </p:cTn>
                              </p:par>
                              <p:par>
                                <p:cTn id="327" presetID="7" presetClass="emph" presetSubtype="2" fill="hold" nodeType="withEffect">
                                  <p:stCondLst>
                                    <p:cond delay="0"/>
                                  </p:stCondLst>
                                  <p:childTnLst>
                                    <p:animClr clrSpc="rgb" dir="cw">
                                      <p:cBhvr>
                                        <p:cTn id="328" dur="2000" fill="hold"/>
                                        <p:tgtEl>
                                          <p:spTgt spid="1401574349"/>
                                        </p:tgtEl>
                                        <p:attrNameLst>
                                          <p:attrName>stroke.color</p:attrName>
                                        </p:attrNameLst>
                                      </p:cBhvr>
                                      <p:to>
                                        <a:srgbClr val="00CCFF"/>
                                      </p:to>
                                    </p:animClr>
                                    <p:set>
                                      <p:cBhvr>
                                        <p:cTn id="329" dur="2000" fill="hold"/>
                                        <p:tgtEl>
                                          <p:spTgt spid="1401574349"/>
                                        </p:tgtEl>
                                        <p:attrNameLst>
                                          <p:attrName>stroke.on</p:attrName>
                                        </p:attrNameLst>
                                      </p:cBhvr>
                                      <p:to>
                                        <p:strVal val="true"/>
                                      </p:to>
                                    </p:set>
                                  </p:childTnLst>
                                </p:cTn>
                              </p:par>
                              <p:par>
                                <p:cTn id="330" presetID="7" presetClass="emph" presetSubtype="2" fill="hold" nodeType="withEffect">
                                  <p:stCondLst>
                                    <p:cond delay="0"/>
                                  </p:stCondLst>
                                  <p:childTnLst>
                                    <p:animClr clrSpc="rgb" dir="cw">
                                      <p:cBhvr>
                                        <p:cTn id="331" dur="2000" fill="hold"/>
                                        <p:tgtEl>
                                          <p:spTgt spid="546383611"/>
                                        </p:tgtEl>
                                        <p:attrNameLst>
                                          <p:attrName>stroke.color</p:attrName>
                                        </p:attrNameLst>
                                      </p:cBhvr>
                                      <p:to>
                                        <a:schemeClr val="accent2"/>
                                      </p:to>
                                    </p:animClr>
                                    <p:set>
                                      <p:cBhvr>
                                        <p:cTn id="332" dur="2000" fill="hold"/>
                                        <p:tgtEl>
                                          <p:spTgt spid="546383611"/>
                                        </p:tgtEl>
                                        <p:attrNameLst>
                                          <p:attrName>stroke.on</p:attrName>
                                        </p:attrNameLst>
                                      </p:cBhvr>
                                      <p:to>
                                        <p:strVal val="true"/>
                                      </p:to>
                                    </p:set>
                                  </p:childTnLst>
                                </p:cTn>
                              </p:par>
                              <p:par>
                                <p:cTn id="333" presetID="7" presetClass="emph" presetSubtype="2" fill="hold" nodeType="withEffect">
                                  <p:stCondLst>
                                    <p:cond delay="0"/>
                                  </p:stCondLst>
                                  <p:childTnLst>
                                    <p:animClr clrSpc="rgb" dir="cw">
                                      <p:cBhvr>
                                        <p:cTn id="334" dur="2000" fill="hold"/>
                                        <p:tgtEl>
                                          <p:spTgt spid="699242146"/>
                                        </p:tgtEl>
                                        <p:attrNameLst>
                                          <p:attrName>stroke.color</p:attrName>
                                        </p:attrNameLst>
                                      </p:cBhvr>
                                      <p:to>
                                        <a:srgbClr val="003399"/>
                                      </p:to>
                                    </p:animClr>
                                    <p:set>
                                      <p:cBhvr>
                                        <p:cTn id="335" dur="2000" fill="hold"/>
                                        <p:tgtEl>
                                          <p:spTgt spid="699242146"/>
                                        </p:tgtEl>
                                        <p:attrNameLst>
                                          <p:attrName>stroke.on</p:attrName>
                                        </p:attrNameLst>
                                      </p:cBhvr>
                                      <p:to>
                                        <p:strVal val="true"/>
                                      </p:to>
                                    </p:set>
                                  </p:childTnLst>
                                </p:cTn>
                              </p:par>
                              <p:par>
                                <p:cTn id="336" presetID="7" presetClass="emph" presetSubtype="2" fill="hold" nodeType="withEffect">
                                  <p:stCondLst>
                                    <p:cond delay="0"/>
                                  </p:stCondLst>
                                  <p:childTnLst>
                                    <p:animClr clrSpc="rgb" dir="cw">
                                      <p:cBhvr>
                                        <p:cTn id="337" dur="2000" fill="hold"/>
                                        <p:tgtEl>
                                          <p:spTgt spid="1774308355"/>
                                        </p:tgtEl>
                                        <p:attrNameLst>
                                          <p:attrName>stroke.color</p:attrName>
                                        </p:attrNameLst>
                                      </p:cBhvr>
                                      <p:to>
                                        <a:schemeClr val="accent2"/>
                                      </p:to>
                                    </p:animClr>
                                    <p:set>
                                      <p:cBhvr>
                                        <p:cTn id="338" dur="2000" fill="hold"/>
                                        <p:tgtEl>
                                          <p:spTgt spid="1774308355"/>
                                        </p:tgtEl>
                                        <p:attrNameLst>
                                          <p:attrName>stroke.on</p:attrName>
                                        </p:attrNameLst>
                                      </p:cBhvr>
                                      <p:to>
                                        <p:strVal val="true"/>
                                      </p:to>
                                    </p:set>
                                  </p:childTnLst>
                                </p:cTn>
                              </p:par>
                              <p:par>
                                <p:cTn id="339" presetID="7" presetClass="emph" presetSubtype="2" fill="hold" nodeType="withEffect">
                                  <p:stCondLst>
                                    <p:cond delay="0"/>
                                  </p:stCondLst>
                                  <p:childTnLst>
                                    <p:animClr clrSpc="rgb" dir="cw">
                                      <p:cBhvr>
                                        <p:cTn id="340" dur="2000" fill="hold"/>
                                        <p:tgtEl>
                                          <p:spTgt spid="1050033133"/>
                                        </p:tgtEl>
                                        <p:attrNameLst>
                                          <p:attrName>stroke.color</p:attrName>
                                        </p:attrNameLst>
                                      </p:cBhvr>
                                      <p:to>
                                        <a:srgbClr val="339933"/>
                                      </p:to>
                                    </p:animClr>
                                    <p:set>
                                      <p:cBhvr>
                                        <p:cTn id="341" dur="2000" fill="hold"/>
                                        <p:tgtEl>
                                          <p:spTgt spid="1050033133"/>
                                        </p:tgtEl>
                                        <p:attrNameLst>
                                          <p:attrName>stroke.on</p:attrName>
                                        </p:attrNameLst>
                                      </p:cBhvr>
                                      <p:to>
                                        <p:strVal val="true"/>
                                      </p:to>
                                    </p:set>
                                  </p:childTnLst>
                                </p:cTn>
                              </p:par>
                              <p:par>
                                <p:cTn id="342" presetID="7" presetClass="emph" presetSubtype="2" fill="hold" nodeType="withEffect">
                                  <p:stCondLst>
                                    <p:cond delay="0"/>
                                  </p:stCondLst>
                                  <p:childTnLst>
                                    <p:animClr clrSpc="rgb" dir="cw">
                                      <p:cBhvr>
                                        <p:cTn id="343" dur="2000" fill="hold"/>
                                        <p:tgtEl>
                                          <p:spTgt spid="236197284"/>
                                        </p:tgtEl>
                                        <p:attrNameLst>
                                          <p:attrName>stroke.color</p:attrName>
                                        </p:attrNameLst>
                                      </p:cBhvr>
                                      <p:to>
                                        <a:schemeClr val="accent2"/>
                                      </p:to>
                                    </p:animClr>
                                    <p:set>
                                      <p:cBhvr>
                                        <p:cTn id="344" dur="2000" fill="hold"/>
                                        <p:tgtEl>
                                          <p:spTgt spid="236197284"/>
                                        </p:tgtEl>
                                        <p:attrNameLst>
                                          <p:attrName>stroke.on</p:attrName>
                                        </p:attrNameLst>
                                      </p:cBhvr>
                                      <p:to>
                                        <p:strVal val="true"/>
                                      </p:to>
                                    </p:set>
                                  </p:childTnLst>
                                </p:cTn>
                              </p:par>
                              <p:par>
                                <p:cTn id="345" presetID="7" presetClass="emph" presetSubtype="2" fill="hold" nodeType="withEffect">
                                  <p:stCondLst>
                                    <p:cond delay="0"/>
                                  </p:stCondLst>
                                  <p:childTnLst>
                                    <p:animClr clrSpc="rgb" dir="cw">
                                      <p:cBhvr>
                                        <p:cTn id="346" dur="2000" fill="hold"/>
                                        <p:tgtEl>
                                          <p:spTgt spid="1064397212"/>
                                        </p:tgtEl>
                                        <p:attrNameLst>
                                          <p:attrName>stroke.color</p:attrName>
                                        </p:attrNameLst>
                                      </p:cBhvr>
                                      <p:to>
                                        <a:srgbClr val="00CCFF"/>
                                      </p:to>
                                    </p:animClr>
                                    <p:set>
                                      <p:cBhvr>
                                        <p:cTn id="347" dur="2000" fill="hold"/>
                                        <p:tgtEl>
                                          <p:spTgt spid="1064397212"/>
                                        </p:tgtEl>
                                        <p:attrNameLst>
                                          <p:attrName>stroke.on</p:attrName>
                                        </p:attrNameLst>
                                      </p:cBhvr>
                                      <p:to>
                                        <p:strVal val="true"/>
                                      </p:to>
                                    </p:set>
                                  </p:childTnLst>
                                </p:cTn>
                              </p:par>
                              <p:par>
                                <p:cTn id="348" presetID="7" presetClass="emph" presetSubtype="2" fill="hold" nodeType="withEffect">
                                  <p:stCondLst>
                                    <p:cond delay="0"/>
                                  </p:stCondLst>
                                  <p:childTnLst>
                                    <p:animClr clrSpc="rgb" dir="cw">
                                      <p:cBhvr>
                                        <p:cTn id="349" dur="2000" fill="hold"/>
                                        <p:tgtEl>
                                          <p:spTgt spid="1522683503"/>
                                        </p:tgtEl>
                                        <p:attrNameLst>
                                          <p:attrName>stroke.color</p:attrName>
                                        </p:attrNameLst>
                                      </p:cBhvr>
                                      <p:to>
                                        <a:schemeClr val="accent2"/>
                                      </p:to>
                                    </p:animClr>
                                    <p:set>
                                      <p:cBhvr>
                                        <p:cTn id="350" dur="2000" fill="hold"/>
                                        <p:tgtEl>
                                          <p:spTgt spid="1522683503"/>
                                        </p:tgtEl>
                                        <p:attrNameLst>
                                          <p:attrName>stroke.on</p:attrName>
                                        </p:attrNameLst>
                                      </p:cBhvr>
                                      <p:to>
                                        <p:strVal val="true"/>
                                      </p:to>
                                    </p:set>
                                  </p:childTnLst>
                                </p:cTn>
                              </p:par>
                              <p:par>
                                <p:cTn id="351" presetID="7" presetClass="emph" presetSubtype="2" fill="hold" nodeType="withEffect">
                                  <p:stCondLst>
                                    <p:cond delay="0"/>
                                  </p:stCondLst>
                                  <p:childTnLst>
                                    <p:animClr clrSpc="rgb" dir="cw">
                                      <p:cBhvr>
                                        <p:cTn id="352" dur="2000" fill="hold"/>
                                        <p:tgtEl>
                                          <p:spTgt spid="1680742546"/>
                                        </p:tgtEl>
                                        <p:attrNameLst>
                                          <p:attrName>stroke.color</p:attrName>
                                        </p:attrNameLst>
                                      </p:cBhvr>
                                      <p:to>
                                        <a:srgbClr val="FF6600"/>
                                      </p:to>
                                    </p:animClr>
                                    <p:set>
                                      <p:cBhvr>
                                        <p:cTn id="353" dur="2000" fill="hold"/>
                                        <p:tgtEl>
                                          <p:spTgt spid="1680742546"/>
                                        </p:tgtEl>
                                        <p:attrNameLst>
                                          <p:attrName>stroke.on</p:attrName>
                                        </p:attrNameLst>
                                      </p:cBhvr>
                                      <p:to>
                                        <p:strVal val="true"/>
                                      </p:to>
                                    </p:set>
                                  </p:childTnLst>
                                </p:cTn>
                              </p:par>
                              <p:par>
                                <p:cTn id="354" presetID="7" presetClass="emph" presetSubtype="2" fill="hold" nodeType="withEffect">
                                  <p:stCondLst>
                                    <p:cond delay="0"/>
                                  </p:stCondLst>
                                  <p:childTnLst>
                                    <p:animClr clrSpc="rgb" dir="cw">
                                      <p:cBhvr>
                                        <p:cTn id="355" dur="2000" fill="hold"/>
                                        <p:tgtEl>
                                          <p:spTgt spid="367083082"/>
                                        </p:tgtEl>
                                        <p:attrNameLst>
                                          <p:attrName>stroke.color</p:attrName>
                                        </p:attrNameLst>
                                      </p:cBhvr>
                                      <p:to>
                                        <a:schemeClr val="accent2"/>
                                      </p:to>
                                    </p:animClr>
                                    <p:set>
                                      <p:cBhvr>
                                        <p:cTn id="356" dur="2000" fill="hold"/>
                                        <p:tgtEl>
                                          <p:spTgt spid="367083082"/>
                                        </p:tgtEl>
                                        <p:attrNameLst>
                                          <p:attrName>stroke.on</p:attrName>
                                        </p:attrNameLst>
                                      </p:cBhvr>
                                      <p:to>
                                        <p:strVal val="true"/>
                                      </p:to>
                                    </p:set>
                                  </p:childTnLst>
                                </p:cTn>
                              </p:par>
                              <p:par>
                                <p:cTn id="357" presetID="7" presetClass="emph" presetSubtype="2" fill="hold" nodeType="withEffect">
                                  <p:stCondLst>
                                    <p:cond delay="0"/>
                                  </p:stCondLst>
                                  <p:childTnLst>
                                    <p:animClr clrSpc="rgb" dir="cw">
                                      <p:cBhvr>
                                        <p:cTn id="358" dur="2000" fill="hold"/>
                                        <p:tgtEl>
                                          <p:spTgt spid="456062696"/>
                                        </p:tgtEl>
                                        <p:attrNameLst>
                                          <p:attrName>stroke.color</p:attrName>
                                        </p:attrNameLst>
                                      </p:cBhvr>
                                      <p:to>
                                        <a:schemeClr val="accent2"/>
                                      </p:to>
                                    </p:animClr>
                                    <p:set>
                                      <p:cBhvr>
                                        <p:cTn id="359" dur="2000" fill="hold"/>
                                        <p:tgtEl>
                                          <p:spTgt spid="456062696"/>
                                        </p:tgtEl>
                                        <p:attrNameLst>
                                          <p:attrName>stroke.on</p:attrName>
                                        </p:attrNameLst>
                                      </p:cBhvr>
                                      <p:to>
                                        <p:strVal val="true"/>
                                      </p:to>
                                    </p:set>
                                  </p:childTnLst>
                                </p:cTn>
                              </p:par>
                              <p:par>
                                <p:cTn id="360" presetID="7" presetClass="emph" presetSubtype="2" fill="hold" nodeType="withEffect">
                                  <p:stCondLst>
                                    <p:cond delay="0"/>
                                  </p:stCondLst>
                                  <p:childTnLst>
                                    <p:animClr clrSpc="rgb" dir="cw">
                                      <p:cBhvr>
                                        <p:cTn id="361" dur="2000" fill="hold"/>
                                        <p:tgtEl>
                                          <p:spTgt spid="978975845"/>
                                        </p:tgtEl>
                                        <p:attrNameLst>
                                          <p:attrName>stroke.color</p:attrName>
                                        </p:attrNameLst>
                                      </p:cBhvr>
                                      <p:to>
                                        <a:srgbClr val="800000"/>
                                      </p:to>
                                    </p:animClr>
                                    <p:set>
                                      <p:cBhvr>
                                        <p:cTn id="362" dur="2000" fill="hold"/>
                                        <p:tgtEl>
                                          <p:spTgt spid="978975845"/>
                                        </p:tgtEl>
                                        <p:attrNameLst>
                                          <p:attrName>stroke.on</p:attrName>
                                        </p:attrNameLst>
                                      </p:cBhvr>
                                      <p:to>
                                        <p:strVal val="true"/>
                                      </p:to>
                                    </p:set>
                                  </p:childTnLst>
                                </p:cTn>
                              </p:par>
                              <p:par>
                                <p:cTn id="363" presetID="7" presetClass="emph" presetSubtype="2" fill="hold" nodeType="withEffect">
                                  <p:stCondLst>
                                    <p:cond delay="0"/>
                                  </p:stCondLst>
                                  <p:childTnLst>
                                    <p:animClr clrSpc="rgb" dir="cw">
                                      <p:cBhvr>
                                        <p:cTn id="364" dur="2000" fill="hold"/>
                                        <p:tgtEl>
                                          <p:spTgt spid="1853455633"/>
                                        </p:tgtEl>
                                        <p:attrNameLst>
                                          <p:attrName>stroke.color</p:attrName>
                                        </p:attrNameLst>
                                      </p:cBhvr>
                                      <p:to>
                                        <a:srgbClr val="9933FF"/>
                                      </p:to>
                                    </p:animClr>
                                    <p:set>
                                      <p:cBhvr>
                                        <p:cTn id="365" dur="2000" fill="hold"/>
                                        <p:tgtEl>
                                          <p:spTgt spid="1853455633"/>
                                        </p:tgtEl>
                                        <p:attrNameLst>
                                          <p:attrName>stroke.on</p:attrName>
                                        </p:attrNameLst>
                                      </p:cBhvr>
                                      <p:to>
                                        <p:strVal val="true"/>
                                      </p:to>
                                    </p:set>
                                  </p:childTnLst>
                                </p:cTn>
                              </p:par>
                              <p:par>
                                <p:cTn id="366" presetID="7" presetClass="emph" presetSubtype="2" fill="hold" nodeType="withEffect">
                                  <p:stCondLst>
                                    <p:cond delay="0"/>
                                  </p:stCondLst>
                                  <p:childTnLst>
                                    <p:animClr clrSpc="rgb" dir="cw">
                                      <p:cBhvr>
                                        <p:cTn id="367" dur="2000" fill="hold"/>
                                        <p:tgtEl>
                                          <p:spTgt spid="488991784"/>
                                        </p:tgtEl>
                                        <p:attrNameLst>
                                          <p:attrName>stroke.color</p:attrName>
                                        </p:attrNameLst>
                                      </p:cBhvr>
                                      <p:to>
                                        <a:srgbClr val="339933"/>
                                      </p:to>
                                    </p:animClr>
                                    <p:set>
                                      <p:cBhvr>
                                        <p:cTn id="368" dur="2000" fill="hold"/>
                                        <p:tgtEl>
                                          <p:spTgt spid="488991784"/>
                                        </p:tgtEl>
                                        <p:attrNameLst>
                                          <p:attrName>stroke.on</p:attrName>
                                        </p:attrNameLst>
                                      </p:cBhvr>
                                      <p:to>
                                        <p:strVal val="true"/>
                                      </p:to>
                                    </p:set>
                                  </p:childTnLst>
                                </p:cTn>
                              </p:par>
                              <p:par>
                                <p:cTn id="369" presetID="7" presetClass="emph" presetSubtype="2" fill="hold" nodeType="withEffect">
                                  <p:stCondLst>
                                    <p:cond delay="0"/>
                                  </p:stCondLst>
                                  <p:childTnLst>
                                    <p:animClr clrSpc="rgb" dir="cw">
                                      <p:cBhvr>
                                        <p:cTn id="370" dur="2000" fill="hold"/>
                                        <p:tgtEl>
                                          <p:spTgt spid="1827185519"/>
                                        </p:tgtEl>
                                        <p:attrNameLst>
                                          <p:attrName>stroke.color</p:attrName>
                                        </p:attrNameLst>
                                      </p:cBhvr>
                                      <p:to>
                                        <a:schemeClr val="accent2"/>
                                      </p:to>
                                    </p:animClr>
                                    <p:set>
                                      <p:cBhvr>
                                        <p:cTn id="371" dur="2000" fill="hold"/>
                                        <p:tgtEl>
                                          <p:spTgt spid="1827185519"/>
                                        </p:tgtEl>
                                        <p:attrNameLst>
                                          <p:attrName>stroke.on</p:attrName>
                                        </p:attrNameLst>
                                      </p:cBhvr>
                                      <p:to>
                                        <p:strVal val="true"/>
                                      </p:to>
                                    </p:set>
                                  </p:childTnLst>
                                </p:cTn>
                              </p:par>
                              <p:par>
                                <p:cTn id="372" presetID="7" presetClass="emph" presetSubtype="2" fill="hold" nodeType="withEffect">
                                  <p:stCondLst>
                                    <p:cond delay="0"/>
                                  </p:stCondLst>
                                  <p:childTnLst>
                                    <p:animClr clrSpc="rgb" dir="cw">
                                      <p:cBhvr>
                                        <p:cTn id="373" dur="2000" fill="hold"/>
                                        <p:tgtEl>
                                          <p:spTgt spid="1922208376"/>
                                        </p:tgtEl>
                                        <p:attrNameLst>
                                          <p:attrName>stroke.color</p:attrName>
                                        </p:attrNameLst>
                                      </p:cBhvr>
                                      <p:to>
                                        <a:srgbClr val="FF6600"/>
                                      </p:to>
                                    </p:animClr>
                                    <p:set>
                                      <p:cBhvr>
                                        <p:cTn id="374" dur="2000" fill="hold"/>
                                        <p:tgtEl>
                                          <p:spTgt spid="1922208376"/>
                                        </p:tgtEl>
                                        <p:attrNameLst>
                                          <p:attrName>stroke.on</p:attrName>
                                        </p:attrNameLst>
                                      </p:cBhvr>
                                      <p:to>
                                        <p:strVal val="true"/>
                                      </p:to>
                                    </p:set>
                                  </p:childTnLst>
                                </p:cTn>
                              </p:par>
                              <p:par>
                                <p:cTn id="375" presetID="7" presetClass="emph" presetSubtype="2" fill="hold" nodeType="withEffect">
                                  <p:stCondLst>
                                    <p:cond delay="0"/>
                                  </p:stCondLst>
                                  <p:childTnLst>
                                    <p:animClr clrSpc="rgb" dir="cw">
                                      <p:cBhvr>
                                        <p:cTn id="376" dur="2000" fill="hold"/>
                                        <p:tgtEl>
                                          <p:spTgt spid="944059816"/>
                                        </p:tgtEl>
                                        <p:attrNameLst>
                                          <p:attrName>stroke.color</p:attrName>
                                        </p:attrNameLst>
                                      </p:cBhvr>
                                      <p:to>
                                        <a:srgbClr val="800000"/>
                                      </p:to>
                                    </p:animClr>
                                    <p:set>
                                      <p:cBhvr>
                                        <p:cTn id="377" dur="2000" fill="hold"/>
                                        <p:tgtEl>
                                          <p:spTgt spid="944059816"/>
                                        </p:tgtEl>
                                        <p:attrNameLst>
                                          <p:attrName>stroke.on</p:attrName>
                                        </p:attrNameLst>
                                      </p:cBhvr>
                                      <p:to>
                                        <p:strVal val="true"/>
                                      </p:to>
                                    </p:set>
                                  </p:childTnLst>
                                </p:cTn>
                              </p:par>
                              <p:par>
                                <p:cTn id="378" presetID="7" presetClass="emph" presetSubtype="2" fill="hold" nodeType="withEffect">
                                  <p:stCondLst>
                                    <p:cond delay="0"/>
                                  </p:stCondLst>
                                  <p:childTnLst>
                                    <p:animClr clrSpc="rgb" dir="cw">
                                      <p:cBhvr>
                                        <p:cTn id="379" dur="2000" fill="hold"/>
                                        <p:tgtEl>
                                          <p:spTgt spid="955479977"/>
                                        </p:tgtEl>
                                        <p:attrNameLst>
                                          <p:attrName>stroke.color</p:attrName>
                                        </p:attrNameLst>
                                      </p:cBhvr>
                                      <p:to>
                                        <a:srgbClr val="339933"/>
                                      </p:to>
                                    </p:animClr>
                                    <p:set>
                                      <p:cBhvr>
                                        <p:cTn id="380" dur="2000" fill="hold"/>
                                        <p:tgtEl>
                                          <p:spTgt spid="955479977"/>
                                        </p:tgtEl>
                                        <p:attrNameLst>
                                          <p:attrName>stroke.on</p:attrName>
                                        </p:attrNameLst>
                                      </p:cBhvr>
                                      <p:to>
                                        <p:strVal val="true"/>
                                      </p:to>
                                    </p:set>
                                  </p:childTnLst>
                                </p:cTn>
                              </p:par>
                              <p:par>
                                <p:cTn id="381" presetID="7" presetClass="emph" presetSubtype="2" fill="hold" nodeType="withEffect">
                                  <p:stCondLst>
                                    <p:cond delay="0"/>
                                  </p:stCondLst>
                                  <p:childTnLst>
                                    <p:animClr clrSpc="rgb" dir="cw">
                                      <p:cBhvr>
                                        <p:cTn id="382" dur="2000" fill="hold"/>
                                        <p:tgtEl>
                                          <p:spTgt spid="1497390993"/>
                                        </p:tgtEl>
                                        <p:attrNameLst>
                                          <p:attrName>stroke.color</p:attrName>
                                        </p:attrNameLst>
                                      </p:cBhvr>
                                      <p:to>
                                        <a:srgbClr val="FF6600"/>
                                      </p:to>
                                    </p:animClr>
                                    <p:set>
                                      <p:cBhvr>
                                        <p:cTn id="383" dur="2000" fill="hold"/>
                                        <p:tgtEl>
                                          <p:spTgt spid="1497390993"/>
                                        </p:tgtEl>
                                        <p:attrNameLst>
                                          <p:attrName>stroke.on</p:attrName>
                                        </p:attrNameLst>
                                      </p:cBhvr>
                                      <p:to>
                                        <p:strVal val="true"/>
                                      </p:to>
                                    </p:set>
                                  </p:childTnLst>
                                </p:cTn>
                              </p:par>
                              <p:par>
                                <p:cTn id="384" presetID="7" presetClass="emph" presetSubtype="2" fill="hold" nodeType="withEffect">
                                  <p:stCondLst>
                                    <p:cond delay="0"/>
                                  </p:stCondLst>
                                  <p:childTnLst>
                                    <p:animClr clrSpc="rgb" dir="cw">
                                      <p:cBhvr>
                                        <p:cTn id="385" dur="2000" fill="hold"/>
                                        <p:tgtEl>
                                          <p:spTgt spid="1145658446"/>
                                        </p:tgtEl>
                                        <p:attrNameLst>
                                          <p:attrName>stroke.color</p:attrName>
                                        </p:attrNameLst>
                                      </p:cBhvr>
                                      <p:to>
                                        <a:srgbClr val="00CCFF"/>
                                      </p:to>
                                    </p:animClr>
                                    <p:set>
                                      <p:cBhvr>
                                        <p:cTn id="386" dur="2000" fill="hold"/>
                                        <p:tgtEl>
                                          <p:spTgt spid="1145658446"/>
                                        </p:tgtEl>
                                        <p:attrNameLst>
                                          <p:attrName>stroke.on</p:attrName>
                                        </p:attrNameLst>
                                      </p:cBhvr>
                                      <p:to>
                                        <p:strVal val="true"/>
                                      </p:to>
                                    </p:set>
                                  </p:childTnLst>
                                </p:cTn>
                              </p:par>
                              <p:par>
                                <p:cTn id="387" presetID="7" presetClass="emph" presetSubtype="2" fill="hold" nodeType="withEffect">
                                  <p:stCondLst>
                                    <p:cond delay="0"/>
                                  </p:stCondLst>
                                  <p:childTnLst>
                                    <p:animClr clrSpc="rgb" dir="cw">
                                      <p:cBhvr>
                                        <p:cTn id="388" dur="2000" fill="hold"/>
                                        <p:tgtEl>
                                          <p:spTgt spid="2006281915"/>
                                        </p:tgtEl>
                                        <p:attrNameLst>
                                          <p:attrName>stroke.color</p:attrName>
                                        </p:attrNameLst>
                                      </p:cBhvr>
                                      <p:to>
                                        <a:srgbClr val="003399"/>
                                      </p:to>
                                    </p:animClr>
                                    <p:set>
                                      <p:cBhvr>
                                        <p:cTn id="389" dur="2000" fill="hold"/>
                                        <p:tgtEl>
                                          <p:spTgt spid="2006281915"/>
                                        </p:tgtEl>
                                        <p:attrNameLst>
                                          <p:attrName>stroke.on</p:attrName>
                                        </p:attrNameLst>
                                      </p:cBhvr>
                                      <p:to>
                                        <p:strVal val="true"/>
                                      </p:to>
                                    </p:set>
                                  </p:childTnLst>
                                </p:cTn>
                              </p:par>
                              <p:par>
                                <p:cTn id="390" presetID="7" presetClass="emph" presetSubtype="2" fill="hold" nodeType="withEffect">
                                  <p:stCondLst>
                                    <p:cond delay="0"/>
                                  </p:stCondLst>
                                  <p:childTnLst>
                                    <p:animClr clrSpc="rgb" dir="cw">
                                      <p:cBhvr>
                                        <p:cTn id="391" dur="2000" fill="hold"/>
                                        <p:tgtEl>
                                          <p:spTgt spid="2111261734"/>
                                        </p:tgtEl>
                                        <p:attrNameLst>
                                          <p:attrName>stroke.color</p:attrName>
                                        </p:attrNameLst>
                                      </p:cBhvr>
                                      <p:to>
                                        <a:srgbClr val="9933FF"/>
                                      </p:to>
                                    </p:animClr>
                                    <p:set>
                                      <p:cBhvr>
                                        <p:cTn id="392" dur="2000" fill="hold"/>
                                        <p:tgtEl>
                                          <p:spTgt spid="2111261734"/>
                                        </p:tgtEl>
                                        <p:attrNameLst>
                                          <p:attrName>stroke.on</p:attrName>
                                        </p:attrNameLst>
                                      </p:cBhvr>
                                      <p:to>
                                        <p:strVal val="true"/>
                                      </p:to>
                                    </p:set>
                                  </p:childTnLst>
                                </p:cTn>
                              </p:par>
                              <p:par>
                                <p:cTn id="393" presetID="7" presetClass="emph" presetSubtype="2" fill="hold" nodeType="withEffect">
                                  <p:stCondLst>
                                    <p:cond delay="0"/>
                                  </p:stCondLst>
                                  <p:childTnLst>
                                    <p:animClr clrSpc="rgb" dir="cw">
                                      <p:cBhvr>
                                        <p:cTn id="394" dur="2000" fill="hold"/>
                                        <p:tgtEl>
                                          <p:spTgt spid="1620637900"/>
                                        </p:tgtEl>
                                        <p:attrNameLst>
                                          <p:attrName>stroke.color</p:attrName>
                                        </p:attrNameLst>
                                      </p:cBhvr>
                                      <p:to>
                                        <a:schemeClr val="accent2"/>
                                      </p:to>
                                    </p:animClr>
                                    <p:set>
                                      <p:cBhvr>
                                        <p:cTn id="395" dur="2000" fill="hold"/>
                                        <p:tgtEl>
                                          <p:spTgt spid="1620637900"/>
                                        </p:tgtEl>
                                        <p:attrNameLst>
                                          <p:attrName>stroke.on</p:attrName>
                                        </p:attrNameLst>
                                      </p:cBhvr>
                                      <p:to>
                                        <p:strVal val="true"/>
                                      </p:to>
                                    </p:set>
                                  </p:childTnLst>
                                </p:cTn>
                              </p:par>
                              <p:par>
                                <p:cTn id="396" presetID="7" presetClass="emph" presetSubtype="2" fill="hold" nodeType="withEffect">
                                  <p:stCondLst>
                                    <p:cond delay="0"/>
                                  </p:stCondLst>
                                  <p:childTnLst>
                                    <p:animClr clrSpc="rgb" dir="cw">
                                      <p:cBhvr>
                                        <p:cTn id="397" dur="2000" fill="hold"/>
                                        <p:tgtEl>
                                          <p:spTgt spid="648653912"/>
                                        </p:tgtEl>
                                        <p:attrNameLst>
                                          <p:attrName>stroke.color</p:attrName>
                                        </p:attrNameLst>
                                      </p:cBhvr>
                                      <p:to>
                                        <a:srgbClr val="FF6600"/>
                                      </p:to>
                                    </p:animClr>
                                    <p:set>
                                      <p:cBhvr>
                                        <p:cTn id="398" dur="2000" fill="hold"/>
                                        <p:tgtEl>
                                          <p:spTgt spid="648653912"/>
                                        </p:tgtEl>
                                        <p:attrNameLst>
                                          <p:attrName>stroke.on</p:attrName>
                                        </p:attrNameLst>
                                      </p:cBhvr>
                                      <p:to>
                                        <p:strVal val="true"/>
                                      </p:to>
                                    </p:set>
                                  </p:childTnLst>
                                </p:cTn>
                              </p:par>
                              <p:par>
                                <p:cTn id="399" presetID="7" presetClass="emph" presetSubtype="2" fill="hold" nodeType="withEffect">
                                  <p:stCondLst>
                                    <p:cond delay="0"/>
                                  </p:stCondLst>
                                  <p:childTnLst>
                                    <p:animClr clrSpc="rgb" dir="cw">
                                      <p:cBhvr>
                                        <p:cTn id="400" dur="2000" fill="hold"/>
                                        <p:tgtEl>
                                          <p:spTgt spid="1333642255"/>
                                        </p:tgtEl>
                                        <p:attrNameLst>
                                          <p:attrName>stroke.color</p:attrName>
                                        </p:attrNameLst>
                                      </p:cBhvr>
                                      <p:to>
                                        <a:srgbClr val="00CCFF"/>
                                      </p:to>
                                    </p:animClr>
                                    <p:set>
                                      <p:cBhvr>
                                        <p:cTn id="401" dur="2000" fill="hold"/>
                                        <p:tgtEl>
                                          <p:spTgt spid="1333642255"/>
                                        </p:tgtEl>
                                        <p:attrNameLst>
                                          <p:attrName>stroke.on</p:attrName>
                                        </p:attrNameLst>
                                      </p:cBhvr>
                                      <p:to>
                                        <p:strVal val="true"/>
                                      </p:to>
                                    </p:set>
                                  </p:childTnLst>
                                </p:cTn>
                              </p:par>
                              <p:par>
                                <p:cTn id="402" presetID="7" presetClass="emph" presetSubtype="2" fill="hold" nodeType="withEffect">
                                  <p:stCondLst>
                                    <p:cond delay="0"/>
                                  </p:stCondLst>
                                  <p:childTnLst>
                                    <p:animClr clrSpc="rgb" dir="cw">
                                      <p:cBhvr>
                                        <p:cTn id="403" dur="2000" fill="hold"/>
                                        <p:tgtEl>
                                          <p:spTgt spid="698018209"/>
                                        </p:tgtEl>
                                        <p:attrNameLst>
                                          <p:attrName>stroke.color</p:attrName>
                                        </p:attrNameLst>
                                      </p:cBhvr>
                                      <p:to>
                                        <a:srgbClr val="9933FF"/>
                                      </p:to>
                                    </p:animClr>
                                    <p:set>
                                      <p:cBhvr>
                                        <p:cTn id="404" dur="2000" fill="hold"/>
                                        <p:tgtEl>
                                          <p:spTgt spid="698018209"/>
                                        </p:tgtEl>
                                        <p:attrNameLst>
                                          <p:attrName>stroke.on</p:attrName>
                                        </p:attrNameLst>
                                      </p:cBhvr>
                                      <p:to>
                                        <p:strVal val="true"/>
                                      </p:to>
                                    </p:set>
                                  </p:childTnLst>
                                </p:cTn>
                              </p:par>
                              <p:par>
                                <p:cTn id="405" presetID="7" presetClass="emph" presetSubtype="2" fill="hold" nodeType="withEffect">
                                  <p:stCondLst>
                                    <p:cond delay="0"/>
                                  </p:stCondLst>
                                  <p:childTnLst>
                                    <p:animClr clrSpc="rgb" dir="cw">
                                      <p:cBhvr>
                                        <p:cTn id="406" dur="2000" fill="hold"/>
                                        <p:tgtEl>
                                          <p:spTgt spid="2010910400"/>
                                        </p:tgtEl>
                                        <p:attrNameLst>
                                          <p:attrName>stroke.color</p:attrName>
                                        </p:attrNameLst>
                                      </p:cBhvr>
                                      <p:to>
                                        <a:schemeClr val="accent2"/>
                                      </p:to>
                                    </p:animClr>
                                    <p:set>
                                      <p:cBhvr>
                                        <p:cTn id="407" dur="2000" fill="hold"/>
                                        <p:tgtEl>
                                          <p:spTgt spid="2010910400"/>
                                        </p:tgtEl>
                                        <p:attrNameLst>
                                          <p:attrName>stroke.on</p:attrName>
                                        </p:attrNameLst>
                                      </p:cBhvr>
                                      <p:to>
                                        <p:strVal val="true"/>
                                      </p:to>
                                    </p:set>
                                  </p:childTnLst>
                                </p:cTn>
                              </p:par>
                              <p:par>
                                <p:cTn id="408" presetID="7" presetClass="emph" presetSubtype="2" fill="hold" nodeType="withEffect">
                                  <p:stCondLst>
                                    <p:cond delay="0"/>
                                  </p:stCondLst>
                                  <p:childTnLst>
                                    <p:animClr clrSpc="rgb" dir="cw">
                                      <p:cBhvr>
                                        <p:cTn id="409" dur="2000" fill="hold"/>
                                        <p:tgtEl>
                                          <p:spTgt spid="1854389353"/>
                                        </p:tgtEl>
                                        <p:attrNameLst>
                                          <p:attrName>stroke.color</p:attrName>
                                        </p:attrNameLst>
                                      </p:cBhvr>
                                      <p:to>
                                        <a:srgbClr val="FF6600"/>
                                      </p:to>
                                    </p:animClr>
                                    <p:set>
                                      <p:cBhvr>
                                        <p:cTn id="410" dur="2000" fill="hold"/>
                                        <p:tgtEl>
                                          <p:spTgt spid="1854389353"/>
                                        </p:tgtEl>
                                        <p:attrNameLst>
                                          <p:attrName>stroke.on</p:attrName>
                                        </p:attrNameLst>
                                      </p:cBhvr>
                                      <p:to>
                                        <p:strVal val="true"/>
                                      </p:to>
                                    </p:set>
                                  </p:childTnLst>
                                </p:cTn>
                              </p:par>
                              <p:par>
                                <p:cTn id="411" presetID="7" presetClass="emph" presetSubtype="2" fill="hold" nodeType="withEffect">
                                  <p:stCondLst>
                                    <p:cond delay="0"/>
                                  </p:stCondLst>
                                  <p:childTnLst>
                                    <p:animClr clrSpc="rgb" dir="cw">
                                      <p:cBhvr>
                                        <p:cTn id="412" dur="2000" fill="hold"/>
                                        <p:tgtEl>
                                          <p:spTgt spid="1390674296"/>
                                        </p:tgtEl>
                                        <p:attrNameLst>
                                          <p:attrName>stroke.color</p:attrName>
                                        </p:attrNameLst>
                                      </p:cBhvr>
                                      <p:to>
                                        <a:srgbClr val="800000"/>
                                      </p:to>
                                    </p:animClr>
                                    <p:set>
                                      <p:cBhvr>
                                        <p:cTn id="413" dur="2000" fill="hold"/>
                                        <p:tgtEl>
                                          <p:spTgt spid="1390674296"/>
                                        </p:tgtEl>
                                        <p:attrNameLst>
                                          <p:attrName>stroke.on</p:attrName>
                                        </p:attrNameLst>
                                      </p:cBhvr>
                                      <p:to>
                                        <p:strVal val="true"/>
                                      </p:to>
                                    </p:set>
                                  </p:childTnLst>
                                </p:cTn>
                              </p:par>
                              <p:par>
                                <p:cTn id="414" presetID="7" presetClass="emph" presetSubtype="2" fill="hold" nodeType="withEffect">
                                  <p:stCondLst>
                                    <p:cond delay="0"/>
                                  </p:stCondLst>
                                  <p:childTnLst>
                                    <p:animClr clrSpc="rgb" dir="cw">
                                      <p:cBhvr>
                                        <p:cTn id="415" dur="2000" fill="hold"/>
                                        <p:tgtEl>
                                          <p:spTgt spid="1754657557"/>
                                        </p:tgtEl>
                                        <p:attrNameLst>
                                          <p:attrName>stroke.color</p:attrName>
                                        </p:attrNameLst>
                                      </p:cBhvr>
                                      <p:to>
                                        <a:srgbClr val="800000"/>
                                      </p:to>
                                    </p:animClr>
                                    <p:set>
                                      <p:cBhvr>
                                        <p:cTn id="416" dur="2000" fill="hold"/>
                                        <p:tgtEl>
                                          <p:spTgt spid="1754657557"/>
                                        </p:tgtEl>
                                        <p:attrNameLst>
                                          <p:attrName>stroke.on</p:attrName>
                                        </p:attrNameLst>
                                      </p:cBhvr>
                                      <p:to>
                                        <p:strVal val="true"/>
                                      </p:to>
                                    </p:set>
                                  </p:childTnLst>
                                </p:cTn>
                              </p:par>
                              <p:par>
                                <p:cTn id="417" presetID="7" presetClass="emph" presetSubtype="2" fill="hold" nodeType="withEffect">
                                  <p:stCondLst>
                                    <p:cond delay="0"/>
                                  </p:stCondLst>
                                  <p:childTnLst>
                                    <p:animClr clrSpc="rgb" dir="cw">
                                      <p:cBhvr>
                                        <p:cTn id="418" dur="2000" fill="hold"/>
                                        <p:tgtEl>
                                          <p:spTgt spid="304866402"/>
                                        </p:tgtEl>
                                        <p:attrNameLst>
                                          <p:attrName>stroke.color</p:attrName>
                                        </p:attrNameLst>
                                      </p:cBhvr>
                                      <p:to>
                                        <a:srgbClr val="9933FF"/>
                                      </p:to>
                                    </p:animClr>
                                    <p:set>
                                      <p:cBhvr>
                                        <p:cTn id="419" dur="2000" fill="hold"/>
                                        <p:tgtEl>
                                          <p:spTgt spid="304866402"/>
                                        </p:tgtEl>
                                        <p:attrNameLst>
                                          <p:attrName>stroke.on</p:attrName>
                                        </p:attrNameLst>
                                      </p:cBhvr>
                                      <p:to>
                                        <p:strVal val="true"/>
                                      </p:to>
                                    </p:set>
                                  </p:childTnLst>
                                </p:cTn>
                              </p:par>
                              <p:par>
                                <p:cTn id="420" presetID="7" presetClass="emph" presetSubtype="2" fill="hold" nodeType="withEffect">
                                  <p:stCondLst>
                                    <p:cond delay="0"/>
                                  </p:stCondLst>
                                  <p:childTnLst>
                                    <p:animClr clrSpc="rgb" dir="cw">
                                      <p:cBhvr>
                                        <p:cTn id="421" dur="2000" fill="hold"/>
                                        <p:tgtEl>
                                          <p:spTgt spid="838119804"/>
                                        </p:tgtEl>
                                        <p:attrNameLst>
                                          <p:attrName>stroke.color</p:attrName>
                                        </p:attrNameLst>
                                      </p:cBhvr>
                                      <p:to>
                                        <a:srgbClr val="003399"/>
                                      </p:to>
                                    </p:animClr>
                                    <p:set>
                                      <p:cBhvr>
                                        <p:cTn id="422" dur="2000" fill="hold"/>
                                        <p:tgtEl>
                                          <p:spTgt spid="838119804"/>
                                        </p:tgtEl>
                                        <p:attrNameLst>
                                          <p:attrName>stroke.on</p:attrName>
                                        </p:attrNameLst>
                                      </p:cBhvr>
                                      <p:to>
                                        <p:strVal val="true"/>
                                      </p:to>
                                    </p:set>
                                  </p:childTnLst>
                                </p:cTn>
                              </p:par>
                              <p:par>
                                <p:cTn id="423" presetID="7" presetClass="emph" presetSubtype="2" fill="hold" nodeType="withEffect">
                                  <p:stCondLst>
                                    <p:cond delay="0"/>
                                  </p:stCondLst>
                                  <p:childTnLst>
                                    <p:animClr clrSpc="rgb" dir="cw">
                                      <p:cBhvr>
                                        <p:cTn id="424" dur="2000" fill="hold"/>
                                        <p:tgtEl>
                                          <p:spTgt spid="559726981"/>
                                        </p:tgtEl>
                                        <p:attrNameLst>
                                          <p:attrName>stroke.color</p:attrName>
                                        </p:attrNameLst>
                                      </p:cBhvr>
                                      <p:to>
                                        <a:srgbClr val="FF6600"/>
                                      </p:to>
                                    </p:animClr>
                                    <p:set>
                                      <p:cBhvr>
                                        <p:cTn id="425" dur="2000" fill="hold"/>
                                        <p:tgtEl>
                                          <p:spTgt spid="559726981"/>
                                        </p:tgtEl>
                                        <p:attrNameLst>
                                          <p:attrName>stroke.on</p:attrName>
                                        </p:attrNameLst>
                                      </p:cBhvr>
                                      <p:to>
                                        <p:strVal val="true"/>
                                      </p:to>
                                    </p:set>
                                  </p:childTnLst>
                                </p:cTn>
                              </p:par>
                              <p:par>
                                <p:cTn id="426" presetID="7" presetClass="emph" presetSubtype="2" fill="hold" nodeType="withEffect">
                                  <p:stCondLst>
                                    <p:cond delay="0"/>
                                  </p:stCondLst>
                                  <p:childTnLst>
                                    <p:animClr clrSpc="rgb" dir="cw">
                                      <p:cBhvr>
                                        <p:cTn id="427" dur="2000" fill="hold"/>
                                        <p:tgtEl>
                                          <p:spTgt spid="1762367819"/>
                                        </p:tgtEl>
                                        <p:attrNameLst>
                                          <p:attrName>stroke.color</p:attrName>
                                        </p:attrNameLst>
                                      </p:cBhvr>
                                      <p:to>
                                        <a:srgbClr val="9933FF"/>
                                      </p:to>
                                    </p:animClr>
                                    <p:set>
                                      <p:cBhvr>
                                        <p:cTn id="428" dur="2000" fill="hold"/>
                                        <p:tgtEl>
                                          <p:spTgt spid="1762367819"/>
                                        </p:tgtEl>
                                        <p:attrNameLst>
                                          <p:attrName>stroke.on</p:attrName>
                                        </p:attrNameLst>
                                      </p:cBhvr>
                                      <p:to>
                                        <p:strVal val="true"/>
                                      </p:to>
                                    </p:set>
                                  </p:childTnLst>
                                </p:cTn>
                              </p:par>
                              <p:par>
                                <p:cTn id="429" presetID="7" presetClass="emph" presetSubtype="2" fill="hold" nodeType="withEffect">
                                  <p:stCondLst>
                                    <p:cond delay="0"/>
                                  </p:stCondLst>
                                  <p:childTnLst>
                                    <p:animClr clrSpc="rgb" dir="cw">
                                      <p:cBhvr>
                                        <p:cTn id="430" dur="2000" fill="hold"/>
                                        <p:tgtEl>
                                          <p:spTgt spid="1040768053"/>
                                        </p:tgtEl>
                                        <p:attrNameLst>
                                          <p:attrName>stroke.color</p:attrName>
                                        </p:attrNameLst>
                                      </p:cBhvr>
                                      <p:to>
                                        <a:srgbClr val="FF6600"/>
                                      </p:to>
                                    </p:animClr>
                                    <p:set>
                                      <p:cBhvr>
                                        <p:cTn id="431" dur="2000" fill="hold"/>
                                        <p:tgtEl>
                                          <p:spTgt spid="1040768053"/>
                                        </p:tgtEl>
                                        <p:attrNameLst>
                                          <p:attrName>stroke.on</p:attrName>
                                        </p:attrNameLst>
                                      </p:cBhvr>
                                      <p:to>
                                        <p:strVal val="true"/>
                                      </p:to>
                                    </p:set>
                                  </p:childTnLst>
                                </p:cTn>
                              </p:par>
                              <p:par>
                                <p:cTn id="432" presetID="7" presetClass="emph" presetSubtype="2" fill="hold" nodeType="withEffect">
                                  <p:stCondLst>
                                    <p:cond delay="0"/>
                                  </p:stCondLst>
                                  <p:childTnLst>
                                    <p:animClr clrSpc="rgb" dir="cw">
                                      <p:cBhvr>
                                        <p:cTn id="433" dur="2000" fill="hold"/>
                                        <p:tgtEl>
                                          <p:spTgt spid="1193031386"/>
                                        </p:tgtEl>
                                        <p:attrNameLst>
                                          <p:attrName>stroke.color</p:attrName>
                                        </p:attrNameLst>
                                      </p:cBhvr>
                                      <p:to>
                                        <a:srgbClr val="339933"/>
                                      </p:to>
                                    </p:animClr>
                                    <p:set>
                                      <p:cBhvr>
                                        <p:cTn id="434" dur="2000" fill="hold"/>
                                        <p:tgtEl>
                                          <p:spTgt spid="1193031386"/>
                                        </p:tgtEl>
                                        <p:attrNameLst>
                                          <p:attrName>stroke.on</p:attrName>
                                        </p:attrNameLst>
                                      </p:cBhvr>
                                      <p:to>
                                        <p:strVal val="true"/>
                                      </p:to>
                                    </p:set>
                                  </p:childTnLst>
                                </p:cTn>
                              </p:par>
                              <p:par>
                                <p:cTn id="435" presetID="7" presetClass="emph" presetSubtype="2" fill="hold" nodeType="withEffect">
                                  <p:stCondLst>
                                    <p:cond delay="0"/>
                                  </p:stCondLst>
                                  <p:childTnLst>
                                    <p:animClr clrSpc="rgb" dir="cw">
                                      <p:cBhvr>
                                        <p:cTn id="436" dur="2000" fill="hold"/>
                                        <p:tgtEl>
                                          <p:spTgt spid="512293378"/>
                                        </p:tgtEl>
                                        <p:attrNameLst>
                                          <p:attrName>stroke.color</p:attrName>
                                        </p:attrNameLst>
                                      </p:cBhvr>
                                      <p:to>
                                        <a:srgbClr val="9933FF"/>
                                      </p:to>
                                    </p:animClr>
                                    <p:set>
                                      <p:cBhvr>
                                        <p:cTn id="437" dur="2000" fill="hold"/>
                                        <p:tgtEl>
                                          <p:spTgt spid="512293378"/>
                                        </p:tgtEl>
                                        <p:attrNameLst>
                                          <p:attrName>stroke.on</p:attrName>
                                        </p:attrNameLst>
                                      </p:cBhvr>
                                      <p:to>
                                        <p:strVal val="true"/>
                                      </p:to>
                                    </p:set>
                                  </p:childTnLst>
                                </p:cTn>
                              </p:par>
                              <p:par>
                                <p:cTn id="438" presetID="7" presetClass="emph" presetSubtype="2" fill="hold" nodeType="withEffect">
                                  <p:stCondLst>
                                    <p:cond delay="0"/>
                                  </p:stCondLst>
                                  <p:childTnLst>
                                    <p:animClr clrSpc="rgb" dir="cw">
                                      <p:cBhvr>
                                        <p:cTn id="439" dur="2000" fill="hold"/>
                                        <p:tgtEl>
                                          <p:spTgt spid="379491990"/>
                                        </p:tgtEl>
                                        <p:attrNameLst>
                                          <p:attrName>stroke.color</p:attrName>
                                        </p:attrNameLst>
                                      </p:cBhvr>
                                      <p:to>
                                        <a:srgbClr val="339933"/>
                                      </p:to>
                                    </p:animClr>
                                    <p:set>
                                      <p:cBhvr>
                                        <p:cTn id="440" dur="2000" fill="hold"/>
                                        <p:tgtEl>
                                          <p:spTgt spid="379491990"/>
                                        </p:tgtEl>
                                        <p:attrNameLst>
                                          <p:attrName>stroke.on</p:attrName>
                                        </p:attrNameLst>
                                      </p:cBhvr>
                                      <p:to>
                                        <p:strVal val="true"/>
                                      </p:to>
                                    </p:set>
                                  </p:childTnLst>
                                </p:cTn>
                              </p:par>
                              <p:par>
                                <p:cTn id="441" presetID="10" presetClass="entr" presetSubtype="0" fill="hold" grpId="0" nodeType="withEffect">
                                  <p:stCondLst>
                                    <p:cond delay="0"/>
                                  </p:stCondLst>
                                  <p:childTnLst>
                                    <p:set>
                                      <p:cBhvr>
                                        <p:cTn id="442" dur="1" fill="hold">
                                          <p:stCondLst>
                                            <p:cond delay="0"/>
                                          </p:stCondLst>
                                        </p:cTn>
                                        <p:tgtEl>
                                          <p:spTgt spid="1903919641"/>
                                        </p:tgtEl>
                                        <p:attrNameLst>
                                          <p:attrName>style.visibility</p:attrName>
                                        </p:attrNameLst>
                                      </p:cBhvr>
                                      <p:to>
                                        <p:strVal val="visible"/>
                                      </p:to>
                                    </p:set>
                                    <p:animEffect transition="in" filter="fade">
                                      <p:cBhvr>
                                        <p:cTn id="443" dur="500"/>
                                        <p:tgtEl>
                                          <p:spTgt spid="1903919641"/>
                                        </p:tgtEl>
                                      </p:cBhvr>
                                    </p:animEffect>
                                  </p:childTnLst>
                                </p:cTn>
                              </p:par>
                            </p:childTnLst>
                          </p:cTn>
                        </p:par>
                      </p:childTnLst>
                    </p:cTn>
                  </p:par>
                  <p:par>
                    <p:cTn id="444" fill="hold">
                      <p:stCondLst>
                        <p:cond delay="indefinite"/>
                      </p:stCondLst>
                      <p:childTnLst>
                        <p:par>
                          <p:cTn id="445" fill="hold">
                            <p:stCondLst>
                              <p:cond delay="0"/>
                            </p:stCondLst>
                            <p:childTnLst>
                              <p:par>
                                <p:cTn id="446" presetID="10" presetClass="entr" presetSubtype="0" fill="hold" nodeType="clickEffect">
                                  <p:stCondLst>
                                    <p:cond delay="0"/>
                                  </p:stCondLst>
                                  <p:childTnLst>
                                    <p:set>
                                      <p:cBhvr>
                                        <p:cTn id="447" dur="1" fill="hold">
                                          <p:stCondLst>
                                            <p:cond delay="0"/>
                                          </p:stCondLst>
                                        </p:cTn>
                                        <p:tgtEl>
                                          <p:spTgt spid="1293864660"/>
                                        </p:tgtEl>
                                        <p:attrNameLst>
                                          <p:attrName>style.visibility</p:attrName>
                                        </p:attrNameLst>
                                      </p:cBhvr>
                                      <p:to>
                                        <p:strVal val="visible"/>
                                      </p:to>
                                    </p:set>
                                    <p:animEffect transition="in" filter="fade">
                                      <p:cBhvr>
                                        <p:cTn id="448" dur="500"/>
                                        <p:tgtEl>
                                          <p:spTgt spid="1293864660"/>
                                        </p:tgtEl>
                                      </p:cBhvr>
                                    </p:animEffect>
                                  </p:childTnLst>
                                </p:cTn>
                              </p:par>
                            </p:childTnLst>
                          </p:cTn>
                        </p:par>
                      </p:childTnLst>
                    </p:cTn>
                  </p:par>
                  <p:par>
                    <p:cTn id="449" fill="hold">
                      <p:stCondLst>
                        <p:cond delay="indefinite"/>
                      </p:stCondLst>
                      <p:childTnLst>
                        <p:par>
                          <p:cTn id="450" fill="hold">
                            <p:stCondLst>
                              <p:cond delay="0"/>
                            </p:stCondLst>
                            <p:childTnLst>
                              <p:par>
                                <p:cTn id="451" presetID="1" presetClass="entr" presetSubtype="0" fill="hold" nodeType="clickEffect">
                                  <p:stCondLst>
                                    <p:cond delay="0"/>
                                  </p:stCondLst>
                                  <p:childTnLst>
                                    <p:set>
                                      <p:cBhvr>
                                        <p:cTn id="452" dur="1" fill="hold">
                                          <p:stCondLst>
                                            <p:cond delay="0"/>
                                          </p:stCondLst>
                                        </p:cTn>
                                        <p:tgtEl>
                                          <p:spTgt spid="2113509289"/>
                                        </p:tgtEl>
                                        <p:attrNameLst>
                                          <p:attrName>style.visibility</p:attrName>
                                        </p:attrNameLst>
                                      </p:cBhvr>
                                      <p:to>
                                        <p:strVal val="visible"/>
                                      </p:to>
                                    </p:set>
                                  </p:childTnLst>
                                </p:cTn>
                              </p:par>
                              <p:par>
                                <p:cTn id="453" presetID="1" presetClass="entr" presetSubtype="0" fill="hold" nodeType="withEffect">
                                  <p:stCondLst>
                                    <p:cond delay="0"/>
                                  </p:stCondLst>
                                  <p:childTnLst>
                                    <p:set>
                                      <p:cBhvr>
                                        <p:cTn id="454" dur="1" fill="hold">
                                          <p:stCondLst>
                                            <p:cond delay="0"/>
                                          </p:stCondLst>
                                        </p:cTn>
                                        <p:tgtEl>
                                          <p:spTgt spid="241786873"/>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0" presetClass="entr" presetSubtype="0" fill="hold" nodeType="clickEffect">
                                  <p:stCondLst>
                                    <p:cond delay="0"/>
                                  </p:stCondLst>
                                  <p:childTnLst>
                                    <p:set>
                                      <p:cBhvr>
                                        <p:cTn id="458" dur="1" fill="hold">
                                          <p:stCondLst>
                                            <p:cond delay="0"/>
                                          </p:stCondLst>
                                        </p:cTn>
                                        <p:tgtEl>
                                          <p:spTgt spid="276829158"/>
                                        </p:tgtEl>
                                        <p:attrNameLst>
                                          <p:attrName>style.visibility</p:attrName>
                                        </p:attrNameLst>
                                      </p:cBhvr>
                                      <p:to>
                                        <p:strVal val="visible"/>
                                      </p:to>
                                    </p:set>
                                    <p:animEffect transition="in" filter="fade">
                                      <p:cBhvr>
                                        <p:cTn id="459" dur="500"/>
                                        <p:tgtEl>
                                          <p:spTgt spid="276829158"/>
                                        </p:tgtEl>
                                      </p:cBhvr>
                                    </p:animEffect>
                                  </p:childTnLst>
                                </p:cTn>
                              </p:par>
                              <p:par>
                                <p:cTn id="460" presetID="10" presetClass="entr" presetSubtype="0" fill="hold" grpId="0" nodeType="withEffect">
                                  <p:stCondLst>
                                    <p:cond delay="0"/>
                                  </p:stCondLst>
                                  <p:childTnLst>
                                    <p:set>
                                      <p:cBhvr>
                                        <p:cTn id="461" dur="1" fill="hold">
                                          <p:stCondLst>
                                            <p:cond delay="0"/>
                                          </p:stCondLst>
                                        </p:cTn>
                                        <p:tgtEl>
                                          <p:spTgt spid="1242960288"/>
                                        </p:tgtEl>
                                        <p:attrNameLst>
                                          <p:attrName>style.visibility</p:attrName>
                                        </p:attrNameLst>
                                      </p:cBhvr>
                                      <p:to>
                                        <p:strVal val="visible"/>
                                      </p:to>
                                    </p:set>
                                    <p:animEffect transition="in" filter="fade">
                                      <p:cBhvr>
                                        <p:cTn id="462" dur="500"/>
                                        <p:tgtEl>
                                          <p:spTgt spid="1242960288"/>
                                        </p:tgtEl>
                                      </p:cBhvr>
                                    </p:animEffect>
                                  </p:childTnLst>
                                </p:cTn>
                              </p:par>
                            </p:childTnLst>
                          </p:cTn>
                        </p:par>
                      </p:childTnLst>
                    </p:cTn>
                  </p:par>
                  <p:par>
                    <p:cTn id="463" fill="hold">
                      <p:stCondLst>
                        <p:cond delay="indefinite"/>
                      </p:stCondLst>
                      <p:childTnLst>
                        <p:par>
                          <p:cTn id="464" fill="hold">
                            <p:stCondLst>
                              <p:cond delay="0"/>
                            </p:stCondLst>
                            <p:childTnLst>
                              <p:par>
                                <p:cTn id="465" presetID="10" presetClass="entr" presetSubtype="0" fill="hold" grpId="0" nodeType="clickEffect">
                                  <p:stCondLst>
                                    <p:cond delay="0"/>
                                  </p:stCondLst>
                                  <p:childTnLst>
                                    <p:set>
                                      <p:cBhvr>
                                        <p:cTn id="466" dur="1" fill="hold">
                                          <p:stCondLst>
                                            <p:cond delay="0"/>
                                          </p:stCondLst>
                                        </p:cTn>
                                        <p:tgtEl>
                                          <p:spTgt spid="355479545"/>
                                        </p:tgtEl>
                                        <p:attrNameLst>
                                          <p:attrName>style.visibility</p:attrName>
                                        </p:attrNameLst>
                                      </p:cBhvr>
                                      <p:to>
                                        <p:strVal val="visible"/>
                                      </p:to>
                                    </p:set>
                                    <p:animEffect transition="in" filter="fade">
                                      <p:cBhvr>
                                        <p:cTn id="467" dur="500"/>
                                        <p:tgtEl>
                                          <p:spTgt spid="355479545"/>
                                        </p:tgtEl>
                                      </p:cBhvr>
                                    </p:animEffect>
                                  </p:childTnLst>
                                </p:cTn>
                              </p:par>
                            </p:childTnLst>
                          </p:cTn>
                        </p:par>
                      </p:childTnLst>
                    </p:cTn>
                  </p:par>
                  <p:par>
                    <p:cTn id="468" fill="hold">
                      <p:stCondLst>
                        <p:cond delay="indefinite"/>
                      </p:stCondLst>
                      <p:childTnLst>
                        <p:par>
                          <p:cTn id="469" fill="hold">
                            <p:stCondLst>
                              <p:cond delay="0"/>
                            </p:stCondLst>
                            <p:childTnLst>
                              <p:par>
                                <p:cTn id="470" presetID="1" presetClass="entr" presetSubtype="0" fill="hold" nodeType="clickEffect">
                                  <p:stCondLst>
                                    <p:cond delay="0"/>
                                  </p:stCondLst>
                                  <p:childTnLst>
                                    <p:set>
                                      <p:cBhvr>
                                        <p:cTn id="471" dur="1" fill="hold">
                                          <p:stCondLst>
                                            <p:cond delay="0"/>
                                          </p:stCondLst>
                                        </p:cTn>
                                        <p:tgtEl>
                                          <p:spTgt spid="1176918565"/>
                                        </p:tgtEl>
                                        <p:attrNameLst>
                                          <p:attrName>style.visibility</p:attrName>
                                        </p:attrNameLst>
                                      </p:cBhvr>
                                      <p:to>
                                        <p:strVal val="visible"/>
                                      </p:to>
                                    </p:set>
                                  </p:childTnLst>
                                </p:cTn>
                              </p:par>
                              <p:par>
                                <p:cTn id="472" presetID="10" presetClass="entr" presetSubtype="0" fill="hold" grpId="0" nodeType="withEffect">
                                  <p:stCondLst>
                                    <p:cond delay="0"/>
                                  </p:stCondLst>
                                  <p:childTnLst>
                                    <p:set>
                                      <p:cBhvr>
                                        <p:cTn id="473" dur="1" fill="hold">
                                          <p:stCondLst>
                                            <p:cond delay="0"/>
                                          </p:stCondLst>
                                        </p:cTn>
                                        <p:tgtEl>
                                          <p:spTgt spid="201961183"/>
                                        </p:tgtEl>
                                        <p:attrNameLst>
                                          <p:attrName>style.visibility</p:attrName>
                                        </p:attrNameLst>
                                      </p:cBhvr>
                                      <p:to>
                                        <p:strVal val="visible"/>
                                      </p:to>
                                    </p:set>
                                    <p:animEffect transition="in" filter="fade">
                                      <p:cBhvr>
                                        <p:cTn id="474" dur="500"/>
                                        <p:tgtEl>
                                          <p:spTgt spid="201961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8658026" grpId="0"/>
      <p:bldP spid="1386570282" grpId="0"/>
      <p:bldP spid="1903919641" grpId="0"/>
      <p:bldP spid="1242960288" grpId="0"/>
      <p:bldP spid="201961183" grpId="0"/>
      <p:bldP spid="355479545"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0841489" name="Title 1"/>
          <p:cNvSpPr>
            <a:spLocks noGrp="1"/>
          </p:cNvSpPr>
          <p:nvPr>
            <p:ph type="title"/>
          </p:nvPr>
        </p:nvSpPr>
        <p:spPr bwMode="auto">
          <a:xfrm>
            <a:off x="609602" y="253472"/>
            <a:ext cx="10200638" cy="565334"/>
          </a:xfrm>
        </p:spPr>
        <p:txBody>
          <a:bodyPr>
            <a:normAutofit fontScale="90000"/>
          </a:bodyPr>
          <a:lstStyle/>
          <a:p>
            <a:pPr>
              <a:defRPr/>
            </a:pPr>
            <a:r>
              <a:rPr lang="en-US"/>
              <a:t>Read mapping / approximate substring search</a:t>
            </a:r>
            <a:endParaRPr/>
          </a:p>
        </p:txBody>
      </p:sp>
      <p:cxnSp>
        <p:nvCxnSpPr>
          <p:cNvPr id="1130236220" name="Straight Connector 10"/>
          <p:cNvCxnSpPr/>
          <p:nvPr/>
        </p:nvCxnSpPr>
        <p:spPr bwMode="auto">
          <a:xfrm>
            <a:off x="3681489" y="5409156"/>
            <a:ext cx="914400" cy="0"/>
          </a:xfrm>
          <a:prstGeom prst="line">
            <a:avLst/>
          </a:prstGeom>
          <a:ln w="63500">
            <a:gradFill>
              <a:gsLst>
                <a:gs pos="29000">
                  <a:srgbClr val="FF0000"/>
                </a:gs>
                <a:gs pos="49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cxnSp>
        <p:nvCxnSpPr>
          <p:cNvPr id="1105628443" name="Straight Connector 6"/>
          <p:cNvCxnSpPr/>
          <p:nvPr/>
        </p:nvCxnSpPr>
        <p:spPr bwMode="auto">
          <a:xfrm>
            <a:off x="4195057" y="4004597"/>
            <a:ext cx="5223353" cy="0"/>
          </a:xfrm>
          <a:prstGeom prst="line">
            <a:avLst/>
          </a:prstGeom>
          <a:ln w="63500">
            <a:gradFill>
              <a:gsLst>
                <a:gs pos="0">
                  <a:srgbClr val="00B050"/>
                </a:gs>
                <a:gs pos="12000">
                  <a:srgbClr val="00B050"/>
                </a:gs>
                <a:gs pos="15000">
                  <a:srgbClr val="00B0F0"/>
                </a:gs>
                <a:gs pos="24000">
                  <a:srgbClr val="00B0F0"/>
                </a:gs>
                <a:gs pos="32000">
                  <a:srgbClr val="FF0000"/>
                </a:gs>
                <a:gs pos="50000">
                  <a:srgbClr val="FF0000"/>
                </a:gs>
                <a:gs pos="56000">
                  <a:srgbClr val="FFFF00"/>
                </a:gs>
                <a:gs pos="67000">
                  <a:srgbClr val="FF0000"/>
                </a:gs>
                <a:gs pos="74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sp>
        <p:nvSpPr>
          <p:cNvPr id="704772777" name="TextBox 13"/>
          <p:cNvSpPr txBox="1"/>
          <p:nvPr/>
        </p:nvSpPr>
        <p:spPr bwMode="auto">
          <a:xfrm>
            <a:off x="2007717" y="3594058"/>
            <a:ext cx="1113575" cy="646331"/>
          </a:xfrm>
          <a:prstGeom prst="rect">
            <a:avLst/>
          </a:prstGeom>
          <a:noFill/>
        </p:spPr>
        <p:txBody>
          <a:bodyPr wrap="none" rtlCol="0">
            <a:spAutoFit/>
          </a:bodyPr>
          <a:lstStyle/>
          <a:p>
            <a:pPr>
              <a:spcAft>
                <a:spcPts val="1650"/>
              </a:spcAft>
              <a:defRPr/>
            </a:pPr>
            <a:r>
              <a:rPr lang="en-US">
                <a:solidFill>
                  <a:srgbClr val="990000"/>
                </a:solidFill>
                <a:latin typeface="+mj-lt"/>
              </a:rPr>
              <a:t>Reference</a:t>
            </a:r>
            <a:br>
              <a:rPr lang="en-US">
                <a:solidFill>
                  <a:srgbClr val="990000"/>
                </a:solidFill>
                <a:latin typeface="+mj-lt"/>
              </a:rPr>
            </a:br>
            <a:r>
              <a:rPr lang="en-US">
                <a:solidFill>
                  <a:srgbClr val="990000"/>
                </a:solidFill>
                <a:latin typeface="+mj-lt"/>
              </a:rPr>
              <a:t>Genome</a:t>
            </a:r>
            <a:endParaRPr/>
          </a:p>
        </p:txBody>
      </p:sp>
      <p:sp>
        <p:nvSpPr>
          <p:cNvPr id="1179533128" name="TextBox 15"/>
          <p:cNvSpPr txBox="1"/>
          <p:nvPr/>
        </p:nvSpPr>
        <p:spPr bwMode="auto">
          <a:xfrm>
            <a:off x="2296706" y="4993659"/>
            <a:ext cx="754887" cy="646331"/>
          </a:xfrm>
          <a:prstGeom prst="rect">
            <a:avLst/>
          </a:prstGeom>
          <a:noFill/>
        </p:spPr>
        <p:txBody>
          <a:bodyPr wrap="none" rtlCol="0">
            <a:spAutoFit/>
          </a:bodyPr>
          <a:lstStyle/>
          <a:p>
            <a:pPr>
              <a:spcAft>
                <a:spcPts val="1650"/>
              </a:spcAft>
              <a:defRPr/>
            </a:pPr>
            <a:r>
              <a:rPr lang="en-US">
                <a:solidFill>
                  <a:srgbClr val="990000"/>
                </a:solidFill>
                <a:latin typeface="+mj-lt"/>
              </a:rPr>
              <a:t>Query</a:t>
            </a:r>
            <a:br>
              <a:rPr lang="en-US">
                <a:solidFill>
                  <a:srgbClr val="990000"/>
                </a:solidFill>
                <a:latin typeface="+mj-lt"/>
              </a:rPr>
            </a:br>
            <a:r>
              <a:rPr lang="en-US">
                <a:solidFill>
                  <a:srgbClr val="990000"/>
                </a:solidFill>
                <a:latin typeface="+mj-lt"/>
              </a:rPr>
              <a:t>Read</a:t>
            </a:r>
            <a:endParaRPr/>
          </a:p>
        </p:txBody>
      </p:sp>
      <p:cxnSp>
        <p:nvCxnSpPr>
          <p:cNvPr id="528366621" name="Straight Connector 16"/>
          <p:cNvCxnSpPr/>
          <p:nvPr/>
        </p:nvCxnSpPr>
        <p:spPr bwMode="auto">
          <a:xfrm>
            <a:off x="3681489" y="5409156"/>
            <a:ext cx="914400" cy="0"/>
          </a:xfrm>
          <a:prstGeom prst="line">
            <a:avLst/>
          </a:prstGeom>
          <a:ln w="63500">
            <a:gradFill>
              <a:gsLst>
                <a:gs pos="29000">
                  <a:srgbClr val="FF0000"/>
                </a:gs>
                <a:gs pos="49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cxnSp>
        <p:nvCxnSpPr>
          <p:cNvPr id="1443654070" name="Straight Connector 19"/>
          <p:cNvCxnSpPr/>
          <p:nvPr/>
        </p:nvCxnSpPr>
        <p:spPr bwMode="auto">
          <a:xfrm>
            <a:off x="3681489" y="5409156"/>
            <a:ext cx="914400" cy="0"/>
          </a:xfrm>
          <a:prstGeom prst="line">
            <a:avLst/>
          </a:prstGeom>
          <a:ln w="63500">
            <a:gradFill>
              <a:gsLst>
                <a:gs pos="29000">
                  <a:srgbClr val="FF0000"/>
                </a:gs>
                <a:gs pos="49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sp>
        <p:nvSpPr>
          <p:cNvPr id="398882287" name="Slide Number Placeholder 21"/>
          <p:cNvSpPr>
            <a:spLocks noGrp="1"/>
          </p:cNvSpPr>
          <p:nvPr>
            <p:ph type="sldNum" sz="quarter" idx="16"/>
          </p:nvPr>
        </p:nvSpPr>
        <p:spPr bwMode="auto"/>
        <p:txBody>
          <a:bodyPr/>
          <a:lstStyle/>
          <a:p>
            <a:pPr>
              <a:defRPr/>
            </a:pPr>
            <a:fld id="{A4F5F5D8-B564-4424-B975-B1ACA6BCE299}" type="slidenum">
              <a:rPr lang="en-US"/>
              <a:t>5</a:t>
            </a:fld>
            <a:endParaRPr lang="en-US"/>
          </a:p>
        </p:txBody>
      </p:sp>
      <p:sp>
        <p:nvSpPr>
          <p:cNvPr id="775034234" name="TextBox 8"/>
          <p:cNvSpPr txBox="1"/>
          <p:nvPr/>
        </p:nvSpPr>
        <p:spPr bwMode="auto">
          <a:xfrm>
            <a:off x="609602" y="1028407"/>
            <a:ext cx="7951890" cy="840871"/>
          </a:xfrm>
          <a:prstGeom prst="rect">
            <a:avLst/>
          </a:prstGeom>
          <a:noFill/>
        </p:spPr>
        <p:txBody>
          <a:bodyPr wrap="square" rtlCol="0">
            <a:spAutoFit/>
          </a:bodyPr>
          <a:lstStyle/>
          <a:p>
            <a:pPr marL="342900" indent="-342900">
              <a:buFont typeface="Arial"/>
              <a:buChar char="•"/>
              <a:defRPr/>
            </a:pPr>
            <a:r>
              <a:rPr lang="en-US" sz="2400"/>
              <a:t>Consider a string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𝐴</m:t>
                      </m:r>
                    </m:oMath>
                  </m:oMathPara>
                </a14:m>
              </mc:Choice>
              <mc:Fallback/>
            </mc:AlternateContent>
            <a:r>
              <a:rPr lang="en-US" sz="2400"/>
              <a:t> and a substring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𝐵</m:t>
                      </m:r>
                    </m:oMath>
                  </m:oMathPara>
                </a14:m>
              </mc:Choice>
              <mc:Fallback/>
            </mc:AlternateContent>
            <a:r>
              <a:rPr lang="en-US" sz="2400"/>
              <a:t> starting at position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𝑖</m:t>
                      </m:r>
                    </m:oMath>
                  </m:oMathPara>
                </a14:m>
              </mc:Choice>
              <mc:Fallback/>
            </mc:AlternateContent>
            <a:r>
              <a:rPr lang="en-US" sz="2400"/>
              <a:t>. Given a random corruption </a:t>
            </a:r>
            <mc:AlternateContent xmlns:mc="http://schemas.openxmlformats.org/markup-compatibility/2006" xmlns:m="http://schemas.openxmlformats.org/officeDocument/2006/math">
              <mc:Choice xmlns:a14="http://schemas.microsoft.com/office/drawing/2010/main" Requires="a14">
                <a14:m>
                  <m:oMathPara>
                    <m:oMathParaPr/>
                    <m:oMath>
                      <m:acc>
                        <m:accPr>
                          <m:chr m:val="̂"/>
                          <m:ctrlPr>
                            <a:rPr lang="en-US" sz="2400" b="0" i="1">
                              <a:latin typeface="Cambria Math"/>
                              <a:ea typeface="Cambria Math"/>
                              <a:cs typeface="Cambria Math"/>
                            </a:rPr>
                          </m:ctrlPr>
                        </m:accPr>
                        <m:e>
                          <m:r>
                            <m:rPr/>
                            <a:rPr lang="en-US" sz="2400" b="0" i="1">
                              <a:latin typeface="Cambria Math"/>
                            </a:rPr>
                            <m:t>𝐵</m:t>
                          </m:r>
                        </m:e>
                      </m:acc>
                    </m:oMath>
                  </m:oMathPara>
                </a14:m>
              </mc:Choice>
              <mc:Fallback/>
            </mc:AlternateContent>
            <a:r>
              <a:rPr lang="en-US" sz="2400"/>
              <a:t> of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𝐵</m:t>
                      </m:r>
                    </m:oMath>
                  </m:oMathPara>
                </a14:m>
              </mc:Choice>
              <mc:Fallback/>
            </mc:AlternateContent>
            <a:r>
              <a:rPr lang="en-US" sz="2400"/>
              <a:t>, recover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𝑖</m:t>
                      </m:r>
                    </m:oMath>
                  </m:oMathPara>
                </a14:m>
              </mc:Choice>
              <mc:Fallback/>
            </mc:AlternateContent>
            <a:r>
              <a:rPr lang="en-US" sz="2400"/>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5628443"/>
                                        </p:tgtEl>
                                        <p:attrNameLst>
                                          <p:attrName>style.visibility</p:attrName>
                                        </p:attrNameLst>
                                      </p:cBhvr>
                                      <p:to>
                                        <p:strVal val="visible"/>
                                      </p:to>
                                    </p:set>
                                    <p:animEffect transition="in" filter="fade">
                                      <p:cBhvr>
                                        <p:cTn id="7" dur="500"/>
                                        <p:tgtEl>
                                          <p:spTgt spid="11056284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4772777"/>
                                        </p:tgtEl>
                                        <p:attrNameLst>
                                          <p:attrName>style.visibility</p:attrName>
                                        </p:attrNameLst>
                                      </p:cBhvr>
                                      <p:to>
                                        <p:strVal val="visible"/>
                                      </p:to>
                                    </p:set>
                                    <p:animEffect transition="in" filter="fade">
                                      <p:cBhvr>
                                        <p:cTn id="10" dur="500"/>
                                        <p:tgtEl>
                                          <p:spTgt spid="70477277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79533128"/>
                                        </p:tgtEl>
                                        <p:attrNameLst>
                                          <p:attrName>style.visibility</p:attrName>
                                        </p:attrNameLst>
                                      </p:cBhvr>
                                      <p:to>
                                        <p:strVal val="visible"/>
                                      </p:to>
                                    </p:set>
                                    <p:animEffect transition="in" filter="fade">
                                      <p:cBhvr>
                                        <p:cTn id="15" dur="500"/>
                                        <p:tgtEl>
                                          <p:spTgt spid="1179533128"/>
                                        </p:tgtEl>
                                      </p:cBhvr>
                                    </p:animEffect>
                                  </p:childTnLst>
                                </p:cTn>
                              </p:par>
                              <p:par>
                                <p:cTn id="16" presetID="10" presetClass="entr" presetSubtype="0" fill="hold" nodeType="withEffect">
                                  <p:stCondLst>
                                    <p:cond delay="0"/>
                                  </p:stCondLst>
                                  <p:childTnLst>
                                    <p:set>
                                      <p:cBhvr>
                                        <p:cTn id="17" dur="1" fill="hold">
                                          <p:stCondLst>
                                            <p:cond delay="0"/>
                                          </p:stCondLst>
                                        </p:cTn>
                                        <p:tgtEl>
                                          <p:spTgt spid="1130236220"/>
                                        </p:tgtEl>
                                        <p:attrNameLst>
                                          <p:attrName>style.visibility</p:attrName>
                                        </p:attrNameLst>
                                      </p:cBhvr>
                                      <p:to>
                                        <p:strVal val="visible"/>
                                      </p:to>
                                    </p:set>
                                    <p:animEffect transition="in" filter="fade">
                                      <p:cBhvr>
                                        <p:cTn id="18" dur="500"/>
                                        <p:tgtEl>
                                          <p:spTgt spid="1130236220"/>
                                        </p:tgtEl>
                                      </p:cBhvr>
                                    </p:animEffect>
                                  </p:childTnLst>
                                </p:cTn>
                              </p:par>
                            </p:childTnLst>
                          </p:cTn>
                        </p:par>
                      </p:childTnLst>
                    </p:cTn>
                  </p:par>
                  <p:par>
                    <p:cTn id="19" fill="hold">
                      <p:stCondLst>
                        <p:cond delay="indefinite"/>
                      </p:stCondLst>
                      <p:childTnLst>
                        <p:par>
                          <p:cTn id="20" fill="hold">
                            <p:stCondLst>
                              <p:cond delay="0"/>
                            </p:stCondLst>
                            <p:childTnLst>
                              <p:par>
                                <p:cTn id="21" presetID="50" presetClass="path" presetSubtype="0" accel="50000" decel="50000" fill="hold" nodeType="clickEffect">
                                  <p:stCondLst>
                                    <p:cond delay="0"/>
                                  </p:stCondLst>
                                  <p:childTnLst>
                                    <p:animMotion origin="layout" path="M 2.5E-6 2.59259E-6 L 0.16094 2.59259E-6 C 0.23333 2.59259E-6 0.32361 -0.08982 0.32361 -0.16227 L 0.32361 -0.32315 " pathEditMode="relative" rAng="0" ptsTypes="AAAA">
                                      <p:cBhvr>
                                        <p:cTn id="22" dur="2000" fill="hold"/>
                                        <p:tgtEl>
                                          <p:spTgt spid="1130236220"/>
                                        </p:tgtEl>
                                        <p:attrNameLst>
                                          <p:attrName>ppt_x</p:attrName>
                                          <p:attrName>ppt_y</p:attrName>
                                        </p:attrNameLst>
                                      </p:cBhvr>
                                      <p:rCtr x="16181" y="-16157"/>
                                    </p:animMotion>
                                  </p:childTnLst>
                                </p:cTn>
                              </p:par>
                              <p:par>
                                <p:cTn id="23" presetID="10" presetClass="entr" presetSubtype="0" fill="hold" nodeType="withEffect">
                                  <p:stCondLst>
                                    <p:cond delay="0"/>
                                  </p:stCondLst>
                                  <p:childTnLst>
                                    <p:set>
                                      <p:cBhvr>
                                        <p:cTn id="24" dur="1" fill="hold">
                                          <p:stCondLst>
                                            <p:cond delay="0"/>
                                          </p:stCondLst>
                                        </p:cTn>
                                        <p:tgtEl>
                                          <p:spTgt spid="528366621"/>
                                        </p:tgtEl>
                                        <p:attrNameLst>
                                          <p:attrName>style.visibility</p:attrName>
                                        </p:attrNameLst>
                                      </p:cBhvr>
                                      <p:to>
                                        <p:strVal val="visible"/>
                                      </p:to>
                                    </p:set>
                                    <p:animEffect transition="in" filter="fade">
                                      <p:cBhvr>
                                        <p:cTn id="25" dur="500"/>
                                        <p:tgtEl>
                                          <p:spTgt spid="528366621"/>
                                        </p:tgtEl>
                                      </p:cBhvr>
                                    </p:animEffect>
                                  </p:childTnLst>
                                </p:cTn>
                              </p:par>
                              <p:par>
                                <p:cTn id="26" presetID="50" presetClass="path" presetSubtype="0" accel="50000" decel="50000" fill="hold" nodeType="withEffect">
                                  <p:stCondLst>
                                    <p:cond delay="0"/>
                                  </p:stCondLst>
                                  <p:childTnLst>
                                    <p:animMotion origin="layout" path="M -3.125E-6 2.59259E-6 L 0.12318 2.59259E-6 C 0.17852 2.59259E-6 0.24779 -0.07709 0.24779 -0.13889 L 0.24779 -0.27616 " pathEditMode="relative" rAng="0" ptsTypes="AAAA">
                                      <p:cBhvr>
                                        <p:cTn id="27" dur="2000" fill="hold"/>
                                        <p:tgtEl>
                                          <p:spTgt spid="528366621"/>
                                        </p:tgtEl>
                                        <p:attrNameLst>
                                          <p:attrName>ppt_x</p:attrName>
                                          <p:attrName>ppt_y</p:attrName>
                                        </p:attrNameLst>
                                      </p:cBhvr>
                                      <p:rCtr x="12383" y="-13819"/>
                                    </p:animMotion>
                                  </p:childTnLst>
                                </p:cTn>
                              </p:par>
                              <p:par>
                                <p:cTn id="28" presetID="10" presetClass="entr" presetSubtype="0" fill="hold" nodeType="withEffect">
                                  <p:stCondLst>
                                    <p:cond delay="0"/>
                                  </p:stCondLst>
                                  <p:childTnLst>
                                    <p:set>
                                      <p:cBhvr>
                                        <p:cTn id="29" dur="1" fill="hold">
                                          <p:stCondLst>
                                            <p:cond delay="0"/>
                                          </p:stCondLst>
                                        </p:cTn>
                                        <p:tgtEl>
                                          <p:spTgt spid="1443654070"/>
                                        </p:tgtEl>
                                        <p:attrNameLst>
                                          <p:attrName>style.visibility</p:attrName>
                                        </p:attrNameLst>
                                      </p:cBhvr>
                                      <p:to>
                                        <p:strVal val="visible"/>
                                      </p:to>
                                    </p:set>
                                    <p:animEffect transition="in" filter="fade">
                                      <p:cBhvr>
                                        <p:cTn id="30" dur="500"/>
                                        <p:tgtEl>
                                          <p:spTgt spid="1443654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772777" grpId="0"/>
      <p:bldP spid="1179533128" grpId="0"/>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1717416" name="Title 1"/>
          <p:cNvSpPr>
            <a:spLocks noGrp="1"/>
          </p:cNvSpPr>
          <p:nvPr>
            <p:ph type="title"/>
          </p:nvPr>
        </p:nvSpPr>
        <p:spPr bwMode="auto"/>
        <p:txBody>
          <a:bodyPr>
            <a:normAutofit fontScale="90000"/>
          </a:bodyPr>
          <a:lstStyle/>
          <a:p>
            <a:pPr>
              <a:defRPr/>
            </a:pPr>
            <a:r>
              <a:rPr lang="en-US"/>
              <a:t>Nearest neighbor / distance computation</a:t>
            </a:r>
            <a:endParaRPr/>
          </a:p>
        </p:txBody>
      </p:sp>
      <p:cxnSp>
        <p:nvCxnSpPr>
          <p:cNvPr id="8247193" name="Straight Connector 10"/>
          <p:cNvCxnSpPr/>
          <p:nvPr/>
        </p:nvCxnSpPr>
        <p:spPr bwMode="auto">
          <a:xfrm>
            <a:off x="3681490" y="5409156"/>
            <a:ext cx="5223353" cy="0"/>
          </a:xfrm>
          <a:prstGeom prst="line">
            <a:avLst/>
          </a:prstGeom>
          <a:ln w="63500">
            <a:gradFill>
              <a:gsLst>
                <a:gs pos="0">
                  <a:srgbClr val="00B050"/>
                </a:gs>
                <a:gs pos="12000">
                  <a:srgbClr val="00B050"/>
                </a:gs>
                <a:gs pos="15000">
                  <a:srgbClr val="00B0F0"/>
                </a:gs>
                <a:gs pos="24000">
                  <a:srgbClr val="00B0F0"/>
                </a:gs>
                <a:gs pos="32000">
                  <a:srgbClr val="FF0000"/>
                </a:gs>
                <a:gs pos="50000">
                  <a:srgbClr val="FF0000"/>
                </a:gs>
                <a:gs pos="56000">
                  <a:srgbClr val="00B0F0"/>
                </a:gs>
                <a:gs pos="67000">
                  <a:srgbClr val="FF0000"/>
                </a:gs>
                <a:gs pos="74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cxnSp>
        <p:nvCxnSpPr>
          <p:cNvPr id="968224729" name="Straight Connector 5"/>
          <p:cNvCxnSpPr/>
          <p:nvPr/>
        </p:nvCxnSpPr>
        <p:spPr bwMode="auto">
          <a:xfrm>
            <a:off x="4332842" y="3010602"/>
            <a:ext cx="4572000" cy="0"/>
          </a:xfrm>
          <a:prstGeom prst="line">
            <a:avLst/>
          </a:prstGeom>
          <a:ln w="63500">
            <a:gradFill>
              <a:gsLst>
                <a:gs pos="0">
                  <a:srgbClr val="00B050"/>
                </a:gs>
                <a:gs pos="15000">
                  <a:srgbClr val="00B0F0"/>
                </a:gs>
                <a:gs pos="18000">
                  <a:srgbClr val="00B050"/>
                </a:gs>
                <a:gs pos="24000">
                  <a:srgbClr val="00B0F0"/>
                </a:gs>
                <a:gs pos="32000">
                  <a:srgbClr val="FF0000"/>
                </a:gs>
                <a:gs pos="38000">
                  <a:srgbClr val="00B050"/>
                </a:gs>
                <a:gs pos="56000">
                  <a:srgbClr val="FFFF00"/>
                </a:gs>
                <a:gs pos="73000">
                  <a:srgbClr val="00B0F0"/>
                </a:gs>
                <a:gs pos="78000">
                  <a:srgbClr val="FFFF00"/>
                </a:gs>
                <a:gs pos="96000">
                  <a:srgbClr val="FF0000"/>
                </a:gs>
              </a:gsLst>
              <a:lin ang="0" scaled="1"/>
            </a:gradFill>
          </a:ln>
        </p:spPr>
        <p:style>
          <a:lnRef idx="3">
            <a:schemeClr val="dk1"/>
          </a:lnRef>
          <a:fillRef idx="0">
            <a:schemeClr val="dk1"/>
          </a:fillRef>
          <a:effectRef idx="2">
            <a:schemeClr val="dk1"/>
          </a:effectRef>
          <a:fontRef idx="minor">
            <a:schemeClr val="tx1"/>
          </a:fontRef>
        </p:style>
      </p:cxnSp>
      <p:cxnSp>
        <p:nvCxnSpPr>
          <p:cNvPr id="1137276565" name="Straight Connector 6"/>
          <p:cNvCxnSpPr/>
          <p:nvPr/>
        </p:nvCxnSpPr>
        <p:spPr bwMode="auto">
          <a:xfrm>
            <a:off x="4332843" y="4039302"/>
            <a:ext cx="5223353" cy="0"/>
          </a:xfrm>
          <a:prstGeom prst="line">
            <a:avLst/>
          </a:prstGeom>
          <a:ln w="63500">
            <a:gradFill>
              <a:gsLst>
                <a:gs pos="0">
                  <a:srgbClr val="00B050"/>
                </a:gs>
                <a:gs pos="12000">
                  <a:srgbClr val="00B050"/>
                </a:gs>
                <a:gs pos="15000">
                  <a:srgbClr val="00B0F0"/>
                </a:gs>
                <a:gs pos="24000">
                  <a:srgbClr val="00B0F0"/>
                </a:gs>
                <a:gs pos="32000">
                  <a:srgbClr val="FF0000"/>
                </a:gs>
                <a:gs pos="50000">
                  <a:srgbClr val="FF0000"/>
                </a:gs>
                <a:gs pos="56000">
                  <a:srgbClr val="FFFF00"/>
                </a:gs>
                <a:gs pos="67000">
                  <a:srgbClr val="FF0000"/>
                </a:gs>
                <a:gs pos="74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cxnSp>
        <p:nvCxnSpPr>
          <p:cNvPr id="1214477509" name="Straight Connector 7"/>
          <p:cNvCxnSpPr/>
          <p:nvPr/>
        </p:nvCxnSpPr>
        <p:spPr bwMode="auto">
          <a:xfrm>
            <a:off x="4332842" y="2496252"/>
            <a:ext cx="5486400" cy="0"/>
          </a:xfrm>
          <a:prstGeom prst="line">
            <a:avLst/>
          </a:prstGeom>
          <a:ln w="63500">
            <a:gradFill>
              <a:gsLst>
                <a:gs pos="0">
                  <a:srgbClr val="00B0F0"/>
                </a:gs>
                <a:gs pos="0">
                  <a:srgbClr val="FFFF00"/>
                </a:gs>
                <a:gs pos="15000">
                  <a:srgbClr val="00B0F0"/>
                </a:gs>
                <a:gs pos="15000">
                  <a:srgbClr val="7030A0"/>
                </a:gs>
                <a:gs pos="32000">
                  <a:srgbClr val="FF0000"/>
                </a:gs>
                <a:gs pos="53000">
                  <a:srgbClr val="00B050"/>
                </a:gs>
                <a:gs pos="76000">
                  <a:srgbClr val="FF0000"/>
                </a:gs>
                <a:gs pos="78000">
                  <a:srgbClr val="FF0000"/>
                </a:gs>
                <a:gs pos="89000">
                  <a:srgbClr val="FFFF00"/>
                </a:gs>
                <a:gs pos="93000">
                  <a:srgbClr val="00B050"/>
                </a:gs>
              </a:gsLst>
              <a:lin ang="0" scaled="1"/>
            </a:gradFill>
          </a:ln>
        </p:spPr>
        <p:style>
          <a:lnRef idx="3">
            <a:schemeClr val="dk1"/>
          </a:lnRef>
          <a:fillRef idx="0">
            <a:schemeClr val="dk1"/>
          </a:fillRef>
          <a:effectRef idx="2">
            <a:schemeClr val="dk1"/>
          </a:effectRef>
          <a:fontRef idx="minor">
            <a:schemeClr val="tx1"/>
          </a:fontRef>
        </p:style>
      </p:cxnSp>
      <p:cxnSp>
        <p:nvCxnSpPr>
          <p:cNvPr id="1473639780" name="Straight Connector 8"/>
          <p:cNvCxnSpPr/>
          <p:nvPr/>
        </p:nvCxnSpPr>
        <p:spPr bwMode="auto">
          <a:xfrm>
            <a:off x="4332843" y="3524952"/>
            <a:ext cx="5223353" cy="0"/>
          </a:xfrm>
          <a:prstGeom prst="line">
            <a:avLst/>
          </a:prstGeom>
          <a:ln w="63500">
            <a:gradFill>
              <a:gsLst>
                <a:gs pos="0">
                  <a:srgbClr val="00B0F0"/>
                </a:gs>
                <a:gs pos="8000">
                  <a:srgbClr val="FFFF00"/>
                </a:gs>
                <a:gs pos="26000">
                  <a:srgbClr val="00B050"/>
                </a:gs>
                <a:gs pos="36000">
                  <a:srgbClr val="00B0F0"/>
                </a:gs>
                <a:gs pos="48000">
                  <a:srgbClr val="00B050"/>
                </a:gs>
                <a:gs pos="50000">
                  <a:srgbClr val="FF0000"/>
                </a:gs>
                <a:gs pos="56000">
                  <a:srgbClr val="FFFF00"/>
                </a:gs>
                <a:gs pos="67000">
                  <a:srgbClr val="FF0000"/>
                </a:gs>
                <a:gs pos="86000">
                  <a:srgbClr val="00B050"/>
                </a:gs>
                <a:gs pos="100000">
                  <a:srgbClr val="00B0F0"/>
                </a:gs>
              </a:gsLst>
              <a:lin ang="0" scaled="1"/>
            </a:gradFill>
          </a:ln>
        </p:spPr>
        <p:style>
          <a:lnRef idx="3">
            <a:schemeClr val="dk1"/>
          </a:lnRef>
          <a:fillRef idx="0">
            <a:schemeClr val="dk1"/>
          </a:fillRef>
          <a:effectRef idx="2">
            <a:schemeClr val="dk1"/>
          </a:effectRef>
          <a:fontRef idx="minor">
            <a:schemeClr val="tx1"/>
          </a:fontRef>
        </p:style>
      </p:cxnSp>
      <p:cxnSp>
        <p:nvCxnSpPr>
          <p:cNvPr id="1657037368" name="Straight Connector 9"/>
          <p:cNvCxnSpPr/>
          <p:nvPr/>
        </p:nvCxnSpPr>
        <p:spPr bwMode="auto">
          <a:xfrm>
            <a:off x="4332842" y="4553651"/>
            <a:ext cx="4800600" cy="0"/>
          </a:xfrm>
          <a:prstGeom prst="line">
            <a:avLst/>
          </a:prstGeom>
          <a:ln w="63500">
            <a:gradFill>
              <a:gsLst>
                <a:gs pos="0">
                  <a:srgbClr val="00B0F0"/>
                </a:gs>
                <a:gs pos="32000">
                  <a:srgbClr val="FF0000"/>
                </a:gs>
                <a:gs pos="50000">
                  <a:srgbClr val="FF0000"/>
                </a:gs>
                <a:gs pos="53000">
                  <a:srgbClr val="00B050"/>
                </a:gs>
                <a:gs pos="62000">
                  <a:srgbClr val="00B0F0"/>
                </a:gs>
                <a:gs pos="63000">
                  <a:srgbClr val="00B050"/>
                </a:gs>
                <a:gs pos="67000">
                  <a:srgbClr val="FF0000"/>
                </a:gs>
                <a:gs pos="74000">
                  <a:srgbClr val="FF0000"/>
                </a:gs>
                <a:gs pos="78000">
                  <a:srgbClr val="FF0000"/>
                </a:gs>
                <a:gs pos="100000">
                  <a:srgbClr val="FFFF00"/>
                </a:gs>
              </a:gsLst>
              <a:lin ang="0" scaled="1"/>
            </a:gradFill>
          </a:ln>
        </p:spPr>
        <p:style>
          <a:lnRef idx="3">
            <a:schemeClr val="dk1"/>
          </a:lnRef>
          <a:fillRef idx="0">
            <a:schemeClr val="dk1"/>
          </a:fillRef>
          <a:effectRef idx="2">
            <a:schemeClr val="dk1"/>
          </a:effectRef>
          <a:fontRef idx="minor">
            <a:schemeClr val="tx1"/>
          </a:fontRef>
        </p:style>
      </p:cxnSp>
      <p:sp>
        <p:nvSpPr>
          <p:cNvPr id="250501257" name="TextBox 13"/>
          <p:cNvSpPr txBox="1"/>
          <p:nvPr/>
        </p:nvSpPr>
        <p:spPr bwMode="auto">
          <a:xfrm>
            <a:off x="2054044" y="3140247"/>
            <a:ext cx="1044645" cy="646331"/>
          </a:xfrm>
          <a:prstGeom prst="rect">
            <a:avLst/>
          </a:prstGeom>
          <a:noFill/>
        </p:spPr>
        <p:txBody>
          <a:bodyPr wrap="none" rtlCol="0">
            <a:spAutoFit/>
          </a:bodyPr>
          <a:lstStyle/>
          <a:p>
            <a:pPr>
              <a:spcAft>
                <a:spcPts val="1650"/>
              </a:spcAft>
              <a:defRPr/>
            </a:pPr>
            <a:r>
              <a:rPr lang="en-US">
                <a:solidFill>
                  <a:srgbClr val="990000"/>
                </a:solidFill>
                <a:latin typeface="+mj-lt"/>
              </a:rPr>
              <a:t>Genome</a:t>
            </a:r>
            <a:br>
              <a:rPr lang="en-US">
                <a:solidFill>
                  <a:srgbClr val="990000"/>
                </a:solidFill>
                <a:latin typeface="+mj-lt"/>
              </a:rPr>
            </a:br>
            <a:r>
              <a:rPr lang="en-US">
                <a:solidFill>
                  <a:srgbClr val="990000"/>
                </a:solidFill>
                <a:latin typeface="+mj-lt"/>
              </a:rPr>
              <a:t>Database</a:t>
            </a:r>
            <a:endParaRPr/>
          </a:p>
        </p:txBody>
      </p:sp>
      <p:sp>
        <p:nvSpPr>
          <p:cNvPr id="792115842" name="Left Brace 14"/>
          <p:cNvSpPr/>
          <p:nvPr/>
        </p:nvSpPr>
        <p:spPr bwMode="auto">
          <a:xfrm>
            <a:off x="3561806" y="2465982"/>
            <a:ext cx="300625" cy="2179529"/>
          </a:xfrm>
          <a:prstGeom prst="leftBrace">
            <a:avLst>
              <a:gd name="adj1" fmla="val 83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defRPr/>
            </a:pPr>
            <a:endParaRPr lang="en-US"/>
          </a:p>
        </p:txBody>
      </p:sp>
      <p:sp>
        <p:nvSpPr>
          <p:cNvPr id="2129346885" name="TextBox 15"/>
          <p:cNvSpPr txBox="1"/>
          <p:nvPr/>
        </p:nvSpPr>
        <p:spPr bwMode="auto">
          <a:xfrm>
            <a:off x="2146761" y="4993659"/>
            <a:ext cx="979755" cy="646331"/>
          </a:xfrm>
          <a:prstGeom prst="rect">
            <a:avLst/>
          </a:prstGeom>
          <a:noFill/>
        </p:spPr>
        <p:txBody>
          <a:bodyPr wrap="none" rtlCol="0">
            <a:spAutoFit/>
          </a:bodyPr>
          <a:lstStyle/>
          <a:p>
            <a:pPr>
              <a:spcAft>
                <a:spcPts val="1650"/>
              </a:spcAft>
              <a:defRPr/>
            </a:pPr>
            <a:r>
              <a:rPr lang="en-US">
                <a:solidFill>
                  <a:srgbClr val="990000"/>
                </a:solidFill>
                <a:latin typeface="+mj-lt"/>
              </a:rPr>
              <a:t>Query</a:t>
            </a:r>
            <a:br>
              <a:rPr lang="en-US">
                <a:solidFill>
                  <a:srgbClr val="990000"/>
                </a:solidFill>
                <a:latin typeface="+mj-lt"/>
              </a:rPr>
            </a:br>
            <a:r>
              <a:rPr lang="en-US">
                <a:solidFill>
                  <a:srgbClr val="990000"/>
                </a:solidFill>
                <a:latin typeface="+mj-lt"/>
              </a:rPr>
              <a:t>Genome</a:t>
            </a:r>
            <a:endParaRPr/>
          </a:p>
        </p:txBody>
      </p:sp>
      <p:sp>
        <p:nvSpPr>
          <p:cNvPr id="320718457" name="Slide Number Placeholder 4"/>
          <p:cNvSpPr>
            <a:spLocks noGrp="1"/>
          </p:cNvSpPr>
          <p:nvPr>
            <p:ph type="sldNum" sz="quarter" idx="16"/>
          </p:nvPr>
        </p:nvSpPr>
        <p:spPr bwMode="auto"/>
        <p:txBody>
          <a:bodyPr/>
          <a:lstStyle/>
          <a:p>
            <a:pPr>
              <a:defRPr/>
            </a:pPr>
            <a:fld id="{A4F5F5D8-B564-4424-B975-B1ACA6BCE299}" type="slidenum">
              <a:rPr lang="en-US"/>
              <a:t>6</a:t>
            </a:fld>
            <a:endParaRPr lang="en-US"/>
          </a:p>
        </p:txBody>
      </p:sp>
      <p:sp>
        <p:nvSpPr>
          <p:cNvPr id="374365568" name="TextBox 25"/>
          <p:cNvSpPr txBox="1"/>
          <p:nvPr/>
        </p:nvSpPr>
        <p:spPr bwMode="auto">
          <a:xfrm>
            <a:off x="602458" y="1028407"/>
            <a:ext cx="9448798" cy="830997"/>
          </a:xfrm>
          <a:prstGeom prst="rect">
            <a:avLst/>
          </a:prstGeom>
          <a:noFill/>
        </p:spPr>
        <p:txBody>
          <a:bodyPr wrap="square" rtlCol="0">
            <a:spAutoFit/>
          </a:bodyPr>
          <a:lstStyle/>
          <a:p>
            <a:pPr marL="342900" indent="-342900">
              <a:buFont typeface="Arial"/>
              <a:buChar char="•"/>
              <a:defRPr/>
            </a:pPr>
            <a:r>
              <a:rPr lang="en-US" sz="2400"/>
              <a:t>Given a database of strings </a:t>
            </a:r>
            <mc:AlternateContent xmlns:mc="http://schemas.openxmlformats.org/markup-compatibility/2006" xmlns:m="http://schemas.openxmlformats.org/officeDocument/2006/math">
              <mc:Choice xmlns:a14="http://schemas.microsoft.com/office/drawing/2010/main" Requires="a14">
                <a14:m>
                  <m:oMathPara>
                    <m:oMathParaPr/>
                    <m:oMath>
                      <m:sSub>
                        <m:sSubPr>
                          <m:ctrlPr>
                            <a:rPr lang="en-US" sz="2400" b="0" i="1">
                              <a:latin typeface="Cambria Math"/>
                              <a:ea typeface="Cambria Math"/>
                              <a:cs typeface="Cambria Math"/>
                            </a:rPr>
                          </m:ctrlPr>
                        </m:sSubPr>
                        <m:e>
                          <m:r>
                            <m:rPr/>
                            <a:rPr lang="en-US" sz="2400" b="0" i="1">
                              <a:latin typeface="Cambria Math"/>
                            </a:rPr>
                            <m:t>𝐵</m:t>
                          </m:r>
                        </m:e>
                        <m:sub>
                          <m:r>
                            <m:rPr/>
                            <a:rPr lang="en-US" sz="2400" b="0" i="1">
                              <a:latin typeface="Cambria Math"/>
                            </a:rPr>
                            <m:t>1</m:t>
                          </m:r>
                        </m:sub>
                      </m:sSub>
                      <m:r>
                        <m:rPr/>
                        <a:rPr lang="en-US" sz="2400" b="0" i="1">
                          <a:latin typeface="Cambria Math"/>
                        </a:rPr>
                        <m:t>,…,</m:t>
                      </m:r>
                      <m:sSub>
                        <m:sSubPr>
                          <m:ctrlPr>
                            <a:rPr lang="en-US" sz="2400" b="0" i="1">
                              <a:latin typeface="Cambria Math"/>
                              <a:ea typeface="Cambria Math"/>
                              <a:cs typeface="Cambria Math"/>
                            </a:rPr>
                          </m:ctrlPr>
                        </m:sSubPr>
                        <m:e>
                          <m:r>
                            <m:rPr/>
                            <a:rPr lang="en-US" sz="2400" b="0" i="1">
                              <a:latin typeface="Cambria Math"/>
                            </a:rPr>
                            <m:t>𝐵</m:t>
                          </m:r>
                        </m:e>
                        <m:sub>
                          <m:r>
                            <m:rPr/>
                            <a:rPr lang="en-US" sz="2400" b="0" i="1">
                              <a:latin typeface="Cambria Math"/>
                            </a:rPr>
                            <m:t>𝑚</m:t>
                          </m:r>
                        </m:sub>
                      </m:sSub>
                    </m:oMath>
                  </m:oMathPara>
                </a14:m>
              </mc:Choice>
              <mc:Fallback/>
            </mc:AlternateContent>
            <a:r>
              <a:rPr lang="en-US" sz="2400"/>
              <a:t>, and a query string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𝐴</m:t>
                      </m:r>
                    </m:oMath>
                  </m:oMathPara>
                </a14:m>
              </mc:Choice>
              <mc:Fallback/>
            </mc:AlternateContent>
            <a:r>
              <a:rPr lang="en-US" sz="2400"/>
              <a:t>, find the database item that is most similar to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𝐴</m:t>
                      </m:r>
                    </m:oMath>
                  </m:oMathPara>
                </a14:m>
              </mc:Choice>
              <mc:Fallback/>
            </mc:AlternateContent>
            <a:r>
              <a:rPr lang="en-US" sz="2400"/>
              <a:t> (and its distance from </a:t>
            </a:r>
            <mc:AlternateContent xmlns:mc="http://schemas.openxmlformats.org/markup-compatibility/2006" xmlns:m="http://schemas.openxmlformats.org/officeDocument/2006/math">
              <mc:Choice xmlns:a14="http://schemas.microsoft.com/office/drawing/2010/main" Requires="a14">
                <a14:m>
                  <m:oMathPara>
                    <m:oMathParaPr/>
                    <m:oMath>
                      <m:r>
                        <m:rPr/>
                        <a:rPr lang="en-US" sz="2400" i="1">
                          <a:latin typeface="Cambria Math"/>
                        </a:rPr>
                        <m:t>𝐴</m:t>
                      </m:r>
                    </m:oMath>
                  </m:oMathPara>
                </a14:m>
              </mc:Choice>
              <mc:Fallback/>
            </mc:AlternateContent>
            <a:r>
              <a:rPr lang="en-US" sz="2400"/>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8224729"/>
                                        </p:tgtEl>
                                        <p:attrNameLst>
                                          <p:attrName>style.visibility</p:attrName>
                                        </p:attrNameLst>
                                      </p:cBhvr>
                                      <p:to>
                                        <p:strVal val="visible"/>
                                      </p:to>
                                    </p:set>
                                    <p:animEffect transition="in" filter="fade">
                                      <p:cBhvr>
                                        <p:cTn id="7" dur="500"/>
                                        <p:tgtEl>
                                          <p:spTgt spid="968224729"/>
                                        </p:tgtEl>
                                      </p:cBhvr>
                                    </p:animEffect>
                                  </p:childTnLst>
                                </p:cTn>
                              </p:par>
                              <p:par>
                                <p:cTn id="8" presetID="10" presetClass="entr" presetSubtype="0" fill="hold" nodeType="withEffect">
                                  <p:stCondLst>
                                    <p:cond delay="0"/>
                                  </p:stCondLst>
                                  <p:childTnLst>
                                    <p:set>
                                      <p:cBhvr>
                                        <p:cTn id="9" dur="1" fill="hold">
                                          <p:stCondLst>
                                            <p:cond delay="0"/>
                                          </p:stCondLst>
                                        </p:cTn>
                                        <p:tgtEl>
                                          <p:spTgt spid="1137276565"/>
                                        </p:tgtEl>
                                        <p:attrNameLst>
                                          <p:attrName>style.visibility</p:attrName>
                                        </p:attrNameLst>
                                      </p:cBhvr>
                                      <p:to>
                                        <p:strVal val="visible"/>
                                      </p:to>
                                    </p:set>
                                    <p:animEffect transition="in" filter="fade">
                                      <p:cBhvr>
                                        <p:cTn id="10" dur="500"/>
                                        <p:tgtEl>
                                          <p:spTgt spid="1137276565"/>
                                        </p:tgtEl>
                                      </p:cBhvr>
                                    </p:animEffect>
                                  </p:childTnLst>
                                </p:cTn>
                              </p:par>
                              <p:par>
                                <p:cTn id="11" presetID="10" presetClass="entr" presetSubtype="0" fill="hold" nodeType="withEffect">
                                  <p:stCondLst>
                                    <p:cond delay="0"/>
                                  </p:stCondLst>
                                  <p:childTnLst>
                                    <p:set>
                                      <p:cBhvr>
                                        <p:cTn id="12" dur="1" fill="hold">
                                          <p:stCondLst>
                                            <p:cond delay="0"/>
                                          </p:stCondLst>
                                        </p:cTn>
                                        <p:tgtEl>
                                          <p:spTgt spid="1214477509"/>
                                        </p:tgtEl>
                                        <p:attrNameLst>
                                          <p:attrName>style.visibility</p:attrName>
                                        </p:attrNameLst>
                                      </p:cBhvr>
                                      <p:to>
                                        <p:strVal val="visible"/>
                                      </p:to>
                                    </p:set>
                                    <p:animEffect transition="in" filter="fade">
                                      <p:cBhvr>
                                        <p:cTn id="13" dur="500"/>
                                        <p:tgtEl>
                                          <p:spTgt spid="1214477509"/>
                                        </p:tgtEl>
                                      </p:cBhvr>
                                    </p:animEffect>
                                  </p:childTnLst>
                                </p:cTn>
                              </p:par>
                              <p:par>
                                <p:cTn id="14" presetID="10" presetClass="entr" presetSubtype="0" fill="hold" nodeType="withEffect">
                                  <p:stCondLst>
                                    <p:cond delay="0"/>
                                  </p:stCondLst>
                                  <p:childTnLst>
                                    <p:set>
                                      <p:cBhvr>
                                        <p:cTn id="15" dur="1" fill="hold">
                                          <p:stCondLst>
                                            <p:cond delay="0"/>
                                          </p:stCondLst>
                                        </p:cTn>
                                        <p:tgtEl>
                                          <p:spTgt spid="1473639780"/>
                                        </p:tgtEl>
                                        <p:attrNameLst>
                                          <p:attrName>style.visibility</p:attrName>
                                        </p:attrNameLst>
                                      </p:cBhvr>
                                      <p:to>
                                        <p:strVal val="visible"/>
                                      </p:to>
                                    </p:set>
                                    <p:animEffect transition="in" filter="fade">
                                      <p:cBhvr>
                                        <p:cTn id="16" dur="500"/>
                                        <p:tgtEl>
                                          <p:spTgt spid="1473639780"/>
                                        </p:tgtEl>
                                      </p:cBhvr>
                                    </p:animEffect>
                                  </p:childTnLst>
                                </p:cTn>
                              </p:par>
                              <p:par>
                                <p:cTn id="17" presetID="10" presetClass="entr" presetSubtype="0" fill="hold" nodeType="withEffect">
                                  <p:stCondLst>
                                    <p:cond delay="0"/>
                                  </p:stCondLst>
                                  <p:childTnLst>
                                    <p:set>
                                      <p:cBhvr>
                                        <p:cTn id="18" dur="1" fill="hold">
                                          <p:stCondLst>
                                            <p:cond delay="0"/>
                                          </p:stCondLst>
                                        </p:cTn>
                                        <p:tgtEl>
                                          <p:spTgt spid="1657037368"/>
                                        </p:tgtEl>
                                        <p:attrNameLst>
                                          <p:attrName>style.visibility</p:attrName>
                                        </p:attrNameLst>
                                      </p:cBhvr>
                                      <p:to>
                                        <p:strVal val="visible"/>
                                      </p:to>
                                    </p:set>
                                    <p:animEffect transition="in" filter="fade">
                                      <p:cBhvr>
                                        <p:cTn id="19" dur="500"/>
                                        <p:tgtEl>
                                          <p:spTgt spid="165703736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0501257"/>
                                        </p:tgtEl>
                                        <p:attrNameLst>
                                          <p:attrName>style.visibility</p:attrName>
                                        </p:attrNameLst>
                                      </p:cBhvr>
                                      <p:to>
                                        <p:strVal val="visible"/>
                                      </p:to>
                                    </p:set>
                                    <p:animEffect transition="in" filter="fade">
                                      <p:cBhvr>
                                        <p:cTn id="22" dur="500"/>
                                        <p:tgtEl>
                                          <p:spTgt spid="25050125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92115842"/>
                                        </p:tgtEl>
                                        <p:attrNameLst>
                                          <p:attrName>style.visibility</p:attrName>
                                        </p:attrNameLst>
                                      </p:cBhvr>
                                      <p:to>
                                        <p:strVal val="visible"/>
                                      </p:to>
                                    </p:set>
                                    <p:animEffect transition="in" filter="fade">
                                      <p:cBhvr>
                                        <p:cTn id="25" dur="500"/>
                                        <p:tgtEl>
                                          <p:spTgt spid="79211584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29346885"/>
                                        </p:tgtEl>
                                        <p:attrNameLst>
                                          <p:attrName>style.visibility</p:attrName>
                                        </p:attrNameLst>
                                      </p:cBhvr>
                                      <p:to>
                                        <p:strVal val="visible"/>
                                      </p:to>
                                    </p:set>
                                    <p:animEffect transition="in" filter="fade">
                                      <p:cBhvr>
                                        <p:cTn id="30" dur="500"/>
                                        <p:tgtEl>
                                          <p:spTgt spid="2129346885"/>
                                        </p:tgtEl>
                                      </p:cBhvr>
                                    </p:animEffect>
                                  </p:childTnLst>
                                </p:cTn>
                              </p:par>
                              <p:par>
                                <p:cTn id="31" presetID="10" presetClass="entr" presetSubtype="0" fill="hold" nodeType="withEffect">
                                  <p:stCondLst>
                                    <p:cond delay="0"/>
                                  </p:stCondLst>
                                  <p:childTnLst>
                                    <p:set>
                                      <p:cBhvr>
                                        <p:cTn id="32" dur="1" fill="hold">
                                          <p:stCondLst>
                                            <p:cond delay="0"/>
                                          </p:stCondLst>
                                        </p:cTn>
                                        <p:tgtEl>
                                          <p:spTgt spid="8247193"/>
                                        </p:tgtEl>
                                        <p:attrNameLst>
                                          <p:attrName>style.visibility</p:attrName>
                                        </p:attrNameLst>
                                      </p:cBhvr>
                                      <p:to>
                                        <p:strVal val="visible"/>
                                      </p:to>
                                    </p:set>
                                    <p:animEffect transition="in" filter="fade">
                                      <p:cBhvr>
                                        <p:cTn id="33" dur="500"/>
                                        <p:tgtEl>
                                          <p:spTgt spid="8247193"/>
                                        </p:tgtEl>
                                      </p:cBhvr>
                                    </p:animEffect>
                                  </p:childTnLst>
                                </p:cTn>
                              </p:par>
                            </p:childTnLst>
                          </p:cTn>
                        </p:par>
                      </p:childTnLst>
                    </p:cTn>
                  </p:par>
                  <p:par>
                    <p:cTn id="34" fill="hold">
                      <p:stCondLst>
                        <p:cond delay="indefinite"/>
                      </p:stCondLst>
                      <p:childTnLst>
                        <p:par>
                          <p:cTn id="35" fill="hold">
                            <p:stCondLst>
                              <p:cond delay="0"/>
                            </p:stCondLst>
                            <p:childTnLst>
                              <p:par>
                                <p:cTn id="36" presetID="50" presetClass="path" presetSubtype="0" accel="50000" decel="50000" fill="hold" nodeType="clickEffect">
                                  <p:stCondLst>
                                    <p:cond delay="0"/>
                                  </p:stCondLst>
                                  <p:childTnLst>
                                    <p:animMotion origin="layout" path="M 4.16667E-6 2.59259E-6 L 0.0263 2.59259E-6 C 0.03815 2.59259E-6 0.05325 -0.04792 0.05325 -0.08658 L 0.05325 -0.17176 " pathEditMode="relative" rAng="0" ptsTypes="AAAA">
                                      <p:cBhvr>
                                        <p:cTn id="37" dur="2000" fill="hold"/>
                                        <p:tgtEl>
                                          <p:spTgt spid="8247193"/>
                                        </p:tgtEl>
                                        <p:attrNameLst>
                                          <p:attrName>ppt_x</p:attrName>
                                          <p:attrName>ppt_y</p:attrName>
                                        </p:attrNameLst>
                                      </p:cBhvr>
                                      <p:rCtr x="2656" y="-8588"/>
                                    </p:animMotion>
                                  </p:childTnLst>
                                </p:cTn>
                              </p:par>
                              <p:par>
                                <p:cTn id="38" presetID="9" presetClass="emph" presetSubtype="0" nodeType="withEffect">
                                  <p:stCondLst>
                                    <p:cond delay="0"/>
                                  </p:stCondLst>
                                  <p:childTnLst>
                                    <p:set>
                                      <p:cBhvr rctx="PPT">
                                        <p:cTn id="39" dur="indefinite"/>
                                        <p:tgtEl>
                                          <p:spTgt spid="968224729"/>
                                        </p:tgtEl>
                                        <p:attrNameLst>
                                          <p:attrName>style.opacity</p:attrName>
                                        </p:attrNameLst>
                                      </p:cBhvr>
                                      <p:to>
                                        <p:strVal val="0.5"/>
                                      </p:to>
                                    </p:set>
                                    <p:animEffect filter="image" prLst="opacity: 0.5">
                                      <p:cBhvr rctx="IE">
                                        <p:cTn id="40" dur="indefinite"/>
                                        <p:tgtEl>
                                          <p:spTgt spid="968224729"/>
                                        </p:tgtEl>
                                      </p:cBhvr>
                                    </p:animEffect>
                                  </p:childTnLst>
                                </p:cTn>
                              </p:par>
                              <p:par>
                                <p:cTn id="41" presetID="9" presetClass="emph" presetSubtype="0" nodeType="withEffect">
                                  <p:stCondLst>
                                    <p:cond delay="0"/>
                                  </p:stCondLst>
                                  <p:childTnLst>
                                    <p:set>
                                      <p:cBhvr rctx="PPT">
                                        <p:cTn id="42" dur="indefinite"/>
                                        <p:tgtEl>
                                          <p:spTgt spid="1214477509"/>
                                        </p:tgtEl>
                                        <p:attrNameLst>
                                          <p:attrName>style.opacity</p:attrName>
                                        </p:attrNameLst>
                                      </p:cBhvr>
                                      <p:to>
                                        <p:strVal val="0.5"/>
                                      </p:to>
                                    </p:set>
                                    <p:animEffect filter="image" prLst="opacity: 0.5">
                                      <p:cBhvr rctx="IE">
                                        <p:cTn id="43" dur="indefinite"/>
                                        <p:tgtEl>
                                          <p:spTgt spid="1214477509"/>
                                        </p:tgtEl>
                                      </p:cBhvr>
                                    </p:animEffect>
                                  </p:childTnLst>
                                </p:cTn>
                              </p:par>
                              <p:par>
                                <p:cTn id="44" presetID="9" presetClass="emph" presetSubtype="0" nodeType="withEffect">
                                  <p:stCondLst>
                                    <p:cond delay="0"/>
                                  </p:stCondLst>
                                  <p:childTnLst>
                                    <p:set>
                                      <p:cBhvr rctx="PPT">
                                        <p:cTn id="45" dur="indefinite"/>
                                        <p:tgtEl>
                                          <p:spTgt spid="1473639780"/>
                                        </p:tgtEl>
                                        <p:attrNameLst>
                                          <p:attrName>style.opacity</p:attrName>
                                        </p:attrNameLst>
                                      </p:cBhvr>
                                      <p:to>
                                        <p:strVal val="0.5"/>
                                      </p:to>
                                    </p:set>
                                    <p:animEffect filter="image" prLst="opacity: 0.5">
                                      <p:cBhvr rctx="IE">
                                        <p:cTn id="46" dur="indefinite"/>
                                        <p:tgtEl>
                                          <p:spTgt spid="1473639780"/>
                                        </p:tgtEl>
                                      </p:cBhvr>
                                    </p:animEffect>
                                  </p:childTnLst>
                                </p:cTn>
                              </p:par>
                              <p:par>
                                <p:cTn id="47" presetID="9" presetClass="emph" presetSubtype="0" nodeType="withEffect">
                                  <p:stCondLst>
                                    <p:cond delay="0"/>
                                  </p:stCondLst>
                                  <p:childTnLst>
                                    <p:set>
                                      <p:cBhvr rctx="PPT">
                                        <p:cTn id="48" dur="indefinite"/>
                                        <p:tgtEl>
                                          <p:spTgt spid="1657037368"/>
                                        </p:tgtEl>
                                        <p:attrNameLst>
                                          <p:attrName>style.opacity</p:attrName>
                                        </p:attrNameLst>
                                      </p:cBhvr>
                                      <p:to>
                                        <p:strVal val="0.5"/>
                                      </p:to>
                                    </p:set>
                                    <p:animEffect filter="image" prLst="opacity: 0.5">
                                      <p:cBhvr rctx="IE">
                                        <p:cTn id="49" dur="indefinite"/>
                                        <p:tgtEl>
                                          <p:spTgt spid="1657037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501257" grpId="0"/>
      <p:bldP spid="792115842" grpId="0" animBg="1"/>
      <p:bldP spid="2129346885" grpId="0"/>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7261094" name="Title 1"/>
          <p:cNvSpPr>
            <a:spLocks noGrp="1"/>
          </p:cNvSpPr>
          <p:nvPr>
            <p:ph type="title"/>
          </p:nvPr>
        </p:nvSpPr>
        <p:spPr bwMode="auto"/>
        <p:txBody>
          <a:bodyPr>
            <a:normAutofit fontScale="90000"/>
          </a:bodyPr>
          <a:lstStyle/>
          <a:p>
            <a:pPr>
              <a:defRPr/>
            </a:pPr>
            <a:r>
              <a:rPr lang="en-US"/>
              <a:t>Sequence alignment / edit distance</a:t>
            </a:r>
            <a:endParaRPr/>
          </a:p>
        </p:txBody>
      </p:sp>
      <p:sp>
        <p:nvSpPr>
          <p:cNvPr id="243796444" name="Content Placeholder 2"/>
          <p:cNvSpPr>
            <a:spLocks noGrp="1"/>
          </p:cNvSpPr>
          <p:nvPr>
            <p:ph idx="1"/>
          </p:nvPr>
        </p:nvSpPr>
        <p:spPr bwMode="auto">
          <a:xfrm>
            <a:off x="609602" y="1006052"/>
            <a:ext cx="10515600" cy="4351338"/>
          </a:xfrm>
        </p:spPr>
        <p:txBody>
          <a:bodyPr/>
          <a:lstStyle/>
          <a:p>
            <a:pPr>
              <a:defRPr/>
            </a:pPr>
            <a:r>
              <a:rPr lang="en-US"/>
              <a:t>Alignment: how to find the best way to “match” two different but similar strings. </a:t>
            </a:r>
            <a:endParaRPr/>
          </a:p>
        </p:txBody>
      </p:sp>
      <p:sp>
        <p:nvSpPr>
          <p:cNvPr id="1744487778" name="TextBox 4"/>
          <p:cNvSpPr txBox="1"/>
          <p:nvPr/>
        </p:nvSpPr>
        <p:spPr bwMode="auto">
          <a:xfrm>
            <a:off x="1066798" y="2052320"/>
            <a:ext cx="1732910" cy="369332"/>
          </a:xfrm>
          <a:prstGeom prst="rect">
            <a:avLst/>
          </a:prstGeom>
          <a:noFill/>
        </p:spPr>
        <p:txBody>
          <a:bodyPr wrap="none" rtlCol="0">
            <a:spAutoFit/>
          </a:bodyPr>
          <a:lstStyle/>
          <a:p>
            <a:pPr>
              <a:defRPr/>
            </a:pPr>
            <a:r>
              <a:rPr lang="en-US"/>
              <a:t>Target Sequence</a:t>
            </a:r>
            <a:endParaRPr/>
          </a:p>
        </p:txBody>
      </p:sp>
      <p:sp>
        <p:nvSpPr>
          <p:cNvPr id="2002058178" name="TextBox 5"/>
          <p:cNvSpPr txBox="1"/>
          <p:nvPr/>
        </p:nvSpPr>
        <p:spPr bwMode="auto">
          <a:xfrm>
            <a:off x="1066798" y="2875280"/>
            <a:ext cx="1731115" cy="369332"/>
          </a:xfrm>
          <a:prstGeom prst="rect">
            <a:avLst/>
          </a:prstGeom>
          <a:noFill/>
        </p:spPr>
        <p:txBody>
          <a:bodyPr wrap="none" rtlCol="0">
            <a:spAutoFit/>
          </a:bodyPr>
          <a:lstStyle/>
          <a:p>
            <a:pPr>
              <a:defRPr/>
            </a:pPr>
            <a:r>
              <a:rPr lang="en-US"/>
              <a:t>Query Sequence</a:t>
            </a:r>
            <a:endParaRPr/>
          </a:p>
        </p:txBody>
      </p:sp>
      <p:sp>
        <p:nvSpPr>
          <p:cNvPr id="2052517331" name="TextBox 8"/>
          <p:cNvSpPr txBox="1"/>
          <p:nvPr/>
        </p:nvSpPr>
        <p:spPr bwMode="auto">
          <a:xfrm>
            <a:off x="1449493" y="2463800"/>
            <a:ext cx="6112571" cy="369332"/>
          </a:xfrm>
          <a:prstGeom prst="rect">
            <a:avLst/>
          </a:prstGeom>
          <a:noFill/>
        </p:spPr>
        <p:txBody>
          <a:bodyPr wrap="none" rtlCol="0">
            <a:spAutoFit/>
          </a:bodyPr>
          <a:lstStyle/>
          <a:p>
            <a:pPr>
              <a:defRPr/>
            </a:pPr>
            <a:r>
              <a:rPr lang="en-US">
                <a:latin typeface="Courier New"/>
                <a:cs typeface="Courier New"/>
              </a:rPr>
              <a:t>5’ TAGAGGGGGGTAGAATAGGTGTAGCGGTAATGTAGAG 3’</a:t>
            </a:r>
            <a:endParaRPr/>
          </a:p>
        </p:txBody>
      </p:sp>
      <p:sp>
        <p:nvSpPr>
          <p:cNvPr id="1642682888" name="TextBox 9"/>
          <p:cNvSpPr txBox="1"/>
          <p:nvPr/>
        </p:nvSpPr>
        <p:spPr bwMode="auto">
          <a:xfrm>
            <a:off x="1449492" y="3266532"/>
            <a:ext cx="5836854" cy="369332"/>
          </a:xfrm>
          <a:prstGeom prst="rect">
            <a:avLst/>
          </a:prstGeom>
          <a:noFill/>
        </p:spPr>
        <p:txBody>
          <a:bodyPr wrap="none" rtlCol="0">
            <a:spAutoFit/>
          </a:bodyPr>
          <a:lstStyle/>
          <a:p>
            <a:pPr>
              <a:defRPr/>
            </a:pPr>
            <a:r>
              <a:rPr lang="en-US">
                <a:latin typeface="Courier New"/>
                <a:cs typeface="Courier New"/>
              </a:rPr>
              <a:t>5’ TAGAGGTAGAATTCCAGGGTACGGTGAAATGCGTG 3’</a:t>
            </a:r>
            <a:endParaRPr/>
          </a:p>
        </p:txBody>
      </p:sp>
      <p:grpSp>
        <p:nvGrpSpPr>
          <p:cNvPr id="688462395" name="Group 11"/>
          <p:cNvGrpSpPr/>
          <p:nvPr/>
        </p:nvGrpSpPr>
        <p:grpSpPr bwMode="auto">
          <a:xfrm>
            <a:off x="1066798" y="4380952"/>
            <a:ext cx="7463863" cy="1605465"/>
            <a:chOff x="1066798" y="4380952"/>
            <a:chExt cx="7463863" cy="1605465"/>
          </a:xfrm>
        </p:grpSpPr>
        <p:sp>
          <p:nvSpPr>
            <p:cNvPr id="7" name="TextBox 6"/>
            <p:cNvSpPr txBox="1"/>
            <p:nvPr/>
          </p:nvSpPr>
          <p:spPr bwMode="auto">
            <a:xfrm>
              <a:off x="1066798" y="4380952"/>
              <a:ext cx="1732910" cy="369332"/>
            </a:xfrm>
            <a:prstGeom prst="rect">
              <a:avLst/>
            </a:prstGeom>
            <a:noFill/>
          </p:spPr>
          <p:txBody>
            <a:bodyPr wrap="none" rtlCol="0">
              <a:spAutoFit/>
            </a:bodyPr>
            <a:lstStyle/>
            <a:p>
              <a:pPr>
                <a:defRPr/>
              </a:pPr>
              <a:r>
                <a:rPr lang="en-US"/>
                <a:t>Target Sequence</a:t>
              </a:r>
              <a:endParaRPr/>
            </a:p>
          </p:txBody>
        </p:sp>
        <p:sp>
          <p:nvSpPr>
            <p:cNvPr id="8" name="TextBox 7"/>
            <p:cNvSpPr txBox="1"/>
            <p:nvPr/>
          </p:nvSpPr>
          <p:spPr bwMode="auto">
            <a:xfrm>
              <a:off x="1068593" y="5617085"/>
              <a:ext cx="1731115" cy="369332"/>
            </a:xfrm>
            <a:prstGeom prst="rect">
              <a:avLst/>
            </a:prstGeom>
            <a:noFill/>
          </p:spPr>
          <p:txBody>
            <a:bodyPr wrap="none" rtlCol="0">
              <a:spAutoFit/>
            </a:bodyPr>
            <a:lstStyle/>
            <a:p>
              <a:pPr>
                <a:defRPr/>
              </a:pPr>
              <a:r>
                <a:rPr lang="en-US"/>
                <a:t>Query Sequence</a:t>
              </a:r>
              <a:endParaRPr/>
            </a:p>
          </p:txBody>
        </p:sp>
        <p:sp>
          <p:nvSpPr>
            <p:cNvPr id="11" name="TextBox 10"/>
            <p:cNvSpPr txBox="1"/>
            <p:nvPr/>
          </p:nvSpPr>
          <p:spPr bwMode="auto">
            <a:xfrm>
              <a:off x="1453082" y="4765975"/>
              <a:ext cx="7077579" cy="923330"/>
            </a:xfrm>
            <a:prstGeom prst="rect">
              <a:avLst/>
            </a:prstGeom>
            <a:noFill/>
          </p:spPr>
          <p:txBody>
            <a:bodyPr wrap="none" rtlCol="0">
              <a:spAutoFit/>
            </a:bodyPr>
            <a:lstStyle/>
            <a:p>
              <a:pPr>
                <a:defRPr/>
              </a:pPr>
              <a:r>
                <a:rPr lang="en-US">
                  <a:latin typeface="Courier New"/>
                  <a:cs typeface="Courier New"/>
                </a:rPr>
                <a:t>5’ TAGAGGGGGGTAGAAT---AGGTGTAGCGGT--AAT--GTAGAG 3’</a:t>
              </a:r>
              <a:endParaRPr/>
            </a:p>
            <a:p>
              <a:pPr>
                <a:defRPr/>
              </a:pPr>
              <a:r>
                <a:rPr lang="en-US">
                  <a:latin typeface="Courier New"/>
                  <a:cs typeface="Courier New"/>
                </a:rPr>
                <a:t>   ||||||    ||||||   ||| ||| ||||  |||  ||   |</a:t>
              </a:r>
              <a:endParaRPr/>
            </a:p>
            <a:p>
              <a:pPr>
                <a:defRPr/>
              </a:pPr>
              <a:r>
                <a:rPr lang="en-US">
                  <a:latin typeface="Courier New"/>
                  <a:cs typeface="Courier New"/>
                </a:rPr>
                <a:t>5’ TAGAGG----TAGAATTCCAGG-GTA-CGGTGAAATGCGT---G 3’</a:t>
              </a:r>
              <a:endParaRPr/>
            </a:p>
          </p:txBody>
        </p:sp>
      </p:grpSp>
      <p:sp>
        <p:nvSpPr>
          <p:cNvPr id="430798758" name="Slide Number Placeholder 5"/>
          <p:cNvSpPr>
            <a:spLocks noGrp="1"/>
          </p:cNvSpPr>
          <p:nvPr>
            <p:ph type="sldNum" sz="quarter" idx="16"/>
          </p:nvPr>
        </p:nvSpPr>
        <p:spPr bwMode="auto"/>
        <p:txBody>
          <a:bodyPr/>
          <a:lstStyle>
            <a:lvl1pPr>
              <a:defRPr/>
            </a:lvl1pPr>
          </a:lstStyle>
          <a:p>
            <a:pPr>
              <a:defRPr/>
            </a:pPr>
            <a:fld id="{AF599A16-F1E5-E1C5-B096-EC71CA18DE6C}"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84623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3771526" name="Title 1"/>
          <p:cNvSpPr>
            <a:spLocks noGrp="1"/>
          </p:cNvSpPr>
          <p:nvPr>
            <p:ph type="title"/>
          </p:nvPr>
        </p:nvSpPr>
        <p:spPr bwMode="auto"/>
        <p:txBody>
          <a:bodyPr>
            <a:normAutofit fontScale="90000"/>
          </a:bodyPr>
          <a:lstStyle/>
          <a:p>
            <a:pPr>
              <a:defRPr/>
            </a:pPr>
            <a:r>
              <a:rPr lang="en-US"/>
              <a:t>Smith-Waterman local alignment</a:t>
            </a:r>
            <a:endParaRPr/>
          </a:p>
        </p:txBody>
      </p:sp>
      <p:sp>
        <p:nvSpPr>
          <p:cNvPr id="1330391517" name="Content Placeholder 2"/>
          <p:cNvSpPr>
            <a:spLocks noGrp="1"/>
          </p:cNvSpPr>
          <p:nvPr>
            <p:ph idx="1"/>
          </p:nvPr>
        </p:nvSpPr>
        <p:spPr bwMode="auto">
          <a:xfrm>
            <a:off x="682413" y="1107651"/>
            <a:ext cx="6893414" cy="5750349"/>
          </a:xfrm>
        </p:spPr>
        <p:txBody>
          <a:bodyPr>
            <a:normAutofit lnSpcReduction="10000"/>
          </a:bodyPr>
          <a:lstStyle/>
          <a:p>
            <a:pPr>
              <a:defRPr/>
            </a:pPr>
            <a:r>
              <a:rPr lang="en-US"/>
              <a:t>Classical strategy is dynamic programming due to Smith and Waterman.</a:t>
            </a:r>
            <a:endParaRPr/>
          </a:p>
          <a:p>
            <a:pPr>
              <a:defRPr/>
            </a:pPr>
            <a:r>
              <a:rPr lang="en-US"/>
              <a:t>Correctly aligned letters give +1, substitutions -1, and indels -2 in this example.</a:t>
            </a:r>
            <a:endParaRPr/>
          </a:p>
          <a:p>
            <a:pPr>
              <a:defRPr/>
            </a:pPr>
            <a:r>
              <a:rPr lang="en-US"/>
              <a:t>Up = letter from bottom string</a:t>
            </a:r>
            <a:br>
              <a:rPr lang="en-US"/>
            </a:br>
            <a:r>
              <a:rPr lang="en-US"/>
              <a:t>Right = letter from left string</a:t>
            </a:r>
            <a:br>
              <a:rPr lang="en-US"/>
            </a:br>
            <a:r>
              <a:rPr lang="en-US"/>
              <a:t>Diagonal = both</a:t>
            </a:r>
            <a:endParaRPr/>
          </a:p>
          <a:p>
            <a:pPr>
              <a:defRPr/>
            </a:pPr>
            <a:r>
              <a:rPr lang="en-US"/>
              <a:t>Setting min=0 for local alignment (vs. global)</a:t>
            </a:r>
            <a:endParaRPr/>
          </a:p>
          <a:p>
            <a:pPr>
              <a:defRPr/>
            </a:pPr>
            <a:r>
              <a:rPr lang="en-US"/>
              <a:t>Number of edits approximates genetic divergence when normalized by length.</a:t>
            </a:r>
            <a:endParaRPr/>
          </a:p>
          <a:p>
            <a:pPr>
              <a:defRPr/>
            </a:pPr>
            <a:endParaRPr lang="en-US"/>
          </a:p>
          <a:p>
            <a:pPr>
              <a:defRPr/>
            </a:pPr>
            <a:r>
              <a:rPr lang="en-US">
                <a:solidFill>
                  <a:srgbClr val="FF0000"/>
                </a:solidFill>
              </a:rPr>
              <a:t>Quadratic time-complexity!</a:t>
            </a:r>
            <a:endParaRPr/>
          </a:p>
        </p:txBody>
      </p:sp>
      <p:graphicFrame>
        <p:nvGraphicFramePr>
          <p:cNvPr id="1875723029" name="Table 4"/>
          <p:cNvGraphicFramePr>
            <a:graphicFrameLocks xmlns:a="http://schemas.openxmlformats.org/drawingml/2006/main" noGrp="1"/>
          </p:cNvGraphicFramePr>
          <p:nvPr/>
        </p:nvGraphicFramePr>
        <p:xfrm rot="0">
          <a:off x="7987458" y="571210"/>
          <a:ext cx="3751342" cy="3788416"/>
        </p:xfrm>
        <a:graphic>
          <a:graphicData uri="http://schemas.openxmlformats.org/drawingml/2006/table">
            <a:tbl>
              <a:tblPr firstRow="1" firstCol="0" lastRow="0" lastCol="0" bandRow="1" bandCol="0">
                <a:tableStyleId>{2D5ABB26-0587-4C30-8999-92F81FD0307C}</a:tableStyleId>
              </a:tblPr>
              <a:tblGrid>
                <a:gridCol w="535906"/>
                <a:gridCol w="535906"/>
                <a:gridCol w="535906"/>
                <a:gridCol w="535906"/>
                <a:gridCol w="535906"/>
                <a:gridCol w="535906"/>
                <a:gridCol w="535906"/>
              </a:tblGrid>
              <a:tr h="473552">
                <a:tc>
                  <a:txBody>
                    <a:bodyPr/>
                    <a:p>
                      <a:pPr algn="ctr">
                        <a:defRPr/>
                      </a:pPr>
                      <a:r>
                        <a:rPr lang="en-US"/>
                        <a:t>C</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2"/>
                    </a:solidFill>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3</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r>
              <a:tr h="473552">
                <a:tc>
                  <a:txBody>
                    <a:bodyPr/>
                    <a:p>
                      <a:pPr algn="ctr">
                        <a:defRPr/>
                      </a:pPr>
                      <a:r>
                        <a:rPr lang="en-US"/>
                        <a:t>A</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2"/>
                    </a:solidFill>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2</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r>
              <a:tr h="473552">
                <a:tc>
                  <a:txBody>
                    <a:bodyPr/>
                    <a:p>
                      <a:pPr algn="ctr">
                        <a:defRPr/>
                      </a:pPr>
                      <a:r>
                        <a:rPr lang="en-US"/>
                        <a:t>T</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2"/>
                    </a:solidFill>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r>
              <a:tr h="473552">
                <a:tc>
                  <a:txBody>
                    <a:bodyPr/>
                    <a:p>
                      <a:pPr algn="ctr">
                        <a:defRPr/>
                      </a:pPr>
                      <a:r>
                        <a:rPr lang="en-US"/>
                        <a:t>C</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2"/>
                    </a:solidFill>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2</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r>
              <a:tr h="473552">
                <a:tc>
                  <a:txBody>
                    <a:bodyPr/>
                    <a:p>
                      <a:pPr algn="ctr">
                        <a:defRPr/>
                      </a:pPr>
                      <a:r>
                        <a:rPr lang="en-US"/>
                        <a:t>G</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2"/>
                    </a:solidFill>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r>
              <a:tr h="473552">
                <a:tc>
                  <a:txBody>
                    <a:bodyPr/>
                    <a:p>
                      <a:pPr algn="ctr">
                        <a:defRPr/>
                      </a:pPr>
                      <a:r>
                        <a:rPr lang="en-US"/>
                        <a:t>A</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2"/>
                    </a:solidFill>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r>
              <a:tr h="473552">
                <a:tc>
                  <a:txBody>
                    <a:bodyPr/>
                    <a:p>
                      <a:pPr algn="ctr">
                        <a:defRPr/>
                      </a:pPr>
                      <a:r>
                        <a:rPr lang="en-US"/>
                        <a:t>-</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2"/>
                    </a:solidFill>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p>
                      <a:pPr algn="ctr">
                        <a:defRPr/>
                      </a:pPr>
                      <a:r>
                        <a:rPr lang="en-US"/>
                        <a:t>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r>
              <a:tr h="473552">
                <a:tc>
                  <a:txBody>
                    <a:bodyPr/>
                    <a:p>
                      <a:pPr algn="ctr">
                        <a:defRPr/>
                      </a:pPr>
                      <a:endParaRPr lang="en-US"/>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1">
                        <a:lumMod val="85000"/>
                      </a:schemeClr>
                    </a:solidFill>
                  </a:tcPr>
                </a:tc>
                <a:tc>
                  <a:txBody>
                    <a:bodyPr/>
                    <a:p>
                      <a:pPr algn="ctr">
                        <a:defRPr/>
                      </a:pPr>
                      <a:r>
                        <a:rPr lang="en-US"/>
                        <a:t>-</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1">
                        <a:lumMod val="85000"/>
                      </a:schemeClr>
                    </a:solidFill>
                  </a:tcPr>
                </a:tc>
                <a:tc>
                  <a:txBody>
                    <a:bodyPr/>
                    <a:p>
                      <a:pPr algn="ctr">
                        <a:defRPr/>
                      </a:pPr>
                      <a:r>
                        <a:rPr lang="en-US"/>
                        <a:t>G</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1">
                        <a:lumMod val="85000"/>
                      </a:schemeClr>
                    </a:solidFill>
                  </a:tcPr>
                </a:tc>
                <a:tc>
                  <a:txBody>
                    <a:bodyPr/>
                    <a:p>
                      <a:pPr algn="ctr">
                        <a:defRPr/>
                      </a:pPr>
                      <a:r>
                        <a:rPr lang="en-US"/>
                        <a:t>C</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1">
                        <a:lumMod val="85000"/>
                      </a:schemeClr>
                    </a:solidFill>
                  </a:tcPr>
                </a:tc>
                <a:tc>
                  <a:txBody>
                    <a:bodyPr/>
                    <a:p>
                      <a:pPr algn="ctr">
                        <a:defRPr/>
                      </a:pPr>
                      <a:r>
                        <a:rPr lang="en-US"/>
                        <a:t>A</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1">
                        <a:lumMod val="85000"/>
                      </a:schemeClr>
                    </a:solidFill>
                  </a:tcPr>
                </a:tc>
                <a:tc>
                  <a:txBody>
                    <a:bodyPr/>
                    <a:p>
                      <a:pPr algn="ctr">
                        <a:defRPr/>
                      </a:pPr>
                      <a:r>
                        <a:rPr lang="en-US"/>
                        <a:t>A</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1">
                        <a:lumMod val="85000"/>
                      </a:schemeClr>
                    </a:solidFill>
                  </a:tcPr>
                </a:tc>
                <a:tc>
                  <a:txBody>
                    <a:bodyPr/>
                    <a:p>
                      <a:pPr algn="ctr">
                        <a:defRPr/>
                      </a:pPr>
                      <a:r>
                        <a:rPr lang="en-US"/>
                        <a:t>C</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bg1">
                        <a:lumMod val="85000"/>
                      </a:schemeClr>
                    </a:solidFill>
                  </a:tcPr>
                </a:tc>
              </a:tr>
            </a:tbl>
          </a:graphicData>
        </a:graphic>
      </p:graphicFrame>
      <p:grpSp>
        <p:nvGrpSpPr>
          <p:cNvPr id="964925624" name="Group 16"/>
          <p:cNvGrpSpPr/>
          <p:nvPr/>
        </p:nvGrpSpPr>
        <p:grpSpPr bwMode="auto">
          <a:xfrm>
            <a:off x="8494937" y="4403482"/>
            <a:ext cx="2878231" cy="547763"/>
            <a:chOff x="7378779" y="4318949"/>
            <a:chExt cx="2878231" cy="547763"/>
          </a:xfrm>
        </p:grpSpPr>
        <p:sp>
          <p:nvSpPr>
            <p:cNvPr id="6" name="TextBox 5"/>
            <p:cNvSpPr txBox="1"/>
            <p:nvPr/>
          </p:nvSpPr>
          <p:spPr bwMode="auto">
            <a:xfrm>
              <a:off x="7378779" y="4318949"/>
              <a:ext cx="1352101" cy="523220"/>
            </a:xfrm>
            <a:prstGeom prst="rect">
              <a:avLst/>
            </a:prstGeom>
            <a:noFill/>
          </p:spPr>
          <p:txBody>
            <a:bodyPr wrap="none" rtlCol="0">
              <a:spAutoFit/>
            </a:bodyPr>
            <a:lstStyle/>
            <a:p>
              <a:pPr>
                <a:defRPr/>
              </a:pPr>
              <a:r>
                <a:rPr lang="en-US" sz="2800"/>
                <a:t>AGCTAC</a:t>
              </a:r>
              <a:endParaRPr/>
            </a:p>
          </p:txBody>
        </p:sp>
        <p:sp>
          <p:nvSpPr>
            <p:cNvPr id="7" name="TextBox 6"/>
            <p:cNvSpPr txBox="1"/>
            <p:nvPr/>
          </p:nvSpPr>
          <p:spPr bwMode="auto">
            <a:xfrm>
              <a:off x="9050654" y="4343492"/>
              <a:ext cx="1206356" cy="523220"/>
            </a:xfrm>
            <a:prstGeom prst="rect">
              <a:avLst/>
            </a:prstGeom>
            <a:noFill/>
          </p:spPr>
          <p:txBody>
            <a:bodyPr wrap="none" rtlCol="0">
              <a:spAutoFit/>
            </a:bodyPr>
            <a:lstStyle/>
            <a:p>
              <a:pPr>
                <a:defRPr/>
              </a:pPr>
              <a:r>
                <a:rPr lang="en-US" sz="2800"/>
                <a:t>GCAAC</a:t>
              </a:r>
              <a:endParaRPr/>
            </a:p>
          </p:txBody>
        </p:sp>
      </p:grpSp>
      <p:grpSp>
        <p:nvGrpSpPr>
          <p:cNvPr id="106470502" name="Group 17"/>
          <p:cNvGrpSpPr/>
          <p:nvPr/>
        </p:nvGrpSpPr>
        <p:grpSpPr bwMode="auto">
          <a:xfrm>
            <a:off x="9185414" y="4951245"/>
            <a:ext cx="1584959" cy="1838584"/>
            <a:chOff x="7870613" y="4765226"/>
            <a:chExt cx="1584959" cy="1838584"/>
          </a:xfrm>
        </p:grpSpPr>
        <p:sp>
          <p:nvSpPr>
            <p:cNvPr id="8" name="Right Brace 7"/>
            <p:cNvSpPr/>
            <p:nvPr/>
          </p:nvSpPr>
          <p:spPr bwMode="auto">
            <a:xfrm rot="5400000">
              <a:off x="8426026" y="4209813"/>
              <a:ext cx="474134" cy="1584959"/>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p>
          </p:txBody>
        </p:sp>
        <p:sp>
          <p:nvSpPr>
            <p:cNvPr id="9" name="TextBox 8"/>
            <p:cNvSpPr txBox="1"/>
            <p:nvPr/>
          </p:nvSpPr>
          <p:spPr bwMode="auto">
            <a:xfrm>
              <a:off x="8108806" y="5218815"/>
              <a:ext cx="1258678" cy="1384995"/>
            </a:xfrm>
            <a:prstGeom prst="rect">
              <a:avLst/>
            </a:prstGeom>
            <a:noFill/>
          </p:spPr>
          <p:txBody>
            <a:bodyPr wrap="none" rtlCol="0">
              <a:spAutoFit/>
            </a:bodyPr>
            <a:lstStyle/>
            <a:p>
              <a:pPr>
                <a:defRPr/>
              </a:pPr>
              <a:r>
                <a:rPr lang="en-US" sz="2800">
                  <a:latin typeface="Courier New"/>
                  <a:cs typeface="Courier New"/>
                </a:rPr>
                <a:t>GCTAC</a:t>
              </a:r>
              <a:endParaRPr/>
            </a:p>
            <a:p>
              <a:pPr>
                <a:defRPr/>
              </a:pPr>
              <a:r>
                <a:rPr lang="en-US" sz="2800">
                  <a:latin typeface="Courier New"/>
                  <a:cs typeface="Courier New"/>
                </a:rPr>
                <a:t>|| ||</a:t>
              </a:r>
              <a:endParaRPr/>
            </a:p>
            <a:p>
              <a:pPr>
                <a:defRPr/>
              </a:pPr>
              <a:r>
                <a:rPr lang="en-US" sz="2800">
                  <a:latin typeface="Courier New"/>
                  <a:cs typeface="Courier New"/>
                </a:rPr>
                <a:t>GCAAC</a:t>
              </a:r>
              <a:endParaRPr/>
            </a:p>
          </p:txBody>
        </p:sp>
      </p:grpSp>
      <p:grpSp>
        <p:nvGrpSpPr>
          <p:cNvPr id="230464360" name="Group 18"/>
          <p:cNvGrpSpPr/>
          <p:nvPr/>
        </p:nvGrpSpPr>
        <p:grpSpPr bwMode="auto">
          <a:xfrm>
            <a:off x="8852360" y="829250"/>
            <a:ext cx="2516106" cy="2255776"/>
            <a:chOff x="8237437" y="641660"/>
            <a:chExt cx="2516106" cy="2255776"/>
          </a:xfrm>
        </p:grpSpPr>
        <p:cxnSp>
          <p:nvCxnSpPr>
            <p:cNvPr id="15" name="Straight Arrow Connector 14"/>
            <p:cNvCxnSpPr/>
            <p:nvPr/>
          </p:nvCxnSpPr>
          <p:spPr bwMode="auto">
            <a:xfrm flipH="1">
              <a:off x="8790518" y="2092775"/>
              <a:ext cx="377189" cy="3185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bwMode="auto">
            <a:xfrm flipH="1">
              <a:off x="8237437" y="2578904"/>
              <a:ext cx="377189" cy="3185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bwMode="auto">
            <a:xfrm flipH="1">
              <a:off x="9319130" y="1609070"/>
              <a:ext cx="377189" cy="3185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bwMode="auto">
            <a:xfrm flipH="1">
              <a:off x="9847742" y="1125365"/>
              <a:ext cx="377189" cy="3185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bwMode="auto">
            <a:xfrm flipH="1">
              <a:off x="10376354" y="641660"/>
              <a:ext cx="377189" cy="3185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
        <p:nvSpPr>
          <p:cNvPr id="1667178634" name="Slide Number Placeholder 5"/>
          <p:cNvSpPr>
            <a:spLocks noGrp="1"/>
          </p:cNvSpPr>
          <p:nvPr>
            <p:ph type="sldNum" sz="quarter" idx="16"/>
          </p:nvPr>
        </p:nvSpPr>
        <p:spPr bwMode="auto"/>
        <p:txBody>
          <a:bodyPr/>
          <a:lstStyle>
            <a:lvl1pPr>
              <a:defRPr/>
            </a:lvl1pPr>
          </a:lstStyle>
          <a:p>
            <a:pPr>
              <a:defRPr/>
            </a:pPr>
            <a:fld id="{232BB026-1F83-35E0-5E8F-2E4DDD21AD38}"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03915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49256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757230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0391517">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0391517">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0391517">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039151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30464360"/>
                                        </p:tgtEl>
                                        <p:attrNameLst>
                                          <p:attrName>style.visibility</p:attrName>
                                        </p:attrNameLst>
                                      </p:cBhvr>
                                      <p:to>
                                        <p:strVal val="visible"/>
                                      </p:to>
                                    </p:set>
                                    <p:animEffect transition="in" filter="wipe(up)">
                                      <p:cBhvr>
                                        <p:cTn id="29" dur="500"/>
                                        <p:tgtEl>
                                          <p:spTgt spid="23046436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0647050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33039151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39151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9758849" name="Title 1"/>
          <p:cNvSpPr>
            <a:spLocks noGrp="1"/>
          </p:cNvSpPr>
          <p:nvPr>
            <p:ph type="title"/>
          </p:nvPr>
        </p:nvSpPr>
        <p:spPr bwMode="auto"/>
        <p:txBody>
          <a:bodyPr>
            <a:normAutofit fontScale="90000"/>
          </a:bodyPr>
          <a:lstStyle/>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mers</a:t>
            </a:r>
            <a:endParaRPr lang="en-US"/>
          </a:p>
        </p:txBody>
      </p:sp>
      <p:sp>
        <p:nvSpPr>
          <p:cNvPr id="937814314" name="Content Placeholder 2"/>
          <p:cNvSpPr>
            <a:spLocks noGrp="1"/>
          </p:cNvSpPr>
          <p:nvPr>
            <p:ph idx="1"/>
          </p:nvPr>
        </p:nvSpPr>
        <p:spPr bwMode="auto">
          <a:xfrm>
            <a:off x="609602" y="914400"/>
            <a:ext cx="10515600" cy="1314026"/>
          </a:xfrm>
        </p:spPr>
        <p:txBody>
          <a:bodyPr/>
          <a:lstStyle/>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a substring of length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endParaRPr lang="en-US"/>
          </a:p>
          <a:p>
            <a:pPr>
              <a:defRPr/>
            </a:pPr>
            <a:r>
              <a:rPr lang="en-US"/>
              <a:t>Given a string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𝑆</m:t>
                      </m:r>
                    </m:oMath>
                  </m:oMathPara>
                </a14:m>
              </mc:Choice>
              <mc:Fallback/>
            </mc:AlternateContent>
            <a:r>
              <a:rPr lang="en-US"/>
              <a:t>, break into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mers</a:t>
            </a:r>
            <a:r>
              <a:rPr lang="en-US"/>
              <a:t> for easier analysis</a:t>
            </a:r>
            <a:endParaRPr/>
          </a:p>
        </p:txBody>
      </p:sp>
      <p:sp>
        <p:nvSpPr>
          <p:cNvPr id="2072070349" name="TextBox 4"/>
          <p:cNvSpPr txBox="1"/>
          <p:nvPr/>
        </p:nvSpPr>
        <p:spPr bwMode="auto">
          <a:xfrm>
            <a:off x="670559" y="2621279"/>
            <a:ext cx="2949846" cy="461665"/>
          </a:xfrm>
          <a:prstGeom prst="rect">
            <a:avLst/>
          </a:prstGeom>
          <a:noFill/>
        </p:spPr>
        <p:txBody>
          <a:bodyPr wrap="none" rtlCol="0">
            <a:spAutoFit/>
          </a:bodyPr>
          <a:lstStyle/>
          <a:p>
            <a:pPr>
              <a:defRPr/>
            </a:pPr>
            <a:r>
              <a:rPr lang="en-US" sz="2400" b="0" i="0">
                <a:latin typeface="Courier New"/>
              </a:rPr>
              <a:t>TACGGTACGGTACGG</a:t>
            </a:r>
            <a:endParaRPr lang="en-US" sz="2400">
              <a:latin typeface="Courier New"/>
              <a:cs typeface="Courier New"/>
            </a:endParaRPr>
          </a:p>
        </p:txBody>
      </p:sp>
      <p:sp>
        <p:nvSpPr>
          <p:cNvPr id="1960977721" name="TextBox 5"/>
          <p:cNvSpPr txBox="1"/>
          <p:nvPr/>
        </p:nvSpPr>
        <p:spPr bwMode="auto">
          <a:xfrm>
            <a:off x="670560" y="3158159"/>
            <a:ext cx="2949846" cy="461665"/>
          </a:xfrm>
          <a:prstGeom prst="rect">
            <a:avLst/>
          </a:prstGeom>
          <a:noFill/>
        </p:spPr>
        <p:txBody>
          <a:bodyPr wrap="none" rtlCol="0">
            <a:spAutoFit/>
          </a:bodyPr>
          <a:lstStyle/>
          <a:p>
            <a:pPr>
              <a:defRPr/>
            </a:pPr>
            <a:r>
              <a:rPr lang="en-US" sz="2400" b="0" i="0">
                <a:latin typeface="Courier New"/>
              </a:rPr>
              <a:t>TACGGTAC       </a:t>
            </a:r>
            <a:endParaRPr lang="en-US" sz="2400">
              <a:latin typeface="Courier New"/>
              <a:cs typeface="Courier New"/>
            </a:endParaRPr>
          </a:p>
        </p:txBody>
      </p:sp>
      <p:sp>
        <p:nvSpPr>
          <p:cNvPr id="1551070083" name="TextBox 6"/>
          <p:cNvSpPr txBox="1"/>
          <p:nvPr/>
        </p:nvSpPr>
        <p:spPr bwMode="auto">
          <a:xfrm>
            <a:off x="670560" y="3383464"/>
            <a:ext cx="2949846" cy="461665"/>
          </a:xfrm>
          <a:prstGeom prst="rect">
            <a:avLst/>
          </a:prstGeom>
          <a:noFill/>
        </p:spPr>
        <p:txBody>
          <a:bodyPr wrap="none" rtlCol="0">
            <a:spAutoFit/>
          </a:bodyPr>
          <a:lstStyle/>
          <a:p>
            <a:pPr>
              <a:defRPr/>
            </a:pPr>
            <a:r>
              <a:rPr lang="en-US" sz="2400" b="0" i="0">
                <a:latin typeface="Courier New"/>
              </a:rPr>
              <a:t> ACGGTACG      </a:t>
            </a:r>
            <a:endParaRPr lang="en-US" sz="2400">
              <a:latin typeface="Courier New"/>
              <a:cs typeface="Courier New"/>
            </a:endParaRPr>
          </a:p>
        </p:txBody>
      </p:sp>
      <p:sp>
        <p:nvSpPr>
          <p:cNvPr id="641212234" name="TextBox 7"/>
          <p:cNvSpPr txBox="1"/>
          <p:nvPr/>
        </p:nvSpPr>
        <p:spPr bwMode="auto">
          <a:xfrm>
            <a:off x="670560" y="3608769"/>
            <a:ext cx="2949846" cy="461665"/>
          </a:xfrm>
          <a:prstGeom prst="rect">
            <a:avLst/>
          </a:prstGeom>
          <a:noFill/>
        </p:spPr>
        <p:txBody>
          <a:bodyPr wrap="none" rtlCol="0">
            <a:spAutoFit/>
          </a:bodyPr>
          <a:lstStyle/>
          <a:p>
            <a:pPr>
              <a:defRPr/>
            </a:pPr>
            <a:r>
              <a:rPr lang="en-US" sz="2400" b="0" i="0">
                <a:latin typeface="Courier New"/>
              </a:rPr>
              <a:t>  CGGTACGG     </a:t>
            </a:r>
            <a:endParaRPr lang="en-US" sz="2400">
              <a:latin typeface="Courier New"/>
              <a:cs typeface="Courier New"/>
            </a:endParaRPr>
          </a:p>
        </p:txBody>
      </p:sp>
      <p:sp>
        <p:nvSpPr>
          <p:cNvPr id="562732287" name="TextBox 8"/>
          <p:cNvSpPr txBox="1"/>
          <p:nvPr/>
        </p:nvSpPr>
        <p:spPr bwMode="auto">
          <a:xfrm>
            <a:off x="670560" y="3834074"/>
            <a:ext cx="2949846" cy="461665"/>
          </a:xfrm>
          <a:prstGeom prst="rect">
            <a:avLst/>
          </a:prstGeom>
          <a:noFill/>
        </p:spPr>
        <p:txBody>
          <a:bodyPr wrap="none" rtlCol="0">
            <a:spAutoFit/>
          </a:bodyPr>
          <a:lstStyle/>
          <a:p>
            <a:pPr>
              <a:defRPr/>
            </a:pPr>
            <a:r>
              <a:rPr lang="en-US" sz="2400" b="0" i="0">
                <a:latin typeface="Courier New"/>
              </a:rPr>
              <a:t>   GGTACGGT    </a:t>
            </a:r>
            <a:endParaRPr lang="en-US" sz="2400">
              <a:latin typeface="Courier New"/>
              <a:cs typeface="Courier New"/>
            </a:endParaRPr>
          </a:p>
        </p:txBody>
      </p:sp>
      <p:sp>
        <p:nvSpPr>
          <p:cNvPr id="1342524919" name="TextBox 9"/>
          <p:cNvSpPr txBox="1"/>
          <p:nvPr/>
        </p:nvSpPr>
        <p:spPr bwMode="auto">
          <a:xfrm>
            <a:off x="670560" y="4059379"/>
            <a:ext cx="2949846" cy="461665"/>
          </a:xfrm>
          <a:prstGeom prst="rect">
            <a:avLst/>
          </a:prstGeom>
          <a:noFill/>
        </p:spPr>
        <p:txBody>
          <a:bodyPr wrap="none" rtlCol="0">
            <a:spAutoFit/>
          </a:bodyPr>
          <a:lstStyle/>
          <a:p>
            <a:pPr>
              <a:defRPr/>
            </a:pPr>
            <a:r>
              <a:rPr lang="en-US" sz="2400" b="0" i="0">
                <a:latin typeface="Courier New"/>
              </a:rPr>
              <a:t>    GTACGGTA   </a:t>
            </a:r>
            <a:endParaRPr lang="en-US" sz="2400">
              <a:latin typeface="Courier New"/>
              <a:cs typeface="Courier New"/>
            </a:endParaRPr>
          </a:p>
        </p:txBody>
      </p:sp>
      <p:sp>
        <p:nvSpPr>
          <p:cNvPr id="1999717792" name="TextBox 10"/>
          <p:cNvSpPr txBox="1"/>
          <p:nvPr/>
        </p:nvSpPr>
        <p:spPr bwMode="auto">
          <a:xfrm>
            <a:off x="670560" y="4284684"/>
            <a:ext cx="2949846" cy="461665"/>
          </a:xfrm>
          <a:prstGeom prst="rect">
            <a:avLst/>
          </a:prstGeom>
          <a:noFill/>
        </p:spPr>
        <p:txBody>
          <a:bodyPr wrap="none" rtlCol="0">
            <a:spAutoFit/>
          </a:bodyPr>
          <a:lstStyle/>
          <a:p>
            <a:pPr>
              <a:defRPr/>
            </a:pPr>
            <a:r>
              <a:rPr lang="en-US" sz="2400" b="0" i="0">
                <a:latin typeface="Courier New"/>
              </a:rPr>
              <a:t>     TACGGTAC  </a:t>
            </a:r>
            <a:endParaRPr lang="en-US" sz="2400">
              <a:latin typeface="Courier New"/>
              <a:cs typeface="Courier New"/>
            </a:endParaRPr>
          </a:p>
        </p:txBody>
      </p:sp>
      <p:sp>
        <p:nvSpPr>
          <p:cNvPr id="1683006459" name="TextBox 11"/>
          <p:cNvSpPr txBox="1"/>
          <p:nvPr/>
        </p:nvSpPr>
        <p:spPr bwMode="auto">
          <a:xfrm>
            <a:off x="670560" y="4509989"/>
            <a:ext cx="2949846" cy="461665"/>
          </a:xfrm>
          <a:prstGeom prst="rect">
            <a:avLst/>
          </a:prstGeom>
          <a:noFill/>
        </p:spPr>
        <p:txBody>
          <a:bodyPr wrap="none" rtlCol="0">
            <a:spAutoFit/>
          </a:bodyPr>
          <a:lstStyle/>
          <a:p>
            <a:pPr>
              <a:defRPr/>
            </a:pPr>
            <a:r>
              <a:rPr lang="en-US" sz="2400" b="0" i="0">
                <a:latin typeface="Courier New"/>
              </a:rPr>
              <a:t>      ACGGTACG </a:t>
            </a:r>
            <a:endParaRPr lang="en-US" sz="2400">
              <a:latin typeface="Courier New"/>
              <a:cs typeface="Courier New"/>
            </a:endParaRPr>
          </a:p>
        </p:txBody>
      </p:sp>
      <p:sp>
        <p:nvSpPr>
          <p:cNvPr id="636983483" name="TextBox 12"/>
          <p:cNvSpPr txBox="1"/>
          <p:nvPr/>
        </p:nvSpPr>
        <p:spPr bwMode="auto">
          <a:xfrm>
            <a:off x="670560" y="4735294"/>
            <a:ext cx="2949846" cy="461665"/>
          </a:xfrm>
          <a:prstGeom prst="rect">
            <a:avLst/>
          </a:prstGeom>
          <a:noFill/>
        </p:spPr>
        <p:txBody>
          <a:bodyPr wrap="none" rtlCol="0">
            <a:spAutoFit/>
          </a:bodyPr>
          <a:lstStyle/>
          <a:p>
            <a:pPr>
              <a:defRPr/>
            </a:pPr>
            <a:r>
              <a:rPr lang="en-US" sz="2400" b="0" i="0">
                <a:latin typeface="Courier New"/>
              </a:rPr>
              <a:t>       CGGTACGG</a:t>
            </a:r>
            <a:endParaRPr lang="en-US" sz="2400">
              <a:latin typeface="Courier New"/>
              <a:cs typeface="Courier New"/>
            </a:endParaRPr>
          </a:p>
        </p:txBody>
      </p:sp>
      <p:sp>
        <p:nvSpPr>
          <p:cNvPr id="510675141" name="TextBox 13"/>
          <p:cNvSpPr txBox="1"/>
          <p:nvPr/>
        </p:nvSpPr>
        <p:spPr bwMode="auto">
          <a:xfrm>
            <a:off x="1096567" y="5467702"/>
            <a:ext cx="1921745" cy="584775"/>
          </a:xfrm>
          <a:prstGeom prst="rect">
            <a:avLst/>
          </a:prstGeom>
          <a:noFill/>
        </p:spPr>
        <p:txBody>
          <a:bodyPr wrap="none" rtlCol="0">
            <a:spAutoFit/>
          </a:bodyPr>
          <a:lstStyle/>
          <a:p>
            <a:pPr>
              <a:defRPr/>
            </a:pPr>
            <a:r>
              <a:rPr lang="en-US" sz="3200"/>
              <a:t>sequential</a:t>
            </a:r>
            <a:endParaRPr/>
          </a:p>
        </p:txBody>
      </p:sp>
      <p:grpSp>
        <p:nvGrpSpPr>
          <p:cNvPr id="485018405" name="Group 28"/>
          <p:cNvGrpSpPr/>
          <p:nvPr/>
        </p:nvGrpSpPr>
        <p:grpSpPr bwMode="auto">
          <a:xfrm>
            <a:off x="3887893" y="3147104"/>
            <a:ext cx="3562341" cy="2922110"/>
            <a:chOff x="3887893" y="3147104"/>
            <a:chExt cx="3562341" cy="2922110"/>
          </a:xfrm>
        </p:grpSpPr>
        <p:grpSp>
          <p:nvGrpSpPr>
            <p:cNvPr id="28" name="Group 27"/>
            <p:cNvGrpSpPr/>
            <p:nvPr/>
          </p:nvGrpSpPr>
          <p:grpSpPr bwMode="auto">
            <a:xfrm>
              <a:off x="3887893" y="3147104"/>
              <a:ext cx="3190348" cy="2308325"/>
              <a:chOff x="3887893" y="3147104"/>
              <a:chExt cx="3190348" cy="2308325"/>
            </a:xfrm>
          </p:grpSpPr>
          <p:sp>
            <p:nvSpPr>
              <p:cNvPr id="15" name="Arrow: Right 14"/>
              <p:cNvSpPr/>
              <p:nvPr/>
            </p:nvSpPr>
            <p:spPr bwMode="auto">
              <a:xfrm>
                <a:off x="3887893" y="3793435"/>
                <a:ext cx="1063413" cy="40997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 name="TextBox 15"/>
              <p:cNvSpPr txBox="1"/>
              <p:nvPr/>
            </p:nvSpPr>
            <p:spPr bwMode="auto">
              <a:xfrm>
                <a:off x="5418813" y="3147104"/>
                <a:ext cx="1659429" cy="461665"/>
              </a:xfrm>
              <a:prstGeom prst="rect">
                <a:avLst/>
              </a:prstGeom>
              <a:noFill/>
            </p:spPr>
            <p:txBody>
              <a:bodyPr wrap="none" rtlCol="0">
                <a:spAutoFit/>
              </a:bodyPr>
              <a:lstStyle/>
              <a:p>
                <a:pPr>
                  <a:defRPr/>
                </a:pPr>
                <a:r>
                  <a:rPr lang="en-US" sz="2400" b="0" i="0">
                    <a:solidFill>
                      <a:srgbClr val="00FF00"/>
                    </a:solidFill>
                    <a:latin typeface="Courier New"/>
                  </a:rPr>
                  <a:t>ACGGTACG</a:t>
                </a:r>
                <a:endParaRPr lang="en-US" sz="2400">
                  <a:solidFill>
                    <a:srgbClr val="00FF00"/>
                  </a:solidFill>
                  <a:latin typeface="Courier New"/>
                  <a:cs typeface="Courier New"/>
                </a:endParaRPr>
              </a:p>
            </p:txBody>
          </p:sp>
          <p:sp>
            <p:nvSpPr>
              <p:cNvPr id="17" name="TextBox 16"/>
              <p:cNvSpPr txBox="1"/>
              <p:nvPr/>
            </p:nvSpPr>
            <p:spPr bwMode="auto">
              <a:xfrm>
                <a:off x="5418813" y="3608769"/>
                <a:ext cx="1659429" cy="461665"/>
              </a:xfrm>
              <a:prstGeom prst="rect">
                <a:avLst/>
              </a:prstGeom>
              <a:noFill/>
            </p:spPr>
            <p:txBody>
              <a:bodyPr wrap="none" rtlCol="0">
                <a:spAutoFit/>
              </a:bodyPr>
              <a:lstStyle/>
              <a:p>
                <a:pPr>
                  <a:defRPr/>
                </a:pPr>
                <a:r>
                  <a:rPr lang="en-US" sz="2400" b="0" i="0">
                    <a:solidFill>
                      <a:schemeClr val="accent1"/>
                    </a:solidFill>
                    <a:latin typeface="Courier New"/>
                  </a:rPr>
                  <a:t>CGGTACGG</a:t>
                </a:r>
                <a:endParaRPr lang="en-US" sz="2400">
                  <a:solidFill>
                    <a:schemeClr val="accent1"/>
                  </a:solidFill>
                  <a:latin typeface="Courier New"/>
                  <a:cs typeface="Courier New"/>
                </a:endParaRPr>
              </a:p>
            </p:txBody>
          </p:sp>
          <p:sp>
            <p:nvSpPr>
              <p:cNvPr id="18" name="TextBox 17"/>
              <p:cNvSpPr txBox="1"/>
              <p:nvPr/>
            </p:nvSpPr>
            <p:spPr bwMode="auto">
              <a:xfrm>
                <a:off x="5418813" y="4070434"/>
                <a:ext cx="1659429" cy="461665"/>
              </a:xfrm>
              <a:prstGeom prst="rect">
                <a:avLst/>
              </a:prstGeom>
              <a:noFill/>
            </p:spPr>
            <p:txBody>
              <a:bodyPr wrap="none" rtlCol="0">
                <a:spAutoFit/>
              </a:bodyPr>
              <a:lstStyle/>
              <a:p>
                <a:pPr>
                  <a:defRPr/>
                </a:pPr>
                <a:r>
                  <a:rPr lang="en-US" sz="2400" b="0" i="0">
                    <a:latin typeface="Courier New"/>
                  </a:rPr>
                  <a:t>GGTACGGT</a:t>
                </a:r>
                <a:endParaRPr lang="en-US" sz="2400">
                  <a:latin typeface="Courier New"/>
                  <a:cs typeface="Courier New"/>
                </a:endParaRPr>
              </a:p>
            </p:txBody>
          </p:sp>
          <p:sp>
            <p:nvSpPr>
              <p:cNvPr id="19" name="TextBox 18"/>
              <p:cNvSpPr txBox="1"/>
              <p:nvPr/>
            </p:nvSpPr>
            <p:spPr bwMode="auto">
              <a:xfrm>
                <a:off x="5418813" y="4532099"/>
                <a:ext cx="1659429" cy="461665"/>
              </a:xfrm>
              <a:prstGeom prst="rect">
                <a:avLst/>
              </a:prstGeom>
              <a:noFill/>
            </p:spPr>
            <p:txBody>
              <a:bodyPr wrap="none" rtlCol="0">
                <a:spAutoFit/>
              </a:bodyPr>
              <a:lstStyle/>
              <a:p>
                <a:pPr>
                  <a:defRPr/>
                </a:pPr>
                <a:r>
                  <a:rPr lang="en-US" sz="2400" b="0" i="0">
                    <a:latin typeface="Courier New"/>
                  </a:rPr>
                  <a:t>GTACGGTA</a:t>
                </a:r>
                <a:endParaRPr lang="en-US" sz="2400">
                  <a:latin typeface="Courier New"/>
                  <a:cs typeface="Courier New"/>
                </a:endParaRPr>
              </a:p>
            </p:txBody>
          </p:sp>
          <p:sp>
            <p:nvSpPr>
              <p:cNvPr id="20" name="TextBox 19"/>
              <p:cNvSpPr txBox="1"/>
              <p:nvPr/>
            </p:nvSpPr>
            <p:spPr bwMode="auto">
              <a:xfrm>
                <a:off x="5418813" y="4993764"/>
                <a:ext cx="1659429" cy="461665"/>
              </a:xfrm>
              <a:prstGeom prst="rect">
                <a:avLst/>
              </a:prstGeom>
              <a:noFill/>
            </p:spPr>
            <p:txBody>
              <a:bodyPr wrap="none" rtlCol="0">
                <a:spAutoFit/>
              </a:bodyPr>
              <a:lstStyle/>
              <a:p>
                <a:pPr>
                  <a:defRPr/>
                </a:pPr>
                <a:r>
                  <a:rPr lang="en-US" sz="2400" b="0" i="0">
                    <a:solidFill>
                      <a:srgbClr val="FF0000"/>
                    </a:solidFill>
                    <a:latin typeface="Courier New"/>
                  </a:rPr>
                  <a:t>TACGGTAC</a:t>
                </a:r>
                <a:endParaRPr lang="en-US" sz="2400">
                  <a:solidFill>
                    <a:srgbClr val="FF0000"/>
                  </a:solidFill>
                  <a:latin typeface="Courier New"/>
                  <a:cs typeface="Courier New"/>
                </a:endParaRPr>
              </a:p>
            </p:txBody>
          </p:sp>
        </p:grpSp>
        <p:sp>
          <p:nvSpPr>
            <p:cNvPr id="26" name="TextBox 25"/>
            <p:cNvSpPr txBox="1"/>
            <p:nvPr/>
          </p:nvSpPr>
          <p:spPr bwMode="auto">
            <a:xfrm>
              <a:off x="5046819" y="5484439"/>
              <a:ext cx="2403415" cy="584775"/>
            </a:xfrm>
            <a:prstGeom prst="rect">
              <a:avLst/>
            </a:prstGeom>
            <a:noFill/>
          </p:spPr>
          <p:txBody>
            <a:bodyPr wrap="none" rtlCol="0">
              <a:spAutoFit/>
            </a:bodyPr>
            <a:lstStyle/>
            <a:p>
              <a:pPr>
                <a:defRPr/>
              </a:pPr>
              <a:r>
                <a:rPr lang="en-US" sz="3200"/>
                <a:t>bag-of-words</a:t>
              </a:r>
              <a:endParaRPr/>
            </a:p>
          </p:txBody>
        </p:sp>
      </p:grpSp>
      <p:grpSp>
        <p:nvGrpSpPr>
          <p:cNvPr id="833425600" name="Group 29"/>
          <p:cNvGrpSpPr/>
          <p:nvPr/>
        </p:nvGrpSpPr>
        <p:grpSpPr bwMode="auto">
          <a:xfrm>
            <a:off x="7545749" y="3147104"/>
            <a:ext cx="2577276" cy="2893100"/>
            <a:chOff x="7545749" y="3147104"/>
            <a:chExt cx="2577276" cy="2893100"/>
          </a:xfrm>
        </p:grpSpPr>
        <p:sp>
          <p:nvSpPr>
            <p:cNvPr id="21" name="TextBox 20"/>
            <p:cNvSpPr txBox="1"/>
            <p:nvPr/>
          </p:nvSpPr>
          <p:spPr bwMode="auto">
            <a:xfrm>
              <a:off x="7545749" y="3147104"/>
              <a:ext cx="854721" cy="461665"/>
            </a:xfrm>
            <a:prstGeom prst="rect">
              <a:avLst/>
            </a:prstGeom>
            <a:noFill/>
          </p:spPr>
          <p:txBody>
            <a:bodyPr wrap="none" rtlCol="0">
              <a:spAutoFit/>
            </a:bodyPr>
            <a:lstStyle/>
            <a:p>
              <a:pPr>
                <a:defRPr/>
              </a:pPr>
              <a:r>
                <a:rPr lang="en-US" sz="2400" b="0" i="0">
                  <a:solidFill>
                    <a:srgbClr val="00FF00"/>
                  </a:solidFill>
                  <a:latin typeface="Courier New"/>
                </a:rPr>
                <a:t> 2</a:t>
              </a:r>
              <a:endParaRPr lang="en-US" sz="2400">
                <a:solidFill>
                  <a:srgbClr val="00FF00"/>
                </a:solidFill>
                <a:latin typeface="Courier New"/>
                <a:cs typeface="Courier New"/>
              </a:endParaRPr>
            </a:p>
          </p:txBody>
        </p:sp>
        <p:sp>
          <p:nvSpPr>
            <p:cNvPr id="22" name="TextBox 21"/>
            <p:cNvSpPr txBox="1"/>
            <p:nvPr/>
          </p:nvSpPr>
          <p:spPr bwMode="auto">
            <a:xfrm>
              <a:off x="7545749" y="3608769"/>
              <a:ext cx="854721" cy="461665"/>
            </a:xfrm>
            <a:prstGeom prst="rect">
              <a:avLst/>
            </a:prstGeom>
            <a:noFill/>
          </p:spPr>
          <p:txBody>
            <a:bodyPr wrap="none" rtlCol="0">
              <a:spAutoFit/>
            </a:bodyPr>
            <a:lstStyle/>
            <a:p>
              <a:pPr>
                <a:defRPr/>
              </a:pPr>
              <a:r>
                <a:rPr lang="en-US" sz="2400" b="0" i="0">
                  <a:solidFill>
                    <a:schemeClr val="accent1"/>
                  </a:solidFill>
                  <a:latin typeface="Courier New"/>
                </a:rPr>
                <a:t> 2</a:t>
              </a:r>
              <a:endParaRPr lang="en-US" sz="2400">
                <a:solidFill>
                  <a:schemeClr val="accent1"/>
                </a:solidFill>
                <a:latin typeface="Courier New"/>
                <a:cs typeface="Courier New"/>
              </a:endParaRPr>
            </a:p>
          </p:txBody>
        </p:sp>
        <p:sp>
          <p:nvSpPr>
            <p:cNvPr id="23" name="TextBox 22"/>
            <p:cNvSpPr txBox="1"/>
            <p:nvPr/>
          </p:nvSpPr>
          <p:spPr bwMode="auto">
            <a:xfrm>
              <a:off x="7545749" y="4070434"/>
              <a:ext cx="854721" cy="461665"/>
            </a:xfrm>
            <a:prstGeom prst="rect">
              <a:avLst/>
            </a:prstGeom>
            <a:noFill/>
          </p:spPr>
          <p:txBody>
            <a:bodyPr wrap="none" rtlCol="0">
              <a:spAutoFit/>
            </a:bodyPr>
            <a:lstStyle/>
            <a:p>
              <a:pPr>
                <a:defRPr/>
              </a:pPr>
              <a:r>
                <a:rPr lang="en-US" sz="2400" b="0" i="0">
                  <a:latin typeface="Courier New"/>
                </a:rPr>
                <a:t> 1</a:t>
              </a:r>
              <a:endParaRPr lang="en-US" sz="2400">
                <a:latin typeface="Courier New"/>
                <a:cs typeface="Courier New"/>
              </a:endParaRPr>
            </a:p>
          </p:txBody>
        </p:sp>
        <p:sp>
          <p:nvSpPr>
            <p:cNvPr id="24" name="TextBox 23"/>
            <p:cNvSpPr txBox="1"/>
            <p:nvPr/>
          </p:nvSpPr>
          <p:spPr bwMode="auto">
            <a:xfrm>
              <a:off x="7545749" y="4532099"/>
              <a:ext cx="854721" cy="461665"/>
            </a:xfrm>
            <a:prstGeom prst="rect">
              <a:avLst/>
            </a:prstGeom>
            <a:noFill/>
          </p:spPr>
          <p:txBody>
            <a:bodyPr wrap="none" rtlCol="0">
              <a:spAutoFit/>
            </a:bodyPr>
            <a:lstStyle/>
            <a:p>
              <a:pPr>
                <a:defRPr/>
              </a:pPr>
              <a:r>
                <a:rPr lang="en-US" sz="2400" b="0" i="0">
                  <a:latin typeface="Courier New"/>
                </a:rPr>
                <a:t> 1</a:t>
              </a:r>
              <a:endParaRPr lang="en-US" sz="2400">
                <a:latin typeface="Courier New"/>
                <a:cs typeface="Courier New"/>
              </a:endParaRPr>
            </a:p>
          </p:txBody>
        </p:sp>
        <p:sp>
          <p:nvSpPr>
            <p:cNvPr id="25" name="TextBox 24"/>
            <p:cNvSpPr txBox="1"/>
            <p:nvPr/>
          </p:nvSpPr>
          <p:spPr bwMode="auto">
            <a:xfrm>
              <a:off x="7545749" y="4993764"/>
              <a:ext cx="854721" cy="461665"/>
            </a:xfrm>
            <a:prstGeom prst="rect">
              <a:avLst/>
            </a:prstGeom>
            <a:noFill/>
          </p:spPr>
          <p:txBody>
            <a:bodyPr wrap="none" rtlCol="0">
              <a:spAutoFit/>
            </a:bodyPr>
            <a:lstStyle/>
            <a:p>
              <a:pPr>
                <a:defRPr/>
              </a:pPr>
              <a:r>
                <a:rPr lang="en-US" sz="2400" b="0" i="0">
                  <a:solidFill>
                    <a:srgbClr val="FF0000"/>
                  </a:solidFill>
                  <a:latin typeface="Courier New"/>
                </a:rPr>
                <a:t> 2</a:t>
              </a:r>
              <a:endParaRPr lang="en-US" sz="2400">
                <a:solidFill>
                  <a:srgbClr val="FF0000"/>
                </a:solidFill>
                <a:latin typeface="Courier New"/>
                <a:cs typeface="Courier New"/>
              </a:endParaRPr>
            </a:p>
          </p:txBody>
        </p:sp>
        <p:sp>
          <p:nvSpPr>
            <p:cNvPr id="27" name="TextBox 26"/>
            <p:cNvSpPr txBox="1"/>
            <p:nvPr/>
          </p:nvSpPr>
          <p:spPr bwMode="auto">
            <a:xfrm>
              <a:off x="7917741" y="5455429"/>
              <a:ext cx="2205284" cy="584775"/>
            </a:xfrm>
            <a:prstGeom prst="rect">
              <a:avLst/>
            </a:prstGeom>
            <a:noFill/>
          </p:spPr>
          <p:txBody>
            <a:bodyPr wrap="none" rtlCol="0">
              <a:spAutoFit/>
            </a:bodyPr>
            <a:lstStyle/>
            <a:p>
              <a:pPr>
                <a:defRPr/>
              </a:pPr>
              <a:r>
                <a:rPr lang="en-US" sz="3200"/>
                <a:t>with counts</a:t>
              </a:r>
              <a:endParaRPr/>
            </a:p>
          </p:txBody>
        </p:sp>
      </p:grpSp>
      <p:sp>
        <p:nvSpPr>
          <p:cNvPr id="528407684" name="Slide Number Placeholder 5"/>
          <p:cNvSpPr>
            <a:spLocks noGrp="1"/>
          </p:cNvSpPr>
          <p:nvPr>
            <p:ph type="sldNum" sz="quarter" idx="16"/>
          </p:nvPr>
        </p:nvSpPr>
        <p:spPr bwMode="auto"/>
        <p:txBody>
          <a:bodyPr/>
          <a:lstStyle>
            <a:lvl1pPr>
              <a:defRPr/>
            </a:lvl1pPr>
          </a:lstStyle>
          <a:p>
            <a:pPr>
              <a:defRPr/>
            </a:pPr>
            <a:fld id="{445C4878-66F8-E2A3-4976-33F40C45893B}"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09777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510700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12122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425249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273228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9971779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830064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3698348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06751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mph" presetSubtype="2" fill="hold" grpId="1" nodeType="clickEffect">
                                  <p:stCondLst>
                                    <p:cond delay="0"/>
                                  </p:stCondLst>
                                  <p:childTnLst>
                                    <p:animClr clrSpc="rgb" dir="cw">
                                      <p:cBhvr override="childStyle">
                                        <p:cTn id="32" dur="2000" fill="hold"/>
                                        <p:tgtEl>
                                          <p:spTgt spid="1960977721"/>
                                        </p:tgtEl>
                                        <p:attrNameLst>
                                          <p:attrName>style.color</p:attrName>
                                        </p:attrNameLst>
                                      </p:cBhvr>
                                      <p:to>
                                        <a:srgbClr val="FF1F1F"/>
                                      </p:to>
                                    </p:animClr>
                                  </p:childTnLst>
                                </p:cTn>
                              </p:par>
                              <p:par>
                                <p:cTn id="33" presetID="3" presetClass="emph" presetSubtype="2" fill="hold" grpId="1" nodeType="withEffect">
                                  <p:stCondLst>
                                    <p:cond delay="0"/>
                                  </p:stCondLst>
                                  <p:childTnLst>
                                    <p:animClr clrSpc="rgb" dir="cw">
                                      <p:cBhvr override="childStyle">
                                        <p:cTn id="34" dur="2000" fill="hold"/>
                                        <p:tgtEl>
                                          <p:spTgt spid="1999717792"/>
                                        </p:tgtEl>
                                        <p:attrNameLst>
                                          <p:attrName>style.color</p:attrName>
                                        </p:attrNameLst>
                                      </p:cBhvr>
                                      <p:to>
                                        <a:srgbClr val="FF1F1F"/>
                                      </p:to>
                                    </p:animClr>
                                  </p:childTnLst>
                                </p:cTn>
                              </p:par>
                              <p:par>
                                <p:cTn id="35" presetID="3" presetClass="emph" presetSubtype="2" fill="hold" grpId="1" nodeType="withEffect">
                                  <p:stCondLst>
                                    <p:cond delay="0"/>
                                  </p:stCondLst>
                                  <p:childTnLst>
                                    <p:animClr clrSpc="rgb" dir="cw">
                                      <p:cBhvr override="childStyle">
                                        <p:cTn id="36" dur="2000" fill="hold"/>
                                        <p:tgtEl>
                                          <p:spTgt spid="1551070083"/>
                                        </p:tgtEl>
                                        <p:attrNameLst>
                                          <p:attrName>style.color</p:attrName>
                                        </p:attrNameLst>
                                      </p:cBhvr>
                                      <p:to>
                                        <a:srgbClr val="3AFF1F"/>
                                      </p:to>
                                    </p:animClr>
                                  </p:childTnLst>
                                </p:cTn>
                              </p:par>
                              <p:par>
                                <p:cTn id="37" presetID="3" presetClass="emph" presetSubtype="2" fill="hold" grpId="1" nodeType="withEffect">
                                  <p:stCondLst>
                                    <p:cond delay="0"/>
                                  </p:stCondLst>
                                  <p:childTnLst>
                                    <p:animClr clrSpc="rgb" dir="cw">
                                      <p:cBhvr override="childStyle">
                                        <p:cTn id="38" dur="2000" fill="hold"/>
                                        <p:tgtEl>
                                          <p:spTgt spid="1683006459"/>
                                        </p:tgtEl>
                                        <p:attrNameLst>
                                          <p:attrName>style.color</p:attrName>
                                        </p:attrNameLst>
                                      </p:cBhvr>
                                      <p:to>
                                        <a:srgbClr val="3AFF1F"/>
                                      </p:to>
                                    </p:animClr>
                                  </p:childTnLst>
                                </p:cTn>
                              </p:par>
                              <p:par>
                                <p:cTn id="39" presetID="3" presetClass="emph" presetSubtype="2" fill="hold" grpId="1" nodeType="withEffect">
                                  <p:stCondLst>
                                    <p:cond delay="0"/>
                                  </p:stCondLst>
                                  <p:childTnLst>
                                    <p:animClr clrSpc="rgb" dir="cw">
                                      <p:cBhvr override="childStyle">
                                        <p:cTn id="40" dur="2000" fill="hold"/>
                                        <p:tgtEl>
                                          <p:spTgt spid="641212234"/>
                                        </p:tgtEl>
                                        <p:attrNameLst>
                                          <p:attrName>style.color</p:attrName>
                                        </p:attrNameLst>
                                      </p:cBhvr>
                                      <p:to>
                                        <a:schemeClr val="accent1"/>
                                      </p:to>
                                    </p:animClr>
                                  </p:childTnLst>
                                </p:cTn>
                              </p:par>
                              <p:par>
                                <p:cTn id="41" presetID="3" presetClass="emph" presetSubtype="2" fill="hold" grpId="1" nodeType="withEffect">
                                  <p:stCondLst>
                                    <p:cond delay="0"/>
                                  </p:stCondLst>
                                  <p:childTnLst>
                                    <p:animClr clrSpc="rgb" dir="cw">
                                      <p:cBhvr override="childStyle">
                                        <p:cTn id="42" dur="2000" fill="hold"/>
                                        <p:tgtEl>
                                          <p:spTgt spid="636983483"/>
                                        </p:tgtEl>
                                        <p:attrNameLst>
                                          <p:attrName>style.color</p:attrName>
                                        </p:attrNameLst>
                                      </p:cBhvr>
                                      <p:to>
                                        <a:schemeClr val="accent1"/>
                                      </p:to>
                                    </p:animClr>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85018405"/>
                                        </p:tgtEl>
                                        <p:attrNameLst>
                                          <p:attrName>style.visibility</p:attrName>
                                        </p:attrNameLst>
                                      </p:cBhvr>
                                      <p:to>
                                        <p:strVal val="visible"/>
                                      </p:to>
                                    </p:set>
                                    <p:animEffect transition="in" filter="wipe(left)">
                                      <p:cBhvr>
                                        <p:cTn id="47" dur="500"/>
                                        <p:tgtEl>
                                          <p:spTgt spid="48501840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33425600"/>
                                        </p:tgtEl>
                                        <p:attrNameLst>
                                          <p:attrName>style.visibility</p:attrName>
                                        </p:attrNameLst>
                                      </p:cBhvr>
                                      <p:to>
                                        <p:strVal val="visible"/>
                                      </p:to>
                                    </p:set>
                                    <p:animEffect transition="in" filter="wipe(left)">
                                      <p:cBhvr>
                                        <p:cTn id="52" dur="500"/>
                                        <p:tgtEl>
                                          <p:spTgt spid="833425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0977721" grpId="0"/>
      <p:bldP spid="1960977721" grpId="1"/>
      <p:bldP spid="1551070083" grpId="0"/>
      <p:bldP spid="1551070083" grpId="1"/>
      <p:bldP spid="641212234" grpId="0"/>
      <p:bldP spid="641212234" grpId="1"/>
      <p:bldP spid="562732287" grpId="0"/>
      <p:bldP spid="1342524919" grpId="0"/>
      <p:bldP spid="1999717792" grpId="0"/>
      <p:bldP spid="1999717792" grpId="1"/>
      <p:bldP spid="1683006459" grpId="0"/>
      <p:bldP spid="1683006459" grpId="1"/>
      <p:bldP spid="636983483" grpId="0"/>
      <p:bldP spid="636983483" grpId="1"/>
      <p:bldP spid="510675141" grpId="0"/>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8206391" name="Title 1"/>
          <p:cNvSpPr>
            <a:spLocks noGrp="1"/>
          </p:cNvSpPr>
          <p:nvPr>
            <p:ph type="title"/>
          </p:nvPr>
        </p:nvSpPr>
        <p:spPr bwMode="auto"/>
        <p:txBody>
          <a:bodyPr>
            <a:normAutofit fontScale="90000"/>
          </a:bodyPr>
          <a:lstStyle/>
          <a:p>
            <a:pPr>
              <a:defRPr/>
            </a:pPr>
            <a:r>
              <a:rPr lang="en-US"/>
              <a:t>Seed-(chain)-extend</a:t>
            </a:r>
            <a:endParaRPr/>
          </a:p>
        </p:txBody>
      </p:sp>
      <p:pic>
        <p:nvPicPr>
          <p:cNvPr id="894143977" name="Picture 6"/>
          <p:cNvPicPr>
            <a:picLocks noChangeAspect="1"/>
          </p:cNvPicPr>
          <p:nvPr/>
        </p:nvPicPr>
        <p:blipFill rotWithShape="1">
          <a:blip r:embed="rId3"/>
          <a:stretch/>
        </p:blipFill>
        <p:spPr bwMode="auto">
          <a:xfrm>
            <a:off x="300513" y="932017"/>
            <a:ext cx="6761564" cy="5525051"/>
          </a:xfrm>
          <a:prstGeom prst="rect">
            <a:avLst/>
          </a:prstGeom>
        </p:spPr>
      </p:pic>
      <p:sp>
        <p:nvSpPr>
          <p:cNvPr id="592920180" name="Content Placeholder 2"/>
          <p:cNvSpPr>
            <a:spLocks noGrp="1"/>
          </p:cNvSpPr>
          <p:nvPr>
            <p:ph idx="1"/>
          </p:nvPr>
        </p:nvSpPr>
        <p:spPr bwMode="auto">
          <a:xfrm>
            <a:off x="8173941" y="1246694"/>
            <a:ext cx="3657600" cy="4836054"/>
          </a:xfrm>
        </p:spPr>
        <p:txBody>
          <a:bodyPr>
            <a:normAutofit/>
          </a:bodyPr>
          <a:lstStyle/>
          <a:p>
            <a:pPr>
              <a:defRPr/>
            </a:pPr>
            <a:r>
              <a:rPr lang="en-US"/>
              <a:t>Seeding: Exact matches of k-</a:t>
            </a:r>
            <a:r>
              <a:rPr lang="en-US"/>
              <a:t>mers</a:t>
            </a:r>
            <a:r>
              <a:rPr lang="en-US"/>
              <a:t> allow jumping directly into promising portions of the alignment matrix.</a:t>
            </a:r>
            <a:endParaRPr/>
          </a:p>
          <a:p>
            <a:pPr>
              <a:defRPr/>
            </a:pPr>
            <a:r>
              <a:rPr lang="en-US"/>
              <a:t>Can take all k-</a:t>
            </a:r>
            <a:r>
              <a:rPr lang="en-US"/>
              <a:t>mers</a:t>
            </a:r>
            <a:r>
              <a:rPr lang="en-US"/>
              <a:t> to look for matches, or can try sketching them (e.g. with minimizers)</a:t>
            </a:r>
            <a:endParaRPr/>
          </a:p>
        </p:txBody>
      </p:sp>
      <p:sp>
        <p:nvSpPr>
          <p:cNvPr id="177291963" name="Slide Number Placeholder 5"/>
          <p:cNvSpPr>
            <a:spLocks noGrp="1"/>
          </p:cNvSpPr>
          <p:nvPr>
            <p:ph type="sldNum" sz="quarter" idx="16"/>
          </p:nvPr>
        </p:nvSpPr>
        <p:spPr bwMode="auto"/>
        <p:txBody>
          <a:bodyPr/>
          <a:lstStyle>
            <a:lvl1pPr>
              <a:defRPr/>
            </a:lvl1pPr>
          </a:lstStyle>
          <a:p>
            <a:pPr>
              <a:defRPr/>
            </a:pPr>
            <a:fld id="{5A877947-90EB-0C20-B205-07A46F0D390A}"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2920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292018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20180"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688383" name="Title 1"/>
          <p:cNvSpPr>
            <a:spLocks noGrp="1"/>
          </p:cNvSpPr>
          <p:nvPr>
            <p:ph type="title"/>
          </p:nvPr>
        </p:nvSpPr>
        <p:spPr bwMode="auto"/>
        <p:txBody>
          <a:bodyPr>
            <a:normAutofit fontScale="90000"/>
          </a:bodyPr>
          <a:lstStyle/>
          <a:p>
            <a:pPr>
              <a:defRPr/>
            </a:pPr>
            <a:r>
              <a:rPr lang="en-US"/>
              <a:t>Optimal chains</a:t>
            </a:r>
            <a:endParaRPr/>
          </a:p>
        </p:txBody>
      </p:sp>
      <p:pic>
        <p:nvPicPr>
          <p:cNvPr id="619984878" name="Picture 5"/>
          <p:cNvPicPr>
            <a:picLocks noChangeAspect="1"/>
          </p:cNvPicPr>
          <p:nvPr/>
        </p:nvPicPr>
        <p:blipFill rotWithShape="1">
          <a:blip r:embed="rId3"/>
          <a:stretch/>
        </p:blipFill>
        <p:spPr bwMode="auto">
          <a:xfrm>
            <a:off x="311572" y="899959"/>
            <a:ext cx="6570135" cy="5807433"/>
          </a:xfrm>
          <a:prstGeom prst="rect">
            <a:avLst/>
          </a:prstGeom>
        </p:spPr>
      </p:pic>
      <p:sp>
        <p:nvSpPr>
          <p:cNvPr id="943772827" name="Content Placeholder 2"/>
          <p:cNvSpPr>
            <a:spLocks noGrp="1"/>
          </p:cNvSpPr>
          <p:nvPr>
            <p:ph idx="1"/>
          </p:nvPr>
        </p:nvSpPr>
        <p:spPr bwMode="auto">
          <a:xfrm>
            <a:off x="8173941" y="1246694"/>
            <a:ext cx="3657600" cy="4836054"/>
          </a:xfrm>
        </p:spPr>
        <p:txBody>
          <a:bodyPr>
            <a:normAutofit/>
          </a:bodyPr>
          <a:lstStyle/>
          <a:p>
            <a:pPr>
              <a:defRPr/>
            </a:pPr>
            <a:r>
              <a:rPr lang="en-US"/>
              <a:t>Groups of anchors that can lead into each other are known as chains.</a:t>
            </a:r>
            <a:endParaRPr/>
          </a:p>
          <a:p>
            <a:pPr>
              <a:defRPr/>
            </a:pPr>
            <a:endParaRPr lang="en-US"/>
          </a:p>
          <a:p>
            <a:pPr>
              <a:defRPr/>
            </a:pPr>
            <a:r>
              <a:rPr lang="en-US"/>
              <a:t>Longer chains typically result in a higher alignment score due to the many exact matches.</a:t>
            </a:r>
            <a:endParaRPr/>
          </a:p>
        </p:txBody>
      </p:sp>
      <p:sp>
        <p:nvSpPr>
          <p:cNvPr id="1888047785" name="Slide Number Placeholder 5"/>
          <p:cNvSpPr>
            <a:spLocks noGrp="1"/>
          </p:cNvSpPr>
          <p:nvPr>
            <p:ph type="sldNum" sz="quarter" idx="16"/>
          </p:nvPr>
        </p:nvSpPr>
        <p:spPr bwMode="auto"/>
        <p:txBody>
          <a:bodyPr/>
          <a:lstStyle>
            <a:lvl1pPr>
              <a:defRPr/>
            </a:lvl1pPr>
          </a:lstStyle>
          <a:p>
            <a:pPr>
              <a:defRPr/>
            </a:pPr>
            <a:fld id="{C8653381-AEB6-0663-22B3-5391F0A7E7AF}"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37728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37728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772827" grpId="0" build="p"/>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9674427" name="Rectangle 38"/>
          <p:cNvSpPr/>
          <p:nvPr/>
        </p:nvSpPr>
        <p:spPr bwMode="auto">
          <a:xfrm>
            <a:off x="4418856" y="2445926"/>
            <a:ext cx="276390" cy="801343"/>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2388736" name="Title 1"/>
          <p:cNvSpPr>
            <a:spLocks noGrp="1"/>
          </p:cNvSpPr>
          <p:nvPr>
            <p:ph type="title"/>
          </p:nvPr>
        </p:nvSpPr>
        <p:spPr bwMode="auto">
          <a:xfrm>
            <a:off x="386966" y="253472"/>
            <a:ext cx="9016409" cy="565334"/>
          </a:xfrm>
        </p:spPr>
        <p:txBody>
          <a:bodyPr>
            <a:normAutofit fontScale="90000"/>
          </a:bodyPr>
          <a:lstStyle/>
          <a:p>
            <a:pPr>
              <a:defRPr/>
            </a:pPr>
            <a:r>
              <a:rPr lang="en-US"/>
              <a:t>Extension</a:t>
            </a:r>
            <a:endParaRPr/>
          </a:p>
        </p:txBody>
      </p:sp>
      <p:cxnSp>
        <p:nvCxnSpPr>
          <p:cNvPr id="1499440842" name="Straight Arrow Connector 8"/>
          <p:cNvCxnSpPr/>
          <p:nvPr/>
        </p:nvCxnSpPr>
        <p:spPr bwMode="auto">
          <a:xfrm flipH="1" flipV="1">
            <a:off x="970366" y="1409099"/>
            <a:ext cx="1136" cy="4285215"/>
          </a:xfrm>
          <a:prstGeom prst="straightConnector1">
            <a:avLst/>
          </a:prstGeom>
          <a:ln w="28575">
            <a:tailEnd type="triangle" w="lg" len="lg"/>
          </a:ln>
        </p:spPr>
        <p:style>
          <a:lnRef idx="1">
            <a:schemeClr val="dk1"/>
          </a:lnRef>
          <a:fillRef idx="0">
            <a:schemeClr val="dk1"/>
          </a:fillRef>
          <a:effectRef idx="0">
            <a:schemeClr val="dk1"/>
          </a:effectRef>
          <a:fontRef idx="minor">
            <a:schemeClr val="tx1"/>
          </a:fontRef>
        </p:style>
      </p:cxnSp>
      <p:cxnSp>
        <p:nvCxnSpPr>
          <p:cNvPr id="1651485749" name="Straight Arrow Connector 9"/>
          <p:cNvCxnSpPr/>
          <p:nvPr/>
        </p:nvCxnSpPr>
        <p:spPr bwMode="auto">
          <a:xfrm>
            <a:off x="971502" y="5694313"/>
            <a:ext cx="5214210" cy="0"/>
          </a:xfrm>
          <a:prstGeom prst="straightConnector1">
            <a:avLst/>
          </a:prstGeom>
          <a:ln w="28575">
            <a:tailEnd type="triangle" w="lg" len="lg"/>
          </a:ln>
        </p:spPr>
        <p:style>
          <a:lnRef idx="1">
            <a:schemeClr val="dk1"/>
          </a:lnRef>
          <a:fillRef idx="0">
            <a:schemeClr val="dk1"/>
          </a:fillRef>
          <a:effectRef idx="0">
            <a:schemeClr val="dk1"/>
          </a:effectRef>
          <a:fontRef idx="minor">
            <a:schemeClr val="tx1"/>
          </a:fontRef>
        </p:style>
      </p:cxnSp>
      <p:sp>
        <p:nvSpPr>
          <p:cNvPr id="1555535620" name="Rectangle 21"/>
          <p:cNvSpPr/>
          <p:nvPr/>
        </p:nvSpPr>
        <p:spPr bwMode="auto">
          <a:xfrm>
            <a:off x="397761" y="6348708"/>
            <a:ext cx="302041" cy="293150"/>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67440651" name="TextBox 22"/>
          <p:cNvSpPr txBox="1"/>
          <p:nvPr/>
        </p:nvSpPr>
        <p:spPr bwMode="auto">
          <a:xfrm>
            <a:off x="726258" y="6299691"/>
            <a:ext cx="1094980" cy="369332"/>
          </a:xfrm>
          <a:prstGeom prst="rect">
            <a:avLst/>
          </a:prstGeom>
          <a:noFill/>
        </p:spPr>
        <p:txBody>
          <a:bodyPr wrap="none" rtlCol="0">
            <a:spAutoFit/>
          </a:bodyPr>
          <a:lstStyle/>
          <a:p>
            <a:pPr>
              <a:defRPr/>
            </a:pPr>
            <a:r>
              <a:rPr lang="en-US"/>
              <a:t>Extension</a:t>
            </a:r>
            <a:endParaRPr/>
          </a:p>
        </p:txBody>
      </p:sp>
      <p:sp>
        <p:nvSpPr>
          <p:cNvPr id="1991363112" name="Rectangle 23"/>
          <p:cNvSpPr/>
          <p:nvPr/>
        </p:nvSpPr>
        <p:spPr bwMode="auto">
          <a:xfrm rot="2700000">
            <a:off x="1932315" y="5448992"/>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4351107" name="Rectangle 24"/>
          <p:cNvSpPr/>
          <p:nvPr/>
        </p:nvSpPr>
        <p:spPr bwMode="auto">
          <a:xfrm rot="2704629">
            <a:off x="2331766" y="4374213"/>
            <a:ext cx="45719" cy="2931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92606241" name="Rectangle 25"/>
          <p:cNvSpPr/>
          <p:nvPr/>
        </p:nvSpPr>
        <p:spPr bwMode="auto">
          <a:xfrm rot="2704629">
            <a:off x="2748662" y="3948340"/>
            <a:ext cx="45719" cy="2931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11505271" name="Rectangle 27"/>
          <p:cNvSpPr/>
          <p:nvPr/>
        </p:nvSpPr>
        <p:spPr bwMode="auto">
          <a:xfrm rot="2704629">
            <a:off x="4278434" y="3207744"/>
            <a:ext cx="45719" cy="2931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15111741" name="Rectangle 28"/>
          <p:cNvSpPr/>
          <p:nvPr/>
        </p:nvSpPr>
        <p:spPr bwMode="auto">
          <a:xfrm rot="2704629">
            <a:off x="4792312" y="2187545"/>
            <a:ext cx="45719" cy="2931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57113791" name="Rectangle 29"/>
          <p:cNvSpPr/>
          <p:nvPr/>
        </p:nvSpPr>
        <p:spPr bwMode="auto">
          <a:xfrm rot="2700000">
            <a:off x="5260361" y="1826601"/>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07886269" name="Rectangle 30"/>
          <p:cNvSpPr/>
          <p:nvPr/>
        </p:nvSpPr>
        <p:spPr bwMode="auto">
          <a:xfrm rot="2700000">
            <a:off x="5766707" y="1324017"/>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2925773" name="Rectangle 35"/>
          <p:cNvSpPr/>
          <p:nvPr/>
        </p:nvSpPr>
        <p:spPr bwMode="auto">
          <a:xfrm>
            <a:off x="2083449" y="4610324"/>
            <a:ext cx="170897" cy="873900"/>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40366577" name="Rectangle 36"/>
          <p:cNvSpPr/>
          <p:nvPr/>
        </p:nvSpPr>
        <p:spPr bwMode="auto">
          <a:xfrm>
            <a:off x="2474552" y="4214606"/>
            <a:ext cx="177043" cy="195600"/>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66767759" name="Rectangle 37"/>
          <p:cNvSpPr/>
          <p:nvPr/>
        </p:nvSpPr>
        <p:spPr bwMode="auto">
          <a:xfrm>
            <a:off x="2891448" y="3804728"/>
            <a:ext cx="858015" cy="172947"/>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05461371" name="Rectangle 43"/>
          <p:cNvSpPr/>
          <p:nvPr/>
        </p:nvSpPr>
        <p:spPr bwMode="auto">
          <a:xfrm>
            <a:off x="5403029" y="1574237"/>
            <a:ext cx="282894" cy="303353"/>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55747822" name="Rectangle 26"/>
          <p:cNvSpPr/>
          <p:nvPr/>
        </p:nvSpPr>
        <p:spPr bwMode="auto">
          <a:xfrm rot="2700000">
            <a:off x="3842179" y="3542558"/>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95625425" name="TextBox 73"/>
          <p:cNvSpPr txBox="1"/>
          <p:nvPr/>
        </p:nvSpPr>
        <p:spPr bwMode="auto">
          <a:xfrm>
            <a:off x="283184" y="3165913"/>
            <a:ext cx="550151" cy="523220"/>
          </a:xfrm>
          <a:prstGeom prst="rect">
            <a:avLst/>
          </a:prstGeom>
          <a:noFill/>
        </p:spPr>
        <p:txBody>
          <a:bodyPr wrap="none"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2800" b="0" i="1">
                          <a:latin typeface="Cambria Math"/>
                        </a:rPr>
                        <m:t>𝑆</m:t>
                      </m:r>
                      <m:r>
                        <m:rPr/>
                        <a:rPr lang="en-US" sz="2800" b="0" i="1">
                          <a:latin typeface="Cambria Math"/>
                        </a:rPr>
                        <m:t>′</m:t>
                      </m:r>
                    </m:oMath>
                  </m:oMathPara>
                </a14:m>
              </mc:Choice>
              <mc:Fallback/>
            </mc:AlternateContent>
            <a:endParaRPr lang="en-US" sz="2800"/>
          </a:p>
        </p:txBody>
      </p:sp>
      <p:sp>
        <p:nvSpPr>
          <p:cNvPr id="1118672892" name="TextBox 74"/>
          <p:cNvSpPr txBox="1"/>
          <p:nvPr/>
        </p:nvSpPr>
        <p:spPr bwMode="auto">
          <a:xfrm>
            <a:off x="3547716" y="5880830"/>
            <a:ext cx="464165" cy="523220"/>
          </a:xfrm>
          <a:prstGeom prst="rect">
            <a:avLst/>
          </a:prstGeom>
          <a:noFill/>
        </p:spPr>
        <p:txBody>
          <a:bodyPr wrap="none"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2800" b="0" i="1">
                          <a:latin typeface="Cambria Math"/>
                        </a:rPr>
                        <m:t>𝑆</m:t>
                      </m:r>
                    </m:oMath>
                  </m:oMathPara>
                </a14:m>
              </mc:Choice>
              <mc:Fallback/>
            </mc:AlternateContent>
            <a:endParaRPr lang="en-US" sz="2800"/>
          </a:p>
        </p:txBody>
      </p:sp>
      <p:sp>
        <p:nvSpPr>
          <p:cNvPr id="1585653082" name="Rectangle 5"/>
          <p:cNvSpPr/>
          <p:nvPr/>
        </p:nvSpPr>
        <p:spPr bwMode="auto">
          <a:xfrm rot="2700000">
            <a:off x="494710" y="5995485"/>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7617390" name="TextBox 10"/>
          <p:cNvSpPr txBox="1"/>
          <p:nvPr/>
        </p:nvSpPr>
        <p:spPr bwMode="auto">
          <a:xfrm>
            <a:off x="679369" y="5957394"/>
            <a:ext cx="946926" cy="369332"/>
          </a:xfrm>
          <a:prstGeom prst="rect">
            <a:avLst/>
          </a:prstGeom>
          <a:noFill/>
        </p:spPr>
        <p:txBody>
          <a:bodyPr wrap="none" rtlCol="0">
            <a:spAutoFit/>
          </a:bodyPr>
          <a:lstStyle/>
          <a:p>
            <a:pPr>
              <a:defRPr/>
            </a:pPr>
            <a:r>
              <a:rPr lang="en-US"/>
              <a:t>Anchors</a:t>
            </a:r>
            <a:endParaRPr/>
          </a:p>
        </p:txBody>
      </p:sp>
      <p:sp>
        <p:nvSpPr>
          <p:cNvPr id="2075645351" name="Content Placeholder 2"/>
          <p:cNvSpPr>
            <a:spLocks noGrp="1"/>
          </p:cNvSpPr>
          <p:nvPr>
            <p:ph idx="1"/>
          </p:nvPr>
        </p:nvSpPr>
        <p:spPr bwMode="auto">
          <a:xfrm>
            <a:off x="6582162" y="253472"/>
            <a:ext cx="5690329" cy="6286674"/>
          </a:xfrm>
        </p:spPr>
        <p:txBody>
          <a:bodyPr>
            <a:normAutofit lnSpcReduction="10000"/>
          </a:bodyPr>
          <a:lstStyle/>
          <a:p>
            <a:pPr>
              <a:defRPr/>
            </a:pPr>
            <a:r>
              <a:rPr lang="en-US"/>
              <a:t>After finding reasonable chains, we can extend using dynamic programming through the gaps in the chain to get a full alignment.</a:t>
            </a:r>
            <a:endParaRPr/>
          </a:p>
          <a:p>
            <a:pPr>
              <a:defRPr/>
            </a:pPr>
            <a:endParaRPr lang="en-US"/>
          </a:p>
          <a:p>
            <a:pPr>
              <a:defRPr/>
            </a:pPr>
            <a:r>
              <a:rPr lang="en-US"/>
              <a:t>Much faster than full DP on the strings, because only extension boxes need to be considered after a chain is found.</a:t>
            </a:r>
            <a:endParaRPr/>
          </a:p>
          <a:p>
            <a:pPr>
              <a:defRPr/>
            </a:pPr>
            <a:endParaRPr lang="en-US"/>
          </a:p>
          <a:p>
            <a:pPr>
              <a:defRPr/>
            </a:pPr>
            <a:r>
              <a:rPr lang="en-US"/>
              <a:t>Possibly quadratic in worst case, but proven to have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𝑂</m:t>
                      </m:r>
                      <m:d>
                        <m:dPr>
                          <m:ctrlPr>
                            <a:rPr lang="en-US" b="0" i="1">
                              <a:latin typeface="Cambria Math"/>
                              <a:ea typeface="Cambria Math"/>
                              <a:cs typeface="Cambria Math"/>
                            </a:rPr>
                          </m:ctrlPr>
                        </m:dPr>
                        <m:e>
                          <m:sSup>
                            <m:sSupPr>
                              <m:ctrlPr>
                                <a:rPr lang="en-US" b="0" i="1">
                                  <a:latin typeface="Cambria Math"/>
                                  <a:ea typeface="Cambria Math"/>
                                  <a:cs typeface="Cambria Math"/>
                                </a:rPr>
                              </m:ctrlPr>
                            </m:sSupPr>
                            <m:e>
                              <m:r>
                                <m:rPr/>
                                <a:rPr lang="en-US" b="0" i="1">
                                  <a:latin typeface="Cambria Math"/>
                                </a:rPr>
                                <m:t>𝑛</m:t>
                              </m:r>
                            </m:e>
                            <m:sup>
                              <m:r>
                                <m:rPr/>
                                <a:rPr lang="en-US" b="0" i="1">
                                  <a:latin typeface="Cambria Math"/>
                                </a:rPr>
                                <m:t>1.16</m:t>
                              </m:r>
                            </m:sup>
                          </m:sSup>
                          <m:func>
                            <m:funcPr>
                              <m:ctrlPr>
                                <a:rPr lang="en-US" b="0" i="1">
                                  <a:latin typeface="Cambria Math"/>
                                  <a:ea typeface="Cambria Math"/>
                                  <a:cs typeface="Cambria Math"/>
                                </a:rPr>
                              </m:ctrlPr>
                            </m:funcPr>
                            <m:fName>
                              <m:r>
                                <m:rPr>
                                  <m:sty m:val="p"/>
                                </m:rPr>
                                <a:rPr lang="en-US" b="0" i="0">
                                  <a:latin typeface="Cambria Math"/>
                                </a:rPr>
                                <m:t>log</m:t>
                              </m:r>
                            </m:fName>
                            <m:e>
                              <m:r>
                                <m:rPr/>
                                <a:rPr lang="en-US" b="0" i="1">
                                  <a:latin typeface="Cambria Math"/>
                                </a:rPr>
                                <m:t>𝑛</m:t>
                              </m:r>
                            </m:e>
                          </m:func>
                        </m:e>
                      </m:d>
                    </m:oMath>
                  </m:oMathPara>
                </a14:m>
              </mc:Choice>
              <mc:Fallback/>
            </mc:AlternateContent>
            <a:r>
              <a:rPr lang="en-US"/>
              <a:t> runtime in average case for &lt;5% point mutation rates.</a:t>
            </a:r>
            <a:br>
              <a:rPr lang="en-US"/>
            </a:br>
            <a:r>
              <a:rPr lang="en-US"/>
              <a:t>[Shaw &amp; Yu, 2023]</a:t>
            </a:r>
            <a:br>
              <a:rPr lang="en-US"/>
            </a:br>
            <a:r>
              <a:rPr lang="en-US"/>
              <a:t>[Gibson &amp; Yu, 2025]</a:t>
            </a:r>
            <a:endParaRPr/>
          </a:p>
        </p:txBody>
      </p:sp>
      <p:sp>
        <p:nvSpPr>
          <p:cNvPr id="1716305846" name="Rectangle 11"/>
          <p:cNvSpPr/>
          <p:nvPr/>
        </p:nvSpPr>
        <p:spPr bwMode="auto">
          <a:xfrm rot="2700000">
            <a:off x="2451574" y="2761091"/>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4528046" name="Rectangle 13"/>
          <p:cNvSpPr/>
          <p:nvPr/>
        </p:nvSpPr>
        <p:spPr bwMode="auto">
          <a:xfrm rot="2700000">
            <a:off x="3177786" y="4980184"/>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226935" name="Rectangle 15"/>
          <p:cNvSpPr/>
          <p:nvPr/>
        </p:nvSpPr>
        <p:spPr bwMode="auto">
          <a:xfrm rot="2700000">
            <a:off x="4594019" y="4180625"/>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73270408" name="Rectangle 16"/>
          <p:cNvSpPr/>
          <p:nvPr/>
        </p:nvSpPr>
        <p:spPr bwMode="auto">
          <a:xfrm rot="2700000">
            <a:off x="4790200" y="5099992"/>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35121687" name="Rectangle 17"/>
          <p:cNvSpPr/>
          <p:nvPr/>
        </p:nvSpPr>
        <p:spPr bwMode="auto">
          <a:xfrm rot="2700000">
            <a:off x="3435664" y="2407004"/>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41094330" name="Rectangle 18"/>
          <p:cNvSpPr/>
          <p:nvPr/>
        </p:nvSpPr>
        <p:spPr bwMode="auto">
          <a:xfrm rot="2700000">
            <a:off x="2111678" y="2121896"/>
            <a:ext cx="45719" cy="2931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24329876" name="Rectangle 19"/>
          <p:cNvSpPr/>
          <p:nvPr/>
        </p:nvSpPr>
        <p:spPr bwMode="auto">
          <a:xfrm>
            <a:off x="4914222" y="2068763"/>
            <a:ext cx="312730" cy="145666"/>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97991789" name="Rectangle 20"/>
          <p:cNvSpPr/>
          <p:nvPr/>
        </p:nvSpPr>
        <p:spPr bwMode="auto">
          <a:xfrm>
            <a:off x="3984847" y="3457879"/>
            <a:ext cx="214736" cy="120736"/>
          </a:xfrm>
          <a:prstGeom prst="rect">
            <a:avLst/>
          </a:prstGeom>
          <a:solidFill>
            <a:schemeClr val="accent6">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53222596" name="Slide Number Placeholder 5"/>
          <p:cNvSpPr>
            <a:spLocks noGrp="1"/>
          </p:cNvSpPr>
          <p:nvPr>
            <p:ph type="sldNum" sz="quarter" idx="16"/>
          </p:nvPr>
        </p:nvSpPr>
        <p:spPr bwMode="auto"/>
        <p:txBody>
          <a:bodyPr/>
          <a:lstStyle>
            <a:lvl1pPr>
              <a:defRPr/>
            </a:lvl1pPr>
          </a:lstStyle>
          <a:p>
            <a:pPr>
              <a:defRPr/>
            </a:pPr>
            <a:fld id="{C6571E34-F6BA-138C-8A29-543E2ED8F2A2}"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7747927" name="Title 1"/>
          <p:cNvSpPr>
            <a:spLocks noGrp="1"/>
          </p:cNvSpPr>
          <p:nvPr>
            <p:ph type="title"/>
          </p:nvPr>
        </p:nvSpPr>
        <p:spPr bwMode="auto"/>
        <p:txBody>
          <a:bodyPr/>
          <a:lstStyle/>
          <a:p>
            <a:pPr>
              <a:defRPr/>
            </a:pPr>
            <a:r>
              <a:rPr lang="en-US"/>
              <a:t>Subsampling (sketching) k-</a:t>
            </a:r>
            <a:r>
              <a:rPr lang="en-US"/>
              <a:t>mers</a:t>
            </a:r>
            <a:endParaRPr lang="en-US"/>
          </a:p>
        </p:txBody>
      </p:sp>
      <p:grpSp>
        <p:nvGrpSpPr>
          <p:cNvPr id="177689258" name="Group 2"/>
          <p:cNvGrpSpPr/>
          <p:nvPr/>
        </p:nvGrpSpPr>
        <p:grpSpPr bwMode="auto">
          <a:xfrm>
            <a:off x="758687" y="1695699"/>
            <a:ext cx="3685248" cy="4960858"/>
            <a:chOff x="838200" y="1731255"/>
            <a:chExt cx="3685248" cy="4960858"/>
          </a:xfrm>
        </p:grpSpPr>
        <p:sp>
          <p:nvSpPr>
            <p:cNvPr id="8" name="Content Placeholder 2"/>
            <p:cNvSpPr txBox="1"/>
            <p:nvPr/>
          </p:nvSpPr>
          <p:spPr bwMode="auto">
            <a:xfrm>
              <a:off x="838200" y="1731255"/>
              <a:ext cx="3685248" cy="513455"/>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buNone/>
                <a:defRPr/>
              </a:pPr>
              <a:r>
                <a:rPr lang="en-US" sz="2200">
                  <a:latin typeface="Courier New"/>
                  <a:cs typeface="Courier New"/>
                </a:rPr>
                <a:t>AACGGAATTAACCCAAAGAA</a:t>
              </a:r>
              <a:endParaRPr/>
            </a:p>
          </p:txBody>
        </p:sp>
        <p:sp>
          <p:nvSpPr>
            <p:cNvPr id="13" name="Content Placeholder 2"/>
            <p:cNvSpPr txBox="1"/>
            <p:nvPr/>
          </p:nvSpPr>
          <p:spPr bwMode="auto">
            <a:xfrm>
              <a:off x="838200" y="2157975"/>
              <a:ext cx="3685248" cy="4534138"/>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00000"/>
                </a:lnSpc>
                <a:spcBef>
                  <a:spcPts val="0"/>
                </a:spcBef>
                <a:buNone/>
                <a:defRPr/>
              </a:pPr>
              <a:r>
                <a:rPr lang="en-US" sz="2200">
                  <a:latin typeface="Courier New"/>
                  <a:cs typeface="Courier New"/>
                </a:rPr>
                <a:t>AACGGAAT</a:t>
              </a:r>
              <a:endParaRPr/>
            </a:p>
            <a:p>
              <a:pPr marL="0" indent="0">
                <a:lnSpc>
                  <a:spcPct val="100000"/>
                </a:lnSpc>
                <a:spcBef>
                  <a:spcPts val="0"/>
                </a:spcBef>
                <a:buNone/>
                <a:defRPr/>
              </a:pPr>
              <a:r>
                <a:rPr lang="en-US" sz="2200">
                  <a:latin typeface="Courier New"/>
                  <a:cs typeface="Courier New"/>
                </a:rPr>
                <a:t> ACGGAATT</a:t>
              </a:r>
              <a:endParaRPr/>
            </a:p>
            <a:p>
              <a:pPr marL="0" indent="0">
                <a:lnSpc>
                  <a:spcPct val="100000"/>
                </a:lnSpc>
                <a:spcBef>
                  <a:spcPts val="0"/>
                </a:spcBef>
                <a:buNone/>
                <a:defRPr/>
              </a:pPr>
              <a:r>
                <a:rPr lang="en-US" sz="2200">
                  <a:latin typeface="Courier New"/>
                  <a:cs typeface="Courier New"/>
                </a:rPr>
                <a:t>  CGGAATTA</a:t>
              </a:r>
              <a:endParaRPr/>
            </a:p>
            <a:p>
              <a:pPr marL="0" indent="0">
                <a:lnSpc>
                  <a:spcPct val="100000"/>
                </a:lnSpc>
                <a:spcBef>
                  <a:spcPts val="0"/>
                </a:spcBef>
                <a:buNone/>
                <a:defRPr/>
              </a:pPr>
              <a:r>
                <a:rPr lang="en-US" sz="2200">
                  <a:latin typeface="Courier New"/>
                  <a:cs typeface="Courier New"/>
                </a:rPr>
                <a:t>   GGAATTAA</a:t>
              </a:r>
              <a:endParaRPr/>
            </a:p>
            <a:p>
              <a:pPr marL="0" indent="0">
                <a:lnSpc>
                  <a:spcPct val="100000"/>
                </a:lnSpc>
                <a:spcBef>
                  <a:spcPts val="0"/>
                </a:spcBef>
                <a:buNone/>
                <a:defRPr/>
              </a:pPr>
              <a:r>
                <a:rPr lang="en-US" sz="2200">
                  <a:latin typeface="Courier New"/>
                  <a:cs typeface="Courier New"/>
                </a:rPr>
                <a:t>    GAATTAAC</a:t>
              </a:r>
              <a:endParaRPr/>
            </a:p>
            <a:p>
              <a:pPr marL="0" indent="0">
                <a:lnSpc>
                  <a:spcPct val="100000"/>
                </a:lnSpc>
                <a:spcBef>
                  <a:spcPts val="0"/>
                </a:spcBef>
                <a:buNone/>
                <a:defRPr/>
              </a:pPr>
              <a:r>
                <a:rPr lang="en-US" sz="2200">
                  <a:latin typeface="Courier New"/>
                  <a:cs typeface="Courier New"/>
                </a:rPr>
                <a:t>     AATTAACC</a:t>
              </a:r>
              <a:endParaRPr/>
            </a:p>
            <a:p>
              <a:pPr marL="0" indent="0">
                <a:lnSpc>
                  <a:spcPct val="100000"/>
                </a:lnSpc>
                <a:spcBef>
                  <a:spcPts val="0"/>
                </a:spcBef>
                <a:buNone/>
                <a:defRPr/>
              </a:pPr>
              <a:r>
                <a:rPr lang="en-US" sz="2200">
                  <a:latin typeface="Courier New"/>
                  <a:cs typeface="Courier New"/>
                </a:rPr>
                <a:t>      ATTAACCC</a:t>
              </a:r>
              <a:endParaRPr/>
            </a:p>
            <a:p>
              <a:pPr marL="0" indent="0">
                <a:lnSpc>
                  <a:spcPct val="100000"/>
                </a:lnSpc>
                <a:spcBef>
                  <a:spcPts val="0"/>
                </a:spcBef>
                <a:buNone/>
                <a:defRPr/>
              </a:pPr>
              <a:r>
                <a:rPr lang="en-US" sz="2200">
                  <a:latin typeface="Courier New"/>
                  <a:cs typeface="Courier New"/>
                </a:rPr>
                <a:t>       TTAACCCA</a:t>
              </a:r>
              <a:endParaRPr/>
            </a:p>
            <a:p>
              <a:pPr marL="0" indent="0">
                <a:lnSpc>
                  <a:spcPct val="100000"/>
                </a:lnSpc>
                <a:spcBef>
                  <a:spcPts val="0"/>
                </a:spcBef>
                <a:buNone/>
                <a:defRPr/>
              </a:pPr>
              <a:r>
                <a:rPr lang="en-US" sz="2200">
                  <a:latin typeface="Courier New"/>
                  <a:cs typeface="Courier New"/>
                </a:rPr>
                <a:t>        TAACCCAA</a:t>
              </a:r>
              <a:endParaRPr/>
            </a:p>
            <a:p>
              <a:pPr marL="0" indent="0">
                <a:lnSpc>
                  <a:spcPct val="100000"/>
                </a:lnSpc>
                <a:spcBef>
                  <a:spcPts val="0"/>
                </a:spcBef>
                <a:buNone/>
                <a:defRPr/>
              </a:pPr>
              <a:r>
                <a:rPr lang="en-US" sz="2200">
                  <a:latin typeface="Courier New"/>
                  <a:cs typeface="Courier New"/>
                </a:rPr>
                <a:t>         AACCCAAA</a:t>
              </a:r>
              <a:endParaRPr/>
            </a:p>
            <a:p>
              <a:pPr marL="0" indent="0">
                <a:lnSpc>
                  <a:spcPct val="100000"/>
                </a:lnSpc>
                <a:spcBef>
                  <a:spcPts val="0"/>
                </a:spcBef>
                <a:buNone/>
                <a:defRPr/>
              </a:pPr>
              <a:r>
                <a:rPr lang="en-US" sz="2200">
                  <a:latin typeface="Courier New"/>
                  <a:cs typeface="Courier New"/>
                </a:rPr>
                <a:t>          ACCCAAAG</a:t>
              </a:r>
              <a:endParaRPr/>
            </a:p>
            <a:p>
              <a:pPr marL="0" indent="0">
                <a:lnSpc>
                  <a:spcPct val="100000"/>
                </a:lnSpc>
                <a:spcBef>
                  <a:spcPts val="0"/>
                </a:spcBef>
                <a:buNone/>
                <a:defRPr/>
              </a:pPr>
              <a:r>
                <a:rPr lang="en-US" sz="2200">
                  <a:latin typeface="Courier New"/>
                  <a:cs typeface="Courier New"/>
                </a:rPr>
                <a:t>           CCCAAAGA</a:t>
              </a:r>
              <a:endParaRPr/>
            </a:p>
            <a:p>
              <a:pPr marL="0" indent="0">
                <a:lnSpc>
                  <a:spcPct val="100000"/>
                </a:lnSpc>
                <a:spcBef>
                  <a:spcPts val="0"/>
                </a:spcBef>
                <a:buNone/>
                <a:defRPr/>
              </a:pPr>
              <a:r>
                <a:rPr lang="en-US" sz="2200">
                  <a:latin typeface="Courier New"/>
                  <a:cs typeface="Courier New"/>
                </a:rPr>
                <a:t>            CCAAAGAA</a:t>
              </a:r>
              <a:endParaRPr/>
            </a:p>
            <a:p>
              <a:pPr marL="0" indent="0">
                <a:lnSpc>
                  <a:spcPct val="100000"/>
                </a:lnSpc>
                <a:spcBef>
                  <a:spcPts val="0"/>
                </a:spcBef>
                <a:buNone/>
                <a:defRPr/>
              </a:pPr>
              <a:endParaRPr lang="en-US" sz="2200">
                <a:latin typeface="Courier New"/>
                <a:cs typeface="Courier New"/>
              </a:endParaRPr>
            </a:p>
          </p:txBody>
        </p:sp>
      </p:grpSp>
      <p:grpSp>
        <p:nvGrpSpPr>
          <p:cNvPr id="1956910818" name="Group 3"/>
          <p:cNvGrpSpPr/>
          <p:nvPr/>
        </p:nvGrpSpPr>
        <p:grpSpPr bwMode="auto">
          <a:xfrm>
            <a:off x="4557374" y="1695699"/>
            <a:ext cx="2805533" cy="4967089"/>
            <a:chOff x="4557374" y="1695699"/>
            <a:chExt cx="2805533" cy="4967089"/>
          </a:xfrm>
        </p:grpSpPr>
        <p:sp>
          <p:nvSpPr>
            <p:cNvPr id="15" name="Content Placeholder 2"/>
            <p:cNvSpPr txBox="1"/>
            <p:nvPr/>
          </p:nvSpPr>
          <p:spPr bwMode="auto">
            <a:xfrm>
              <a:off x="4557374" y="2128650"/>
              <a:ext cx="2805533" cy="4534138"/>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a:t>
              </a:r>
              <a:r>
                <a:rPr lang="en-US" sz="2200">
                  <a:latin typeface="Courier New"/>
                  <a:cs typeface="Courier New"/>
                </a:rPr>
                <a:t>ACGGAATT</a:t>
              </a:r>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a:t>
              </a:r>
              <a:r>
                <a:rPr lang="en-US" sz="2200">
                  <a:latin typeface="Courier New"/>
                  <a:cs typeface="Courier New"/>
                </a:rPr>
                <a:t>GAATTAAC</a:t>
              </a:r>
              <a:endParaRPr/>
            </a:p>
            <a:p>
              <a:pPr marL="0" indent="0">
                <a:lnSpc>
                  <a:spcPct val="100000"/>
                </a:lnSpc>
                <a:spcBef>
                  <a:spcPts val="0"/>
                </a:spcBef>
                <a:buNone/>
                <a:defRPr/>
              </a:pPr>
              <a:r>
                <a:rPr lang="en-US" sz="2200">
                  <a:latin typeface="Courier New"/>
                  <a:cs typeface="Courier New"/>
                </a:rPr>
                <a:t> </a:t>
              </a:r>
              <a:r>
                <a:rPr lang="en-US" sz="2200">
                  <a:latin typeface="Courier New"/>
                  <a:cs typeface="Courier New"/>
                </a:rPr>
                <a:t>AATTAACC</a:t>
              </a:r>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a:t>
              </a:r>
              <a:r>
                <a:rPr lang="en-US" sz="2200">
                  <a:latin typeface="Courier New"/>
                  <a:cs typeface="Courier New"/>
                </a:rPr>
                <a:t>ACCCAAAG</a:t>
              </a:r>
              <a:endParaRPr/>
            </a:p>
            <a:p>
              <a:pPr marL="0" indent="0">
                <a:lnSpc>
                  <a:spcPct val="100000"/>
                </a:lnSpc>
                <a:spcBef>
                  <a:spcPts val="0"/>
                </a:spcBef>
                <a:buNone/>
                <a:defRPr/>
              </a:pPr>
              <a:endParaRPr lang="en-US" sz="2200">
                <a:latin typeface="Courier New"/>
                <a:cs typeface="Courier New"/>
              </a:endParaRPr>
            </a:p>
          </p:txBody>
        </p:sp>
        <p:sp>
          <p:nvSpPr>
            <p:cNvPr id="31" name="Content Placeholder 2"/>
            <p:cNvSpPr txBox="1"/>
            <p:nvPr/>
          </p:nvSpPr>
          <p:spPr bwMode="auto">
            <a:xfrm>
              <a:off x="4922344" y="1695699"/>
              <a:ext cx="1836265" cy="513455"/>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buNone/>
                <a:defRPr/>
              </a:pPr>
              <a:r>
                <a:rPr lang="en-US" sz="2200">
                  <a:latin typeface="Courier New"/>
                  <a:cs typeface="Courier New"/>
                </a:rPr>
                <a:t>Sampled</a:t>
              </a:r>
              <a:endParaRPr/>
            </a:p>
          </p:txBody>
        </p:sp>
      </p:grpSp>
      <p:sp>
        <p:nvSpPr>
          <p:cNvPr id="1966712700" name="Content Placeholder 2"/>
          <p:cNvSpPr>
            <a:spLocks noGrp="1"/>
          </p:cNvSpPr>
          <p:nvPr>
            <p:ph idx="1"/>
          </p:nvPr>
        </p:nvSpPr>
        <p:spPr bwMode="auto">
          <a:xfrm>
            <a:off x="7418567" y="1592387"/>
            <a:ext cx="4500438" cy="4900488"/>
          </a:xfrm>
        </p:spPr>
        <p:txBody>
          <a:bodyPr>
            <a:normAutofit/>
          </a:bodyPr>
          <a:lstStyle/>
          <a:p>
            <a:pPr>
              <a:defRPr/>
            </a:pPr>
            <a:r>
              <a:rPr lang="en-US"/>
              <a:t>Lots of redundant information between adjacent k-</a:t>
            </a:r>
            <a:r>
              <a:rPr lang="en-US"/>
              <a:t>mers</a:t>
            </a:r>
            <a:r>
              <a:rPr lang="en-US"/>
              <a:t>, which are highly non-independent.</a:t>
            </a:r>
            <a:endParaRPr/>
          </a:p>
          <a:p>
            <a:pPr>
              <a:defRPr/>
            </a:pPr>
            <a:endParaRPr lang="en-US"/>
          </a:p>
          <a:p>
            <a:pPr>
              <a:defRPr/>
            </a:pPr>
            <a:r>
              <a:rPr lang="en-US"/>
              <a:t>Sampling may or may not preserve sequential order.</a:t>
            </a:r>
            <a:endParaRPr/>
          </a:p>
          <a:p>
            <a:pPr lvl="1">
              <a:defRPr/>
            </a:pPr>
            <a:r>
              <a:rPr lang="en-US"/>
              <a:t>MinHash</a:t>
            </a:r>
            <a:r>
              <a:rPr lang="en-US"/>
              <a:t> (no ordering)</a:t>
            </a:r>
            <a:endParaRPr/>
          </a:p>
          <a:p>
            <a:pPr lvl="1">
              <a:defRPr/>
            </a:pPr>
            <a:r>
              <a:rPr lang="en-US"/>
              <a:t>Minimizers (order preserved)</a:t>
            </a:r>
            <a:endParaRPr/>
          </a:p>
        </p:txBody>
      </p:sp>
      <p:sp>
        <p:nvSpPr>
          <p:cNvPr id="622523666" name="Slide Number Placeholder 5"/>
          <p:cNvSpPr>
            <a:spLocks noGrp="1"/>
          </p:cNvSpPr>
          <p:nvPr>
            <p:ph type="sldNum" sz="quarter" idx="12"/>
          </p:nvPr>
        </p:nvSpPr>
        <p:spPr bwMode="auto"/>
        <p:txBody>
          <a:bodyPr/>
          <a:lstStyle/>
          <a:p>
            <a:pPr>
              <a:defRPr/>
            </a:pPr>
            <a:fld id="{78B380D9-6C5D-6EDF-501C-06640C46D7B3}"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7127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956910818"/>
                                        </p:tgtEl>
                                        <p:attrNameLst>
                                          <p:attrName>style.visibility</p:attrName>
                                        </p:attrNameLst>
                                      </p:cBhvr>
                                      <p:to>
                                        <p:strVal val="visible"/>
                                      </p:to>
                                    </p:set>
                                    <p:animEffect transition="in" filter="wipe(left)">
                                      <p:cBhvr>
                                        <p:cTn id="11" dur="500"/>
                                        <p:tgtEl>
                                          <p:spTgt spid="195691081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966712700">
                                            <p:txEl>
                                              <p:pRg st="2" end="2"/>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966712700">
                                            <p:txEl>
                                              <p:pRg st="3" end="3"/>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9667127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712700"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1830990" name="Title 1"/>
          <p:cNvSpPr>
            <a:spLocks noGrp="1"/>
          </p:cNvSpPr>
          <p:nvPr>
            <p:ph type="title"/>
          </p:nvPr>
        </p:nvSpPr>
        <p:spPr bwMode="auto"/>
        <p:txBody>
          <a:bodyPr/>
          <a:lstStyle/>
          <a:p>
            <a:pPr>
              <a:defRPr/>
            </a:pPr>
            <a:r>
              <a:rPr lang="en-US"/>
              <a:t>Divergence via k-</a:t>
            </a:r>
            <a:r>
              <a:rPr lang="en-US"/>
              <a:t>mer</a:t>
            </a:r>
            <a:r>
              <a:rPr lang="en-US"/>
              <a:t> spectrum shift</a:t>
            </a:r>
            <a:endParaRPr/>
          </a:p>
        </p:txBody>
      </p:sp>
      <p:sp>
        <p:nvSpPr>
          <p:cNvPr id="619120358" name="Text Placeholder 2"/>
          <p:cNvSpPr>
            <a:spLocks noGrp="1"/>
          </p:cNvSpPr>
          <p:nvPr>
            <p:ph type="body" idx="1"/>
          </p:nvPr>
        </p:nvSpPr>
        <p:spPr bwMode="auto">
          <a:xfrm>
            <a:off x="838200" y="1463203"/>
            <a:ext cx="10515600" cy="1018600"/>
          </a:xfrm>
        </p:spPr>
        <p:txBody>
          <a:bodyPr/>
          <a:lstStyle/>
          <a:p>
            <a:pPr>
              <a:defRPr/>
            </a:pPr>
            <a:r>
              <a:rPr lang="en-US"/>
              <a:t>Given a random genome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𝑆</m:t>
                      </m:r>
                    </m:oMath>
                  </m:oMathPara>
                </a14:m>
              </mc:Choice>
              <mc:Fallback/>
            </mc:AlternateContent>
            <a:r>
              <a:rPr lang="en-US"/>
              <a:t> of </a:t>
            </a:r>
            <a:r>
              <a:rPr lang="en-US" b="0"/>
              <a:t>length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𝑛</m:t>
                      </m:r>
                    </m:oMath>
                  </m:oMathPara>
                </a14:m>
              </mc:Choice>
              <mc:Fallback/>
            </mc:AlternateContent>
            <a:r>
              <a:rPr lang="en-US" b="0"/>
              <a:t>, and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𝑆</m:t>
                      </m:r>
                      <m:r>
                        <m:rPr/>
                        <a:rPr lang="en-US" b="0" i="1">
                          <a:latin typeface="Cambria Math"/>
                        </a:rPr>
                        <m:t>′</m:t>
                      </m:r>
                    </m:oMath>
                  </m:oMathPara>
                </a14:m>
              </mc:Choice>
              <mc:Fallback/>
            </mc:AlternateContent>
            <a:r>
              <a:rPr lang="en-US" b="0"/>
              <a:t> generated from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𝑆</m:t>
                      </m:r>
                    </m:oMath>
                  </m:oMathPara>
                </a14:m>
              </mc:Choice>
              <mc:Fallback/>
            </mc:AlternateContent>
            <a:r>
              <a:rPr lang="en-US" b="0"/>
              <a:t> by randomly substituting with divergence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𝜃</m:t>
                      </m:r>
                    </m:oMath>
                  </m:oMathPara>
                </a14:m>
              </mc:Choice>
              <mc:Fallback/>
            </mc:AlternateContent>
            <a:r>
              <a:rPr lang="en-US" b="0"/>
              <a:t>, recover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𝜃</m:t>
                      </m:r>
                    </m:oMath>
                  </m:oMathPara>
                </a14:m>
              </mc:Choice>
              <mc:Fallback/>
            </mc:AlternateContent>
            <a:r>
              <a:rPr lang="en-US" b="0"/>
              <a:t>.</a:t>
            </a:r>
            <a:endParaRPr/>
          </a:p>
        </p:txBody>
      </p:sp>
      <p:sp>
        <p:nvSpPr>
          <p:cNvPr id="747666548" name="Oval 3"/>
          <p:cNvSpPr/>
          <p:nvPr/>
        </p:nvSpPr>
        <p:spPr bwMode="auto">
          <a:xfrm>
            <a:off x="1568665" y="2979161"/>
            <a:ext cx="2486025" cy="2486025"/>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40283774" name="Oval 4"/>
          <p:cNvSpPr/>
          <p:nvPr/>
        </p:nvSpPr>
        <p:spPr bwMode="auto">
          <a:xfrm>
            <a:off x="1568664" y="3672106"/>
            <a:ext cx="2486025" cy="2486025"/>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1474162019" name="TextBox 5"/>
          <p:cNvSpPr txBox="1"/>
          <p:nvPr/>
        </p:nvSpPr>
        <p:spPr bwMode="auto">
          <a:xfrm>
            <a:off x="881064" y="3603413"/>
            <a:ext cx="503664" cy="584775"/>
          </a:xfrm>
          <a:prstGeom prst="rect">
            <a:avLst/>
          </a:prstGeom>
          <a:noFill/>
        </p:spPr>
        <p:txBody>
          <a:bodyPr wrap="none"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3200" b="0" i="1">
                          <a:solidFill>
                            <a:schemeClr val="accent6"/>
                          </a:solidFill>
                          <a:latin typeface="Cambria Math"/>
                        </a:rPr>
                        <m:t>𝑆</m:t>
                      </m:r>
                    </m:oMath>
                  </m:oMathPara>
                </a14:m>
              </mc:Choice>
              <mc:Fallback/>
            </mc:AlternateContent>
            <a:endParaRPr lang="en-US" sz="3200">
              <a:solidFill>
                <a:schemeClr val="accent6"/>
              </a:solidFill>
            </a:endParaRPr>
          </a:p>
        </p:txBody>
      </p:sp>
      <p:grpSp>
        <p:nvGrpSpPr>
          <p:cNvPr id="803957965" name="Group 21"/>
          <p:cNvGrpSpPr/>
          <p:nvPr/>
        </p:nvGrpSpPr>
        <p:grpSpPr bwMode="auto">
          <a:xfrm>
            <a:off x="838200" y="4286468"/>
            <a:ext cx="601447" cy="1082897"/>
            <a:chOff x="3548642" y="4279106"/>
            <a:chExt cx="601447" cy="1082897"/>
          </a:xfrm>
        </p:grpSpPr>
        <p:sp>
          <p:nvSpPr>
            <p:cNvPr id="7" name="TextBox 6"/>
            <p:cNvSpPr txBox="1"/>
            <p:nvPr/>
          </p:nvSpPr>
          <p:spPr bwMode="auto">
            <a:xfrm>
              <a:off x="3548642" y="4777228"/>
              <a:ext cx="601447" cy="584775"/>
            </a:xfrm>
            <a:prstGeom prst="rect">
              <a:avLst/>
            </a:prstGeom>
            <a:noFill/>
          </p:spPr>
          <p:txBody>
            <a:bodyPr wrap="none"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3200" b="0" i="1">
                            <a:solidFill>
                              <a:srgbClr val="FF0000"/>
                            </a:solidFill>
                            <a:latin typeface="Cambria Math"/>
                          </a:rPr>
                          <m:t>𝑆</m:t>
                        </m:r>
                        <m:r>
                          <m:rPr/>
                          <a:rPr lang="en-US" sz="3200" b="0" i="1">
                            <a:solidFill>
                              <a:srgbClr val="FF0000"/>
                            </a:solidFill>
                            <a:latin typeface="Cambria Math"/>
                          </a:rPr>
                          <m:t>′</m:t>
                        </m:r>
                      </m:oMath>
                    </m:oMathPara>
                  </a14:m>
                </mc:Choice>
                <mc:Fallback/>
              </mc:AlternateContent>
              <a:endParaRPr lang="en-US" sz="3200">
                <a:solidFill>
                  <a:srgbClr val="FF0000"/>
                </a:solidFill>
              </a:endParaRPr>
            </a:p>
          </p:txBody>
        </p:sp>
        <p:cxnSp>
          <p:nvCxnSpPr>
            <p:cNvPr id="9" name="Straight Arrow Connector 8"/>
            <p:cNvCxnSpPr/>
            <p:nvPr/>
          </p:nvCxnSpPr>
          <p:spPr bwMode="auto">
            <a:xfrm>
              <a:off x="3843338" y="4279106"/>
              <a:ext cx="0" cy="36433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sp>
        <p:nvSpPr>
          <p:cNvPr id="127218870" name="Text Placeholder 2"/>
          <p:cNvSpPr txBox="1"/>
          <p:nvPr/>
        </p:nvSpPr>
        <p:spPr bwMode="auto">
          <a:xfrm>
            <a:off x="4964906" y="2530942"/>
            <a:ext cx="6346030" cy="4119889"/>
          </a:xfrm>
          <a:prstGeom prst="rect">
            <a:avLst/>
          </a:prstGeom>
        </p:spPr>
        <p:txBody>
          <a:bodyPr vert="horz" lIns="91440" tIns="45720" rIns="91440" bIns="45720" rtlCol="0">
            <a:normAutofit lnSpcReduction="10000"/>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550942" indent="-200911" algn="l" defTabSz="914400" rtl="0">
              <a:lnSpc>
                <a:spcPct val="90000"/>
              </a:lnSpc>
              <a:spcBef>
                <a:spcPts val="633"/>
              </a:spcBef>
              <a:buFont typeface="Arial"/>
              <a:buChar char="–"/>
              <a:defRPr sz="2700">
                <a:solidFill>
                  <a:schemeClr val="tx1"/>
                </a:solidFill>
                <a:latin typeface="+mn-lt"/>
                <a:ea typeface="+mn-ea"/>
                <a:cs typeface="+mn-cs"/>
              </a:defRPr>
            </a:lvl2pPr>
            <a:lvl3pPr marL="832217" indent="-160729" algn="l" defTabSz="914400" rtl="0">
              <a:lnSpc>
                <a:spcPct val="90000"/>
              </a:lnSpc>
              <a:spcBef>
                <a:spcPts val="562"/>
              </a:spcBef>
              <a:buFont typeface="Arial"/>
              <a:buChar char="•"/>
              <a:defRPr sz="2400">
                <a:solidFill>
                  <a:schemeClr val="tx1"/>
                </a:solidFill>
                <a:latin typeface="+mn-lt"/>
                <a:ea typeface="+mn-ea"/>
                <a:cs typeface="+mn-cs"/>
              </a:defRPr>
            </a:lvl3pPr>
            <a:lvl4pPr marL="1153674" indent="-160729" algn="l" defTabSz="914400" rtl="0">
              <a:lnSpc>
                <a:spcPct val="90000"/>
              </a:lnSpc>
              <a:spcBef>
                <a:spcPts val="422"/>
              </a:spcBef>
              <a:buFont typeface="Arial"/>
              <a:buChar char="–"/>
              <a:defRPr sz="2000">
                <a:solidFill>
                  <a:schemeClr val="tx1"/>
                </a:solidFill>
                <a:latin typeface="+mn-lt"/>
                <a:ea typeface="+mn-ea"/>
                <a:cs typeface="+mn-cs"/>
              </a:defRPr>
            </a:lvl4pPr>
            <a:lvl5pPr marL="1475131" indent="-160729" algn="l" defTabSz="914400" rtl="0">
              <a:lnSpc>
                <a:spcPct val="90000"/>
              </a:lnSpc>
              <a:spcBef>
                <a:spcPts val="422"/>
              </a:spcBef>
              <a:buFont typeface="Arial"/>
              <a:buChar char="»"/>
              <a:defRPr sz="20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en-US"/>
              <a:t>Probability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𝑝</m:t>
                      </m:r>
                      <m:r>
                        <m:rPr/>
                        <a:rPr lang="en-US" b="0" i="1">
                          <a:latin typeface="Cambria Math"/>
                        </a:rPr>
                        <m:t>=</m:t>
                      </m:r>
                      <m:sSup>
                        <m:sSupPr>
                          <m:ctrlPr>
                            <a:rPr lang="en-US" b="0" i="1">
                              <a:latin typeface="Cambria Math"/>
                              <a:ea typeface="Cambria Math"/>
                              <a:cs typeface="Cambria Math"/>
                            </a:rPr>
                          </m:ctrlPr>
                        </m:sSupPr>
                        <m:e>
                          <m:d>
                            <m:dPr>
                              <m:ctrlPr>
                                <a:rPr lang="en-US" b="0" i="1">
                                  <a:latin typeface="Cambria Math"/>
                                  <a:ea typeface="Cambria Math"/>
                                  <a:cs typeface="Cambria Math"/>
                                </a:rPr>
                              </m:ctrlPr>
                            </m:dPr>
                            <m:e>
                              <m:r>
                                <m:rPr/>
                                <a:rPr lang="en-US" b="0" i="1">
                                  <a:latin typeface="Cambria Math"/>
                                </a:rPr>
                                <m:t>1−</m:t>
                              </m:r>
                              <m:r>
                                <m:rPr/>
                                <a:rPr lang="en-US" b="0" i="1">
                                  <a:latin typeface="Cambria Math"/>
                                </a:rPr>
                                <m:t>𝜃</m:t>
                              </m:r>
                            </m:e>
                          </m:d>
                        </m:e>
                        <m:sup>
                          <m:r>
                            <m:rPr/>
                            <a:rPr lang="en-US" b="0" i="1">
                              <a:latin typeface="Cambria Math"/>
                            </a:rPr>
                            <m:t>𝑘</m:t>
                          </m:r>
                        </m:sup>
                      </m:sSup>
                    </m:oMath>
                  </m:oMathPara>
                </a14:m>
              </mc:Choice>
              <mc:Fallback/>
            </mc:AlternateContent>
            <a:r>
              <a:rPr lang="en-US"/>
              <a:t> that a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is retained,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m:t>
                      </m:r>
                      <m:f>
                        <m:fPr>
                          <m:ctrlPr>
                            <a:rPr lang="en-US" b="0" i="1">
                              <a:latin typeface="Cambria Math"/>
                              <a:ea typeface="Cambria Math"/>
                              <a:cs typeface="Cambria Math"/>
                            </a:rPr>
                          </m:ctrlPr>
                        </m:fPr>
                        <m:num>
                          <m:d>
                            <m:dPr>
                              <m:begChr m:val="|"/>
                              <m:endChr m:val="|"/>
                              <m:ctrlPr>
                                <a:rPr lang="en-US" b="0" i="1">
                                  <a:latin typeface="Cambria Math"/>
                                  <a:ea typeface="Cambria Math"/>
                                  <a:cs typeface="Cambria Math"/>
                                </a:rPr>
                              </m:ctrlPr>
                            </m:dPr>
                            <m:e>
                              <m:r>
                                <m:rPr/>
                                <a:rPr lang="en-US" b="0" i="1">
                                  <a:latin typeface="Cambria Math"/>
                                </a:rPr>
                                <m:t>𝑆</m:t>
                              </m:r>
                              <m:r>
                                <m:rPr/>
                                <a:rPr lang="en-US" b="0" i="1">
                                  <a:latin typeface="Cambria Math"/>
                                </a:rPr>
                                <m:t>∩</m:t>
                              </m:r>
                              <m:sSup>
                                <m:sSupPr>
                                  <m:ctrlPr>
                                    <a:rPr lang="en-US" b="0" i="1">
                                      <a:latin typeface="Cambria Math"/>
                                      <a:ea typeface="Cambria Math"/>
                                      <a:cs typeface="Cambria Math"/>
                                    </a:rPr>
                                  </m:ctrlPr>
                                </m:sSupPr>
                                <m:e>
                                  <m:r>
                                    <m:rPr/>
                                    <a:rPr lang="en-US" b="0" i="1">
                                      <a:latin typeface="Cambria Math"/>
                                    </a:rPr>
                                    <m:t>𝑆</m:t>
                                  </m:r>
                                </m:e>
                                <m:sup>
                                  <m:r>
                                    <m:rPr/>
                                    <a:rPr lang="en-US" b="0" i="1">
                                      <a:latin typeface="Cambria Math"/>
                                    </a:rPr>
                                    <m:t>′</m:t>
                                  </m:r>
                                </m:sup>
                              </m:sSup>
                            </m:e>
                          </m:d>
                        </m:num>
                        <m:den>
                          <m:r>
                            <m:rPr/>
                            <a:rPr lang="en-US" b="0" i="1">
                              <a:latin typeface="Cambria Math"/>
                            </a:rPr>
                            <m:t>|</m:t>
                          </m:r>
                          <m:r>
                            <m:rPr/>
                            <a:rPr lang="en-US" b="0" i="1">
                              <a:latin typeface="Cambria Math"/>
                            </a:rPr>
                            <m:t>𝑆</m:t>
                          </m:r>
                          <m:r>
                            <m:rPr/>
                            <a:rPr lang="en-US" b="0" i="1">
                              <a:latin typeface="Cambria Math"/>
                            </a:rPr>
                            <m:t>|</m:t>
                          </m:r>
                        </m:den>
                      </m:f>
                    </m:oMath>
                  </m:oMathPara>
                </a14:m>
              </mc:Choice>
              <mc:Fallback/>
            </mc:AlternateContent>
            <a:r>
              <a:rPr lang="en-US"/>
              <a:t> (containment index).</a:t>
            </a:r>
            <a:endParaRPr/>
          </a:p>
          <a:p>
            <a:pPr>
              <a:defRPr/>
            </a:pPr>
            <a:r>
              <a:rPr lang="en-US"/>
              <a:t>Divergence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𝜃</m:t>
                      </m:r>
                      <m:r>
                        <m:rPr/>
                        <a:rPr lang="en-US" b="0" i="1">
                          <a:latin typeface="Cambria Math"/>
                        </a:rPr>
                        <m:t>=1−</m:t>
                      </m:r>
                      <m:sSup>
                        <m:sSupPr>
                          <m:ctrlPr>
                            <a:rPr lang="en-US" b="0" i="1">
                              <a:latin typeface="Cambria Math"/>
                              <a:ea typeface="Cambria Math"/>
                              <a:cs typeface="Cambria Math"/>
                            </a:rPr>
                          </m:ctrlPr>
                        </m:sSupPr>
                        <m:e>
                          <m:r>
                            <m:rPr/>
                            <a:rPr lang="en-US" b="0" i="1">
                              <a:latin typeface="Cambria Math"/>
                            </a:rPr>
                            <m:t>𝑝</m:t>
                          </m:r>
                        </m:e>
                        <m:sup>
                          <m:f>
                            <m:fPr>
                              <m:ctrlPr>
                                <a:rPr lang="en-US" b="0" i="1">
                                  <a:latin typeface="Cambria Math"/>
                                  <a:ea typeface="Cambria Math"/>
                                  <a:cs typeface="Cambria Math"/>
                                </a:rPr>
                              </m:ctrlPr>
                            </m:fPr>
                            <m:num>
                              <m:r>
                                <m:rPr/>
                                <a:rPr lang="en-US" b="0" i="1">
                                  <a:latin typeface="Cambria Math"/>
                                </a:rPr>
                                <m:t>1</m:t>
                              </m:r>
                            </m:num>
                            <m:den>
                              <m:r>
                                <m:rPr/>
                                <a:rPr lang="en-US" b="0" i="1">
                                  <a:latin typeface="Cambria Math"/>
                                </a:rPr>
                                <m:t>𝑘</m:t>
                              </m:r>
                            </m:den>
                          </m:f>
                        </m:sup>
                      </m:sSup>
                    </m:oMath>
                  </m:oMathPara>
                </a14:m>
              </mc:Choice>
              <mc:Fallback/>
            </mc:AlternateContent>
            <a:r>
              <a:rPr lang="en-US"/>
              <a:t>.</a:t>
            </a:r>
            <a:endParaRPr/>
          </a:p>
          <a:p>
            <a:pPr>
              <a:defRPr/>
            </a:pPr>
            <a:endParaRPr lang="en-US"/>
          </a:p>
          <a:p>
            <a:pPr>
              <a:defRPr/>
            </a:pPr>
            <a:r>
              <a:rPr lang="en-US"/>
              <a:t>In terms of Jaccard index [1902]:</a:t>
            </a:r>
            <a:br>
              <a:rPr lang="en-US" b="0" i="1">
                <a:latin typeface="Cambria Math"/>
              </a:rPr>
            </a:b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𝑗</m:t>
                      </m:r>
                      <m:r>
                        <m:rPr/>
                        <a:rPr lang="en-US" b="0" i="1">
                          <a:latin typeface="Cambria Math"/>
                        </a:rPr>
                        <m:t>=</m:t>
                      </m:r>
                      <m:f>
                        <m:fPr>
                          <m:ctrlPr>
                            <a:rPr lang="en-US" i="1">
                              <a:latin typeface="Cambria Math"/>
                              <a:ea typeface="Cambria Math"/>
                              <a:cs typeface="Cambria Math"/>
                            </a:rPr>
                          </m:ctrlPr>
                        </m:fPr>
                        <m:num>
                          <m:d>
                            <m:dPr>
                              <m:begChr m:val="|"/>
                              <m:endChr m:val="|"/>
                              <m:ctrlPr>
                                <a:rPr lang="en-US" i="1">
                                  <a:latin typeface="Cambria Math"/>
                                  <a:ea typeface="Cambria Math"/>
                                  <a:cs typeface="Cambria Math"/>
                                </a:rPr>
                              </m:ctrlPr>
                            </m:dPr>
                            <m:e>
                              <m:r>
                                <m:rPr/>
                                <a:rPr lang="en-US" i="1">
                                  <a:latin typeface="Cambria Math"/>
                                </a:rPr>
                                <m:t>𝑆</m:t>
                              </m:r>
                              <m:r>
                                <m:rPr/>
                                <a:rPr lang="en-US" i="1">
                                  <a:latin typeface="Cambria Math"/>
                                </a:rPr>
                                <m:t>∩</m:t>
                              </m:r>
                              <m:sSup>
                                <m:sSupPr>
                                  <m:ctrlPr>
                                    <a:rPr lang="en-US" i="1">
                                      <a:latin typeface="Cambria Math"/>
                                      <a:ea typeface="Cambria Math"/>
                                      <a:cs typeface="Cambria Math"/>
                                    </a:rPr>
                                  </m:ctrlPr>
                                </m:sSupPr>
                                <m:e>
                                  <m:r>
                                    <m:rPr/>
                                    <a:rPr lang="en-US" i="1">
                                      <a:latin typeface="Cambria Math"/>
                                    </a:rPr>
                                    <m:t>𝑆</m:t>
                                  </m:r>
                                </m:e>
                                <m:sup>
                                  <m:r>
                                    <m:rPr/>
                                    <a:rPr lang="en-US" i="1">
                                      <a:latin typeface="Cambria Math"/>
                                    </a:rPr>
                                    <m:t>′</m:t>
                                  </m:r>
                                </m:sup>
                              </m:sSup>
                            </m:e>
                          </m:d>
                        </m:num>
                        <m:den>
                          <m:d>
                            <m:dPr>
                              <m:begChr m:val="|"/>
                              <m:endChr m:val="|"/>
                              <m:ctrlPr>
                                <a:rPr lang="en-US" i="1">
                                  <a:latin typeface="Cambria Math"/>
                                  <a:ea typeface="Cambria Math"/>
                                  <a:cs typeface="Cambria Math"/>
                                </a:rPr>
                              </m:ctrlPr>
                            </m:dPr>
                            <m:e>
                              <m:r>
                                <m:rPr/>
                                <a:rPr lang="en-US" i="1">
                                  <a:latin typeface="Cambria Math"/>
                                </a:rPr>
                                <m:t>𝑆</m:t>
                              </m:r>
                              <m:r>
                                <m:rPr/>
                                <a:rPr lang="en-US" b="0" i="1">
                                  <a:latin typeface="Cambria Math"/>
                                </a:rPr>
                                <m:t>∪</m:t>
                              </m:r>
                              <m:sSup>
                                <m:sSupPr>
                                  <m:ctrlPr>
                                    <a:rPr lang="en-US" b="0" i="1">
                                      <a:latin typeface="Cambria Math"/>
                                      <a:ea typeface="Cambria Math"/>
                                      <a:cs typeface="Cambria Math"/>
                                    </a:rPr>
                                  </m:ctrlPr>
                                </m:sSupPr>
                                <m:e>
                                  <m:r>
                                    <m:rPr/>
                                    <a:rPr lang="en-US" b="0" i="1">
                                      <a:latin typeface="Cambria Math"/>
                                    </a:rPr>
                                    <m:t>𝑆</m:t>
                                  </m:r>
                                </m:e>
                                <m:sup>
                                  <m:r>
                                    <m:rPr/>
                                    <a:rPr lang="en-US" b="0" i="1">
                                      <a:latin typeface="Cambria Math"/>
                                    </a:rPr>
                                    <m:t>′</m:t>
                                  </m:r>
                                </m:sup>
                              </m:sSup>
                            </m:e>
                          </m:d>
                        </m:den>
                      </m:f>
                    </m:oMath>
                  </m:oMathPara>
                </a14:m>
              </mc:Choice>
              <mc:Fallback/>
            </mc:AlternateContent>
            <a:endParaRPr lang="en-US"/>
          </a:p>
          <a:p>
            <a:pPr>
              <a:defRPr/>
            </a:pPr>
            <a:r>
              <a:rPr lang="en-US"/>
              <a:t>Divergence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𝜃</m:t>
                      </m:r>
                      <m:r>
                        <m:rPr/>
                        <a:rPr lang="en-US" i="1">
                          <a:latin typeface="Cambria Math"/>
                        </a:rPr>
                        <m:t>=−</m:t>
                      </m:r>
                      <m:f>
                        <m:fPr>
                          <m:ctrlPr>
                            <a:rPr lang="en-US" i="1">
                              <a:latin typeface="Cambria Math"/>
                              <a:ea typeface="Cambria Math"/>
                              <a:cs typeface="Cambria Math"/>
                            </a:rPr>
                          </m:ctrlPr>
                        </m:fPr>
                        <m:num>
                          <m:r>
                            <m:rPr/>
                            <a:rPr lang="en-US" i="1">
                              <a:latin typeface="Cambria Math"/>
                            </a:rPr>
                            <m:t>1</m:t>
                          </m:r>
                        </m:num>
                        <m:den>
                          <m:r>
                            <m:rPr/>
                            <a:rPr lang="en-US" i="1">
                              <a:latin typeface="Cambria Math"/>
                            </a:rPr>
                            <m:t>𝑘</m:t>
                          </m:r>
                        </m:den>
                      </m:f>
                      <m:func>
                        <m:funcPr>
                          <m:ctrlPr>
                            <a:rPr lang="en-US" i="1">
                              <a:latin typeface="Cambria Math"/>
                              <a:ea typeface="Cambria Math"/>
                              <a:cs typeface="Cambria Math"/>
                            </a:rPr>
                          </m:ctrlPr>
                        </m:funcPr>
                        <m:fName>
                          <m:r>
                            <m:rPr>
                              <m:sty m:val="p"/>
                            </m:rPr>
                            <a:rPr lang="en-US">
                              <a:latin typeface="Cambria Math"/>
                            </a:rPr>
                            <m:t>ln</m:t>
                          </m:r>
                        </m:fName>
                        <m:e>
                          <m:f>
                            <m:fPr>
                              <m:ctrlPr>
                                <a:rPr lang="en-US" i="1">
                                  <a:latin typeface="Cambria Math"/>
                                  <a:ea typeface="Cambria Math"/>
                                  <a:cs typeface="Cambria Math"/>
                                </a:rPr>
                              </m:ctrlPr>
                            </m:fPr>
                            <m:num>
                              <m:r>
                                <m:rPr/>
                                <a:rPr lang="en-US" i="1">
                                  <a:latin typeface="Cambria Math"/>
                                </a:rPr>
                                <m:t>2</m:t>
                              </m:r>
                              <m:r>
                                <m:rPr/>
                                <a:rPr lang="en-US" i="1">
                                  <a:latin typeface="Cambria Math"/>
                                </a:rPr>
                                <m:t>𝑗</m:t>
                              </m:r>
                            </m:num>
                            <m:den>
                              <m:r>
                                <m:rPr/>
                                <a:rPr lang="en-US" i="1">
                                  <a:latin typeface="Cambria Math"/>
                                </a:rPr>
                                <m:t>1+</m:t>
                              </m:r>
                              <m:r>
                                <m:rPr/>
                                <a:rPr lang="en-US" i="1">
                                  <a:latin typeface="Cambria Math"/>
                                </a:rPr>
                                <m:t>𝑗</m:t>
                              </m:r>
                            </m:den>
                          </m:f>
                        </m:e>
                      </m:func>
                    </m:oMath>
                  </m:oMathPara>
                </a14:m>
              </mc:Choice>
              <mc:Fallback/>
            </mc:AlternateContent>
            <a:endParaRPr lang="en-US"/>
          </a:p>
        </p:txBody>
      </p:sp>
      <p:sp>
        <p:nvSpPr>
          <p:cNvPr id="632194756" name="TextBox 23"/>
          <p:cNvSpPr txBox="1"/>
          <p:nvPr/>
        </p:nvSpPr>
        <p:spPr bwMode="auto">
          <a:xfrm>
            <a:off x="2213126" y="4286468"/>
            <a:ext cx="1288750" cy="584775"/>
          </a:xfrm>
          <a:prstGeom prst="rect">
            <a:avLst/>
          </a:prstGeom>
          <a:noFill/>
        </p:spPr>
        <p:txBody>
          <a:bodyPr wrap="none"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3200" b="0" i="1">
                          <a:solidFill>
                            <a:schemeClr val="tx1"/>
                          </a:solidFill>
                          <a:latin typeface="Cambria Math"/>
                        </a:rPr>
                        <m:t>𝑆</m:t>
                      </m:r>
                      <m:r>
                        <m:rPr/>
                        <a:rPr lang="en-US" sz="3200" b="0" i="1">
                          <a:solidFill>
                            <a:schemeClr val="tx1"/>
                          </a:solidFill>
                          <a:latin typeface="Cambria Math"/>
                        </a:rPr>
                        <m:t>∩</m:t>
                      </m:r>
                      <m:r>
                        <m:rPr/>
                        <a:rPr lang="en-US" sz="3200" b="0" i="1">
                          <a:solidFill>
                            <a:schemeClr val="tx1"/>
                          </a:solidFill>
                          <a:latin typeface="Cambria Math"/>
                        </a:rPr>
                        <m:t>𝑆</m:t>
                      </m:r>
                      <m:r>
                        <m:rPr/>
                        <a:rPr lang="en-US" sz="3200" b="0" i="1">
                          <a:solidFill>
                            <a:schemeClr val="tx1"/>
                          </a:solidFill>
                          <a:latin typeface="Cambria Math"/>
                        </a:rPr>
                        <m:t>′</m:t>
                      </m:r>
                    </m:oMath>
                  </m:oMathPara>
                </a14:m>
              </mc:Choice>
              <mc:Fallback/>
            </mc:AlternateContent>
            <a:endParaRPr lang="en-US" sz="3200">
              <a:solidFill>
                <a:schemeClr val="accent6"/>
              </a:solidFill>
            </a:endParaRPr>
          </a:p>
        </p:txBody>
      </p:sp>
      <p:sp>
        <p:nvSpPr>
          <p:cNvPr id="1452284458" name="TextBox 24"/>
          <p:cNvSpPr txBox="1"/>
          <p:nvPr/>
        </p:nvSpPr>
        <p:spPr bwMode="auto">
          <a:xfrm>
            <a:off x="2213126" y="6266300"/>
            <a:ext cx="1288750" cy="584775"/>
          </a:xfrm>
          <a:prstGeom prst="rect">
            <a:avLst/>
          </a:prstGeom>
          <a:noFill/>
        </p:spPr>
        <p:txBody>
          <a:bodyPr wrap="none"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3200" b="0" i="1">
                          <a:solidFill>
                            <a:schemeClr val="tx1"/>
                          </a:solidFill>
                          <a:latin typeface="Cambria Math"/>
                        </a:rPr>
                        <m:t>𝑆</m:t>
                      </m:r>
                      <m:r>
                        <m:rPr/>
                        <a:rPr lang="en-US" sz="3200" b="0" i="1">
                          <a:solidFill>
                            <a:schemeClr val="tx1"/>
                          </a:solidFill>
                          <a:latin typeface="Cambria Math"/>
                        </a:rPr>
                        <m:t>∪</m:t>
                      </m:r>
                      <m:r>
                        <m:rPr/>
                        <a:rPr lang="en-US" sz="3200" b="0" i="1">
                          <a:solidFill>
                            <a:schemeClr val="tx1"/>
                          </a:solidFill>
                          <a:latin typeface="Cambria Math"/>
                        </a:rPr>
                        <m:t>𝑆</m:t>
                      </m:r>
                      <m:r>
                        <m:rPr/>
                        <a:rPr lang="en-US" sz="3200" b="0" i="1">
                          <a:solidFill>
                            <a:schemeClr val="tx1"/>
                          </a:solidFill>
                          <a:latin typeface="Cambria Math"/>
                        </a:rPr>
                        <m:t>′</m:t>
                      </m:r>
                    </m:oMath>
                  </m:oMathPara>
                </a14:m>
              </mc:Choice>
              <mc:Fallback/>
            </mc:AlternateContent>
            <a:endParaRPr lang="en-US" sz="3200">
              <a:solidFill>
                <a:schemeClr val="accent6"/>
              </a:solidFill>
            </a:endParaRPr>
          </a:p>
        </p:txBody>
      </p:sp>
      <p:sp>
        <p:nvSpPr>
          <p:cNvPr id="1721515208" name="Slide Number Placeholder 3"/>
          <p:cNvSpPr>
            <a:spLocks noGrp="1"/>
          </p:cNvSpPr>
          <p:nvPr>
            <p:ph type="sldNum" sz="quarter" idx="12"/>
          </p:nvPr>
        </p:nvSpPr>
        <p:spPr bwMode="auto"/>
        <p:txBody>
          <a:bodyPr/>
          <a:lstStyle>
            <a:lvl1pPr>
              <a:defRPr/>
            </a:lvl1pPr>
          </a:lstStyle>
          <a:p>
            <a:pPr>
              <a:defRPr/>
            </a:pPr>
            <a:fld id="{F8AD2F19-5C63-C288-B195-7554DB157592}" type="slidenum">
              <a:rPr lang="en-US"/>
              <a:t>17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0283774"/>
                                        </p:tgtEl>
                                        <p:attrNameLst>
                                          <p:attrName>style.visibility</p:attrName>
                                        </p:attrNameLst>
                                      </p:cBhvr>
                                      <p:to>
                                        <p:strVal val="visible"/>
                                      </p:to>
                                    </p:set>
                                    <p:animEffect transition="in" filter="fade">
                                      <p:cBhvr>
                                        <p:cTn id="7" dur="1000"/>
                                        <p:tgtEl>
                                          <p:spTgt spid="40283774"/>
                                        </p:tgtEl>
                                      </p:cBhvr>
                                    </p:animEffect>
                                    <p:anim calcmode="lin" valueType="num">
                                      <p:cBhvr>
                                        <p:cTn id="8" dur="1000" fill="hold"/>
                                        <p:tgtEl>
                                          <p:spTgt spid="40283774"/>
                                        </p:tgtEl>
                                        <p:attrNameLst>
                                          <p:attrName>ppt_x</p:attrName>
                                        </p:attrNameLst>
                                      </p:cBhvr>
                                      <p:tavLst>
                                        <p:tav tm="0">
                                          <p:val>
                                            <p:strVal val="#ppt_x"/>
                                          </p:val>
                                        </p:tav>
                                        <p:tav tm="100000">
                                          <p:val>
                                            <p:strVal val="#ppt_x"/>
                                          </p:val>
                                        </p:tav>
                                      </p:tavLst>
                                    </p:anim>
                                    <p:anim calcmode="lin" valueType="num">
                                      <p:cBhvr>
                                        <p:cTn id="9" dur="1000" fill="hold"/>
                                        <p:tgtEl>
                                          <p:spTgt spid="402837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803957965"/>
                                        </p:tgtEl>
                                        <p:attrNameLst>
                                          <p:attrName>style.visibility</p:attrName>
                                        </p:attrNameLst>
                                      </p:cBhvr>
                                      <p:to>
                                        <p:strVal val="visible"/>
                                      </p:to>
                                    </p:set>
                                    <p:animEffect transition="in" filter="wipe(up)">
                                      <p:cBhvr>
                                        <p:cTn id="14" dur="1000"/>
                                        <p:tgtEl>
                                          <p:spTgt spid="80395796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721887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721887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7218870">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21947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522844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72188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83774" grpId="0" animBg="1"/>
      <p:bldP spid="127218870" grpId="0" uiExpand="1" build="p"/>
      <p:bldP spid="632194756" grpId="0"/>
      <p:bldP spid="1452284458" grpId="0"/>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6622297" name="Title 1"/>
          <p:cNvSpPr>
            <a:spLocks noGrp="1"/>
          </p:cNvSpPr>
          <p:nvPr>
            <p:ph type="title"/>
          </p:nvPr>
        </p:nvSpPr>
        <p:spPr bwMode="auto"/>
        <p:txBody>
          <a:bodyPr/>
          <a:lstStyle/>
          <a:p>
            <a:pPr>
              <a:defRPr/>
            </a:pPr>
            <a:r>
              <a:rPr lang="en-US"/>
              <a:t>MinHash</a:t>
            </a:r>
            <a:r>
              <a:rPr lang="en-US"/>
              <a:t> [Broder, 1997]</a:t>
            </a:r>
            <a:endParaRPr/>
          </a:p>
        </p:txBody>
      </p:sp>
      <p:grpSp>
        <p:nvGrpSpPr>
          <p:cNvPr id="33984042" name="Group 166"/>
          <p:cNvGrpSpPr/>
          <p:nvPr/>
        </p:nvGrpSpPr>
        <p:grpSpPr bwMode="auto">
          <a:xfrm>
            <a:off x="2504689" y="1257927"/>
            <a:ext cx="7102818" cy="1879949"/>
            <a:chOff x="980689" y="1207126"/>
            <a:chExt cx="7102818" cy="1879949"/>
          </a:xfrm>
        </p:grpSpPr>
        <p:sp>
          <p:nvSpPr>
            <p:cNvPr id="51" name="Oval 50"/>
            <p:cNvSpPr/>
            <p:nvPr/>
          </p:nvSpPr>
          <p:spPr bwMode="auto">
            <a:xfrm>
              <a:off x="9873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2" name="Oval 51"/>
            <p:cNvSpPr/>
            <p:nvPr/>
          </p:nvSpPr>
          <p:spPr bwMode="auto">
            <a:xfrm>
              <a:off x="134933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3" name="Oval 52"/>
            <p:cNvSpPr/>
            <p:nvPr/>
          </p:nvSpPr>
          <p:spPr bwMode="auto">
            <a:xfrm>
              <a:off x="17112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4" name="Oval 53"/>
            <p:cNvSpPr/>
            <p:nvPr/>
          </p:nvSpPr>
          <p:spPr bwMode="auto">
            <a:xfrm>
              <a:off x="207323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5" name="Oval 54"/>
            <p:cNvSpPr/>
            <p:nvPr/>
          </p:nvSpPr>
          <p:spPr bwMode="auto">
            <a:xfrm>
              <a:off x="24351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6" name="Oval 55"/>
            <p:cNvSpPr/>
            <p:nvPr/>
          </p:nvSpPr>
          <p:spPr bwMode="auto">
            <a:xfrm>
              <a:off x="279713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7" name="Oval 56"/>
            <p:cNvSpPr/>
            <p:nvPr/>
          </p:nvSpPr>
          <p:spPr bwMode="auto">
            <a:xfrm>
              <a:off x="31590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8" name="Oval 57"/>
            <p:cNvSpPr/>
            <p:nvPr/>
          </p:nvSpPr>
          <p:spPr bwMode="auto">
            <a:xfrm>
              <a:off x="3521031"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9" name="Oval 58"/>
            <p:cNvSpPr/>
            <p:nvPr/>
          </p:nvSpPr>
          <p:spPr bwMode="auto">
            <a:xfrm>
              <a:off x="388298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0" name="Oval 59"/>
            <p:cNvSpPr/>
            <p:nvPr/>
          </p:nvSpPr>
          <p:spPr bwMode="auto">
            <a:xfrm>
              <a:off x="424493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1" name="Oval 60"/>
            <p:cNvSpPr/>
            <p:nvPr/>
          </p:nvSpPr>
          <p:spPr bwMode="auto">
            <a:xfrm>
              <a:off x="460688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2" name="Oval 61"/>
            <p:cNvSpPr/>
            <p:nvPr/>
          </p:nvSpPr>
          <p:spPr bwMode="auto">
            <a:xfrm>
              <a:off x="496883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3" name="Oval 62"/>
            <p:cNvSpPr/>
            <p:nvPr/>
          </p:nvSpPr>
          <p:spPr bwMode="auto">
            <a:xfrm>
              <a:off x="533078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4" name="Oval 63"/>
            <p:cNvSpPr/>
            <p:nvPr/>
          </p:nvSpPr>
          <p:spPr bwMode="auto">
            <a:xfrm>
              <a:off x="569273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5" name="Oval 64"/>
            <p:cNvSpPr/>
            <p:nvPr/>
          </p:nvSpPr>
          <p:spPr bwMode="auto">
            <a:xfrm>
              <a:off x="605468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6" name="Oval 65"/>
            <p:cNvSpPr/>
            <p:nvPr/>
          </p:nvSpPr>
          <p:spPr bwMode="auto">
            <a:xfrm>
              <a:off x="641663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7" name="Oval 66"/>
            <p:cNvSpPr/>
            <p:nvPr/>
          </p:nvSpPr>
          <p:spPr bwMode="auto">
            <a:xfrm>
              <a:off x="677858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8" name="Oval 67"/>
            <p:cNvSpPr/>
            <p:nvPr/>
          </p:nvSpPr>
          <p:spPr bwMode="auto">
            <a:xfrm>
              <a:off x="714053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9" name="Oval 68"/>
            <p:cNvSpPr/>
            <p:nvPr/>
          </p:nvSpPr>
          <p:spPr bwMode="auto">
            <a:xfrm>
              <a:off x="750248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70" name="Oval 69"/>
            <p:cNvSpPr/>
            <p:nvPr/>
          </p:nvSpPr>
          <p:spPr bwMode="auto">
            <a:xfrm>
              <a:off x="786443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71" name="Left Brace 70"/>
            <p:cNvSpPr/>
            <p:nvPr/>
          </p:nvSpPr>
          <p:spPr bwMode="auto">
            <a:xfrm rot="16199999">
              <a:off x="3204005" y="9938"/>
              <a:ext cx="484488" cy="4931120"/>
            </a:xfrm>
            <a:prstGeom prst="leftBrace">
              <a:avLst>
                <a:gd name="adj1" fmla="val 8333"/>
                <a:gd name="adj2" fmla="val 50000"/>
              </a:avLst>
            </a:prstGeom>
            <a:noFill/>
            <a:ln w="6350" cap="flat" cmpd="sng" algn="ctr">
              <a:solidFill>
                <a:schemeClr val="tx1"/>
              </a:solidFill>
              <a:prstDash val="solid"/>
              <a:miter lim="800000"/>
            </a:ln>
            <a:effectLst/>
          </p:spPr>
          <p:txBody>
            <a:bodyPr rtlCol="0" anchor="ctr"/>
            <a:lstStyle/>
            <a:p>
              <a:pPr defTabSz="457200">
                <a:defRPr/>
              </a:pPr>
              <a:endParaRPr lang="en-US">
                <a:solidFill>
                  <a:prstClr val="black"/>
                </a:solidFill>
                <a:latin typeface="Calibri"/>
              </a:endParaRPr>
            </a:p>
          </p:txBody>
        </p:sp>
        <p:sp>
          <p:nvSpPr>
            <p:cNvPr id="72" name="Left Brace 71"/>
            <p:cNvSpPr/>
            <p:nvPr/>
          </p:nvSpPr>
          <p:spPr bwMode="auto">
            <a:xfrm rot="5400000">
              <a:off x="5741001" y="-336307"/>
              <a:ext cx="484488" cy="4200525"/>
            </a:xfrm>
            <a:prstGeom prst="leftBrace">
              <a:avLst>
                <a:gd name="adj1" fmla="val 8333"/>
                <a:gd name="adj2" fmla="val 50000"/>
              </a:avLst>
            </a:prstGeom>
            <a:noFill/>
            <a:ln w="6350" cap="flat" cmpd="sng" algn="ctr">
              <a:solidFill>
                <a:schemeClr val="tx1"/>
              </a:solidFill>
              <a:prstDash val="solid"/>
              <a:miter lim="800000"/>
            </a:ln>
            <a:effectLst/>
          </p:spPr>
          <p:txBody>
            <a:bodyPr rtlCol="0" anchor="ctr"/>
            <a:lstStyle/>
            <a:p>
              <a:pPr defTabSz="457200">
                <a:defRPr/>
              </a:pPr>
              <a:endParaRPr lang="en-US">
                <a:solidFill>
                  <a:prstClr val="black"/>
                </a:solidFill>
                <a:latin typeface="Calibri"/>
              </a:endParaRPr>
            </a:p>
          </p:txBody>
        </p:sp>
        <p:sp>
          <p:nvSpPr>
            <p:cNvPr id="73" name="Rectangle 72"/>
            <p:cNvSpPr/>
            <p:nvPr/>
          </p:nvSpPr>
          <p:spPr bwMode="auto">
            <a:xfrm>
              <a:off x="3268619" y="2717743"/>
              <a:ext cx="385682" cy="369332"/>
            </a:xfrm>
            <a:prstGeom prst="rect">
              <a:avLst/>
            </a:prstGeom>
            <a:grpFill/>
          </p:spPr>
          <p:txBody>
            <a:bodyPr wrap="none">
              <a:spAutoFit/>
            </a:bodyPr>
            <a:lstStyle/>
            <a:p>
              <a:pPr defTabSz="457200">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i="1">
                            <a:solidFill>
                              <a:srgbClr val="5B9BD5"/>
                            </a:solidFill>
                            <a:latin typeface="Cambria Math"/>
                          </a:rPr>
                          <m:t>𝐴</m:t>
                        </m:r>
                      </m:oMath>
                    </m:oMathPara>
                  </a14:m>
                </mc:Choice>
                <mc:Fallback/>
              </mc:AlternateContent>
              <a:endParaRPr lang="en-US">
                <a:solidFill>
                  <a:prstClr val="black"/>
                </a:solidFill>
                <a:latin typeface="Calibri"/>
              </a:endParaRPr>
            </a:p>
          </p:txBody>
        </p:sp>
        <p:sp>
          <p:nvSpPr>
            <p:cNvPr id="74" name="Rectangle 73"/>
            <p:cNvSpPr/>
            <p:nvPr/>
          </p:nvSpPr>
          <p:spPr bwMode="auto">
            <a:xfrm>
              <a:off x="5785210" y="1207126"/>
              <a:ext cx="396070" cy="369332"/>
            </a:xfrm>
            <a:prstGeom prst="rect">
              <a:avLst/>
            </a:prstGeom>
            <a:grpFill/>
          </p:spPr>
          <p:txBody>
            <a:bodyPr wrap="none">
              <a:spAutoFit/>
            </a:bodyPr>
            <a:lstStyle/>
            <a:p>
              <a:pPr defTabSz="457200">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i="1">
                            <a:solidFill>
                              <a:srgbClr val="70AD47"/>
                            </a:solidFill>
                            <a:latin typeface="Cambria Math"/>
                          </a:rPr>
                          <m:t>𝐵</m:t>
                        </m:r>
                      </m:oMath>
                    </m:oMathPara>
                  </a14:m>
                </mc:Choice>
                <mc:Fallback/>
              </mc:AlternateContent>
              <a:endParaRPr lang="en-US">
                <a:solidFill>
                  <a:prstClr val="black"/>
                </a:solidFill>
                <a:latin typeface="Calibri"/>
              </a:endParaRPr>
            </a:p>
          </p:txBody>
        </p:sp>
      </p:grpSp>
      <p:grpSp>
        <p:nvGrpSpPr>
          <p:cNvPr id="1883971802" name="Group 167"/>
          <p:cNvGrpSpPr/>
          <p:nvPr/>
        </p:nvGrpSpPr>
        <p:grpSpPr bwMode="auto">
          <a:xfrm>
            <a:off x="5768932" y="2679993"/>
            <a:ext cx="1480342" cy="730410"/>
            <a:chOff x="4244932" y="2629193"/>
            <a:chExt cx="1480342" cy="730410"/>
          </a:xfrm>
        </p:grpSpPr>
        <p:sp>
          <p:nvSpPr>
            <p:cNvPr id="75" name="Rectangle 74"/>
            <p:cNvSpPr/>
            <p:nvPr/>
          </p:nvSpPr>
          <p:spPr bwMode="auto">
            <a:xfrm>
              <a:off x="4244932" y="2750554"/>
              <a:ext cx="1480342" cy="369332"/>
            </a:xfrm>
            <a:prstGeom prst="rect">
              <a:avLst/>
            </a:prstGeom>
            <a:grpFill/>
          </p:spPr>
          <p:txBody>
            <a:bodyPr wrap="none">
              <a:spAutoFit/>
            </a:bodyPr>
            <a:lstStyle/>
            <a:p>
              <a:pPr defTabSz="457200">
                <a:defRPr/>
              </a:pPr>
              <a:r>
                <a:rPr lang="en-US" b="1">
                  <a:solidFill>
                    <a:prstClr val="black"/>
                  </a:solidFill>
                  <a:latin typeface="Calibri"/>
                </a:rPr>
                <a:t>permutations</a:t>
              </a:r>
              <a:endParaRPr/>
            </a:p>
          </p:txBody>
        </p:sp>
        <p:cxnSp>
          <p:nvCxnSpPr>
            <p:cNvPr id="76" name="Straight Arrow Connector 75"/>
            <p:cNvCxnSpPr/>
            <p:nvPr/>
          </p:nvCxnSpPr>
          <p:spPr bwMode="auto">
            <a:xfrm>
              <a:off x="4244932" y="2629193"/>
              <a:ext cx="0" cy="730410"/>
            </a:xfrm>
            <a:prstGeom prst="straightConnector1">
              <a:avLst/>
            </a:prstGeom>
            <a:noFill/>
            <a:ln w="25400" cap="flat" cmpd="sng" algn="ctr">
              <a:solidFill>
                <a:sysClr val="windowText" lastClr="000000"/>
              </a:solidFill>
              <a:prstDash val="solid"/>
              <a:miter lim="800000"/>
              <a:tailEnd type="triangle"/>
            </a:ln>
            <a:effectLst/>
          </p:spPr>
        </p:cxnSp>
      </p:grpSp>
      <p:grpSp>
        <p:nvGrpSpPr>
          <p:cNvPr id="1359101905" name="Group 153"/>
          <p:cNvGrpSpPr/>
          <p:nvPr/>
        </p:nvGrpSpPr>
        <p:grpSpPr bwMode="auto">
          <a:xfrm>
            <a:off x="2511383" y="4637329"/>
            <a:ext cx="7096125" cy="219074"/>
            <a:chOff x="1015957" y="5266070"/>
            <a:chExt cx="7096125" cy="219074"/>
          </a:xfrm>
        </p:grpSpPr>
        <p:sp>
          <p:nvSpPr>
            <p:cNvPr id="77" name="Oval 76"/>
            <p:cNvSpPr/>
            <p:nvPr/>
          </p:nvSpPr>
          <p:spPr bwMode="auto">
            <a:xfrm>
              <a:off x="753105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78" name="Oval 77"/>
            <p:cNvSpPr/>
            <p:nvPr/>
          </p:nvSpPr>
          <p:spPr bwMode="auto">
            <a:xfrm>
              <a:off x="463545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79" name="Oval 78"/>
            <p:cNvSpPr/>
            <p:nvPr/>
          </p:nvSpPr>
          <p:spPr bwMode="auto">
            <a:xfrm>
              <a:off x="173985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0" name="Oval 79"/>
            <p:cNvSpPr/>
            <p:nvPr/>
          </p:nvSpPr>
          <p:spPr bwMode="auto">
            <a:xfrm>
              <a:off x="210180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1" name="Oval 80"/>
            <p:cNvSpPr/>
            <p:nvPr/>
          </p:nvSpPr>
          <p:spPr bwMode="auto">
            <a:xfrm>
              <a:off x="644520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2" name="Oval 81"/>
            <p:cNvSpPr/>
            <p:nvPr/>
          </p:nvSpPr>
          <p:spPr bwMode="auto">
            <a:xfrm>
              <a:off x="608325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3" name="Oval 82"/>
            <p:cNvSpPr/>
            <p:nvPr/>
          </p:nvSpPr>
          <p:spPr bwMode="auto">
            <a:xfrm>
              <a:off x="318765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4" name="Oval 83"/>
            <p:cNvSpPr/>
            <p:nvPr/>
          </p:nvSpPr>
          <p:spPr bwMode="auto">
            <a:xfrm>
              <a:off x="3549607" y="526607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5" name="Oval 84"/>
            <p:cNvSpPr/>
            <p:nvPr/>
          </p:nvSpPr>
          <p:spPr bwMode="auto">
            <a:xfrm>
              <a:off x="3911557" y="5266070"/>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6" name="Oval 85"/>
            <p:cNvSpPr/>
            <p:nvPr/>
          </p:nvSpPr>
          <p:spPr bwMode="auto">
            <a:xfrm>
              <a:off x="1015957" y="5266070"/>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7" name="Oval 86"/>
            <p:cNvSpPr/>
            <p:nvPr/>
          </p:nvSpPr>
          <p:spPr bwMode="auto">
            <a:xfrm>
              <a:off x="2463757" y="5266070"/>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8" name="Oval 87"/>
            <p:cNvSpPr/>
            <p:nvPr/>
          </p:nvSpPr>
          <p:spPr bwMode="auto">
            <a:xfrm>
              <a:off x="4997407" y="5266070"/>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89" name="Oval 88"/>
            <p:cNvSpPr/>
            <p:nvPr/>
          </p:nvSpPr>
          <p:spPr bwMode="auto">
            <a:xfrm>
              <a:off x="5359357" y="5266070"/>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90" name="Oval 89"/>
            <p:cNvSpPr/>
            <p:nvPr/>
          </p:nvSpPr>
          <p:spPr bwMode="auto">
            <a:xfrm>
              <a:off x="5721307" y="5266070"/>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91" name="Oval 90"/>
            <p:cNvSpPr/>
            <p:nvPr/>
          </p:nvSpPr>
          <p:spPr bwMode="auto">
            <a:xfrm>
              <a:off x="2825707" y="5266070"/>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92" name="Oval 91"/>
            <p:cNvSpPr/>
            <p:nvPr/>
          </p:nvSpPr>
          <p:spPr bwMode="auto">
            <a:xfrm>
              <a:off x="1377907" y="5266070"/>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93" name="Oval 92"/>
            <p:cNvSpPr/>
            <p:nvPr/>
          </p:nvSpPr>
          <p:spPr bwMode="auto">
            <a:xfrm>
              <a:off x="6807157" y="5266070"/>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94" name="Oval 93"/>
            <p:cNvSpPr/>
            <p:nvPr/>
          </p:nvSpPr>
          <p:spPr bwMode="auto">
            <a:xfrm>
              <a:off x="7169106" y="5266070"/>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95" name="Oval 94"/>
            <p:cNvSpPr/>
            <p:nvPr/>
          </p:nvSpPr>
          <p:spPr bwMode="auto">
            <a:xfrm>
              <a:off x="4273507" y="5266070"/>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96" name="Oval 95"/>
            <p:cNvSpPr/>
            <p:nvPr/>
          </p:nvSpPr>
          <p:spPr bwMode="auto">
            <a:xfrm>
              <a:off x="7893007" y="5266070"/>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grpSp>
      <p:pic>
        <p:nvPicPr>
          <p:cNvPr id="1429336458" name="Picture 2" descr="https://upload.wikimedia.org/wikipedia/en/1/1d/Altavista-logo.png"/>
          <p:cNvPicPr>
            <a:picLocks noChangeAspect="1" noChangeArrowheads="1"/>
          </p:cNvPicPr>
          <p:nvPr/>
        </p:nvPicPr>
        <p:blipFill rotWithShape="1">
          <a:blip r:embed="rId3"/>
          <a:stretch/>
        </p:blipFill>
        <p:spPr bwMode="auto">
          <a:xfrm>
            <a:off x="8066514" y="245950"/>
            <a:ext cx="2144286" cy="771944"/>
          </a:xfrm>
          <a:prstGeom prst="rect">
            <a:avLst/>
          </a:prstGeom>
          <a:noFill/>
        </p:spPr>
      </p:pic>
      <p:grpSp>
        <p:nvGrpSpPr>
          <p:cNvPr id="1654923166" name="Group 151"/>
          <p:cNvGrpSpPr/>
          <p:nvPr/>
        </p:nvGrpSpPr>
        <p:grpSpPr bwMode="auto">
          <a:xfrm>
            <a:off x="2518077" y="3573571"/>
            <a:ext cx="7096125" cy="219074"/>
            <a:chOff x="1022651" y="4202312"/>
            <a:chExt cx="7096125" cy="219074"/>
          </a:xfrm>
        </p:grpSpPr>
        <p:sp>
          <p:nvSpPr>
            <p:cNvPr id="105" name="Oval 104"/>
            <p:cNvSpPr/>
            <p:nvPr/>
          </p:nvSpPr>
          <p:spPr bwMode="auto">
            <a:xfrm>
              <a:off x="7537751"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06" name="Oval 105"/>
            <p:cNvSpPr/>
            <p:nvPr/>
          </p:nvSpPr>
          <p:spPr bwMode="auto">
            <a:xfrm>
              <a:off x="4280201"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07" name="Oval 106"/>
            <p:cNvSpPr/>
            <p:nvPr/>
          </p:nvSpPr>
          <p:spPr bwMode="auto">
            <a:xfrm>
              <a:off x="1746551"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08" name="Oval 107"/>
            <p:cNvSpPr/>
            <p:nvPr/>
          </p:nvSpPr>
          <p:spPr bwMode="auto">
            <a:xfrm>
              <a:off x="2470451"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09" name="Oval 108"/>
            <p:cNvSpPr/>
            <p:nvPr/>
          </p:nvSpPr>
          <p:spPr bwMode="auto">
            <a:xfrm>
              <a:off x="6813851"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0" name="Oval 109"/>
            <p:cNvSpPr/>
            <p:nvPr/>
          </p:nvSpPr>
          <p:spPr bwMode="auto">
            <a:xfrm>
              <a:off x="6451900"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1" name="Oval 110"/>
            <p:cNvSpPr/>
            <p:nvPr/>
          </p:nvSpPr>
          <p:spPr bwMode="auto">
            <a:xfrm>
              <a:off x="4642151"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2" name="Oval 111"/>
            <p:cNvSpPr/>
            <p:nvPr/>
          </p:nvSpPr>
          <p:spPr bwMode="auto">
            <a:xfrm>
              <a:off x="2832401" y="4202312"/>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3" name="Oval 112"/>
            <p:cNvSpPr/>
            <p:nvPr/>
          </p:nvSpPr>
          <p:spPr bwMode="auto">
            <a:xfrm>
              <a:off x="3918251" y="4202312"/>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4" name="Oval 113"/>
            <p:cNvSpPr/>
            <p:nvPr/>
          </p:nvSpPr>
          <p:spPr bwMode="auto">
            <a:xfrm>
              <a:off x="1384601" y="4202312"/>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5" name="Oval 114"/>
            <p:cNvSpPr/>
            <p:nvPr/>
          </p:nvSpPr>
          <p:spPr bwMode="auto">
            <a:xfrm>
              <a:off x="2108501" y="4202312"/>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6" name="Oval 115"/>
            <p:cNvSpPr/>
            <p:nvPr/>
          </p:nvSpPr>
          <p:spPr bwMode="auto">
            <a:xfrm>
              <a:off x="5004101" y="4202312"/>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7" name="Oval 116"/>
            <p:cNvSpPr/>
            <p:nvPr/>
          </p:nvSpPr>
          <p:spPr bwMode="auto">
            <a:xfrm>
              <a:off x="3556301" y="4202312"/>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8" name="Oval 117"/>
            <p:cNvSpPr/>
            <p:nvPr/>
          </p:nvSpPr>
          <p:spPr bwMode="auto">
            <a:xfrm>
              <a:off x="5728001" y="4202312"/>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19" name="Oval 118"/>
            <p:cNvSpPr/>
            <p:nvPr/>
          </p:nvSpPr>
          <p:spPr bwMode="auto">
            <a:xfrm>
              <a:off x="3194351" y="4202312"/>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20" name="Oval 119"/>
            <p:cNvSpPr/>
            <p:nvPr/>
          </p:nvSpPr>
          <p:spPr bwMode="auto">
            <a:xfrm>
              <a:off x="1022651" y="4202312"/>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21" name="Oval 120"/>
            <p:cNvSpPr/>
            <p:nvPr/>
          </p:nvSpPr>
          <p:spPr bwMode="auto">
            <a:xfrm>
              <a:off x="5366051" y="4202312"/>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22" name="Oval 121"/>
            <p:cNvSpPr/>
            <p:nvPr/>
          </p:nvSpPr>
          <p:spPr bwMode="auto">
            <a:xfrm>
              <a:off x="6089951" y="4202312"/>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23" name="Oval 122"/>
            <p:cNvSpPr/>
            <p:nvPr/>
          </p:nvSpPr>
          <p:spPr bwMode="auto">
            <a:xfrm>
              <a:off x="7175801" y="4202312"/>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24" name="Oval 123"/>
            <p:cNvSpPr/>
            <p:nvPr/>
          </p:nvSpPr>
          <p:spPr bwMode="auto">
            <a:xfrm>
              <a:off x="7899701" y="4202312"/>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grpSp>
      <p:grpSp>
        <p:nvGrpSpPr>
          <p:cNvPr id="1265415032" name="Group 152"/>
          <p:cNvGrpSpPr/>
          <p:nvPr/>
        </p:nvGrpSpPr>
        <p:grpSpPr bwMode="auto">
          <a:xfrm>
            <a:off x="2518077" y="4105449"/>
            <a:ext cx="7096125" cy="219076"/>
            <a:chOff x="1022651" y="4734191"/>
            <a:chExt cx="7096125" cy="219076"/>
          </a:xfrm>
        </p:grpSpPr>
        <p:sp>
          <p:nvSpPr>
            <p:cNvPr id="125" name="Oval 124"/>
            <p:cNvSpPr/>
            <p:nvPr/>
          </p:nvSpPr>
          <p:spPr bwMode="auto">
            <a:xfrm>
              <a:off x="789970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26" name="Oval 125"/>
            <p:cNvSpPr/>
            <p:nvPr/>
          </p:nvSpPr>
          <p:spPr bwMode="auto">
            <a:xfrm>
              <a:off x="500410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27" name="Oval 126"/>
            <p:cNvSpPr/>
            <p:nvPr/>
          </p:nvSpPr>
          <p:spPr bwMode="auto">
            <a:xfrm>
              <a:off x="210850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28" name="Oval 127"/>
            <p:cNvSpPr/>
            <p:nvPr/>
          </p:nvSpPr>
          <p:spPr bwMode="auto">
            <a:xfrm>
              <a:off x="102265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29" name="Oval 128"/>
            <p:cNvSpPr/>
            <p:nvPr/>
          </p:nvSpPr>
          <p:spPr bwMode="auto">
            <a:xfrm>
              <a:off x="753775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0" name="Oval 129"/>
            <p:cNvSpPr/>
            <p:nvPr/>
          </p:nvSpPr>
          <p:spPr bwMode="auto">
            <a:xfrm>
              <a:off x="681385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1" name="Oval 130"/>
            <p:cNvSpPr/>
            <p:nvPr/>
          </p:nvSpPr>
          <p:spPr bwMode="auto">
            <a:xfrm>
              <a:off x="428020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2" name="Oval 131"/>
            <p:cNvSpPr/>
            <p:nvPr/>
          </p:nvSpPr>
          <p:spPr bwMode="auto">
            <a:xfrm>
              <a:off x="3194351" y="4734191"/>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3" name="Oval 132"/>
            <p:cNvSpPr/>
            <p:nvPr/>
          </p:nvSpPr>
          <p:spPr bwMode="auto">
            <a:xfrm>
              <a:off x="3918251" y="4734191"/>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4" name="Oval 133"/>
            <p:cNvSpPr/>
            <p:nvPr/>
          </p:nvSpPr>
          <p:spPr bwMode="auto">
            <a:xfrm>
              <a:off x="1746551" y="4734191"/>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5" name="Oval 134"/>
            <p:cNvSpPr/>
            <p:nvPr/>
          </p:nvSpPr>
          <p:spPr bwMode="auto">
            <a:xfrm>
              <a:off x="2470451" y="4734191"/>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6" name="Oval 135"/>
            <p:cNvSpPr/>
            <p:nvPr/>
          </p:nvSpPr>
          <p:spPr bwMode="auto">
            <a:xfrm>
              <a:off x="2832401" y="4734191"/>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7" name="Oval 136"/>
            <p:cNvSpPr/>
            <p:nvPr/>
          </p:nvSpPr>
          <p:spPr bwMode="auto">
            <a:xfrm>
              <a:off x="3556301" y="4734191"/>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8" name="Oval 137"/>
            <p:cNvSpPr/>
            <p:nvPr/>
          </p:nvSpPr>
          <p:spPr bwMode="auto">
            <a:xfrm>
              <a:off x="4642151" y="4734191"/>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139" name="Oval 138"/>
            <p:cNvSpPr/>
            <p:nvPr/>
          </p:nvSpPr>
          <p:spPr bwMode="auto">
            <a:xfrm>
              <a:off x="5728001" y="4734191"/>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40" name="Oval 139"/>
            <p:cNvSpPr/>
            <p:nvPr/>
          </p:nvSpPr>
          <p:spPr bwMode="auto">
            <a:xfrm>
              <a:off x="1384601" y="4734191"/>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41" name="Oval 140"/>
            <p:cNvSpPr/>
            <p:nvPr/>
          </p:nvSpPr>
          <p:spPr bwMode="auto">
            <a:xfrm>
              <a:off x="5366051" y="4734191"/>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42" name="Oval 141"/>
            <p:cNvSpPr/>
            <p:nvPr/>
          </p:nvSpPr>
          <p:spPr bwMode="auto">
            <a:xfrm>
              <a:off x="6089951" y="4734191"/>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43" name="Oval 142"/>
            <p:cNvSpPr/>
            <p:nvPr/>
          </p:nvSpPr>
          <p:spPr bwMode="auto">
            <a:xfrm>
              <a:off x="7175801" y="4734191"/>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144" name="Oval 143"/>
            <p:cNvSpPr/>
            <p:nvPr/>
          </p:nvSpPr>
          <p:spPr bwMode="auto">
            <a:xfrm>
              <a:off x="6451900" y="4734192"/>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grpSp>
      <p:sp>
        <p:nvSpPr>
          <p:cNvPr id="1542004498" name="Text Placeholder 2"/>
          <p:cNvSpPr>
            <a:spLocks noGrp="1"/>
          </p:cNvSpPr>
          <p:nvPr>
            <p:ph type="body" idx="1"/>
          </p:nvPr>
        </p:nvSpPr>
        <p:spPr bwMode="auto">
          <a:xfrm>
            <a:off x="1981201" y="5000935"/>
            <a:ext cx="7820024" cy="799514"/>
          </a:xfrm>
        </p:spPr>
        <p:txBody>
          <a:bodyPr>
            <a:normAutofit fontScale="92500"/>
          </a:bodyPr>
          <a:lstStyle/>
          <a:p>
            <a:pPr marL="0" indent="0">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2600" i="1">
                          <a:latin typeface="Cambria Math"/>
                        </a:rPr>
                        <m:t> </m:t>
                      </m:r>
                      <m:r>
                        <m:rPr/>
                        <a:rPr lang="en-US" sz="2600" i="1">
                          <a:latin typeface="Cambria Math"/>
                        </a:rPr>
                        <m:t>𝑃𝑟𝑜𝑏</m:t>
                      </m:r>
                      <m:d>
                        <m:dPr>
                          <m:ctrlPr>
                            <a:rPr lang="en-US" sz="2600" i="1">
                              <a:latin typeface="Cambria Math"/>
                              <a:ea typeface="Cambria Math"/>
                              <a:cs typeface="Cambria Math"/>
                            </a:rPr>
                          </m:ctrlPr>
                        </m:dPr>
                        <m:e>
                          <m:func>
                            <m:funcPr>
                              <m:ctrlPr>
                                <a:rPr lang="en-US" sz="2600" i="1">
                                  <a:latin typeface="Cambria Math"/>
                                  <a:ea typeface="Cambria Math"/>
                                  <a:cs typeface="Cambria Math"/>
                                </a:rPr>
                              </m:ctrlPr>
                            </m:funcPr>
                            <m:fName>
                              <m:r>
                                <m:rPr>
                                  <m:sty m:val="p"/>
                                </m:rPr>
                                <a:rPr lang="en-US" sz="2600">
                                  <a:latin typeface="Cambria Math"/>
                                </a:rPr>
                                <m:t>min</m:t>
                              </m:r>
                            </m:fName>
                            <m:e>
                              <m:d>
                                <m:dPr>
                                  <m:ctrlPr>
                                    <a:rPr lang="en-US" sz="2600" i="1">
                                      <a:latin typeface="Cambria Math"/>
                                      <a:ea typeface="Cambria Math"/>
                                      <a:cs typeface="Cambria Math"/>
                                    </a:rPr>
                                  </m:ctrlPr>
                                </m:dPr>
                                <m:e>
                                  <m:r>
                                    <m:rPr/>
                                    <a:rPr lang="en-US" sz="2600" i="1">
                                      <a:latin typeface="Cambria Math"/>
                                    </a:rPr>
                                    <m:t>𝐴</m:t>
                                  </m:r>
                                </m:e>
                              </m:d>
                            </m:e>
                          </m:func>
                          <m:r>
                            <m:rPr/>
                            <a:rPr lang="en-US" sz="2600" i="1">
                              <a:latin typeface="Cambria Math"/>
                            </a:rPr>
                            <m:t>=</m:t>
                          </m:r>
                          <m:func>
                            <m:funcPr>
                              <m:ctrlPr>
                                <a:rPr lang="en-US" sz="2600" i="1">
                                  <a:latin typeface="Cambria Math"/>
                                  <a:ea typeface="Cambria Math"/>
                                  <a:cs typeface="Cambria Math"/>
                                </a:rPr>
                              </m:ctrlPr>
                            </m:funcPr>
                            <m:fName>
                              <m:r>
                                <m:rPr>
                                  <m:sty m:val="p"/>
                                </m:rPr>
                                <a:rPr lang="en-US" sz="2600">
                                  <a:latin typeface="Cambria Math"/>
                                </a:rPr>
                                <m:t>min</m:t>
                              </m:r>
                            </m:fName>
                            <m:e>
                              <m:d>
                                <m:dPr>
                                  <m:ctrlPr>
                                    <a:rPr lang="en-US" sz="2600" i="1">
                                      <a:latin typeface="Cambria Math"/>
                                      <a:ea typeface="Cambria Math"/>
                                      <a:cs typeface="Cambria Math"/>
                                    </a:rPr>
                                  </m:ctrlPr>
                                </m:dPr>
                                <m:e>
                                  <m:r>
                                    <m:rPr/>
                                    <a:rPr lang="en-US" sz="2600" i="1">
                                      <a:latin typeface="Cambria Math"/>
                                    </a:rPr>
                                    <m:t>𝐵</m:t>
                                  </m:r>
                                </m:e>
                              </m:d>
                            </m:e>
                          </m:func>
                        </m:e>
                      </m:d>
                      <m:r>
                        <m:rPr/>
                        <a:rPr lang="en-US" sz="2600" i="1">
                          <a:latin typeface="Cambria Math"/>
                        </a:rPr>
                        <m:t>= </m:t>
                      </m:r>
                      <m:f>
                        <m:fPr>
                          <m:ctrlPr>
                            <a:rPr lang="en-US" sz="2600" i="1">
                              <a:latin typeface="Cambria Math"/>
                              <a:ea typeface="Cambria Math"/>
                              <a:cs typeface="Cambria Math"/>
                            </a:rPr>
                          </m:ctrlPr>
                        </m:fPr>
                        <m:num>
                          <m:d>
                            <m:dPr>
                              <m:begChr m:val="|"/>
                              <m:endChr m:val="|"/>
                              <m:ctrlPr>
                                <a:rPr lang="en-US" sz="2600" i="1">
                                  <a:latin typeface="Cambria Math"/>
                                  <a:ea typeface="Cambria Math"/>
                                  <a:cs typeface="Cambria Math"/>
                                </a:rPr>
                              </m:ctrlPr>
                            </m:dPr>
                            <m:e>
                              <m:r>
                                <m:rPr/>
                                <a:rPr lang="en-US" sz="2600" i="1">
                                  <a:latin typeface="Cambria Math"/>
                                </a:rPr>
                                <m:t>𝐴</m:t>
                              </m:r>
                              <m:r>
                                <m:rPr/>
                                <a:rPr lang="en-US" sz="2600" i="1">
                                  <a:latin typeface="Cambria Math"/>
                                </a:rPr>
                                <m:t>∩</m:t>
                              </m:r>
                              <m:r>
                                <m:rPr/>
                                <a:rPr lang="en-US" sz="2600" i="1">
                                  <a:latin typeface="Cambria Math"/>
                                </a:rPr>
                                <m:t>𝐵</m:t>
                              </m:r>
                            </m:e>
                          </m:d>
                        </m:num>
                        <m:den>
                          <m:d>
                            <m:dPr>
                              <m:begChr m:val="|"/>
                              <m:endChr m:val="|"/>
                              <m:ctrlPr>
                                <a:rPr lang="en-US" sz="2600" i="1">
                                  <a:latin typeface="Cambria Math"/>
                                  <a:ea typeface="Cambria Math"/>
                                  <a:cs typeface="Cambria Math"/>
                                </a:rPr>
                              </m:ctrlPr>
                            </m:dPr>
                            <m:e>
                              <m:r>
                                <m:rPr/>
                                <a:rPr lang="en-US" sz="2600" i="1">
                                  <a:latin typeface="Cambria Math"/>
                                </a:rPr>
                                <m:t>𝐴</m:t>
                              </m:r>
                              <m:r>
                                <m:rPr/>
                                <a:rPr lang="en-US" sz="2600" i="1">
                                  <a:latin typeface="Cambria Math"/>
                                </a:rPr>
                                <m:t>∪</m:t>
                              </m:r>
                              <m:r>
                                <m:rPr/>
                                <a:rPr lang="en-US" sz="2600" i="1">
                                  <a:latin typeface="Cambria Math"/>
                                </a:rPr>
                                <m:t>𝐵</m:t>
                              </m:r>
                            </m:e>
                          </m:d>
                        </m:den>
                      </m:f>
                      <m:r>
                        <m:rPr/>
                        <a:rPr lang="en-US" sz="2600" i="1">
                          <a:latin typeface="Cambria Math"/>
                        </a:rPr>
                        <m:t>=</m:t>
                      </m:r>
                      <m:r>
                        <m:rPr/>
                        <a:rPr lang="en-US" sz="2600" i="1">
                          <a:latin typeface="Cambria Math"/>
                        </a:rPr>
                        <m:t>𝐽</m:t>
                      </m:r>
                      <m:r>
                        <m:rPr/>
                        <a:rPr lang="en-US" sz="2600" i="1">
                          <a:latin typeface="Cambria Math"/>
                        </a:rPr>
                        <m:t>(</m:t>
                      </m:r>
                      <m:r>
                        <m:rPr/>
                        <a:rPr lang="en-US" sz="2600" i="1">
                          <a:latin typeface="Cambria Math"/>
                        </a:rPr>
                        <m:t>𝐴</m:t>
                      </m:r>
                      <m:r>
                        <m:rPr/>
                        <a:rPr lang="en-US" sz="2600" i="1">
                          <a:latin typeface="Cambria Math"/>
                        </a:rPr>
                        <m:t>,</m:t>
                      </m:r>
                      <m:r>
                        <m:rPr/>
                        <a:rPr lang="en-US" sz="2600" i="1">
                          <a:latin typeface="Cambria Math"/>
                        </a:rPr>
                        <m:t>𝐵</m:t>
                      </m:r>
                      <m:r>
                        <m:rPr/>
                        <a:rPr lang="en-US" sz="2600" i="1">
                          <a:latin typeface="Cambria Math"/>
                        </a:rPr>
                        <m:t>)</m:t>
                      </m:r>
                    </m:oMath>
                  </m:oMathPara>
                </a14:m>
              </mc:Choice>
              <mc:Fallback/>
            </mc:AlternateContent>
            <a:endParaRPr lang="en-US" sz="2600"/>
          </a:p>
        </p:txBody>
      </p:sp>
      <p:sp>
        <p:nvSpPr>
          <p:cNvPr id="97819176" name="Rectangle 144"/>
          <p:cNvSpPr/>
          <p:nvPr/>
        </p:nvSpPr>
        <p:spPr bwMode="auto">
          <a:xfrm>
            <a:off x="2332641" y="6097843"/>
            <a:ext cx="7468584" cy="611676"/>
          </a:xfrm>
          <a:prstGeom prst="rect">
            <a:avLst/>
          </a:prstGeom>
          <a:gradFill>
            <a:gsLst>
              <a:gs pos="0">
                <a:srgbClr val="990000">
                  <a:alpha val="57000"/>
                </a:srgbClr>
              </a:gs>
              <a:gs pos="100000">
                <a:srgbClr val="990000"/>
              </a:gs>
            </a:gsLst>
            <a:lin ang="5400000" scaled="0"/>
          </a:gra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lIns="91435" tIns="45718" rIns="91435" bIns="45718" anchor="ctr"/>
          <a:lstStyle/>
          <a:p>
            <a:pPr>
              <a:lnSpc>
                <a:spcPts val="2400"/>
              </a:lnSpc>
              <a:defRPr/>
            </a:pPr>
            <a:r>
              <a:rPr lang="en-US"/>
              <a:t>Can estimate </a:t>
            </a:r>
            <a:r>
              <a:rPr lang="en-US"/>
              <a:t>Jaccard</a:t>
            </a:r>
            <a:r>
              <a:rPr lang="en-US"/>
              <a:t> index from empirical probabilities!</a:t>
            </a:r>
            <a:endParaRPr/>
          </a:p>
        </p:txBody>
      </p:sp>
      <p:sp>
        <p:nvSpPr>
          <p:cNvPr id="1815916002" name="Slide Number Placeholder 2"/>
          <p:cNvSpPr>
            <a:spLocks noGrp="1"/>
          </p:cNvSpPr>
          <p:nvPr>
            <p:ph type="sldNum" sz="quarter" idx="12"/>
          </p:nvPr>
        </p:nvSpPr>
        <p:spPr bwMode="auto"/>
        <p:txBody>
          <a:bodyPr/>
          <a:lstStyle/>
          <a:p>
            <a:pPr>
              <a:defRPr/>
            </a:pPr>
            <a:fld id="{CB3471C9-C827-482F-8F3B-3E2B820EA1AD}" type="slidenum">
              <a:rPr lang="en-US"/>
              <a:t>15</a:t>
            </a:fld>
            <a:endParaRPr lang="en-US"/>
          </a:p>
        </p:txBody>
      </p:sp>
      <p:grpSp>
        <p:nvGrpSpPr>
          <p:cNvPr id="1044038972" name="Group 4"/>
          <p:cNvGrpSpPr/>
          <p:nvPr/>
        </p:nvGrpSpPr>
        <p:grpSpPr bwMode="auto">
          <a:xfrm>
            <a:off x="2574481" y="3335890"/>
            <a:ext cx="460893" cy="186930"/>
            <a:chOff x="1050481" y="3335890"/>
            <a:chExt cx="460893" cy="186930"/>
          </a:xfrm>
        </p:grpSpPr>
        <p:sp>
          <p:nvSpPr>
            <p:cNvPr id="4" name="Down Arrow 3"/>
            <p:cNvSpPr/>
            <p:nvPr/>
          </p:nvSpPr>
          <p:spPr bwMode="auto">
            <a:xfrm>
              <a:off x="1418499" y="3335891"/>
              <a:ext cx="92875" cy="186929"/>
            </a:xfrm>
            <a:prstGeom prst="downArrow">
              <a:avLst>
                <a:gd name="adj1" fmla="val 5000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58" name="Down Arrow 157"/>
            <p:cNvSpPr/>
            <p:nvPr/>
          </p:nvSpPr>
          <p:spPr bwMode="auto">
            <a:xfrm>
              <a:off x="1050481" y="3335890"/>
              <a:ext cx="92875" cy="186929"/>
            </a:xfrm>
            <a:prstGeom prst="downArrow">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a:p>
          </p:txBody>
        </p:sp>
      </p:grpSp>
      <p:grpSp>
        <p:nvGrpSpPr>
          <p:cNvPr id="1252016419" name="Group 5"/>
          <p:cNvGrpSpPr/>
          <p:nvPr/>
        </p:nvGrpSpPr>
        <p:grpSpPr bwMode="auto">
          <a:xfrm>
            <a:off x="2574481" y="3882474"/>
            <a:ext cx="460893" cy="186930"/>
            <a:chOff x="1050481" y="3882474"/>
            <a:chExt cx="460893" cy="186930"/>
          </a:xfrm>
        </p:grpSpPr>
        <p:sp>
          <p:nvSpPr>
            <p:cNvPr id="161" name="Down Arrow 160"/>
            <p:cNvSpPr/>
            <p:nvPr/>
          </p:nvSpPr>
          <p:spPr bwMode="auto">
            <a:xfrm>
              <a:off x="1418499" y="3882475"/>
              <a:ext cx="92875" cy="186929"/>
            </a:xfrm>
            <a:prstGeom prst="downArrow">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a:p>
          </p:txBody>
        </p:sp>
        <p:sp>
          <p:nvSpPr>
            <p:cNvPr id="165" name="Down Arrow 164"/>
            <p:cNvSpPr/>
            <p:nvPr/>
          </p:nvSpPr>
          <p:spPr bwMode="auto">
            <a:xfrm>
              <a:off x="1050481" y="3882474"/>
              <a:ext cx="92875" cy="186929"/>
            </a:xfrm>
            <a:prstGeom prst="downArrow">
              <a:avLst>
                <a:gd name="adj1" fmla="val 5000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grpSp>
      <p:grpSp>
        <p:nvGrpSpPr>
          <p:cNvPr id="665733180" name="Group 6"/>
          <p:cNvGrpSpPr/>
          <p:nvPr/>
        </p:nvGrpSpPr>
        <p:grpSpPr bwMode="auto">
          <a:xfrm>
            <a:off x="2524403" y="4417891"/>
            <a:ext cx="212805" cy="194443"/>
            <a:chOff x="1000402" y="4417890"/>
            <a:chExt cx="212805" cy="194443"/>
          </a:xfrm>
        </p:grpSpPr>
        <p:sp>
          <p:nvSpPr>
            <p:cNvPr id="170" name="Down Arrow 169"/>
            <p:cNvSpPr/>
            <p:nvPr/>
          </p:nvSpPr>
          <p:spPr bwMode="auto">
            <a:xfrm>
              <a:off x="1120331" y="4425404"/>
              <a:ext cx="92875" cy="186929"/>
            </a:xfrm>
            <a:prstGeom prst="downArrow">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a:p>
          </p:txBody>
        </p:sp>
        <p:sp>
          <p:nvSpPr>
            <p:cNvPr id="171" name="Down Arrow 170"/>
            <p:cNvSpPr/>
            <p:nvPr/>
          </p:nvSpPr>
          <p:spPr bwMode="auto">
            <a:xfrm>
              <a:off x="1000402" y="4417890"/>
              <a:ext cx="92875" cy="186929"/>
            </a:xfrm>
            <a:prstGeom prst="downArrow">
              <a:avLst>
                <a:gd name="adj1" fmla="val 5000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984042"/>
                                        </p:tgtEl>
                                        <p:attrNameLst>
                                          <p:attrName>style.visibility</p:attrName>
                                        </p:attrNameLst>
                                      </p:cBhvr>
                                      <p:to>
                                        <p:strVal val="visible"/>
                                      </p:to>
                                    </p:set>
                                    <p:animEffect transition="in" filter="fade">
                                      <p:cBhvr>
                                        <p:cTn id="7" dur="500"/>
                                        <p:tgtEl>
                                          <p:spTgt spid="339840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883971802"/>
                                        </p:tgtEl>
                                        <p:attrNameLst>
                                          <p:attrName>style.visibility</p:attrName>
                                        </p:attrNameLst>
                                      </p:cBhvr>
                                      <p:to>
                                        <p:strVal val="visible"/>
                                      </p:to>
                                    </p:set>
                                    <p:animEffect transition="in" filter="wipe(up)">
                                      <p:cBhvr>
                                        <p:cTn id="12" dur="500"/>
                                        <p:tgtEl>
                                          <p:spTgt spid="1883971802"/>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nodeType="clickEffect">
                                  <p:stCondLst>
                                    <p:cond delay="0"/>
                                  </p:stCondLst>
                                  <p:childTnLst>
                                    <p:set>
                                      <p:cBhvr>
                                        <p:cTn id="16" dur="1" fill="hold">
                                          <p:stCondLst>
                                            <p:cond delay="0"/>
                                          </p:stCondLst>
                                        </p:cTn>
                                        <p:tgtEl>
                                          <p:spTgt spid="1654923166"/>
                                        </p:tgtEl>
                                        <p:attrNameLst>
                                          <p:attrName>style.visibility</p:attrName>
                                        </p:attrNameLst>
                                      </p:cBhvr>
                                      <p:to>
                                        <p:strVal val="visible"/>
                                      </p:to>
                                    </p:set>
                                    <p:animEffect transition="in" filter="fade">
                                      <p:cBhvr>
                                        <p:cTn id="17" dur="1000"/>
                                        <p:tgtEl>
                                          <p:spTgt spid="1654923166"/>
                                        </p:tgtEl>
                                      </p:cBhvr>
                                    </p:animEffect>
                                    <p:anim calcmode="lin" valueType="num">
                                      <p:cBhvr>
                                        <p:cTn id="18" dur="1000" fill="hold"/>
                                        <p:tgtEl>
                                          <p:spTgt spid="1654923166"/>
                                        </p:tgtEl>
                                        <p:attrNameLst>
                                          <p:attrName>ppt_x</p:attrName>
                                        </p:attrNameLst>
                                      </p:cBhvr>
                                      <p:tavLst>
                                        <p:tav tm="0">
                                          <p:val>
                                            <p:strVal val="#ppt_x"/>
                                          </p:val>
                                        </p:tav>
                                        <p:tav tm="100000">
                                          <p:val>
                                            <p:strVal val="#ppt_x"/>
                                          </p:val>
                                        </p:tav>
                                      </p:tavLst>
                                    </p:anim>
                                    <p:anim calcmode="lin" valueType="num">
                                      <p:cBhvr>
                                        <p:cTn id="19" dur="1000" fill="hold"/>
                                        <p:tgtEl>
                                          <p:spTgt spid="1654923166"/>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044038972"/>
                                        </p:tgtEl>
                                        <p:attrNameLst>
                                          <p:attrName>style.visibility</p:attrName>
                                        </p:attrNameLst>
                                      </p:cBhvr>
                                      <p:to>
                                        <p:strVal val="visible"/>
                                      </p:to>
                                    </p:set>
                                    <p:animEffect transition="in" filter="fade">
                                      <p:cBhvr>
                                        <p:cTn id="23" dur="500"/>
                                        <p:tgtEl>
                                          <p:spTgt spid="1044038972"/>
                                        </p:tgtEl>
                                      </p:cBhvr>
                                    </p:animEffect>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1265415032"/>
                                        </p:tgtEl>
                                        <p:attrNameLst>
                                          <p:attrName>style.visibility</p:attrName>
                                        </p:attrNameLst>
                                      </p:cBhvr>
                                      <p:to>
                                        <p:strVal val="visible"/>
                                      </p:to>
                                    </p:set>
                                    <p:animEffect transition="in" filter="fade">
                                      <p:cBhvr>
                                        <p:cTn id="28" dur="1000"/>
                                        <p:tgtEl>
                                          <p:spTgt spid="1265415032"/>
                                        </p:tgtEl>
                                      </p:cBhvr>
                                    </p:animEffect>
                                    <p:anim calcmode="lin" valueType="num">
                                      <p:cBhvr>
                                        <p:cTn id="29" dur="1000" fill="hold"/>
                                        <p:tgtEl>
                                          <p:spTgt spid="1265415032"/>
                                        </p:tgtEl>
                                        <p:attrNameLst>
                                          <p:attrName>ppt_x</p:attrName>
                                        </p:attrNameLst>
                                      </p:cBhvr>
                                      <p:tavLst>
                                        <p:tav tm="0">
                                          <p:val>
                                            <p:strVal val="#ppt_x"/>
                                          </p:val>
                                        </p:tav>
                                        <p:tav tm="100000">
                                          <p:val>
                                            <p:strVal val="#ppt_x"/>
                                          </p:val>
                                        </p:tav>
                                      </p:tavLst>
                                    </p:anim>
                                    <p:anim calcmode="lin" valueType="num">
                                      <p:cBhvr>
                                        <p:cTn id="30" dur="1000" fill="hold"/>
                                        <p:tgtEl>
                                          <p:spTgt spid="1265415032"/>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1252016419"/>
                                        </p:tgtEl>
                                        <p:attrNameLst>
                                          <p:attrName>style.visibility</p:attrName>
                                        </p:attrNameLst>
                                      </p:cBhvr>
                                      <p:to>
                                        <p:strVal val="visible"/>
                                      </p:to>
                                    </p:set>
                                    <p:animEffect transition="in" filter="fade">
                                      <p:cBhvr>
                                        <p:cTn id="34" dur="500"/>
                                        <p:tgtEl>
                                          <p:spTgt spid="1252016419"/>
                                        </p:tgtEl>
                                      </p:cBhvr>
                                    </p:animEffect>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nodeType="clickEffect">
                                  <p:stCondLst>
                                    <p:cond delay="0"/>
                                  </p:stCondLst>
                                  <p:childTnLst>
                                    <p:set>
                                      <p:cBhvr>
                                        <p:cTn id="38" dur="1" fill="hold">
                                          <p:stCondLst>
                                            <p:cond delay="0"/>
                                          </p:stCondLst>
                                        </p:cTn>
                                        <p:tgtEl>
                                          <p:spTgt spid="1359101905"/>
                                        </p:tgtEl>
                                        <p:attrNameLst>
                                          <p:attrName>style.visibility</p:attrName>
                                        </p:attrNameLst>
                                      </p:cBhvr>
                                      <p:to>
                                        <p:strVal val="visible"/>
                                      </p:to>
                                    </p:set>
                                    <p:animEffect transition="in" filter="fade">
                                      <p:cBhvr>
                                        <p:cTn id="39" dur="1000"/>
                                        <p:tgtEl>
                                          <p:spTgt spid="1359101905"/>
                                        </p:tgtEl>
                                      </p:cBhvr>
                                    </p:animEffect>
                                    <p:anim calcmode="lin" valueType="num">
                                      <p:cBhvr>
                                        <p:cTn id="40" dur="1000" fill="hold"/>
                                        <p:tgtEl>
                                          <p:spTgt spid="1359101905"/>
                                        </p:tgtEl>
                                        <p:attrNameLst>
                                          <p:attrName>ppt_x</p:attrName>
                                        </p:attrNameLst>
                                      </p:cBhvr>
                                      <p:tavLst>
                                        <p:tav tm="0">
                                          <p:val>
                                            <p:strVal val="#ppt_x"/>
                                          </p:val>
                                        </p:tav>
                                        <p:tav tm="100000">
                                          <p:val>
                                            <p:strVal val="#ppt_x"/>
                                          </p:val>
                                        </p:tav>
                                      </p:tavLst>
                                    </p:anim>
                                    <p:anim calcmode="lin" valueType="num">
                                      <p:cBhvr>
                                        <p:cTn id="41" dur="1000" fill="hold"/>
                                        <p:tgtEl>
                                          <p:spTgt spid="1359101905"/>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665733180"/>
                                        </p:tgtEl>
                                        <p:attrNameLst>
                                          <p:attrName>style.visibility</p:attrName>
                                        </p:attrNameLst>
                                      </p:cBhvr>
                                      <p:to>
                                        <p:strVal val="visible"/>
                                      </p:to>
                                    </p:set>
                                    <p:animEffect transition="in" filter="fade">
                                      <p:cBhvr>
                                        <p:cTn id="45" dur="500"/>
                                        <p:tgtEl>
                                          <p:spTgt spid="665733180"/>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542004498">
                                            <p:txEl>
                                              <p:pRg st="0" end="0"/>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97819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004498" grpId="0" build="p"/>
      <p:bldP spid="97819176" grpId="0" animBg="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7197137" name="Title 1"/>
          <p:cNvSpPr>
            <a:spLocks noGrp="1"/>
          </p:cNvSpPr>
          <p:nvPr>
            <p:ph type="title"/>
          </p:nvPr>
        </p:nvSpPr>
        <p:spPr bwMode="auto"/>
        <p:txBody>
          <a:bodyPr/>
          <a:lstStyle/>
          <a:p>
            <a:pPr>
              <a:defRPr/>
            </a:pPr>
            <a:r>
              <a:rPr lang="en-US"/>
              <a:t>MinHash</a:t>
            </a:r>
            <a:r>
              <a:rPr lang="en-US"/>
              <a:t> [Broder, 1997]</a:t>
            </a:r>
            <a:endParaRPr/>
          </a:p>
        </p:txBody>
      </p:sp>
      <p:grpSp>
        <p:nvGrpSpPr>
          <p:cNvPr id="202468185" name="Group 166"/>
          <p:cNvGrpSpPr/>
          <p:nvPr/>
        </p:nvGrpSpPr>
        <p:grpSpPr bwMode="auto">
          <a:xfrm>
            <a:off x="2504689" y="1257927"/>
            <a:ext cx="7102818" cy="1879949"/>
            <a:chOff x="980689" y="1207126"/>
            <a:chExt cx="7102818" cy="1879949"/>
          </a:xfrm>
        </p:grpSpPr>
        <p:sp>
          <p:nvSpPr>
            <p:cNvPr id="51" name="Oval 50"/>
            <p:cNvSpPr/>
            <p:nvPr/>
          </p:nvSpPr>
          <p:spPr bwMode="auto">
            <a:xfrm>
              <a:off x="9873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2" name="Oval 51"/>
            <p:cNvSpPr/>
            <p:nvPr/>
          </p:nvSpPr>
          <p:spPr bwMode="auto">
            <a:xfrm>
              <a:off x="134933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3" name="Oval 52"/>
            <p:cNvSpPr/>
            <p:nvPr/>
          </p:nvSpPr>
          <p:spPr bwMode="auto">
            <a:xfrm>
              <a:off x="17112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4" name="Oval 53"/>
            <p:cNvSpPr/>
            <p:nvPr/>
          </p:nvSpPr>
          <p:spPr bwMode="auto">
            <a:xfrm>
              <a:off x="207323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5" name="Oval 54"/>
            <p:cNvSpPr/>
            <p:nvPr/>
          </p:nvSpPr>
          <p:spPr bwMode="auto">
            <a:xfrm>
              <a:off x="24351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6" name="Oval 55"/>
            <p:cNvSpPr/>
            <p:nvPr/>
          </p:nvSpPr>
          <p:spPr bwMode="auto">
            <a:xfrm>
              <a:off x="279713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7" name="Oval 56"/>
            <p:cNvSpPr/>
            <p:nvPr/>
          </p:nvSpPr>
          <p:spPr bwMode="auto">
            <a:xfrm>
              <a:off x="3159082"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8" name="Oval 57"/>
            <p:cNvSpPr/>
            <p:nvPr/>
          </p:nvSpPr>
          <p:spPr bwMode="auto">
            <a:xfrm>
              <a:off x="3521031" y="2019846"/>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9" name="Oval 58"/>
            <p:cNvSpPr/>
            <p:nvPr/>
          </p:nvSpPr>
          <p:spPr bwMode="auto">
            <a:xfrm>
              <a:off x="388298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0" name="Oval 59"/>
            <p:cNvSpPr/>
            <p:nvPr/>
          </p:nvSpPr>
          <p:spPr bwMode="auto">
            <a:xfrm>
              <a:off x="424493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1" name="Oval 60"/>
            <p:cNvSpPr/>
            <p:nvPr/>
          </p:nvSpPr>
          <p:spPr bwMode="auto">
            <a:xfrm>
              <a:off x="460688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2" name="Oval 61"/>
            <p:cNvSpPr/>
            <p:nvPr/>
          </p:nvSpPr>
          <p:spPr bwMode="auto">
            <a:xfrm>
              <a:off x="496883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3" name="Oval 62"/>
            <p:cNvSpPr/>
            <p:nvPr/>
          </p:nvSpPr>
          <p:spPr bwMode="auto">
            <a:xfrm>
              <a:off x="533078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4" name="Oval 63"/>
            <p:cNvSpPr/>
            <p:nvPr/>
          </p:nvSpPr>
          <p:spPr bwMode="auto">
            <a:xfrm>
              <a:off x="5692732" y="2019846"/>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65" name="Oval 64"/>
            <p:cNvSpPr/>
            <p:nvPr/>
          </p:nvSpPr>
          <p:spPr bwMode="auto">
            <a:xfrm>
              <a:off x="605468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6" name="Oval 65"/>
            <p:cNvSpPr/>
            <p:nvPr/>
          </p:nvSpPr>
          <p:spPr bwMode="auto">
            <a:xfrm>
              <a:off x="641663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7" name="Oval 66"/>
            <p:cNvSpPr/>
            <p:nvPr/>
          </p:nvSpPr>
          <p:spPr bwMode="auto">
            <a:xfrm>
              <a:off x="677858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8" name="Oval 67"/>
            <p:cNvSpPr/>
            <p:nvPr/>
          </p:nvSpPr>
          <p:spPr bwMode="auto">
            <a:xfrm>
              <a:off x="714053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9" name="Oval 68"/>
            <p:cNvSpPr/>
            <p:nvPr/>
          </p:nvSpPr>
          <p:spPr bwMode="auto">
            <a:xfrm>
              <a:off x="750248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70" name="Oval 69"/>
            <p:cNvSpPr/>
            <p:nvPr/>
          </p:nvSpPr>
          <p:spPr bwMode="auto">
            <a:xfrm>
              <a:off x="7864432" y="2019846"/>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71" name="Left Brace 70"/>
            <p:cNvSpPr/>
            <p:nvPr/>
          </p:nvSpPr>
          <p:spPr bwMode="auto">
            <a:xfrm rot="16199999">
              <a:off x="3204005" y="9938"/>
              <a:ext cx="484488" cy="4931120"/>
            </a:xfrm>
            <a:prstGeom prst="leftBrace">
              <a:avLst>
                <a:gd name="adj1" fmla="val 8333"/>
                <a:gd name="adj2" fmla="val 50000"/>
              </a:avLst>
            </a:prstGeom>
            <a:noFill/>
            <a:ln w="6350" cap="flat" cmpd="sng" algn="ctr">
              <a:solidFill>
                <a:schemeClr val="tx1"/>
              </a:solidFill>
              <a:prstDash val="solid"/>
              <a:miter lim="800000"/>
            </a:ln>
            <a:effectLst/>
          </p:spPr>
          <p:txBody>
            <a:bodyPr rtlCol="0" anchor="ctr"/>
            <a:lstStyle/>
            <a:p>
              <a:pPr defTabSz="457200">
                <a:defRPr/>
              </a:pPr>
              <a:endParaRPr lang="en-US">
                <a:solidFill>
                  <a:prstClr val="black"/>
                </a:solidFill>
                <a:latin typeface="Calibri"/>
              </a:endParaRPr>
            </a:p>
          </p:txBody>
        </p:sp>
        <p:sp>
          <p:nvSpPr>
            <p:cNvPr id="72" name="Left Brace 71"/>
            <p:cNvSpPr/>
            <p:nvPr/>
          </p:nvSpPr>
          <p:spPr bwMode="auto">
            <a:xfrm rot="5400000">
              <a:off x="5741001" y="-336307"/>
              <a:ext cx="484488" cy="4200525"/>
            </a:xfrm>
            <a:prstGeom prst="leftBrace">
              <a:avLst>
                <a:gd name="adj1" fmla="val 8333"/>
                <a:gd name="adj2" fmla="val 50000"/>
              </a:avLst>
            </a:prstGeom>
            <a:noFill/>
            <a:ln w="6350" cap="flat" cmpd="sng" algn="ctr">
              <a:solidFill>
                <a:schemeClr val="tx1"/>
              </a:solidFill>
              <a:prstDash val="solid"/>
              <a:miter lim="800000"/>
            </a:ln>
            <a:effectLst/>
          </p:spPr>
          <p:txBody>
            <a:bodyPr rtlCol="0" anchor="ctr"/>
            <a:lstStyle/>
            <a:p>
              <a:pPr defTabSz="457200">
                <a:defRPr/>
              </a:pPr>
              <a:endParaRPr lang="en-US">
                <a:solidFill>
                  <a:prstClr val="black"/>
                </a:solidFill>
                <a:latin typeface="Calibri"/>
              </a:endParaRPr>
            </a:p>
          </p:txBody>
        </p:sp>
        <p:sp>
          <p:nvSpPr>
            <p:cNvPr id="73" name="Rectangle 72"/>
            <p:cNvSpPr/>
            <p:nvPr/>
          </p:nvSpPr>
          <p:spPr bwMode="auto">
            <a:xfrm>
              <a:off x="3268619" y="2717743"/>
              <a:ext cx="385682" cy="369332"/>
            </a:xfrm>
            <a:prstGeom prst="rect">
              <a:avLst/>
            </a:prstGeom>
            <a:grpFill/>
          </p:spPr>
          <p:txBody>
            <a:bodyPr wrap="none">
              <a:spAutoFit/>
            </a:bodyPr>
            <a:lstStyle/>
            <a:p>
              <a:pPr defTabSz="457200">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i="1">
                            <a:solidFill>
                              <a:srgbClr val="5B9BD5"/>
                            </a:solidFill>
                            <a:latin typeface="Cambria Math"/>
                          </a:rPr>
                          <m:t>𝐴</m:t>
                        </m:r>
                      </m:oMath>
                    </m:oMathPara>
                  </a14:m>
                </mc:Choice>
                <mc:Fallback/>
              </mc:AlternateContent>
              <a:endParaRPr lang="en-US">
                <a:solidFill>
                  <a:prstClr val="black"/>
                </a:solidFill>
                <a:latin typeface="Calibri"/>
              </a:endParaRPr>
            </a:p>
          </p:txBody>
        </p:sp>
        <p:sp>
          <p:nvSpPr>
            <p:cNvPr id="74" name="Rectangle 73"/>
            <p:cNvSpPr/>
            <p:nvPr/>
          </p:nvSpPr>
          <p:spPr bwMode="auto">
            <a:xfrm>
              <a:off x="5785210" y="1207126"/>
              <a:ext cx="396070" cy="369332"/>
            </a:xfrm>
            <a:prstGeom prst="rect">
              <a:avLst/>
            </a:prstGeom>
            <a:grpFill/>
          </p:spPr>
          <p:txBody>
            <a:bodyPr wrap="none">
              <a:spAutoFit/>
            </a:bodyPr>
            <a:lstStyle/>
            <a:p>
              <a:pPr defTabSz="457200">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i="1">
                            <a:solidFill>
                              <a:srgbClr val="70AD47"/>
                            </a:solidFill>
                            <a:latin typeface="Cambria Math"/>
                          </a:rPr>
                          <m:t>𝐵</m:t>
                        </m:r>
                      </m:oMath>
                    </m:oMathPara>
                  </a14:m>
                </mc:Choice>
                <mc:Fallback/>
              </mc:AlternateContent>
              <a:endParaRPr lang="en-US">
                <a:solidFill>
                  <a:prstClr val="black"/>
                </a:solidFill>
                <a:latin typeface="Calibri"/>
              </a:endParaRPr>
            </a:p>
          </p:txBody>
        </p:sp>
      </p:grpSp>
      <p:grpSp>
        <p:nvGrpSpPr>
          <p:cNvPr id="1369893646" name="Group 167"/>
          <p:cNvGrpSpPr/>
          <p:nvPr/>
        </p:nvGrpSpPr>
        <p:grpSpPr bwMode="auto">
          <a:xfrm>
            <a:off x="5768932" y="2679993"/>
            <a:ext cx="1480342" cy="730410"/>
            <a:chOff x="4244932" y="2629193"/>
            <a:chExt cx="1480342" cy="730410"/>
          </a:xfrm>
        </p:grpSpPr>
        <p:sp>
          <p:nvSpPr>
            <p:cNvPr id="75" name="Rectangle 74"/>
            <p:cNvSpPr/>
            <p:nvPr/>
          </p:nvSpPr>
          <p:spPr bwMode="auto">
            <a:xfrm>
              <a:off x="4244932" y="2750554"/>
              <a:ext cx="1480342" cy="369332"/>
            </a:xfrm>
            <a:prstGeom prst="rect">
              <a:avLst/>
            </a:prstGeom>
            <a:grpFill/>
          </p:spPr>
          <p:txBody>
            <a:bodyPr wrap="none">
              <a:spAutoFit/>
            </a:bodyPr>
            <a:lstStyle/>
            <a:p>
              <a:pPr defTabSz="457200">
                <a:defRPr/>
              </a:pPr>
              <a:r>
                <a:rPr lang="en-US" b="1">
                  <a:solidFill>
                    <a:prstClr val="black"/>
                  </a:solidFill>
                  <a:latin typeface="Calibri"/>
                </a:rPr>
                <a:t>permutations</a:t>
              </a:r>
              <a:endParaRPr/>
            </a:p>
          </p:txBody>
        </p:sp>
        <p:cxnSp>
          <p:nvCxnSpPr>
            <p:cNvPr id="76" name="Straight Arrow Connector 75"/>
            <p:cNvCxnSpPr/>
            <p:nvPr/>
          </p:nvCxnSpPr>
          <p:spPr bwMode="auto">
            <a:xfrm>
              <a:off x="4244932" y="2629193"/>
              <a:ext cx="0" cy="730410"/>
            </a:xfrm>
            <a:prstGeom prst="straightConnector1">
              <a:avLst/>
            </a:prstGeom>
            <a:noFill/>
            <a:ln w="25400" cap="flat" cmpd="sng" algn="ctr">
              <a:solidFill>
                <a:sysClr val="windowText" lastClr="000000"/>
              </a:solidFill>
              <a:prstDash val="solid"/>
              <a:miter lim="800000"/>
              <a:tailEnd type="triangle"/>
            </a:ln>
            <a:effectLst/>
          </p:spPr>
        </p:cxnSp>
      </p:grpSp>
      <p:sp>
        <p:nvSpPr>
          <p:cNvPr id="458273773" name="Oval 85"/>
          <p:cNvSpPr/>
          <p:nvPr/>
        </p:nvSpPr>
        <p:spPr bwMode="auto">
          <a:xfrm>
            <a:off x="2511383" y="4637329"/>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pic>
        <p:nvPicPr>
          <p:cNvPr id="1506719825" name="Picture 2" descr="https://upload.wikimedia.org/wikipedia/en/1/1d/Altavista-logo.png"/>
          <p:cNvPicPr>
            <a:picLocks noChangeAspect="1" noChangeArrowheads="1"/>
          </p:cNvPicPr>
          <p:nvPr/>
        </p:nvPicPr>
        <p:blipFill rotWithShape="1">
          <a:blip r:embed="rId3"/>
          <a:stretch/>
        </p:blipFill>
        <p:spPr bwMode="auto">
          <a:xfrm>
            <a:off x="8066514" y="245950"/>
            <a:ext cx="2144286" cy="771944"/>
          </a:xfrm>
          <a:prstGeom prst="rect">
            <a:avLst/>
          </a:prstGeom>
          <a:noFill/>
        </p:spPr>
      </p:pic>
      <p:sp>
        <p:nvSpPr>
          <p:cNvPr id="2074023217" name="Oval 113"/>
          <p:cNvSpPr/>
          <p:nvPr/>
        </p:nvSpPr>
        <p:spPr bwMode="auto">
          <a:xfrm>
            <a:off x="2880027" y="3573571"/>
            <a:ext cx="219074" cy="219074"/>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514485220" name="Oval 119"/>
          <p:cNvSpPr/>
          <p:nvPr/>
        </p:nvSpPr>
        <p:spPr bwMode="auto">
          <a:xfrm>
            <a:off x="2518077" y="3573571"/>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sp>
        <p:nvSpPr>
          <p:cNvPr id="603115179" name="Oval 127"/>
          <p:cNvSpPr/>
          <p:nvPr/>
        </p:nvSpPr>
        <p:spPr bwMode="auto">
          <a:xfrm>
            <a:off x="2518077" y="4105450"/>
            <a:ext cx="219074" cy="219074"/>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defTabSz="457200">
              <a:defRPr/>
            </a:pPr>
            <a:endParaRPr lang="en-US">
              <a:solidFill>
                <a:prstClr val="white"/>
              </a:solidFill>
              <a:latin typeface="Calibri"/>
            </a:endParaRPr>
          </a:p>
        </p:txBody>
      </p:sp>
      <p:sp>
        <p:nvSpPr>
          <p:cNvPr id="368159688" name="Oval 139"/>
          <p:cNvSpPr/>
          <p:nvPr/>
        </p:nvSpPr>
        <p:spPr bwMode="auto">
          <a:xfrm>
            <a:off x="2880027" y="4105450"/>
            <a:ext cx="219074" cy="219074"/>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defTabSz="457200">
              <a:defRPr/>
            </a:pPr>
            <a:endParaRPr lang="en-US">
              <a:solidFill>
                <a:prstClr val="white"/>
              </a:solidFill>
              <a:latin typeface="Calibri"/>
            </a:endParaRPr>
          </a:p>
        </p:txBody>
      </p:sp>
      <p:grpSp>
        <p:nvGrpSpPr>
          <p:cNvPr id="2116397440" name="Group 163"/>
          <p:cNvGrpSpPr/>
          <p:nvPr/>
        </p:nvGrpSpPr>
        <p:grpSpPr bwMode="auto">
          <a:xfrm>
            <a:off x="5994702" y="2768542"/>
            <a:ext cx="2783719" cy="501708"/>
            <a:chOff x="4470701" y="2717742"/>
            <a:chExt cx="2783719" cy="501708"/>
          </a:xfrm>
        </p:grpSpPr>
        <p:grpSp>
          <p:nvGrpSpPr>
            <p:cNvPr id="162" name="Group 161"/>
            <p:cNvGrpSpPr/>
            <p:nvPr/>
          </p:nvGrpSpPr>
          <p:grpSpPr bwMode="auto">
            <a:xfrm>
              <a:off x="4470701" y="2717742"/>
              <a:ext cx="1085850" cy="501708"/>
              <a:chOff x="4470701" y="2717742"/>
              <a:chExt cx="1085850" cy="501708"/>
            </a:xfrm>
          </p:grpSpPr>
          <p:cxnSp>
            <p:nvCxnSpPr>
              <p:cNvPr id="159" name="Straight Connector 158"/>
              <p:cNvCxnSpPr/>
              <p:nvPr/>
            </p:nvCxnSpPr>
            <p:spPr bwMode="auto">
              <a:xfrm>
                <a:off x="4470701" y="2750554"/>
                <a:ext cx="1085850" cy="4688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60" name="Straight Connector 159"/>
              <p:cNvCxnSpPr/>
              <p:nvPr/>
            </p:nvCxnSpPr>
            <p:spPr bwMode="auto">
              <a:xfrm flipV="1">
                <a:off x="4470701" y="2717742"/>
                <a:ext cx="976312" cy="477704"/>
              </a:xfrm>
              <a:prstGeom prst="line">
                <a:avLst/>
              </a:prstGeom>
            </p:spPr>
            <p:style>
              <a:lnRef idx="2">
                <a:schemeClr val="accent2"/>
              </a:lnRef>
              <a:fillRef idx="0">
                <a:schemeClr val="accent2"/>
              </a:fillRef>
              <a:effectRef idx="1">
                <a:schemeClr val="accent2"/>
              </a:effectRef>
              <a:fontRef idx="minor">
                <a:schemeClr val="tx1"/>
              </a:fontRef>
            </p:style>
          </p:cxnSp>
        </p:grpSp>
        <p:sp>
          <p:nvSpPr>
            <p:cNvPr id="163" name="Rectangle 162"/>
            <p:cNvSpPr/>
            <p:nvPr/>
          </p:nvSpPr>
          <p:spPr bwMode="auto">
            <a:xfrm>
              <a:off x="5742468" y="2768410"/>
              <a:ext cx="1511952" cy="369332"/>
            </a:xfrm>
            <a:prstGeom prst="rect">
              <a:avLst/>
            </a:prstGeom>
            <a:grpFill/>
          </p:spPr>
          <p:txBody>
            <a:bodyPr wrap="none">
              <a:spAutoFit/>
            </a:bodyPr>
            <a:lstStyle/>
            <a:p>
              <a:pPr defTabSz="457200">
                <a:defRPr/>
              </a:pPr>
              <a:r>
                <a:rPr lang="en-US" b="1">
                  <a:solidFill>
                    <a:srgbClr val="FF0000"/>
                  </a:solidFill>
                  <a:latin typeface="Calibri"/>
                </a:rPr>
                <a:t>Hash function</a:t>
              </a:r>
              <a:endParaRPr/>
            </a:p>
          </p:txBody>
        </p:sp>
      </p:grpSp>
      <p:sp>
        <p:nvSpPr>
          <p:cNvPr id="1013490227" name="Text Placeholder 2"/>
          <p:cNvSpPr>
            <a:spLocks noGrp="1"/>
          </p:cNvSpPr>
          <p:nvPr>
            <p:ph type="body" idx="1"/>
          </p:nvPr>
        </p:nvSpPr>
        <p:spPr bwMode="auto">
          <a:xfrm>
            <a:off x="1981201" y="5000935"/>
            <a:ext cx="7820024" cy="799514"/>
          </a:xfrm>
        </p:spPr>
        <p:txBody>
          <a:bodyPr>
            <a:normAutofit fontScale="92500"/>
          </a:bodyPr>
          <a:lstStyle/>
          <a:p>
            <a:pPr marL="0" indent="0">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2600" i="1">
                          <a:latin typeface="Cambria Math"/>
                        </a:rPr>
                        <m:t> </m:t>
                      </m:r>
                      <m:r>
                        <m:rPr/>
                        <a:rPr lang="en-US" sz="2600" i="1">
                          <a:latin typeface="Cambria Math"/>
                        </a:rPr>
                        <m:t>𝑃𝑟𝑜𝑏</m:t>
                      </m:r>
                      <m:d>
                        <m:dPr>
                          <m:ctrlPr>
                            <a:rPr lang="en-US" sz="2600" i="1">
                              <a:latin typeface="Cambria Math"/>
                              <a:ea typeface="Cambria Math"/>
                              <a:cs typeface="Cambria Math"/>
                            </a:rPr>
                          </m:ctrlPr>
                        </m:dPr>
                        <m:e>
                          <m:func>
                            <m:funcPr>
                              <m:ctrlPr>
                                <a:rPr lang="en-US" sz="2600" i="1">
                                  <a:latin typeface="Cambria Math"/>
                                  <a:ea typeface="Cambria Math"/>
                                  <a:cs typeface="Cambria Math"/>
                                </a:rPr>
                              </m:ctrlPr>
                            </m:funcPr>
                            <m:fName>
                              <m:r>
                                <m:rPr>
                                  <m:sty m:val="p"/>
                                </m:rPr>
                                <a:rPr lang="en-US" sz="2600">
                                  <a:latin typeface="Cambria Math"/>
                                </a:rPr>
                                <m:t>min</m:t>
                              </m:r>
                            </m:fName>
                            <m:e>
                              <m:d>
                                <m:dPr>
                                  <m:ctrlPr>
                                    <a:rPr lang="en-US" sz="2600" i="1">
                                      <a:latin typeface="Cambria Math"/>
                                      <a:ea typeface="Cambria Math"/>
                                      <a:cs typeface="Cambria Math"/>
                                    </a:rPr>
                                  </m:ctrlPr>
                                </m:dPr>
                                <m:e>
                                  <m:r>
                                    <m:rPr/>
                                    <a:rPr lang="en-US" sz="2600" i="1">
                                      <a:latin typeface="Cambria Math"/>
                                    </a:rPr>
                                    <m:t>𝐴</m:t>
                                  </m:r>
                                </m:e>
                              </m:d>
                            </m:e>
                          </m:func>
                          <m:r>
                            <m:rPr/>
                            <a:rPr lang="en-US" sz="2600" i="1">
                              <a:latin typeface="Cambria Math"/>
                            </a:rPr>
                            <m:t>=</m:t>
                          </m:r>
                          <m:func>
                            <m:funcPr>
                              <m:ctrlPr>
                                <a:rPr lang="en-US" sz="2600" i="1">
                                  <a:latin typeface="Cambria Math"/>
                                  <a:ea typeface="Cambria Math"/>
                                  <a:cs typeface="Cambria Math"/>
                                </a:rPr>
                              </m:ctrlPr>
                            </m:funcPr>
                            <m:fName>
                              <m:r>
                                <m:rPr>
                                  <m:sty m:val="p"/>
                                </m:rPr>
                                <a:rPr lang="en-US" sz="2600">
                                  <a:latin typeface="Cambria Math"/>
                                </a:rPr>
                                <m:t>min</m:t>
                              </m:r>
                            </m:fName>
                            <m:e>
                              <m:d>
                                <m:dPr>
                                  <m:ctrlPr>
                                    <a:rPr lang="en-US" sz="2600" i="1">
                                      <a:latin typeface="Cambria Math"/>
                                      <a:ea typeface="Cambria Math"/>
                                      <a:cs typeface="Cambria Math"/>
                                    </a:rPr>
                                  </m:ctrlPr>
                                </m:dPr>
                                <m:e>
                                  <m:r>
                                    <m:rPr/>
                                    <a:rPr lang="en-US" sz="2600" i="1">
                                      <a:latin typeface="Cambria Math"/>
                                    </a:rPr>
                                    <m:t>𝐵</m:t>
                                  </m:r>
                                </m:e>
                              </m:d>
                            </m:e>
                          </m:func>
                        </m:e>
                      </m:d>
                      <m:r>
                        <m:rPr/>
                        <a:rPr lang="en-US" sz="2600" i="1">
                          <a:latin typeface="Cambria Math"/>
                        </a:rPr>
                        <m:t>= </m:t>
                      </m:r>
                      <m:f>
                        <m:fPr>
                          <m:ctrlPr>
                            <a:rPr lang="en-US" sz="2600" i="1">
                              <a:latin typeface="Cambria Math"/>
                              <a:ea typeface="Cambria Math"/>
                              <a:cs typeface="Cambria Math"/>
                            </a:rPr>
                          </m:ctrlPr>
                        </m:fPr>
                        <m:num>
                          <m:d>
                            <m:dPr>
                              <m:begChr m:val="|"/>
                              <m:endChr m:val="|"/>
                              <m:ctrlPr>
                                <a:rPr lang="en-US" sz="2600" i="1">
                                  <a:latin typeface="Cambria Math"/>
                                  <a:ea typeface="Cambria Math"/>
                                  <a:cs typeface="Cambria Math"/>
                                </a:rPr>
                              </m:ctrlPr>
                            </m:dPr>
                            <m:e>
                              <m:r>
                                <m:rPr/>
                                <a:rPr lang="en-US" sz="2600" i="1">
                                  <a:latin typeface="Cambria Math"/>
                                </a:rPr>
                                <m:t>𝐴</m:t>
                              </m:r>
                              <m:r>
                                <m:rPr/>
                                <a:rPr lang="en-US" sz="2600" i="1">
                                  <a:latin typeface="Cambria Math"/>
                                </a:rPr>
                                <m:t>∩</m:t>
                              </m:r>
                              <m:r>
                                <m:rPr/>
                                <a:rPr lang="en-US" sz="2600" i="1">
                                  <a:latin typeface="Cambria Math"/>
                                </a:rPr>
                                <m:t>𝐵</m:t>
                              </m:r>
                            </m:e>
                          </m:d>
                        </m:num>
                        <m:den>
                          <m:d>
                            <m:dPr>
                              <m:begChr m:val="|"/>
                              <m:endChr m:val="|"/>
                              <m:ctrlPr>
                                <a:rPr lang="en-US" sz="2600" i="1">
                                  <a:latin typeface="Cambria Math"/>
                                  <a:ea typeface="Cambria Math"/>
                                  <a:cs typeface="Cambria Math"/>
                                </a:rPr>
                              </m:ctrlPr>
                            </m:dPr>
                            <m:e>
                              <m:r>
                                <m:rPr/>
                                <a:rPr lang="en-US" sz="2600" i="1">
                                  <a:latin typeface="Cambria Math"/>
                                </a:rPr>
                                <m:t>𝐴</m:t>
                              </m:r>
                              <m:r>
                                <m:rPr/>
                                <a:rPr lang="en-US" sz="2600" i="1">
                                  <a:latin typeface="Cambria Math"/>
                                </a:rPr>
                                <m:t>∪</m:t>
                              </m:r>
                              <m:r>
                                <m:rPr/>
                                <a:rPr lang="en-US" sz="2600" i="1">
                                  <a:latin typeface="Cambria Math"/>
                                </a:rPr>
                                <m:t>𝐵</m:t>
                              </m:r>
                            </m:e>
                          </m:d>
                        </m:den>
                      </m:f>
                      <m:r>
                        <m:rPr/>
                        <a:rPr lang="en-US" sz="2600" i="1">
                          <a:latin typeface="Cambria Math"/>
                        </a:rPr>
                        <m:t>=</m:t>
                      </m:r>
                      <m:r>
                        <m:rPr/>
                        <a:rPr lang="en-US" sz="2600" i="1">
                          <a:latin typeface="Cambria Math"/>
                        </a:rPr>
                        <m:t>𝐽</m:t>
                      </m:r>
                      <m:r>
                        <m:rPr/>
                        <a:rPr lang="en-US" sz="2600" i="1">
                          <a:latin typeface="Cambria Math"/>
                        </a:rPr>
                        <m:t>(</m:t>
                      </m:r>
                      <m:r>
                        <m:rPr/>
                        <a:rPr lang="en-US" sz="2600" i="1">
                          <a:latin typeface="Cambria Math"/>
                        </a:rPr>
                        <m:t>𝐴</m:t>
                      </m:r>
                      <m:r>
                        <m:rPr/>
                        <a:rPr lang="en-US" sz="2600" i="1">
                          <a:latin typeface="Cambria Math"/>
                        </a:rPr>
                        <m:t>,</m:t>
                      </m:r>
                      <m:r>
                        <m:rPr/>
                        <a:rPr lang="en-US" sz="2600" i="1">
                          <a:latin typeface="Cambria Math"/>
                        </a:rPr>
                        <m:t>𝐵</m:t>
                      </m:r>
                      <m:r>
                        <m:rPr/>
                        <a:rPr lang="en-US" sz="2600" i="1">
                          <a:latin typeface="Cambria Math"/>
                        </a:rPr>
                        <m:t>)</m:t>
                      </m:r>
                    </m:oMath>
                  </m:oMathPara>
                </a14:m>
              </mc:Choice>
              <mc:Fallback/>
            </mc:AlternateContent>
            <a:endParaRPr lang="en-US" sz="2600"/>
          </a:p>
        </p:txBody>
      </p:sp>
      <p:sp>
        <p:nvSpPr>
          <p:cNvPr id="518778260" name="Rectangle 168"/>
          <p:cNvSpPr/>
          <p:nvPr/>
        </p:nvSpPr>
        <p:spPr bwMode="auto">
          <a:xfrm>
            <a:off x="7279289" y="3082894"/>
            <a:ext cx="1814728" cy="404982"/>
          </a:xfrm>
          <a:prstGeom prst="rect">
            <a:avLst/>
          </a:prstGeom>
        </p:spPr>
        <p:txBody>
          <a:bodyPr wrap="none">
            <a:spAutoFit/>
          </a:bodyPr>
          <a:lstStyle/>
          <a:p>
            <a:pPr defTabSz="457200">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b="1" i="1">
                          <a:solidFill>
                            <a:srgbClr val="FF0000"/>
                          </a:solidFill>
                          <a:latin typeface="Cambria Math"/>
                        </a:rPr>
                        <m:t>𝑶</m:t>
                      </m:r>
                      <m:d>
                        <m:dPr>
                          <m:ctrlPr>
                            <a:rPr lang="en-US" b="1" i="1">
                              <a:solidFill>
                                <a:srgbClr val="FF0000"/>
                              </a:solidFill>
                              <a:latin typeface="Cambria Math"/>
                              <a:ea typeface="Cambria Math"/>
                              <a:cs typeface="Cambria Math"/>
                            </a:rPr>
                          </m:ctrlPr>
                        </m:dPr>
                        <m:e>
                          <m:r>
                            <m:rPr/>
                            <a:rPr lang="en-US" b="1" i="1">
                              <a:solidFill>
                                <a:srgbClr val="FF0000"/>
                              </a:solidFill>
                              <a:latin typeface="Cambria Math"/>
                            </a:rPr>
                            <m:t>𝒍𝒐𝒈</m:t>
                          </m:r>
                          <m:d>
                            <m:dPr>
                              <m:ctrlPr>
                                <a:rPr lang="en-US" b="1" i="1">
                                  <a:solidFill>
                                    <a:srgbClr val="FF0000"/>
                                  </a:solidFill>
                                  <a:latin typeface="Cambria Math"/>
                                  <a:ea typeface="Cambria Math"/>
                                  <a:cs typeface="Cambria Math"/>
                                </a:rPr>
                              </m:ctrlPr>
                            </m:dPr>
                            <m:e>
                              <m:r>
                                <m:rPr/>
                                <a:rPr lang="en-US" b="1" i="1">
                                  <a:solidFill>
                                    <a:srgbClr val="FF0000"/>
                                  </a:solidFill>
                                  <a:latin typeface="Cambria Math"/>
                                </a:rPr>
                                <m:t>𝒏</m:t>
                              </m:r>
                            </m:e>
                          </m:d>
                        </m:e>
                      </m:d>
                      <m:r>
                        <m:rPr/>
                        <a:rPr lang="en-US" b="1" i="1">
                          <a:solidFill>
                            <a:srgbClr val="FF0000"/>
                          </a:solidFill>
                          <a:latin typeface="Cambria Math"/>
                        </a:rPr>
                        <m:t> </m:t>
                      </m:r>
                      <m:r>
                        <m:rPr/>
                        <a:rPr lang="en-US" b="1" i="1">
                          <a:solidFill>
                            <a:srgbClr val="FF0000"/>
                          </a:solidFill>
                          <a:latin typeface="Cambria Math"/>
                        </a:rPr>
                        <m:t>𝒃𝒊𝒕𝒔</m:t>
                      </m:r>
                    </m:oMath>
                  </m:oMathPara>
                </a14:m>
              </mc:Choice>
              <mc:Fallback/>
            </mc:AlternateContent>
            <a:endParaRPr lang="en-US" b="1">
              <a:solidFill>
                <a:srgbClr val="FF0000"/>
              </a:solidFill>
              <a:latin typeface="Calibri"/>
            </a:endParaRPr>
          </a:p>
        </p:txBody>
      </p:sp>
      <p:sp>
        <p:nvSpPr>
          <p:cNvPr id="840756098" name="Rectangle 144"/>
          <p:cNvSpPr/>
          <p:nvPr/>
        </p:nvSpPr>
        <p:spPr bwMode="auto">
          <a:xfrm>
            <a:off x="2332641" y="6097843"/>
            <a:ext cx="7468584" cy="611676"/>
          </a:xfrm>
          <a:prstGeom prst="rect">
            <a:avLst/>
          </a:prstGeom>
          <a:gradFill>
            <a:gsLst>
              <a:gs pos="0">
                <a:srgbClr val="990000">
                  <a:alpha val="57000"/>
                </a:srgbClr>
              </a:gs>
              <a:gs pos="100000">
                <a:srgbClr val="990000"/>
              </a:gs>
            </a:gsLst>
            <a:lin ang="5400000" scaled="0"/>
          </a:gra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lIns="91435" tIns="45718" rIns="91435" bIns="45718" anchor="ctr"/>
          <a:lstStyle/>
          <a:p>
            <a:pPr>
              <a:lnSpc>
                <a:spcPts val="2400"/>
              </a:lnSpc>
              <a:defRPr/>
            </a:pPr>
            <a:r>
              <a:rPr lang="en-US"/>
              <a:t>Can estimate </a:t>
            </a:r>
            <a:r>
              <a:rPr lang="en-US"/>
              <a:t>Jaccard</a:t>
            </a:r>
            <a:r>
              <a:rPr lang="en-US"/>
              <a:t> index from empirical probabilities!</a:t>
            </a:r>
            <a:endParaRPr/>
          </a:p>
        </p:txBody>
      </p:sp>
      <p:sp>
        <p:nvSpPr>
          <p:cNvPr id="1482849076" name="Slide Number Placeholder 2"/>
          <p:cNvSpPr>
            <a:spLocks noGrp="1"/>
          </p:cNvSpPr>
          <p:nvPr>
            <p:ph type="sldNum" sz="quarter" idx="12"/>
          </p:nvPr>
        </p:nvSpPr>
        <p:spPr bwMode="auto"/>
        <p:txBody>
          <a:bodyPr/>
          <a:lstStyle/>
          <a:p>
            <a:pPr>
              <a:defRPr/>
            </a:pPr>
            <a:fld id="{CB3471C9-C827-482F-8F3B-3E2B820EA1AD}" type="slidenum">
              <a:rPr lang="en-US"/>
              <a:t>16</a:t>
            </a:fld>
            <a:endParaRPr lang="en-US"/>
          </a:p>
        </p:txBody>
      </p:sp>
      <p:grpSp>
        <p:nvGrpSpPr>
          <p:cNvPr id="967823347" name="Group 4"/>
          <p:cNvGrpSpPr/>
          <p:nvPr/>
        </p:nvGrpSpPr>
        <p:grpSpPr bwMode="auto">
          <a:xfrm>
            <a:off x="2574481" y="3335890"/>
            <a:ext cx="460893" cy="186930"/>
            <a:chOff x="1050481" y="3335890"/>
            <a:chExt cx="460893" cy="186930"/>
          </a:xfrm>
        </p:grpSpPr>
        <p:sp>
          <p:nvSpPr>
            <p:cNvPr id="4" name="Down Arrow 3"/>
            <p:cNvSpPr/>
            <p:nvPr/>
          </p:nvSpPr>
          <p:spPr bwMode="auto">
            <a:xfrm>
              <a:off x="1418499" y="3335891"/>
              <a:ext cx="92875" cy="186929"/>
            </a:xfrm>
            <a:prstGeom prst="downArrow">
              <a:avLst>
                <a:gd name="adj1" fmla="val 5000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sp>
          <p:nvSpPr>
            <p:cNvPr id="158" name="Down Arrow 157"/>
            <p:cNvSpPr/>
            <p:nvPr/>
          </p:nvSpPr>
          <p:spPr bwMode="auto">
            <a:xfrm>
              <a:off x="1050481" y="3335890"/>
              <a:ext cx="92875" cy="186929"/>
            </a:xfrm>
            <a:prstGeom prst="downArrow">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a:p>
          </p:txBody>
        </p:sp>
      </p:grpSp>
      <p:grpSp>
        <p:nvGrpSpPr>
          <p:cNvPr id="1497307716" name="Group 5"/>
          <p:cNvGrpSpPr/>
          <p:nvPr/>
        </p:nvGrpSpPr>
        <p:grpSpPr bwMode="auto">
          <a:xfrm>
            <a:off x="2574481" y="3882474"/>
            <a:ext cx="460893" cy="186930"/>
            <a:chOff x="1050481" y="3882474"/>
            <a:chExt cx="460893" cy="186930"/>
          </a:xfrm>
        </p:grpSpPr>
        <p:sp>
          <p:nvSpPr>
            <p:cNvPr id="161" name="Down Arrow 160"/>
            <p:cNvSpPr/>
            <p:nvPr/>
          </p:nvSpPr>
          <p:spPr bwMode="auto">
            <a:xfrm>
              <a:off x="1418499" y="3882475"/>
              <a:ext cx="92875" cy="186929"/>
            </a:xfrm>
            <a:prstGeom prst="downArrow">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a:p>
          </p:txBody>
        </p:sp>
        <p:sp>
          <p:nvSpPr>
            <p:cNvPr id="165" name="Down Arrow 164"/>
            <p:cNvSpPr/>
            <p:nvPr/>
          </p:nvSpPr>
          <p:spPr bwMode="auto">
            <a:xfrm>
              <a:off x="1050481" y="3882474"/>
              <a:ext cx="92875" cy="186929"/>
            </a:xfrm>
            <a:prstGeom prst="downArrow">
              <a:avLst>
                <a:gd name="adj1" fmla="val 5000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grpSp>
      <p:grpSp>
        <p:nvGrpSpPr>
          <p:cNvPr id="41773034" name="Group 6"/>
          <p:cNvGrpSpPr/>
          <p:nvPr/>
        </p:nvGrpSpPr>
        <p:grpSpPr bwMode="auto">
          <a:xfrm>
            <a:off x="2524403" y="4417891"/>
            <a:ext cx="212805" cy="194443"/>
            <a:chOff x="1000402" y="4417890"/>
            <a:chExt cx="212805" cy="194443"/>
          </a:xfrm>
        </p:grpSpPr>
        <p:sp>
          <p:nvSpPr>
            <p:cNvPr id="170" name="Down Arrow 169"/>
            <p:cNvSpPr/>
            <p:nvPr/>
          </p:nvSpPr>
          <p:spPr bwMode="auto">
            <a:xfrm>
              <a:off x="1120331" y="4425404"/>
              <a:ext cx="92875" cy="186929"/>
            </a:xfrm>
            <a:prstGeom prst="downArrow">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a:p>
          </p:txBody>
        </p:sp>
        <p:sp>
          <p:nvSpPr>
            <p:cNvPr id="171" name="Down Arrow 170"/>
            <p:cNvSpPr/>
            <p:nvPr/>
          </p:nvSpPr>
          <p:spPr bwMode="auto">
            <a:xfrm>
              <a:off x="1000402" y="4417890"/>
              <a:ext cx="92875" cy="186929"/>
            </a:xfrm>
            <a:prstGeom prst="downArrow">
              <a:avLst>
                <a:gd name="adj1" fmla="val 5000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defRPr/>
              </a:pPr>
              <a:endParaRPr lang="en-US"/>
            </a:p>
          </p:txBody>
        </p:sp>
      </p:grpSp>
      <p:sp>
        <p:nvSpPr>
          <p:cNvPr id="407665108" name="TextBox 7"/>
          <p:cNvSpPr txBox="1"/>
          <p:nvPr/>
        </p:nvSpPr>
        <p:spPr bwMode="auto">
          <a:xfrm>
            <a:off x="3238275" y="3511402"/>
            <a:ext cx="3583353" cy="369332"/>
          </a:xfrm>
          <a:prstGeom prst="rect">
            <a:avLst/>
          </a:prstGeom>
          <a:noFill/>
        </p:spPr>
        <p:txBody>
          <a:bodyPr wrap="none" rtlCol="0">
            <a:spAutoFit/>
          </a:bodyPr>
          <a:lstStyle/>
          <a:p>
            <a:pPr>
              <a:spcAft>
                <a:spcPts val="1650"/>
              </a:spcAft>
              <a:defRPr/>
            </a:pPr>
            <a:r>
              <a:rPr lang="en-US">
                <a:solidFill>
                  <a:srgbClr val="990000"/>
                </a:solidFill>
                <a:latin typeface="+mj-lt"/>
              </a:rPr>
              <a:t> Minimum Hash 1 for sets A and B</a:t>
            </a:r>
            <a:endParaRPr lang="en-US">
              <a:solidFill>
                <a:srgbClr val="990000"/>
              </a:solidFill>
              <a:latin typeface="+mj-lt"/>
            </a:endParaRPr>
          </a:p>
        </p:txBody>
      </p:sp>
      <p:sp>
        <p:nvSpPr>
          <p:cNvPr id="850567293" name="TextBox 146"/>
          <p:cNvSpPr txBox="1"/>
          <p:nvPr/>
        </p:nvSpPr>
        <p:spPr bwMode="auto">
          <a:xfrm>
            <a:off x="3237206" y="4012373"/>
            <a:ext cx="3583353" cy="369332"/>
          </a:xfrm>
          <a:prstGeom prst="rect">
            <a:avLst/>
          </a:prstGeom>
          <a:noFill/>
        </p:spPr>
        <p:txBody>
          <a:bodyPr wrap="none" rtlCol="0">
            <a:spAutoFit/>
          </a:bodyPr>
          <a:lstStyle/>
          <a:p>
            <a:pPr>
              <a:spcAft>
                <a:spcPts val="1650"/>
              </a:spcAft>
              <a:defRPr/>
            </a:pPr>
            <a:r>
              <a:rPr lang="en-US">
                <a:solidFill>
                  <a:srgbClr val="990000"/>
                </a:solidFill>
                <a:latin typeface="+mj-lt"/>
              </a:rPr>
              <a:t> Minimum Hash 2 for sets A and B</a:t>
            </a:r>
            <a:endParaRPr lang="en-US">
              <a:solidFill>
                <a:srgbClr val="990000"/>
              </a:solidFill>
              <a:latin typeface="+mj-lt"/>
            </a:endParaRPr>
          </a:p>
        </p:txBody>
      </p:sp>
      <p:sp>
        <p:nvSpPr>
          <p:cNvPr id="224390004" name="TextBox 147"/>
          <p:cNvSpPr txBox="1"/>
          <p:nvPr/>
        </p:nvSpPr>
        <p:spPr bwMode="auto">
          <a:xfrm>
            <a:off x="3236136" y="4513344"/>
            <a:ext cx="3583353" cy="369332"/>
          </a:xfrm>
          <a:prstGeom prst="rect">
            <a:avLst/>
          </a:prstGeom>
          <a:noFill/>
        </p:spPr>
        <p:txBody>
          <a:bodyPr wrap="none" rtlCol="0">
            <a:spAutoFit/>
          </a:bodyPr>
          <a:lstStyle/>
          <a:p>
            <a:pPr>
              <a:spcAft>
                <a:spcPts val="1650"/>
              </a:spcAft>
              <a:defRPr/>
            </a:pPr>
            <a:r>
              <a:rPr lang="en-US">
                <a:solidFill>
                  <a:srgbClr val="990000"/>
                </a:solidFill>
                <a:latin typeface="+mj-lt"/>
              </a:rPr>
              <a:t> Minimum Hash 3 for sets A and B</a:t>
            </a:r>
            <a:endParaRPr lang="en-US">
              <a:solidFill>
                <a:srgbClr val="990000"/>
              </a:solidFill>
              <a:latin typeface="+mj-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0946708" name="Title 1"/>
          <p:cNvSpPr>
            <a:spLocks noGrp="1"/>
          </p:cNvSpPr>
          <p:nvPr>
            <p:ph type="title"/>
          </p:nvPr>
        </p:nvSpPr>
        <p:spPr bwMode="auto">
          <a:xfrm>
            <a:off x="497842" y="0"/>
            <a:ext cx="10515600" cy="1325563"/>
          </a:xfrm>
        </p:spPr>
        <p:txBody>
          <a:bodyPr/>
          <a:lstStyle/>
          <a:p>
            <a:pPr>
              <a:defRPr/>
            </a:pPr>
            <a:r>
              <a:rPr lang="en-US"/>
              <a:t>Breakthrough in alignment-free analysis</a:t>
            </a:r>
            <a:endParaRPr/>
          </a:p>
        </p:txBody>
      </p:sp>
      <p:sp>
        <p:nvSpPr>
          <p:cNvPr id="822792422" name="Text Placeholder 2"/>
          <p:cNvSpPr>
            <a:spLocks noGrp="1"/>
          </p:cNvSpPr>
          <p:nvPr>
            <p:ph type="body" idx="1"/>
          </p:nvPr>
        </p:nvSpPr>
        <p:spPr bwMode="auto">
          <a:xfrm>
            <a:off x="501227" y="1175384"/>
            <a:ext cx="10852573" cy="5469255"/>
          </a:xfrm>
        </p:spPr>
        <p:txBody>
          <a:bodyPr>
            <a:normAutofit lnSpcReduction="10000"/>
          </a:bodyPr>
          <a:lstStyle/>
          <a:p>
            <a:pPr marL="0" indent="0">
              <a:buNone/>
              <a:defRPr/>
            </a:pPr>
            <a:r>
              <a:rPr lang="en-US"/>
              <a:t>MASH [</a:t>
            </a:r>
            <a:r>
              <a:rPr lang="en-US"/>
              <a:t>Ondov</a:t>
            </a:r>
            <a:r>
              <a:rPr lang="en-US"/>
              <a:t> et al, 2016] – </a:t>
            </a:r>
            <a:r>
              <a:rPr lang="en-US"/>
              <a:t>MinHash</a:t>
            </a:r>
            <a:r>
              <a:rPr lang="en-US"/>
              <a:t> genome distance estimation</a:t>
            </a:r>
            <a:endParaRPr/>
          </a:p>
          <a:p>
            <a:pPr>
              <a:defRPr/>
            </a:pPr>
            <a:r>
              <a:rPr lang="en-US"/>
              <a:t>Extremely popular technique (&gt; 3000 citations)</a:t>
            </a:r>
            <a:endParaRPr/>
          </a:p>
          <a:p>
            <a:pPr>
              <a:defRPr/>
            </a:pPr>
            <a:r>
              <a:rPr lang="en-US"/>
              <a:t>Idea: use </a:t>
            </a:r>
            <a:r>
              <a:rPr lang="en-US"/>
              <a:t>MinHash</a:t>
            </a:r>
            <a:r>
              <a:rPr lang="en-US"/>
              <a:t> to generate sketches of 1000 k-</a:t>
            </a:r>
            <a:r>
              <a:rPr lang="en-US"/>
              <a:t>mers</a:t>
            </a:r>
            <a:r>
              <a:rPr lang="en-US"/>
              <a:t> for each of genomes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𝐴</m:t>
                      </m:r>
                    </m:oMath>
                  </m:oMathPara>
                </a14:m>
              </mc:Choice>
              <mc:Fallback/>
            </mc:AlternateContent>
            <a:r>
              <a:rPr lang="en-US"/>
              <a:t> and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𝐵</m:t>
                      </m:r>
                      <m:r>
                        <m:rPr/>
                        <a:rPr lang="en-US" b="0" i="0">
                          <a:latin typeface="Cambria Math"/>
                        </a:rPr>
                        <m:t>; </m:t>
                      </m:r>
                    </m:oMath>
                  </m:oMathPara>
                </a14:m>
              </mc:Choice>
              <mc:Fallback/>
            </mc:AlternateContent>
            <a:r>
              <a:rPr lang="en-US"/>
              <a:t>estimate divergence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𝜃</m:t>
                      </m:r>
                    </m:oMath>
                  </m:oMathPara>
                </a14:m>
              </mc:Choice>
              <mc:Fallback/>
            </mc:AlternateContent>
            <a:r>
              <a:rPr lang="en-US"/>
              <a:t> using Jaccard index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𝑗</m:t>
                      </m:r>
                    </m:oMath>
                  </m:oMathPara>
                </a14:m>
              </mc:Choice>
              <mc:Fallback/>
            </mc:AlternateContent>
            <a:r>
              <a:rPr lang="en-US"/>
              <a:t>.</a:t>
            </a:r>
            <a:endParaRPr/>
          </a:p>
          <a:p>
            <a:pPr>
              <a:defRPr/>
            </a:pPr>
            <a:endParaRPr lang="en-US"/>
          </a:p>
          <a:p>
            <a:pPr>
              <a:defRPr/>
            </a:pPr>
            <a:endParaRPr lang="en-US"/>
          </a:p>
          <a:p>
            <a:pPr>
              <a:defRPr/>
            </a:pPr>
            <a:r>
              <a:rPr lang="en-US"/>
              <a:t>Comparing sketches is very fast, and even all-to-all comparison of 100,000 genomes takes only hours.</a:t>
            </a:r>
            <a:endParaRPr/>
          </a:p>
          <a:p>
            <a:pPr>
              <a:defRPr/>
            </a:pPr>
            <a:r>
              <a:rPr lang="en-US"/>
              <a:t>Good accuracy for &lt;15% sequence divergence for genus/species level comparisons.</a:t>
            </a:r>
            <a:endParaRPr/>
          </a:p>
          <a:p>
            <a:pPr>
              <a:defRPr/>
            </a:pPr>
            <a:r>
              <a:rPr lang="en-US">
                <a:solidFill>
                  <a:srgbClr val="FF0000"/>
                </a:solidFill>
              </a:rPr>
              <a:t>Divergence assumes point mutations, so starts failing when dealing with large structural variation (e.g. mobile genetic elements, large repetitions and deletions)</a:t>
            </a:r>
            <a:endParaRPr/>
          </a:p>
        </p:txBody>
      </p:sp>
      <p:grpSp>
        <p:nvGrpSpPr>
          <p:cNvPr id="454257861" name="Group 7"/>
          <p:cNvGrpSpPr/>
          <p:nvPr/>
        </p:nvGrpSpPr>
        <p:grpSpPr bwMode="auto">
          <a:xfrm>
            <a:off x="1481669" y="3102187"/>
            <a:ext cx="7712524" cy="890821"/>
            <a:chOff x="1481669" y="3102187"/>
            <a:chExt cx="7712524" cy="890821"/>
          </a:xfrm>
        </p:grpSpPr>
        <p:sp>
          <p:nvSpPr>
            <p:cNvPr id="4" name="TextBox 3"/>
            <p:cNvSpPr txBox="1"/>
            <p:nvPr/>
          </p:nvSpPr>
          <p:spPr bwMode="auto">
            <a:xfrm>
              <a:off x="1481669" y="3102187"/>
              <a:ext cx="3313536" cy="890821"/>
            </a:xfrm>
            <a:prstGeom prst="rect">
              <a:avLst/>
            </a:prstGeom>
            <a:noFill/>
          </p:spPr>
          <p:txBody>
            <a:bodyPr wrap="none" lIns="0" tIns="0" rIns="0" bIns="0"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2800" b="0" i="1">
                            <a:latin typeface="Cambria Math"/>
                          </a:rPr>
                          <m:t>𝑗</m:t>
                        </m:r>
                        <m:r>
                          <m:rPr/>
                          <a:rPr lang="en-US" sz="2800" b="0" i="1">
                            <a:latin typeface="Cambria Math"/>
                          </a:rPr>
                          <m:t>=</m:t>
                        </m:r>
                        <m:r>
                          <m:rPr/>
                          <a:rPr lang="en-US" sz="2800" b="0" i="1">
                            <a:latin typeface="Cambria Math"/>
                          </a:rPr>
                          <m:t>𝐽</m:t>
                        </m:r>
                        <m:d>
                          <m:dPr>
                            <m:ctrlPr>
                              <a:rPr lang="en-US" sz="2800" b="0" i="1">
                                <a:latin typeface="Cambria Math"/>
                                <a:ea typeface="Cambria Math"/>
                                <a:cs typeface="Cambria Math"/>
                              </a:rPr>
                            </m:ctrlPr>
                          </m:dPr>
                          <m:e>
                            <m:r>
                              <m:rPr/>
                              <a:rPr lang="en-US" sz="2800" b="0" i="1">
                                <a:latin typeface="Cambria Math"/>
                              </a:rPr>
                              <m:t>𝐴</m:t>
                            </m:r>
                            <m:r>
                              <m:rPr/>
                              <a:rPr lang="en-US" sz="2800" b="0" i="1">
                                <a:latin typeface="Cambria Math"/>
                              </a:rPr>
                              <m:t>,</m:t>
                            </m:r>
                            <m:r>
                              <m:rPr/>
                              <a:rPr lang="en-US" sz="2800" b="0" i="1">
                                <a:latin typeface="Cambria Math"/>
                              </a:rPr>
                              <m:t>𝐵</m:t>
                            </m:r>
                          </m:e>
                        </m:d>
                        <m:r>
                          <m:rPr/>
                          <a:rPr lang="en-US" sz="2800" b="0" i="1">
                            <a:latin typeface="Cambria Math"/>
                          </a:rPr>
                          <m:t>=</m:t>
                        </m:r>
                        <m:f>
                          <m:fPr>
                            <m:ctrlPr>
                              <a:rPr lang="en-US" sz="2800" b="0" i="1">
                                <a:latin typeface="Cambria Math"/>
                                <a:ea typeface="Cambria Math"/>
                                <a:cs typeface="Cambria Math"/>
                              </a:rPr>
                            </m:ctrlPr>
                          </m:fPr>
                          <m:num>
                            <m:d>
                              <m:dPr>
                                <m:begChr m:val="|"/>
                                <m:endChr m:val="|"/>
                                <m:ctrlPr>
                                  <a:rPr lang="en-US" sz="2800" b="0" i="1">
                                    <a:latin typeface="Cambria Math"/>
                                    <a:ea typeface="Cambria Math"/>
                                    <a:cs typeface="Cambria Math"/>
                                  </a:rPr>
                                </m:ctrlPr>
                              </m:dPr>
                              <m:e>
                                <m:r>
                                  <m:rPr/>
                                  <a:rPr lang="en-US" sz="2800" b="0" i="1">
                                    <a:latin typeface="Cambria Math"/>
                                  </a:rPr>
                                  <m:t>𝐴</m:t>
                                </m:r>
                                <m:r>
                                  <m:rPr/>
                                  <a:rPr lang="en-US" sz="2800" b="0" i="1">
                                    <a:latin typeface="Cambria Math"/>
                                  </a:rPr>
                                  <m:t>∩</m:t>
                                </m:r>
                                <m:r>
                                  <m:rPr/>
                                  <a:rPr lang="en-US" sz="2800" b="0" i="1">
                                    <a:latin typeface="Cambria Math"/>
                                  </a:rPr>
                                  <m:t>𝐵</m:t>
                                </m:r>
                              </m:e>
                            </m:d>
                          </m:num>
                          <m:den>
                            <m:d>
                              <m:dPr>
                                <m:begChr m:val="|"/>
                                <m:endChr m:val="|"/>
                                <m:ctrlPr>
                                  <a:rPr lang="en-US" sz="2800" b="0" i="1">
                                    <a:latin typeface="Cambria Math"/>
                                    <a:ea typeface="Cambria Math"/>
                                    <a:cs typeface="Cambria Math"/>
                                  </a:rPr>
                                </m:ctrlPr>
                              </m:dPr>
                              <m:e>
                                <m:r>
                                  <m:rPr/>
                                  <a:rPr lang="en-US" sz="2800" b="0" i="1">
                                    <a:latin typeface="Cambria Math"/>
                                  </a:rPr>
                                  <m:t>𝐴</m:t>
                                </m:r>
                                <m:r>
                                  <m:rPr/>
                                  <a:rPr lang="en-US" sz="2800" b="0" i="1">
                                    <a:latin typeface="Cambria Math"/>
                                  </a:rPr>
                                  <m:t>∪</m:t>
                                </m:r>
                                <m:r>
                                  <m:rPr/>
                                  <a:rPr lang="en-US" sz="2800" b="0" i="1">
                                    <a:latin typeface="Cambria Math"/>
                                  </a:rPr>
                                  <m:t>𝐵</m:t>
                                </m:r>
                              </m:e>
                            </m:d>
                          </m:den>
                        </m:f>
                      </m:oMath>
                    </m:oMathPara>
                  </a14:m>
                </mc:Choice>
                <mc:Fallback/>
              </mc:AlternateContent>
              <a:endParaRPr lang="en-US" sz="2800"/>
            </a:p>
          </p:txBody>
        </p:sp>
        <p:cxnSp>
          <p:nvCxnSpPr>
            <p:cNvPr id="6" name="Straight Arrow Connector 5"/>
            <p:cNvCxnSpPr/>
            <p:nvPr/>
          </p:nvCxnSpPr>
          <p:spPr bwMode="auto">
            <a:xfrm>
              <a:off x="4993642" y="3547597"/>
              <a:ext cx="152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bwMode="auto">
            <a:xfrm>
              <a:off x="6716079" y="3102187"/>
              <a:ext cx="2478114" cy="884986"/>
            </a:xfrm>
            <a:prstGeom prst="rect">
              <a:avLst/>
            </a:prstGeom>
            <a:noFill/>
          </p:spPr>
          <p:txBody>
            <a:bodyPr wrap="none" lIns="0" tIns="0" rIns="0" bIns="0" rtlCol="0">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2800" b="0" i="1">
                            <a:latin typeface="Cambria Math"/>
                          </a:rPr>
                          <m:t>𝜃</m:t>
                        </m:r>
                        <m:r>
                          <m:rPr/>
                          <a:rPr lang="en-US" sz="2800" b="0" i="1">
                            <a:latin typeface="Cambria Math"/>
                          </a:rPr>
                          <m:t>=−</m:t>
                        </m:r>
                        <m:f>
                          <m:fPr>
                            <m:ctrlPr>
                              <a:rPr lang="en-US" sz="2800" b="0" i="1">
                                <a:latin typeface="Cambria Math"/>
                                <a:ea typeface="Cambria Math"/>
                                <a:cs typeface="Cambria Math"/>
                              </a:rPr>
                            </m:ctrlPr>
                          </m:fPr>
                          <m:num>
                            <m:r>
                              <m:rPr/>
                              <a:rPr lang="en-US" sz="2800" b="0" i="1">
                                <a:latin typeface="Cambria Math"/>
                              </a:rPr>
                              <m:t>1</m:t>
                            </m:r>
                          </m:num>
                          <m:den>
                            <m:r>
                              <m:rPr/>
                              <a:rPr lang="en-US" sz="2800" b="0" i="1">
                                <a:latin typeface="Cambria Math"/>
                              </a:rPr>
                              <m:t>𝑘</m:t>
                            </m:r>
                          </m:den>
                        </m:f>
                        <m:func>
                          <m:funcPr>
                            <m:ctrlPr>
                              <a:rPr lang="en-US" sz="2800" b="0" i="1">
                                <a:latin typeface="Cambria Math"/>
                                <a:ea typeface="Cambria Math"/>
                                <a:cs typeface="Cambria Math"/>
                              </a:rPr>
                            </m:ctrlPr>
                          </m:funcPr>
                          <m:fName>
                            <m:r>
                              <m:rPr>
                                <m:sty m:val="p"/>
                              </m:rPr>
                              <a:rPr lang="en-US" sz="2800" b="0" i="0">
                                <a:latin typeface="Cambria Math"/>
                              </a:rPr>
                              <m:t>ln</m:t>
                            </m:r>
                          </m:fName>
                          <m:e>
                            <m:f>
                              <m:fPr>
                                <m:ctrlPr>
                                  <a:rPr lang="en-US" sz="2800" b="0" i="1">
                                    <a:latin typeface="Cambria Math"/>
                                    <a:ea typeface="Cambria Math"/>
                                    <a:cs typeface="Cambria Math"/>
                                  </a:rPr>
                                </m:ctrlPr>
                              </m:fPr>
                              <m:num>
                                <m:r>
                                  <m:rPr/>
                                  <a:rPr lang="en-US" sz="2800" b="0" i="1">
                                    <a:latin typeface="Cambria Math"/>
                                  </a:rPr>
                                  <m:t>2</m:t>
                                </m:r>
                                <m:r>
                                  <m:rPr/>
                                  <a:rPr lang="en-US" sz="2800" b="0" i="1">
                                    <a:latin typeface="Cambria Math"/>
                                  </a:rPr>
                                  <m:t>𝑗</m:t>
                                </m:r>
                              </m:num>
                              <m:den>
                                <m:r>
                                  <m:rPr/>
                                  <a:rPr lang="en-US" sz="2800" b="0" i="1">
                                    <a:latin typeface="Cambria Math"/>
                                  </a:rPr>
                                  <m:t>1+</m:t>
                                </m:r>
                                <m:r>
                                  <m:rPr/>
                                  <a:rPr lang="en-US" sz="2800" b="0" i="1">
                                    <a:latin typeface="Cambria Math"/>
                                  </a:rPr>
                                  <m:t>𝑗</m:t>
                                </m:r>
                              </m:den>
                            </m:f>
                          </m:e>
                        </m:func>
                      </m:oMath>
                    </m:oMathPara>
                  </a14:m>
                </mc:Choice>
                <mc:Fallback/>
              </mc:AlternateContent>
              <a:endParaRPr lang="en-US" sz="2800"/>
            </a:p>
          </p:txBody>
        </p:sp>
      </p:grpSp>
      <p:sp>
        <p:nvSpPr>
          <p:cNvPr id="2110383056" name="Slide Number Placeholder 3"/>
          <p:cNvSpPr>
            <a:spLocks noGrp="1"/>
          </p:cNvSpPr>
          <p:nvPr>
            <p:ph type="sldNum" sz="quarter" idx="12"/>
          </p:nvPr>
        </p:nvSpPr>
        <p:spPr bwMode="auto"/>
        <p:txBody>
          <a:bodyPr/>
          <a:lstStyle>
            <a:lvl1pPr>
              <a:defRPr/>
            </a:lvl1pPr>
          </a:lstStyle>
          <a:p>
            <a:pPr>
              <a:defRPr/>
            </a:pPr>
            <a:fld id="{64F589E5-8876-9481-7CD4-FA53C0F6CD1C}" type="slidenum">
              <a:rPr lang="en-US"/>
              <a:t>17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27924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27924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27924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279242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2279242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279242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4257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79242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4888307" name="Title 1"/>
          <p:cNvSpPr>
            <a:spLocks noGrp="1"/>
          </p:cNvSpPr>
          <p:nvPr>
            <p:ph type="title"/>
          </p:nvPr>
        </p:nvSpPr>
        <p:spPr bwMode="auto"/>
        <p:txBody>
          <a:bodyPr>
            <a:normAutofit fontScale="90000"/>
          </a:bodyPr>
          <a:lstStyle/>
          <a:p>
            <a:pPr>
              <a:defRPr/>
            </a:pPr>
            <a:r>
              <a:rPr lang="en-US"/>
              <a:t>Average Nucleotide Identity (ANI)</a:t>
            </a:r>
            <a:endParaRPr/>
          </a:p>
        </p:txBody>
      </p:sp>
      <p:sp>
        <p:nvSpPr>
          <p:cNvPr id="1301125405" name="Content Placeholder 2"/>
          <p:cNvSpPr>
            <a:spLocks noGrp="1"/>
          </p:cNvSpPr>
          <p:nvPr>
            <p:ph idx="1"/>
          </p:nvPr>
        </p:nvSpPr>
        <p:spPr bwMode="auto">
          <a:xfrm>
            <a:off x="609602" y="1155065"/>
            <a:ext cx="10515600" cy="4351338"/>
          </a:xfrm>
        </p:spPr>
        <p:txBody>
          <a:bodyPr/>
          <a:lstStyle/>
          <a:p>
            <a:pPr>
              <a:defRPr/>
            </a:pPr>
            <a:r>
              <a:rPr lang="en-US"/>
              <a:t>Average nucleotide identity (ANI) - % of nucleotides shared for orthologous regions</a:t>
            </a:r>
            <a:endParaRPr/>
          </a:p>
          <a:p>
            <a:pPr>
              <a:defRPr/>
            </a:pPr>
            <a:r>
              <a:rPr lang="en-US"/>
              <a:t>Common use cases: species delineation (95%), strain-level delineation (99%)</a:t>
            </a:r>
            <a:endParaRPr/>
          </a:p>
          <a:p>
            <a:pPr>
              <a:defRPr/>
            </a:pPr>
            <a:endParaRPr lang="en-US"/>
          </a:p>
          <a:p>
            <a:pPr marL="0" indent="0">
              <a:buNone/>
              <a:defRPr/>
            </a:pPr>
            <a:r>
              <a:rPr lang="en-US"/>
              <a:t>Taxonomy is often determined via ANI. Example:</a:t>
            </a:r>
            <a:endParaRPr/>
          </a:p>
          <a:p>
            <a:pPr>
              <a:defRPr/>
            </a:pPr>
            <a:r>
              <a:rPr lang="en-US"/>
              <a:t>GTDB (Parks et al 2018) produces a taxonomy based on ANI to determine bacterial + archaeal species</a:t>
            </a:r>
            <a:endParaRPr/>
          </a:p>
          <a:p>
            <a:pPr>
              <a:defRPr/>
            </a:pPr>
            <a:r>
              <a:rPr lang="en-US"/>
              <a:t>GTDB contains &gt; 400,000 genomes clustered in 85,000 species</a:t>
            </a:r>
            <a:endParaRPr/>
          </a:p>
        </p:txBody>
      </p:sp>
      <p:sp>
        <p:nvSpPr>
          <p:cNvPr id="64311511" name="Slide Number Placeholder 5"/>
          <p:cNvSpPr>
            <a:spLocks noGrp="1"/>
          </p:cNvSpPr>
          <p:nvPr>
            <p:ph type="sldNum" sz="quarter" idx="16"/>
          </p:nvPr>
        </p:nvSpPr>
        <p:spPr bwMode="auto"/>
        <p:txBody>
          <a:bodyPr/>
          <a:lstStyle>
            <a:lvl1pPr>
              <a:defRPr/>
            </a:lvl1pPr>
          </a:lstStyle>
          <a:p>
            <a:pPr>
              <a:defRPr/>
            </a:pPr>
            <a:fld id="{AB5A1DF6-0E7E-FC90-357C-A9286AF41AF1}"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112540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0112540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0112540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0112540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0112540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112540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6887915" name="Title 1"/>
          <p:cNvSpPr>
            <a:spLocks noGrp="1"/>
          </p:cNvSpPr>
          <p:nvPr>
            <p:ph type="title"/>
          </p:nvPr>
        </p:nvSpPr>
        <p:spPr bwMode="auto"/>
        <p:txBody>
          <a:bodyPr/>
          <a:lstStyle/>
          <a:p>
            <a:pPr>
              <a:defRPr/>
            </a:pPr>
            <a:r>
              <a:rPr lang="en-US"/>
              <a:t>Minimizers</a:t>
            </a:r>
            <a:br>
              <a:rPr lang="en-US"/>
            </a:br>
            <a:r>
              <a:rPr lang="en-US"/>
              <a:t>[Schleimer et al 2003; Roberts et al 2004]</a:t>
            </a:r>
            <a:endParaRPr/>
          </a:p>
        </p:txBody>
      </p:sp>
      <p:grpSp>
        <p:nvGrpSpPr>
          <p:cNvPr id="1908115526" name="Group 2"/>
          <p:cNvGrpSpPr/>
          <p:nvPr/>
        </p:nvGrpSpPr>
        <p:grpSpPr bwMode="auto">
          <a:xfrm>
            <a:off x="838200" y="1731255"/>
            <a:ext cx="3685248" cy="4960858"/>
            <a:chOff x="838200" y="1731255"/>
            <a:chExt cx="3685248" cy="4960858"/>
          </a:xfrm>
        </p:grpSpPr>
        <p:sp>
          <p:nvSpPr>
            <p:cNvPr id="8" name="Content Placeholder 2"/>
            <p:cNvSpPr txBox="1"/>
            <p:nvPr/>
          </p:nvSpPr>
          <p:spPr bwMode="auto">
            <a:xfrm>
              <a:off x="838200" y="1731255"/>
              <a:ext cx="3685248" cy="513455"/>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buNone/>
                <a:defRPr/>
              </a:pPr>
              <a:r>
                <a:rPr lang="en-US" sz="2200">
                  <a:latin typeface="Courier New"/>
                  <a:cs typeface="Courier New"/>
                </a:rPr>
                <a:t>AACGGAATTAACCCAAAGAA</a:t>
              </a:r>
              <a:endParaRPr/>
            </a:p>
          </p:txBody>
        </p:sp>
        <p:sp>
          <p:nvSpPr>
            <p:cNvPr id="13" name="Content Placeholder 2"/>
            <p:cNvSpPr txBox="1"/>
            <p:nvPr/>
          </p:nvSpPr>
          <p:spPr bwMode="auto">
            <a:xfrm>
              <a:off x="838200" y="2157975"/>
              <a:ext cx="3685248" cy="4534138"/>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00000"/>
                </a:lnSpc>
                <a:spcBef>
                  <a:spcPts val="0"/>
                </a:spcBef>
                <a:buNone/>
                <a:defRPr/>
              </a:pPr>
              <a:r>
                <a:rPr lang="en-US" sz="2200">
                  <a:latin typeface="Courier New"/>
                  <a:cs typeface="Courier New"/>
                </a:rPr>
                <a:t>AACGGAAT</a:t>
              </a:r>
              <a:endParaRPr/>
            </a:p>
            <a:p>
              <a:pPr marL="0" indent="0">
                <a:lnSpc>
                  <a:spcPct val="100000"/>
                </a:lnSpc>
                <a:spcBef>
                  <a:spcPts val="0"/>
                </a:spcBef>
                <a:buNone/>
                <a:defRPr/>
              </a:pPr>
              <a:r>
                <a:rPr lang="en-US" sz="2200">
                  <a:latin typeface="Courier New"/>
                  <a:cs typeface="Courier New"/>
                </a:rPr>
                <a:t> ACGGAATT</a:t>
              </a:r>
              <a:endParaRPr/>
            </a:p>
            <a:p>
              <a:pPr marL="0" indent="0">
                <a:lnSpc>
                  <a:spcPct val="100000"/>
                </a:lnSpc>
                <a:spcBef>
                  <a:spcPts val="0"/>
                </a:spcBef>
                <a:buNone/>
                <a:defRPr/>
              </a:pPr>
              <a:r>
                <a:rPr lang="en-US" sz="2200">
                  <a:latin typeface="Courier New"/>
                  <a:cs typeface="Courier New"/>
                </a:rPr>
                <a:t>  CGGAATTA</a:t>
              </a:r>
              <a:endParaRPr/>
            </a:p>
            <a:p>
              <a:pPr marL="0" indent="0">
                <a:lnSpc>
                  <a:spcPct val="100000"/>
                </a:lnSpc>
                <a:spcBef>
                  <a:spcPts val="0"/>
                </a:spcBef>
                <a:buNone/>
                <a:defRPr/>
              </a:pPr>
              <a:r>
                <a:rPr lang="en-US" sz="2200">
                  <a:latin typeface="Courier New"/>
                  <a:cs typeface="Courier New"/>
                </a:rPr>
                <a:t>   GGAATTAA</a:t>
              </a:r>
              <a:endParaRPr/>
            </a:p>
            <a:p>
              <a:pPr marL="0" indent="0">
                <a:lnSpc>
                  <a:spcPct val="100000"/>
                </a:lnSpc>
                <a:spcBef>
                  <a:spcPts val="0"/>
                </a:spcBef>
                <a:buNone/>
                <a:defRPr/>
              </a:pPr>
              <a:r>
                <a:rPr lang="en-US" sz="2200">
                  <a:latin typeface="Courier New"/>
                  <a:cs typeface="Courier New"/>
                </a:rPr>
                <a:t>    GAATTAAC</a:t>
              </a:r>
              <a:endParaRPr/>
            </a:p>
            <a:p>
              <a:pPr marL="0" indent="0">
                <a:lnSpc>
                  <a:spcPct val="100000"/>
                </a:lnSpc>
                <a:spcBef>
                  <a:spcPts val="0"/>
                </a:spcBef>
                <a:buNone/>
                <a:defRPr/>
              </a:pPr>
              <a:r>
                <a:rPr lang="en-US" sz="2200">
                  <a:latin typeface="Courier New"/>
                  <a:cs typeface="Courier New"/>
                </a:rPr>
                <a:t>     AATTAACC</a:t>
              </a:r>
              <a:endParaRPr/>
            </a:p>
            <a:p>
              <a:pPr marL="0" indent="0">
                <a:lnSpc>
                  <a:spcPct val="100000"/>
                </a:lnSpc>
                <a:spcBef>
                  <a:spcPts val="0"/>
                </a:spcBef>
                <a:buNone/>
                <a:defRPr/>
              </a:pPr>
              <a:r>
                <a:rPr lang="en-US" sz="2200">
                  <a:latin typeface="Courier New"/>
                  <a:cs typeface="Courier New"/>
                </a:rPr>
                <a:t>      ATTAACCC</a:t>
              </a:r>
              <a:endParaRPr/>
            </a:p>
            <a:p>
              <a:pPr marL="0" indent="0">
                <a:lnSpc>
                  <a:spcPct val="100000"/>
                </a:lnSpc>
                <a:spcBef>
                  <a:spcPts val="0"/>
                </a:spcBef>
                <a:buNone/>
                <a:defRPr/>
              </a:pPr>
              <a:r>
                <a:rPr lang="en-US" sz="2200">
                  <a:latin typeface="Courier New"/>
                  <a:cs typeface="Courier New"/>
                </a:rPr>
                <a:t>       TTAACCCA</a:t>
              </a:r>
              <a:endParaRPr/>
            </a:p>
            <a:p>
              <a:pPr marL="0" indent="0">
                <a:lnSpc>
                  <a:spcPct val="100000"/>
                </a:lnSpc>
                <a:spcBef>
                  <a:spcPts val="0"/>
                </a:spcBef>
                <a:buNone/>
                <a:defRPr/>
              </a:pPr>
              <a:r>
                <a:rPr lang="en-US" sz="2200">
                  <a:latin typeface="Courier New"/>
                  <a:cs typeface="Courier New"/>
                </a:rPr>
                <a:t>        TAACCCAA</a:t>
              </a:r>
              <a:endParaRPr/>
            </a:p>
            <a:p>
              <a:pPr marL="0" indent="0">
                <a:lnSpc>
                  <a:spcPct val="100000"/>
                </a:lnSpc>
                <a:spcBef>
                  <a:spcPts val="0"/>
                </a:spcBef>
                <a:buNone/>
                <a:defRPr/>
              </a:pPr>
              <a:r>
                <a:rPr lang="en-US" sz="2200">
                  <a:latin typeface="Courier New"/>
                  <a:cs typeface="Courier New"/>
                </a:rPr>
                <a:t>         AACCCAAA</a:t>
              </a:r>
              <a:endParaRPr/>
            </a:p>
            <a:p>
              <a:pPr marL="0" indent="0">
                <a:lnSpc>
                  <a:spcPct val="100000"/>
                </a:lnSpc>
                <a:spcBef>
                  <a:spcPts val="0"/>
                </a:spcBef>
                <a:buNone/>
                <a:defRPr/>
              </a:pPr>
              <a:r>
                <a:rPr lang="en-US" sz="2200">
                  <a:latin typeface="Courier New"/>
                  <a:cs typeface="Courier New"/>
                </a:rPr>
                <a:t>          ACCCAAAG</a:t>
              </a:r>
              <a:endParaRPr/>
            </a:p>
            <a:p>
              <a:pPr marL="0" indent="0">
                <a:lnSpc>
                  <a:spcPct val="100000"/>
                </a:lnSpc>
                <a:spcBef>
                  <a:spcPts val="0"/>
                </a:spcBef>
                <a:buNone/>
                <a:defRPr/>
              </a:pPr>
              <a:r>
                <a:rPr lang="en-US" sz="2200">
                  <a:latin typeface="Courier New"/>
                  <a:cs typeface="Courier New"/>
                </a:rPr>
                <a:t>           CCCAAAGA</a:t>
              </a:r>
              <a:endParaRPr/>
            </a:p>
            <a:p>
              <a:pPr marL="0" indent="0">
                <a:lnSpc>
                  <a:spcPct val="100000"/>
                </a:lnSpc>
                <a:spcBef>
                  <a:spcPts val="0"/>
                </a:spcBef>
                <a:buNone/>
                <a:defRPr/>
              </a:pPr>
              <a:r>
                <a:rPr lang="en-US" sz="2200">
                  <a:latin typeface="Courier New"/>
                  <a:cs typeface="Courier New"/>
                </a:rPr>
                <a:t>            CCAAAGAA</a:t>
              </a:r>
              <a:endParaRPr/>
            </a:p>
            <a:p>
              <a:pPr marL="0" indent="0">
                <a:lnSpc>
                  <a:spcPct val="100000"/>
                </a:lnSpc>
                <a:spcBef>
                  <a:spcPts val="0"/>
                </a:spcBef>
                <a:buNone/>
                <a:defRPr/>
              </a:pPr>
              <a:endParaRPr lang="en-US" sz="2200">
                <a:latin typeface="Courier New"/>
                <a:cs typeface="Courier New"/>
              </a:endParaRPr>
            </a:p>
          </p:txBody>
        </p:sp>
      </p:grpSp>
      <p:grpSp>
        <p:nvGrpSpPr>
          <p:cNvPr id="2090571865" name="Group 39"/>
          <p:cNvGrpSpPr/>
          <p:nvPr/>
        </p:nvGrpSpPr>
        <p:grpSpPr bwMode="auto">
          <a:xfrm>
            <a:off x="4636888" y="1731255"/>
            <a:ext cx="1658714" cy="4967089"/>
            <a:chOff x="4636888" y="1731255"/>
            <a:chExt cx="1658714" cy="4967089"/>
          </a:xfrm>
        </p:grpSpPr>
        <p:sp>
          <p:nvSpPr>
            <p:cNvPr id="15" name="Content Placeholder 2"/>
            <p:cNvSpPr txBox="1"/>
            <p:nvPr/>
          </p:nvSpPr>
          <p:spPr bwMode="auto">
            <a:xfrm>
              <a:off x="4636888" y="2164206"/>
              <a:ext cx="1658714" cy="4534138"/>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00000"/>
                </a:lnSpc>
                <a:spcBef>
                  <a:spcPts val="0"/>
                </a:spcBef>
                <a:buNone/>
                <a:defRPr/>
              </a:pPr>
              <a:r>
                <a:rPr lang="en-US" sz="2200">
                  <a:latin typeface="Courier New"/>
                  <a:cs typeface="Courier New"/>
                </a:rPr>
                <a:t> 3538</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7825</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2402</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5712</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2745</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7043</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4516</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1010</a:t>
              </a:r>
              <a:endParaRPr/>
            </a:p>
            <a:p>
              <a:pPr marL="0" indent="0">
                <a:lnSpc>
                  <a:spcPct val="100000"/>
                </a:lnSpc>
                <a:spcBef>
                  <a:spcPts val="0"/>
                </a:spcBef>
                <a:buNone/>
                <a:defRPr/>
              </a:pPr>
              <a:r>
                <a:rPr lang="en-US" sz="2200">
                  <a:latin typeface="Courier New"/>
                  <a:cs typeface="Courier New"/>
                </a:rPr>
                <a:t> 9081</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3689</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1521</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3321</a:t>
              </a: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 6348</a:t>
              </a: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p:txBody>
        </p:sp>
        <p:sp>
          <p:nvSpPr>
            <p:cNvPr id="31" name="Content Placeholder 2"/>
            <p:cNvSpPr txBox="1"/>
            <p:nvPr/>
          </p:nvSpPr>
          <p:spPr bwMode="auto">
            <a:xfrm>
              <a:off x="4866685" y="1731255"/>
              <a:ext cx="1229315" cy="513455"/>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buNone/>
                <a:defRPr/>
              </a:pPr>
              <a:r>
                <a:rPr lang="en-US" sz="2200">
                  <a:latin typeface="Courier New"/>
                  <a:cs typeface="Courier New"/>
                </a:rPr>
                <a:t>Hashed</a:t>
              </a:r>
              <a:endParaRPr/>
            </a:p>
          </p:txBody>
        </p:sp>
      </p:grpSp>
      <p:grpSp>
        <p:nvGrpSpPr>
          <p:cNvPr id="60568182" name="Group 40"/>
          <p:cNvGrpSpPr/>
          <p:nvPr/>
        </p:nvGrpSpPr>
        <p:grpSpPr bwMode="auto">
          <a:xfrm>
            <a:off x="5961090" y="1731255"/>
            <a:ext cx="3004885" cy="4960858"/>
            <a:chOff x="5961090" y="1731255"/>
            <a:chExt cx="3004885" cy="4960858"/>
          </a:xfrm>
        </p:grpSpPr>
        <p:sp>
          <p:nvSpPr>
            <p:cNvPr id="32" name="Content Placeholder 2"/>
            <p:cNvSpPr txBox="1"/>
            <p:nvPr/>
          </p:nvSpPr>
          <p:spPr bwMode="auto">
            <a:xfrm>
              <a:off x="6593320" y="1731255"/>
              <a:ext cx="2372655" cy="513455"/>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buNone/>
                <a:defRPr/>
              </a:pPr>
              <a:r>
                <a:rPr lang="en-US" sz="2200">
                  <a:latin typeface="Courier New"/>
                  <a:cs typeface="Courier New"/>
                </a:rPr>
                <a:t>Windowed Min</a:t>
              </a:r>
              <a:endParaRPr/>
            </a:p>
          </p:txBody>
        </p:sp>
        <p:sp>
          <p:nvSpPr>
            <p:cNvPr id="33" name="Content Placeholder 2"/>
            <p:cNvSpPr txBox="1"/>
            <p:nvPr/>
          </p:nvSpPr>
          <p:spPr bwMode="auto">
            <a:xfrm>
              <a:off x="7194370" y="2863261"/>
              <a:ext cx="1658714" cy="3828852"/>
            </a:xfrm>
            <a:prstGeom prst="rect">
              <a:avLst/>
            </a:prstGeom>
            <a:grpFill/>
          </p:spPr>
          <p:txBody>
            <a:bodyPr vert="horz" lIns="91440" tIns="45720" rIns="91440" bIns="45720" rtlCol="0">
              <a:normAutofit lnSpcReduction="10000"/>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Bef>
                  <a:spcPts val="0"/>
                </a:spcBef>
                <a:buNone/>
                <a:defRPr/>
              </a:pPr>
              <a:r>
                <a:rPr lang="en-US" sz="2200">
                  <a:latin typeface="Courier New"/>
                  <a:cs typeface="Courier New"/>
                </a:rPr>
                <a:t>2402</a:t>
              </a:r>
              <a:endParaRPr lang="en-US" sz="2200">
                <a:latin typeface="Courier New"/>
                <a:cs typeface="Courier New"/>
              </a:endParaRPr>
            </a:p>
            <a:p>
              <a:pPr marL="0" indent="0">
                <a:lnSpc>
                  <a:spcPct val="110000"/>
                </a:lnSpc>
                <a:spcBef>
                  <a:spcPts val="0"/>
                </a:spcBef>
                <a:buNone/>
                <a:defRPr/>
              </a:pPr>
              <a:r>
                <a:rPr lang="en-US" sz="2200">
                  <a:latin typeface="Courier New"/>
                  <a:cs typeface="Courier New"/>
                </a:rPr>
                <a:t>2402</a:t>
              </a:r>
              <a:endParaRPr lang="en-US" sz="2200">
                <a:latin typeface="Courier New"/>
                <a:cs typeface="Courier New"/>
              </a:endParaRPr>
            </a:p>
            <a:p>
              <a:pPr marL="0" indent="0">
                <a:lnSpc>
                  <a:spcPct val="110000"/>
                </a:lnSpc>
                <a:spcBef>
                  <a:spcPts val="0"/>
                </a:spcBef>
                <a:buNone/>
                <a:defRPr/>
              </a:pPr>
              <a:r>
                <a:rPr lang="en-US" sz="2200">
                  <a:latin typeface="Courier New"/>
                  <a:cs typeface="Courier New"/>
                </a:rPr>
                <a:t>2402</a:t>
              </a:r>
              <a:endParaRPr lang="en-US" sz="2200">
                <a:latin typeface="Courier New"/>
                <a:cs typeface="Courier New"/>
              </a:endParaRPr>
            </a:p>
            <a:p>
              <a:pPr marL="0" indent="0">
                <a:lnSpc>
                  <a:spcPct val="110000"/>
                </a:lnSpc>
                <a:spcBef>
                  <a:spcPts val="0"/>
                </a:spcBef>
                <a:buNone/>
                <a:defRPr/>
              </a:pPr>
              <a:r>
                <a:rPr lang="en-US" sz="2200">
                  <a:latin typeface="Courier New"/>
                  <a:cs typeface="Courier New"/>
                </a:rPr>
                <a:t>1010</a:t>
              </a:r>
              <a:endParaRPr lang="en-US" sz="2200">
                <a:latin typeface="Courier New"/>
                <a:cs typeface="Courier New"/>
              </a:endParaRPr>
            </a:p>
            <a:p>
              <a:pPr marL="0" indent="0">
                <a:lnSpc>
                  <a:spcPct val="110000"/>
                </a:lnSpc>
                <a:spcBef>
                  <a:spcPts val="0"/>
                </a:spcBef>
                <a:buNone/>
                <a:defRPr/>
              </a:pPr>
              <a:r>
                <a:rPr lang="en-US" sz="2200">
                  <a:latin typeface="Courier New"/>
                  <a:cs typeface="Courier New"/>
                </a:rPr>
                <a:t>1010</a:t>
              </a:r>
              <a:endParaRPr lang="en-US" sz="2200">
                <a:latin typeface="Courier New"/>
                <a:cs typeface="Courier New"/>
              </a:endParaRPr>
            </a:p>
            <a:p>
              <a:pPr marL="0" indent="0">
                <a:lnSpc>
                  <a:spcPct val="110000"/>
                </a:lnSpc>
                <a:spcBef>
                  <a:spcPts val="0"/>
                </a:spcBef>
                <a:buNone/>
                <a:defRPr/>
              </a:pPr>
              <a:r>
                <a:rPr lang="en-US" sz="2200">
                  <a:latin typeface="Courier New"/>
                  <a:cs typeface="Courier New"/>
                </a:rPr>
                <a:t>1010</a:t>
              </a:r>
              <a:endParaRPr lang="en-US" sz="2200">
                <a:latin typeface="Courier New"/>
                <a:cs typeface="Courier New"/>
              </a:endParaRPr>
            </a:p>
            <a:p>
              <a:pPr marL="0" indent="0">
                <a:lnSpc>
                  <a:spcPct val="110000"/>
                </a:lnSpc>
                <a:spcBef>
                  <a:spcPts val="0"/>
                </a:spcBef>
                <a:buNone/>
                <a:defRPr/>
              </a:pPr>
              <a:r>
                <a:rPr lang="en-US" sz="2200">
                  <a:latin typeface="Courier New"/>
                  <a:cs typeface="Courier New"/>
                </a:rPr>
                <a:t>1010</a:t>
              </a:r>
              <a:endParaRPr lang="en-US" sz="2200">
                <a:latin typeface="Courier New"/>
                <a:cs typeface="Courier New"/>
              </a:endParaRPr>
            </a:p>
            <a:p>
              <a:pPr marL="0" indent="0">
                <a:lnSpc>
                  <a:spcPct val="110000"/>
                </a:lnSpc>
                <a:spcBef>
                  <a:spcPts val="0"/>
                </a:spcBef>
                <a:buNone/>
                <a:defRPr/>
              </a:pPr>
              <a:r>
                <a:rPr lang="en-US" sz="2200">
                  <a:latin typeface="Courier New"/>
                  <a:cs typeface="Courier New"/>
                </a:rPr>
                <a:t>1010</a:t>
              </a:r>
              <a:endParaRPr/>
            </a:p>
            <a:p>
              <a:pPr marL="0" indent="0">
                <a:lnSpc>
                  <a:spcPct val="110000"/>
                </a:lnSpc>
                <a:spcBef>
                  <a:spcPts val="0"/>
                </a:spcBef>
                <a:buNone/>
                <a:defRPr/>
              </a:pPr>
              <a:r>
                <a:rPr lang="en-US" sz="2200">
                  <a:latin typeface="Courier New"/>
                  <a:cs typeface="Courier New"/>
                </a:rPr>
                <a:t>1521</a:t>
              </a:r>
              <a:r>
                <a:rPr lang="en-US" sz="2200">
                  <a:latin typeface="Courier New"/>
                  <a:cs typeface="Courier New"/>
                </a:rPr>
                <a:t>  </a:t>
              </a:r>
              <a:endParaRPr/>
            </a:p>
            <a:p>
              <a:pPr marL="0" indent="0">
                <a:lnSpc>
                  <a:spcPct val="100000"/>
                </a:lnSpc>
                <a:spcBef>
                  <a:spcPts val="0"/>
                </a:spcBef>
                <a:buNone/>
                <a:defRPr/>
              </a:pPr>
              <a:r>
                <a:rPr lang="en-US" sz="2200">
                  <a:latin typeface="Courier New"/>
                  <a:cs typeface="Courier New"/>
                </a:rPr>
                <a:t>    </a:t>
              </a:r>
              <a:endParaRPr/>
            </a:p>
            <a:p>
              <a:pPr marL="0" indent="0">
                <a:lnSpc>
                  <a:spcPct val="100000"/>
                </a:lnSpc>
                <a:spcBef>
                  <a:spcPts val="0"/>
                </a:spcBef>
                <a:buNone/>
                <a:defRPr/>
              </a:pPr>
              <a:r>
                <a:rPr lang="en-US" sz="2200">
                  <a:latin typeface="Courier New"/>
                  <a:cs typeface="Courier New"/>
                </a:rPr>
                <a:t>    </a:t>
              </a:r>
              <a:endParaRPr/>
            </a:p>
          </p:txBody>
        </p:sp>
        <p:sp>
          <p:nvSpPr>
            <p:cNvPr id="34" name="Right Brace 33"/>
            <p:cNvSpPr/>
            <p:nvPr/>
          </p:nvSpPr>
          <p:spPr bwMode="auto">
            <a:xfrm>
              <a:off x="5961090" y="2285277"/>
              <a:ext cx="393812" cy="1550348"/>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p>
          </p:txBody>
        </p:sp>
        <p:sp>
          <p:nvSpPr>
            <p:cNvPr id="35" name="Right Brace 34"/>
            <p:cNvSpPr/>
            <p:nvPr/>
          </p:nvSpPr>
          <p:spPr bwMode="auto">
            <a:xfrm>
              <a:off x="6234196" y="2590077"/>
              <a:ext cx="393812" cy="1550348"/>
            </a:xfrm>
            <a:prstGeom prst="rightBrace">
              <a:avLst>
                <a:gd name="adj1" fmla="val 8333"/>
                <a:gd name="adj2" fmla="val 50000"/>
              </a:avLst>
            </a:prstGeom>
          </p:spPr>
          <p:style>
            <a:lnRef idx="1">
              <a:schemeClr val="accent6"/>
            </a:lnRef>
            <a:fillRef idx="0">
              <a:schemeClr val="accent6"/>
            </a:fillRef>
            <a:effectRef idx="0">
              <a:schemeClr val="accent6"/>
            </a:effectRef>
            <a:fontRef idx="minor">
              <a:schemeClr val="tx1"/>
            </a:fontRef>
          </p:style>
          <p:txBody>
            <a:bodyPr rtlCol="0" anchor="ctr"/>
            <a:lstStyle/>
            <a:p>
              <a:pPr algn="ctr">
                <a:defRPr/>
              </a:pPr>
              <a:endParaRPr lang="en-US"/>
            </a:p>
          </p:txBody>
        </p:sp>
        <p:sp>
          <p:nvSpPr>
            <p:cNvPr id="36" name="Right Brace 35"/>
            <p:cNvSpPr/>
            <p:nvPr/>
          </p:nvSpPr>
          <p:spPr bwMode="auto">
            <a:xfrm>
              <a:off x="6512357" y="2935444"/>
              <a:ext cx="393812" cy="1550348"/>
            </a:xfrm>
            <a:prstGeom prst="rightBrace">
              <a:avLst>
                <a:gd name="adj1" fmla="val 8333"/>
                <a:gd name="adj2" fmla="val 50000"/>
              </a:avLst>
            </a:prstGeom>
          </p:spPr>
          <p:style>
            <a:lnRef idx="1">
              <a:schemeClr val="accent2"/>
            </a:lnRef>
            <a:fillRef idx="0">
              <a:schemeClr val="accent2"/>
            </a:fillRef>
            <a:effectRef idx="0">
              <a:schemeClr val="accent2"/>
            </a:effectRef>
            <a:fontRef idx="minor">
              <a:schemeClr val="tx1"/>
            </a:fontRef>
          </p:style>
          <p:txBody>
            <a:bodyPr rtlCol="0" anchor="ctr"/>
            <a:lstStyle/>
            <a:p>
              <a:pPr algn="ctr">
                <a:defRPr/>
              </a:pPr>
              <a:endParaRPr lang="en-US"/>
            </a:p>
          </p:txBody>
        </p:sp>
      </p:grpSp>
      <p:grpSp>
        <p:nvGrpSpPr>
          <p:cNvPr id="226971546" name="Group 41"/>
          <p:cNvGrpSpPr/>
          <p:nvPr/>
        </p:nvGrpSpPr>
        <p:grpSpPr bwMode="auto">
          <a:xfrm>
            <a:off x="9245940" y="1731252"/>
            <a:ext cx="2372655" cy="4960860"/>
            <a:chOff x="9245940" y="1731254"/>
            <a:chExt cx="2225867" cy="4643355"/>
          </a:xfrm>
        </p:grpSpPr>
        <p:sp>
          <p:nvSpPr>
            <p:cNvPr id="37" name="Content Placeholder 2"/>
            <p:cNvSpPr txBox="1"/>
            <p:nvPr/>
          </p:nvSpPr>
          <p:spPr bwMode="auto">
            <a:xfrm>
              <a:off x="9245940" y="1731254"/>
              <a:ext cx="2008512" cy="722688"/>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gn="ctr">
                <a:buNone/>
                <a:defRPr/>
              </a:pPr>
              <a:r>
                <a:rPr lang="en-US" sz="2200">
                  <a:latin typeface="Courier New"/>
                  <a:cs typeface="Courier New"/>
                </a:rPr>
                <a:t>Unique Minimizers</a:t>
              </a:r>
              <a:endParaRPr/>
            </a:p>
            <a:p>
              <a:pPr marL="0" indent="0" algn="ctr">
                <a:buNone/>
                <a:defRPr/>
              </a:pPr>
              <a:endParaRPr lang="en-US" sz="2200">
                <a:latin typeface="Courier New"/>
                <a:cs typeface="Courier New"/>
              </a:endParaRPr>
            </a:p>
          </p:txBody>
        </p:sp>
        <p:sp>
          <p:nvSpPr>
            <p:cNvPr id="39" name="Content Placeholder 2"/>
            <p:cNvSpPr txBox="1"/>
            <p:nvPr/>
          </p:nvSpPr>
          <p:spPr bwMode="auto">
            <a:xfrm>
              <a:off x="9813093" y="2790811"/>
              <a:ext cx="1658714" cy="3583798"/>
            </a:xfrm>
            <a:prstGeom prst="rect">
              <a:avLst/>
            </a:prstGeom>
            <a:grpFill/>
          </p:spPr>
          <p:txBody>
            <a:bodyPr vert="horz" lIns="91440" tIns="45720" rIns="91440" bIns="45720" rtlCol="0">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2402</a:t>
              </a: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1010</a:t>
              </a: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a:p>
              <a:pPr marL="0" indent="0">
                <a:lnSpc>
                  <a:spcPct val="100000"/>
                </a:lnSpc>
                <a:spcBef>
                  <a:spcPts val="0"/>
                </a:spcBef>
                <a:buNone/>
                <a:defRPr/>
              </a:pPr>
              <a:r>
                <a:rPr lang="en-US" sz="2200">
                  <a:latin typeface="Courier New"/>
                  <a:cs typeface="Courier New"/>
                </a:rPr>
                <a:t>1521</a:t>
              </a:r>
              <a:endParaRPr lang="en-US" sz="2200">
                <a:latin typeface="Courier New"/>
                <a:cs typeface="Courier New"/>
              </a:endParaRPr>
            </a:p>
            <a:p>
              <a:pPr marL="0" indent="0">
                <a:lnSpc>
                  <a:spcPct val="100000"/>
                </a:lnSpc>
                <a:spcBef>
                  <a:spcPts val="0"/>
                </a:spcBef>
                <a:buNone/>
                <a:defRPr/>
              </a:pPr>
              <a:endParaRPr lang="en-US" sz="2200">
                <a:latin typeface="Courier New"/>
                <a:cs typeface="Courier New"/>
              </a:endParaRPr>
            </a:p>
          </p:txBody>
        </p:sp>
      </p:grpSp>
      <p:sp>
        <p:nvSpPr>
          <p:cNvPr id="468248347" name="Slide Number Placeholder 5"/>
          <p:cNvSpPr>
            <a:spLocks noGrp="1"/>
          </p:cNvSpPr>
          <p:nvPr>
            <p:ph type="sldNum" sz="quarter" idx="12"/>
          </p:nvPr>
        </p:nvSpPr>
        <p:spPr bwMode="auto"/>
        <p:txBody>
          <a:bodyPr/>
          <a:lstStyle/>
          <a:p>
            <a:pPr>
              <a:defRPr/>
            </a:pPr>
            <a:fld id="{A224142E-CEE8-27BE-E5BB-1A8BBCB9E37A}"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90571865"/>
                                        </p:tgtEl>
                                        <p:attrNameLst>
                                          <p:attrName>style.visibility</p:attrName>
                                        </p:attrNameLst>
                                      </p:cBhvr>
                                      <p:to>
                                        <p:strVal val="visible"/>
                                      </p:to>
                                    </p:set>
                                    <p:animEffect transition="in" filter="wipe(left)">
                                      <p:cBhvr>
                                        <p:cTn id="7" dur="500"/>
                                        <p:tgtEl>
                                          <p:spTgt spid="20905718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0568182"/>
                                        </p:tgtEl>
                                        <p:attrNameLst>
                                          <p:attrName>style.visibility</p:attrName>
                                        </p:attrNameLst>
                                      </p:cBhvr>
                                      <p:to>
                                        <p:strVal val="visible"/>
                                      </p:to>
                                    </p:set>
                                    <p:animEffect transition="in" filter="wipe(left)">
                                      <p:cBhvr>
                                        <p:cTn id="12" dur="500"/>
                                        <p:tgtEl>
                                          <p:spTgt spid="605681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6971546"/>
                                        </p:tgtEl>
                                        <p:attrNameLst>
                                          <p:attrName>style.visibility</p:attrName>
                                        </p:attrNameLst>
                                      </p:cBhvr>
                                      <p:to>
                                        <p:strVal val="visible"/>
                                      </p:to>
                                    </p:set>
                                    <p:animEffect transition="in" filter="wipe(left)">
                                      <p:cBhvr>
                                        <p:cTn id="17" dur="500"/>
                                        <p:tgtEl>
                                          <p:spTgt spid="226971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88568622" name="Title 1"/>
          <p:cNvSpPr>
            <a:spLocks noGrp="1"/>
          </p:cNvSpPr>
          <p:nvPr>
            <p:ph type="title"/>
          </p:nvPr>
        </p:nvSpPr>
        <p:spPr bwMode="auto"/>
        <p:txBody>
          <a:bodyPr>
            <a:normAutofit fontScale="90000"/>
          </a:bodyPr>
          <a:lstStyle/>
          <a:p>
            <a:pPr>
              <a:defRPr/>
            </a:pPr>
            <a:r>
              <a:rPr lang="en-US"/>
              <a:t>Random minimizer properties</a:t>
            </a:r>
            <a:endParaRPr/>
          </a:p>
        </p:txBody>
      </p:sp>
      <p:sp>
        <p:nvSpPr>
          <p:cNvPr id="134877805" name="Content Placeholder 2"/>
          <p:cNvSpPr>
            <a:spLocks noGrp="1"/>
          </p:cNvSpPr>
          <p:nvPr>
            <p:ph idx="1"/>
          </p:nvPr>
        </p:nvSpPr>
        <p:spPr bwMode="auto">
          <a:xfrm>
            <a:off x="609602" y="1114424"/>
            <a:ext cx="10515600" cy="5327015"/>
          </a:xfrm>
        </p:spPr>
        <p:txBody>
          <a:bodyPr>
            <a:normAutofit/>
          </a:bodyPr>
          <a:lstStyle/>
          <a:p>
            <a:pPr marL="0" indent="0">
              <a:buNone/>
              <a:defRPr/>
            </a:pPr>
            <a:r>
              <a:rPr lang="en-US"/>
              <a:t>Formal definition. Parameters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r>
                        <m:rPr/>
                        <a:rPr lang="en-US" b="0" i="1">
                          <a:latin typeface="Cambria Math"/>
                        </a:rPr>
                        <m:t>,</m:t>
                      </m:r>
                      <m:r>
                        <m:rPr/>
                        <a:rPr lang="en-US" b="0" i="1">
                          <a:latin typeface="Cambria Math"/>
                        </a:rPr>
                        <m:t>𝑤</m:t>
                      </m:r>
                    </m:oMath>
                  </m:oMathPara>
                </a14:m>
              </mc:Choice>
              <mc:Fallback/>
            </mc:AlternateContent>
            <a:r>
              <a:rPr lang="en-US"/>
              <a:t>, hash function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h</m:t>
                      </m:r>
                      <m:r>
                        <m:rPr/>
                        <a:rPr lang="en-US" b="0" i="1">
                          <a:latin typeface="Cambria Math"/>
                        </a:rPr>
                        <m:t>:</m:t>
                      </m:r>
                      <m:sSup>
                        <m:sSupPr>
                          <m:ctrlPr>
                            <a:rPr lang="en-US" b="0" i="1">
                              <a:latin typeface="Cambria Math"/>
                              <a:ea typeface="Cambria Math"/>
                              <a:cs typeface="Cambria Math"/>
                            </a:rPr>
                          </m:ctrlPr>
                        </m:sSupPr>
                        <m:e>
                          <m:r>
                            <m:rPr>
                              <m:sty m:val="p"/>
                            </m:rPr>
                            <a:rPr lang="en-US" b="0" i="0">
                              <a:latin typeface="Cambria Math"/>
                            </a:rPr>
                            <m:t>Σ</m:t>
                          </m:r>
                        </m:e>
                        <m:sup>
                          <m:r>
                            <m:rPr/>
                            <a:rPr lang="en-US" b="0" i="1">
                              <a:latin typeface="Cambria Math"/>
                            </a:rPr>
                            <m:t>𝑘</m:t>
                          </m:r>
                        </m:sup>
                      </m:sSup>
                      <m:r>
                        <m:rPr/>
                        <a:rPr lang="en-US" b="0" i="1">
                          <a:latin typeface="Cambria Math"/>
                        </a:rPr>
                        <m:t>→</m:t>
                      </m:r>
                      <m:r>
                        <m:rPr/>
                        <a:rPr lang="en-US" b="0" i="1">
                          <a:latin typeface="Cambria Math"/>
                        </a:rPr>
                        <m:t>ℕ</m:t>
                      </m:r>
                    </m:oMath>
                  </m:oMathPara>
                </a14:m>
              </mc:Choice>
              <mc:Fallback/>
            </mc:AlternateContent>
            <a:r>
              <a:rPr lang="en-US"/>
              <a:t>.</a:t>
            </a:r>
            <a:endParaRPr/>
          </a:p>
          <a:p>
            <a:pPr marL="514350" indent="-514350">
              <a:buFont typeface="+mj-lt"/>
              <a:buAutoNum type="arabicPeriod"/>
              <a:defRPr/>
            </a:pPr>
            <a:r>
              <a:rPr lang="en-US"/>
              <a:t>For every window of size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𝑤</m:t>
                      </m:r>
                      <m:r>
                        <m:rPr/>
                        <a:rPr lang="en-US" b="0" i="1">
                          <a:latin typeface="Cambria Math"/>
                        </a:rPr>
                        <m:t>+</m:t>
                      </m:r>
                      <m:r>
                        <m:rPr/>
                        <a:rPr lang="en-US" b="0" i="1">
                          <a:latin typeface="Cambria Math"/>
                        </a:rPr>
                        <m:t>𝑘</m:t>
                      </m:r>
                      <m:r>
                        <m:rPr/>
                        <a:rPr lang="en-US" b="0" i="1">
                          <a:latin typeface="Cambria Math"/>
                        </a:rPr>
                        <m:t>−1</m:t>
                      </m:r>
                    </m:oMath>
                  </m:oMathPara>
                </a14:m>
              </mc:Choice>
              <mc:Fallback/>
            </mc:AlternateContent>
            <a:r>
              <a:rPr lang="en-US"/>
              <a:t> (i.e. of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𝑤</m:t>
                      </m:r>
                    </m:oMath>
                  </m:oMathPara>
                </a14:m>
              </mc:Choice>
              <mc:Fallback/>
            </mc:AlternateContent>
            <a:r>
              <a:rPr lang="en-US"/>
              <a:t>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mers</a:t>
            </a:r>
            <a:r>
              <a:rPr lang="en-US"/>
              <a:t>), find the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with the smallest hash value.</a:t>
            </a:r>
            <a:endParaRPr/>
          </a:p>
          <a:p>
            <a:pPr marL="514350" indent="-514350">
              <a:buFont typeface="+mj-lt"/>
              <a:buAutoNum type="arabicPeriod"/>
              <a:defRPr/>
            </a:pPr>
            <a:r>
              <a:rPr lang="en-US"/>
              <a:t>The same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will often be selected by adjacent windows.</a:t>
            </a:r>
            <a:endParaRPr/>
          </a:p>
          <a:p>
            <a:pPr marL="0" indent="0">
              <a:buNone/>
              <a:defRPr/>
            </a:pPr>
            <a:endParaRPr lang="en-US"/>
          </a:p>
          <a:p>
            <a:pPr marL="0" indent="0">
              <a:buNone/>
              <a:defRPr/>
            </a:pPr>
            <a:r>
              <a:rPr lang="en-US"/>
              <a:t>Given a random minimizer of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mers</a:t>
            </a:r>
            <a:r>
              <a:rPr lang="en-US"/>
              <a:t> over a length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𝑤</m:t>
                      </m:r>
                    </m:oMath>
                  </m:oMathPara>
                </a14:m>
              </mc:Choice>
              <mc:Fallback/>
            </mc:AlternateContent>
            <a:r>
              <a:rPr lang="en-US"/>
              <a:t>-window</a:t>
            </a:r>
            <a:endParaRPr/>
          </a:p>
          <a:p>
            <a:pPr>
              <a:defRPr/>
            </a:pPr>
            <a:r>
              <a:rPr lang="en-US"/>
              <a:t>(Locality) w-local because choice of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depends on window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𝑤</m:t>
                      </m:r>
                    </m:oMath>
                  </m:oMathPara>
                </a14:m>
              </mc:Choice>
              <mc:Fallback/>
            </mc:AlternateContent>
            <a:endParaRPr lang="en-US"/>
          </a:p>
          <a:p>
            <a:pPr>
              <a:defRPr/>
            </a:pPr>
            <a:r>
              <a:rPr lang="en-US"/>
              <a:t>(Density)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m:t>
                      </m:r>
                      <m:f>
                        <m:fPr>
                          <m:ctrlPr>
                            <a:rPr lang="en-US" b="0" i="1">
                              <a:latin typeface="Cambria Math"/>
                              <a:ea typeface="Cambria Math"/>
                              <a:cs typeface="Cambria Math"/>
                            </a:rPr>
                          </m:ctrlPr>
                        </m:fPr>
                        <m:num>
                          <m:r>
                            <m:rPr/>
                            <a:rPr lang="en-US" b="0" i="1">
                              <a:latin typeface="Cambria Math"/>
                            </a:rPr>
                            <m:t>2</m:t>
                          </m:r>
                        </m:num>
                        <m:den>
                          <m:r>
                            <m:rPr/>
                            <a:rPr lang="en-US" b="0" i="1">
                              <a:latin typeface="Cambria Math"/>
                            </a:rPr>
                            <m:t>𝑤</m:t>
                          </m:r>
                          <m:r>
                            <m:rPr/>
                            <a:rPr lang="en-US" b="0" i="1">
                              <a:latin typeface="Cambria Math"/>
                            </a:rPr>
                            <m:t>+1</m:t>
                          </m:r>
                        </m:den>
                      </m:f>
                    </m:oMath>
                  </m:oMathPara>
                </a14:m>
              </mc:Choice>
              <mc:Fallback/>
            </mc:AlternateContent>
            <a:r>
              <a:rPr lang="en-US"/>
              <a:t> by noticing that a new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is at the beginning or end of a sequence of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𝑤</m:t>
                      </m:r>
                      <m:r>
                        <m:rPr/>
                        <a:rPr lang="en-US" b="0" i="1">
                          <a:latin typeface="Cambria Math"/>
                        </a:rPr>
                        <m:t>+1</m:t>
                      </m:r>
                    </m:oMath>
                  </m:oMathPara>
                </a14:m>
              </mc:Choice>
              <mc:Fallback/>
            </mc:AlternateContent>
            <a:r>
              <a:rPr lang="en-US"/>
              <a:t>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mers</a:t>
            </a:r>
            <a:r>
              <a:rPr lang="en-US"/>
              <a:t> [Schleimer et al, 2003].</a:t>
            </a:r>
            <a:endParaRPr/>
          </a:p>
          <a:p>
            <a:pPr>
              <a:defRPr/>
            </a:pPr>
            <a:r>
              <a:rPr lang="en-US"/>
              <a:t>(Window guarantee) By definition, guarantee of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𝑤</m:t>
                      </m:r>
                    </m:oMath>
                  </m:oMathPara>
                </a14:m>
              </mc:Choice>
              <mc:Fallback/>
            </mc:AlternateContent>
            <a:r>
              <a:rPr lang="en-US"/>
              <a:t>-window.</a:t>
            </a:r>
            <a:endParaRPr/>
          </a:p>
        </p:txBody>
      </p:sp>
      <p:sp>
        <p:nvSpPr>
          <p:cNvPr id="1537528464" name="Slide Number Placeholder 5"/>
          <p:cNvSpPr>
            <a:spLocks noGrp="1"/>
          </p:cNvSpPr>
          <p:nvPr>
            <p:ph type="sldNum" sz="quarter" idx="16"/>
          </p:nvPr>
        </p:nvSpPr>
        <p:spPr bwMode="auto"/>
        <p:txBody>
          <a:bodyPr/>
          <a:lstStyle>
            <a:lvl1pPr>
              <a:defRPr/>
            </a:lvl1pPr>
          </a:lstStyle>
          <a:p>
            <a:pPr>
              <a:defRPr/>
            </a:pPr>
            <a:fld id="{15C9D941-CF6F-D54D-90A2-0E6C2AB32318}"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487780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487780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487780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487780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487780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487780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487780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87780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3603540" name="Title 1"/>
          <p:cNvSpPr>
            <a:spLocks noGrp="1"/>
          </p:cNvSpPr>
          <p:nvPr>
            <p:ph type="title"/>
          </p:nvPr>
        </p:nvSpPr>
        <p:spPr bwMode="auto"/>
        <p:txBody>
          <a:bodyPr>
            <a:normAutofit fontScale="90000"/>
          </a:bodyPr>
          <a:lstStyle/>
          <a:p>
            <a:pPr>
              <a:defRPr/>
            </a:pPr>
            <a:r>
              <a:rPr lang="en-US"/>
              <a:t>FracMinHash</a:t>
            </a:r>
            <a:r>
              <a:rPr lang="en-US"/>
              <a:t> [</a:t>
            </a:r>
            <a:r>
              <a:rPr lang="en-US"/>
              <a:t>Irber</a:t>
            </a:r>
            <a:r>
              <a:rPr lang="en-US"/>
              <a:t> et al., 2022]</a:t>
            </a:r>
            <a:endParaRPr/>
          </a:p>
        </p:txBody>
      </p:sp>
      <p:sp>
        <p:nvSpPr>
          <p:cNvPr id="392175211" name="Content Placeholder 2"/>
          <p:cNvSpPr>
            <a:spLocks noGrp="1"/>
          </p:cNvSpPr>
          <p:nvPr>
            <p:ph idx="1"/>
          </p:nvPr>
        </p:nvSpPr>
        <p:spPr bwMode="auto">
          <a:xfrm>
            <a:off x="609602" y="1114424"/>
            <a:ext cx="10515600" cy="5327015"/>
          </a:xfrm>
        </p:spPr>
        <p:txBody>
          <a:bodyPr>
            <a:normAutofit/>
          </a:bodyPr>
          <a:lstStyle/>
          <a:p>
            <a:pPr marL="0" indent="0">
              <a:buNone/>
              <a:defRPr/>
            </a:pPr>
            <a:r>
              <a:rPr lang="en-US"/>
              <a:t>Idea: instead of choosing </a:t>
            </a:r>
            <mc:AlternateContent xmlns:mc="http://schemas.openxmlformats.org/markup-compatibility/2006" xmlns:m="http://schemas.openxmlformats.org/officeDocument/2006/math">
              <mc:Choice xmlns:a14="http://schemas.microsoft.com/office/drawing/2010/main" Requires="a14">
                <a14:m>
                  <m:oMathPara>
                    <m:oMathParaPr/>
                    <m:oMath>
                      <m:r>
                        <m:rPr/>
                        <a:rPr lang="en-US" i="1">
                          <a:latin typeface="Cambria Math"/>
                        </a:rPr>
                        <m:t>𝑘</m:t>
                      </m:r>
                    </m:oMath>
                  </m:oMathPara>
                </a14:m>
              </mc:Choice>
              <mc:Fallback/>
            </mc:AlternateContent>
            <a:r>
              <a:rPr lang="en-US"/>
              <a:t>-</a:t>
            </a:r>
            <a:r>
              <a:rPr lang="en-US"/>
              <a:t>mers</a:t>
            </a:r>
            <a:r>
              <a:rPr lang="en-US"/>
              <a:t> based on position, choose them based on the letters in the </a:t>
            </a:r>
            <mc:AlternateContent xmlns:mc="http://schemas.openxmlformats.org/markup-compatibility/2006" xmlns:m="http://schemas.openxmlformats.org/officeDocument/2006/math">
              <mc:Choice xmlns:a14="http://schemas.microsoft.com/office/drawing/2010/main" Requires="a14">
                <a14:m>
                  <m:oMathPara>
                    <m:oMathParaPr/>
                    <m:oMath>
                      <m:r>
                        <m:rPr/>
                        <a:rPr lang="en-US" i="1">
                          <a:latin typeface="Cambria Math"/>
                        </a:rPr>
                        <m:t>𝑘</m:t>
                      </m:r>
                    </m:oMath>
                  </m:oMathPara>
                </a14:m>
              </mc:Choice>
              <mc:Fallback/>
            </mc:AlternateContent>
            <a:r>
              <a:rPr lang="en-US"/>
              <a:t>-</a:t>
            </a:r>
            <a:r>
              <a:rPr lang="en-US"/>
              <a:t>mer</a:t>
            </a:r>
            <a:r>
              <a:rPr lang="en-US"/>
              <a:t> itself.</a:t>
            </a:r>
            <a:endParaRPr/>
          </a:p>
          <a:p>
            <a:pPr marL="0" indent="0">
              <a:buNone/>
              <a:defRPr/>
            </a:pPr>
            <a:r>
              <a:rPr lang="en-US"/>
              <a:t>Parameter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𝑐</m:t>
                      </m:r>
                    </m:oMath>
                  </m:oMathPara>
                </a14:m>
              </mc:Choice>
              <mc:Fallback/>
            </mc:AlternateContent>
            <a:r>
              <a:rPr lang="en-US"/>
              <a:t>. Hash function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h</m:t>
                      </m:r>
                      <m:r>
                        <m:rPr/>
                        <a:rPr lang="en-US" b="0" i="1">
                          <a:latin typeface="Cambria Math"/>
                        </a:rPr>
                        <m:t>:</m:t>
                      </m:r>
                      <m:sSup>
                        <m:sSupPr>
                          <m:ctrlPr>
                            <a:rPr lang="en-US" b="0" i="1">
                              <a:latin typeface="Cambria Math"/>
                              <a:ea typeface="Cambria Math"/>
                              <a:cs typeface="Cambria Math"/>
                            </a:rPr>
                          </m:ctrlPr>
                        </m:sSupPr>
                        <m:e>
                          <m:r>
                            <m:rPr>
                              <m:sty m:val="p"/>
                            </m:rPr>
                            <a:rPr lang="en-US" b="0" i="0">
                              <a:latin typeface="Cambria Math"/>
                            </a:rPr>
                            <m:t>Σ</m:t>
                          </m:r>
                        </m:e>
                        <m:sup>
                          <m:r>
                            <m:rPr/>
                            <a:rPr lang="en-US" b="0" i="1">
                              <a:latin typeface="Cambria Math"/>
                            </a:rPr>
                            <m:t>𝑘</m:t>
                          </m:r>
                        </m:sup>
                      </m:sSup>
                      <m:r>
                        <m:rPr/>
                        <a:rPr lang="en-US" b="0" i="1">
                          <a:latin typeface="Cambria Math"/>
                        </a:rPr>
                        <m:t>→</m:t>
                      </m:r>
                      <m:d>
                        <m:dPr>
                          <m:begChr m:val="["/>
                          <m:endChr m:val="]"/>
                          <m:ctrlPr>
                            <a:rPr lang="en-US" b="0" i="1">
                              <a:latin typeface="Cambria Math"/>
                              <a:ea typeface="Cambria Math"/>
                              <a:cs typeface="Cambria Math"/>
                            </a:rPr>
                          </m:ctrlPr>
                        </m:dPr>
                        <m:e>
                          <m:r>
                            <m:rPr/>
                            <a:rPr lang="en-US" b="0" i="1">
                              <a:latin typeface="Cambria Math"/>
                            </a:rPr>
                            <m:t>0,1</m:t>
                          </m:r>
                        </m:e>
                      </m:d>
                    </m:oMath>
                  </m:oMathPara>
                </a14:m>
              </mc:Choice>
              <mc:Fallback/>
            </mc:AlternateContent>
            <a:r>
              <a:rPr lang="en-US"/>
              <a:t>.</a:t>
            </a:r>
            <a:endParaRPr/>
          </a:p>
          <a:p>
            <a:pPr>
              <a:defRPr/>
            </a:pPr>
            <a:r>
              <a:rPr lang="en-US"/>
              <a:t>For every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𝑥</m:t>
                      </m:r>
                    </m:oMath>
                  </m:oMathPara>
                </a14:m>
              </mc:Choice>
              <mc:Fallback/>
            </mc:AlternateContent>
            <a:r>
              <a:rPr lang="en-US"/>
              <a:t>, select it if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h</m:t>
                      </m:r>
                      <m:d>
                        <m:dPr>
                          <m:ctrlPr>
                            <a:rPr lang="en-US" b="0" i="1">
                              <a:latin typeface="Cambria Math"/>
                              <a:ea typeface="Cambria Math"/>
                              <a:cs typeface="Cambria Math"/>
                            </a:rPr>
                          </m:ctrlPr>
                        </m:dPr>
                        <m:e>
                          <m:r>
                            <m:rPr/>
                            <a:rPr lang="en-US" b="0" i="1">
                              <a:latin typeface="Cambria Math"/>
                            </a:rPr>
                            <m:t>𝑠</m:t>
                          </m:r>
                        </m:e>
                      </m:d>
                      <m:r>
                        <m:rPr/>
                        <a:rPr lang="en-US" b="0" i="1">
                          <a:latin typeface="Cambria Math"/>
                        </a:rPr>
                        <m:t>&lt;</m:t>
                      </m:r>
                      <m:f>
                        <m:fPr>
                          <m:ctrlPr>
                            <a:rPr lang="en-US" b="0" i="1">
                              <a:latin typeface="Cambria Math"/>
                              <a:ea typeface="Cambria Math"/>
                              <a:cs typeface="Cambria Math"/>
                            </a:rPr>
                          </m:ctrlPr>
                        </m:fPr>
                        <m:num>
                          <m:r>
                            <m:rPr/>
                            <a:rPr lang="en-US" b="0" i="1">
                              <a:latin typeface="Cambria Math"/>
                            </a:rPr>
                            <m:t>1</m:t>
                          </m:r>
                        </m:num>
                        <m:den>
                          <m:r>
                            <m:rPr/>
                            <a:rPr lang="en-US" b="0" i="1">
                              <a:latin typeface="Cambria Math"/>
                            </a:rPr>
                            <m:t>𝑐</m:t>
                          </m:r>
                        </m:den>
                      </m:f>
                    </m:oMath>
                  </m:oMathPara>
                </a14:m>
              </mc:Choice>
              <mc:Fallback/>
            </mc:AlternateContent>
            <a:r>
              <a:rPr lang="en-US"/>
              <a:t>.</a:t>
            </a:r>
            <a:endParaRPr/>
          </a:p>
          <a:p>
            <a:pPr marL="514350" indent="-514350">
              <a:buFont typeface="+mj-lt"/>
              <a:buAutoNum type="arabicPeriod"/>
              <a:defRPr/>
            </a:pPr>
            <a:endParaRPr lang="en-US"/>
          </a:p>
          <a:p>
            <a:pPr marL="0" indent="0">
              <a:buNone/>
              <a:defRPr/>
            </a:pPr>
            <a:r>
              <a:rPr lang="en-US"/>
              <a:t>Properties:</a:t>
            </a:r>
            <a:endParaRPr/>
          </a:p>
          <a:p>
            <a:pPr>
              <a:defRPr/>
            </a:pPr>
            <a:r>
              <a:rPr lang="en-US"/>
              <a:t>(Locality) 1-local because choice of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𝑘</m:t>
                      </m:r>
                    </m:oMath>
                  </m:oMathPara>
                </a14:m>
              </mc:Choice>
              <mc:Fallback/>
            </mc:AlternateContent>
            <a:r>
              <a:rPr lang="en-US"/>
              <a:t>-</a:t>
            </a:r>
            <a:r>
              <a:rPr lang="en-US"/>
              <a:t>mer</a:t>
            </a:r>
            <a:r>
              <a:rPr lang="en-US"/>
              <a:t> only depends the letters of the </a:t>
            </a:r>
            <mc:AlternateContent xmlns:mc="http://schemas.openxmlformats.org/markup-compatibility/2006" xmlns:m="http://schemas.openxmlformats.org/officeDocument/2006/math">
              <mc:Choice xmlns:a14="http://schemas.microsoft.com/office/drawing/2010/main" Requires="a14">
                <a14:m>
                  <m:oMathPara>
                    <m:oMathParaPr/>
                    <m:oMath>
                      <m:r>
                        <m:rPr/>
                        <a:rPr lang="en-US" i="1">
                          <a:latin typeface="Cambria Math"/>
                        </a:rPr>
                        <m:t>𝑘</m:t>
                      </m:r>
                    </m:oMath>
                  </m:oMathPara>
                </a14:m>
              </mc:Choice>
              <mc:Fallback/>
            </mc:AlternateContent>
            <a:r>
              <a:rPr lang="en-US"/>
              <a:t>-</a:t>
            </a:r>
            <a:r>
              <a:rPr lang="en-US"/>
              <a:t>mer</a:t>
            </a:r>
            <a:r>
              <a:rPr lang="en-US"/>
              <a:t> itself, and not any context around it.</a:t>
            </a:r>
            <a:endParaRPr/>
          </a:p>
          <a:p>
            <a:pPr>
              <a:defRPr/>
            </a:pPr>
            <a:r>
              <a:rPr lang="en-US"/>
              <a:t>(Density) </a:t>
            </a:r>
            <mc:AlternateContent xmlns:mc="http://schemas.openxmlformats.org/markup-compatibility/2006" xmlns:m="http://schemas.openxmlformats.org/officeDocument/2006/math">
              <mc:Choice xmlns:a14="http://schemas.microsoft.com/office/drawing/2010/main" Requires="a14">
                <a14:m>
                  <m:oMathPara>
                    <m:oMathParaPr/>
                    <m:oMath>
                      <m:r>
                        <m:rPr/>
                        <a:rPr lang="en-US" b="0" i="1">
                          <a:latin typeface="Cambria Math"/>
                        </a:rPr>
                        <m:t>≈</m:t>
                      </m:r>
                      <m:f>
                        <m:fPr>
                          <m:ctrlPr>
                            <a:rPr lang="en-US" b="0" i="1">
                              <a:latin typeface="Cambria Math"/>
                              <a:ea typeface="Cambria Math"/>
                              <a:cs typeface="Cambria Math"/>
                            </a:rPr>
                          </m:ctrlPr>
                        </m:fPr>
                        <m:num>
                          <m:r>
                            <m:rPr/>
                            <a:rPr lang="en-US" b="0" i="1">
                              <a:latin typeface="Cambria Math"/>
                            </a:rPr>
                            <m:t>1</m:t>
                          </m:r>
                        </m:num>
                        <m:den>
                          <m:r>
                            <m:rPr/>
                            <a:rPr lang="en-US" b="0" i="1">
                              <a:latin typeface="Cambria Math"/>
                            </a:rPr>
                            <m:t>𝑐</m:t>
                          </m:r>
                        </m:den>
                      </m:f>
                    </m:oMath>
                  </m:oMathPara>
                </a14:m>
              </mc:Choice>
              <mc:Fallback/>
            </mc:AlternateContent>
            <a:r>
              <a:rPr lang="en-US"/>
              <a:t> by construction.</a:t>
            </a:r>
            <a:endParaRPr/>
          </a:p>
          <a:p>
            <a:pPr>
              <a:defRPr/>
            </a:pPr>
            <a:r>
              <a:rPr lang="en-US"/>
              <a:t>(Window guarantee) </a:t>
            </a:r>
            <a:r>
              <a:rPr lang="en-US">
                <a:solidFill>
                  <a:srgbClr val="FF0000"/>
                </a:solidFill>
              </a:rPr>
              <a:t>None</a:t>
            </a:r>
            <a:r>
              <a:rPr lang="en-US"/>
              <a:t>.</a:t>
            </a:r>
            <a:endParaRPr/>
          </a:p>
        </p:txBody>
      </p:sp>
      <p:sp>
        <p:nvSpPr>
          <p:cNvPr id="1145363439" name="Slide Number Placeholder 5"/>
          <p:cNvSpPr>
            <a:spLocks noGrp="1"/>
          </p:cNvSpPr>
          <p:nvPr>
            <p:ph type="sldNum" sz="quarter" idx="16"/>
          </p:nvPr>
        </p:nvSpPr>
        <p:spPr bwMode="auto"/>
        <p:txBody>
          <a:bodyPr/>
          <a:lstStyle>
            <a:lvl1pPr>
              <a:defRPr/>
            </a:lvl1pPr>
          </a:lstStyle>
          <a:p>
            <a:pPr>
              <a:defRPr/>
            </a:pPr>
            <a:fld id="{7A77600E-BD85-BF2C-89B0-D354CF900C05}"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75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217521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21752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217521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217521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217521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21752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75211"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0369011" name="Title 1"/>
          <p:cNvSpPr>
            <a:spLocks noGrp="1"/>
          </p:cNvSpPr>
          <p:nvPr>
            <p:ph type="title"/>
          </p:nvPr>
        </p:nvSpPr>
        <p:spPr bwMode="auto"/>
        <p:txBody>
          <a:bodyPr>
            <a:normAutofit fontScale="90000"/>
          </a:bodyPr>
          <a:lstStyle/>
          <a:p>
            <a:pPr>
              <a:defRPr/>
            </a:pPr>
            <a:r>
              <a:rPr lang="en-US"/>
              <a:t>Popularity of sketching methods</a:t>
            </a:r>
            <a:endParaRPr/>
          </a:p>
        </p:txBody>
      </p:sp>
      <p:sp>
        <p:nvSpPr>
          <p:cNvPr id="1738568015" name="Content Placeholder 2"/>
          <p:cNvSpPr>
            <a:spLocks noGrp="1"/>
          </p:cNvSpPr>
          <p:nvPr>
            <p:ph idx="1"/>
          </p:nvPr>
        </p:nvSpPr>
        <p:spPr bwMode="auto">
          <a:xfrm>
            <a:off x="689187" y="1067012"/>
            <a:ext cx="10515600" cy="5394748"/>
          </a:xfrm>
        </p:spPr>
        <p:txBody>
          <a:bodyPr/>
          <a:lstStyle/>
          <a:p>
            <a:pPr marL="0" indent="0">
              <a:buNone/>
              <a:defRPr/>
            </a:pPr>
            <a:r>
              <a:rPr lang="en-US"/>
              <a:t>Modern (read) aligners:</a:t>
            </a:r>
            <a:endParaRPr/>
          </a:p>
          <a:p>
            <a:pPr>
              <a:defRPr/>
            </a:pPr>
            <a:r>
              <a:rPr lang="en-US"/>
              <a:t>Minimap2 [Li, 2018] uses minimizers.</a:t>
            </a:r>
            <a:endParaRPr/>
          </a:p>
          <a:p>
            <a:pPr>
              <a:defRPr/>
            </a:pPr>
            <a:r>
              <a:rPr lang="en-US"/>
              <a:t>LAST [Frith, Noe, Kucherov, 2020] uses minimally-overlapping words.</a:t>
            </a:r>
            <a:endParaRPr/>
          </a:p>
          <a:p>
            <a:pPr>
              <a:defRPr/>
            </a:pPr>
            <a:r>
              <a:rPr lang="en-US"/>
              <a:t>Strobealign</a:t>
            </a:r>
            <a:r>
              <a:rPr lang="en-US"/>
              <a:t> [</a:t>
            </a:r>
            <a:r>
              <a:rPr lang="en-US"/>
              <a:t>Sahlin</a:t>
            </a:r>
            <a:r>
              <a:rPr lang="en-US"/>
              <a:t>, 2022] uses </a:t>
            </a:r>
            <a:r>
              <a:rPr lang="en-US"/>
              <a:t>syncmers</a:t>
            </a:r>
            <a:r>
              <a:rPr lang="en-US"/>
              <a:t>.</a:t>
            </a:r>
            <a:endParaRPr/>
          </a:p>
          <a:p>
            <a:pPr>
              <a:defRPr/>
            </a:pPr>
            <a:r>
              <a:rPr lang="en-US"/>
              <a:t>… almost every new aligner uses subsampling now</a:t>
            </a:r>
            <a:endParaRPr/>
          </a:p>
          <a:p>
            <a:pPr>
              <a:defRPr/>
            </a:pPr>
            <a:endParaRPr lang="en-US"/>
          </a:p>
          <a:p>
            <a:pPr marL="0" indent="0">
              <a:buNone/>
              <a:defRPr/>
            </a:pPr>
            <a:r>
              <a:rPr lang="en-US"/>
              <a:t>Modern assembly:</a:t>
            </a:r>
            <a:endParaRPr/>
          </a:p>
          <a:p>
            <a:pPr>
              <a:defRPr/>
            </a:pPr>
            <a:r>
              <a:rPr lang="en-US"/>
              <a:t>mDBG</a:t>
            </a:r>
            <a:r>
              <a:rPr lang="en-US"/>
              <a:t> [</a:t>
            </a:r>
            <a:r>
              <a:rPr lang="en-US"/>
              <a:t>Ekim</a:t>
            </a:r>
            <a:r>
              <a:rPr lang="en-US"/>
              <a:t>, Berger, </a:t>
            </a:r>
            <a:r>
              <a:rPr lang="en-US"/>
              <a:t>Chikhi</a:t>
            </a:r>
            <a:r>
              <a:rPr lang="en-US"/>
              <a:t>, 2023] uses minimizer min-</a:t>
            </a:r>
            <a:r>
              <a:rPr lang="en-US"/>
              <a:t>mers</a:t>
            </a:r>
            <a:endParaRPr lang="en-US"/>
          </a:p>
          <a:p>
            <a:pPr>
              <a:defRPr/>
            </a:pPr>
            <a:r>
              <a:rPr lang="en-US"/>
              <a:t>LJA [</a:t>
            </a:r>
            <a:r>
              <a:rPr lang="en-US"/>
              <a:t>Bankevich</a:t>
            </a:r>
            <a:r>
              <a:rPr lang="en-US"/>
              <a:t> et al, 2022] uses minimizers</a:t>
            </a:r>
            <a:endParaRPr/>
          </a:p>
          <a:p>
            <a:pPr>
              <a:defRPr/>
            </a:pPr>
            <a:r>
              <a:rPr lang="en-US"/>
              <a:t>GoldRush</a:t>
            </a:r>
            <a:r>
              <a:rPr lang="en-US"/>
              <a:t> [Wong et al, 2023] users minimizers.</a:t>
            </a:r>
            <a:endParaRPr/>
          </a:p>
        </p:txBody>
      </p:sp>
      <p:sp>
        <p:nvSpPr>
          <p:cNvPr id="2043606634" name="Slide Number Placeholder 5"/>
          <p:cNvSpPr>
            <a:spLocks noGrp="1"/>
          </p:cNvSpPr>
          <p:nvPr>
            <p:ph type="sldNum" sz="quarter" idx="16"/>
          </p:nvPr>
        </p:nvSpPr>
        <p:spPr bwMode="auto"/>
        <p:txBody>
          <a:bodyPr/>
          <a:lstStyle>
            <a:lvl1pPr>
              <a:defRPr/>
            </a:lvl1pPr>
          </a:lstStyle>
          <a:p>
            <a:pPr>
              <a:defRPr/>
            </a:pPr>
            <a:fld id="{21CEED08-D063-F584-282A-5D4A80CE51FF}" type="slidenum">
              <a:rPr lang="en-US"/>
              <a:t>22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85680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385680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385680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385680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385680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385680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3856801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3856801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385680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856801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377666" name="Title 1"/>
          <p:cNvSpPr>
            <a:spLocks noGrp="1"/>
          </p:cNvSpPr>
          <p:nvPr>
            <p:ph type="title"/>
          </p:nvPr>
        </p:nvSpPr>
        <p:spPr bwMode="auto"/>
        <p:txBody>
          <a:bodyPr/>
          <a:lstStyle/>
          <a:p>
            <a:pPr>
              <a:defRPr/>
            </a:pPr>
            <a:r>
              <a:rPr lang="en-US"/>
              <a:t>Structure of talk</a:t>
            </a:r>
            <a:endParaRPr/>
          </a:p>
        </p:txBody>
      </p:sp>
      <p:sp>
        <p:nvSpPr>
          <p:cNvPr id="2062376495" name="Content Placeholder 2"/>
          <p:cNvSpPr>
            <a:spLocks noGrp="1"/>
          </p:cNvSpPr>
          <p:nvPr>
            <p:ph idx="1"/>
          </p:nvPr>
        </p:nvSpPr>
        <p:spPr bwMode="auto"/>
        <p:txBody>
          <a:bodyPr/>
          <a:lstStyle/>
          <a:p>
            <a:pPr>
              <a:defRPr/>
            </a:pPr>
            <a:r>
              <a:rPr lang="en-US"/>
              <a:t>Background on metagenomics and string sketching</a:t>
            </a:r>
            <a:endParaRPr/>
          </a:p>
          <a:p>
            <a:pPr>
              <a:defRPr/>
            </a:pPr>
            <a:r>
              <a:rPr lang="en-US"/>
              <a:t>Skani</a:t>
            </a:r>
            <a:r>
              <a:rPr lang="en-US"/>
              <a:t>: metagenomic sequence comparison through sparse chaining [Shaw &amp; Yu, 2023, Nature Methods]</a:t>
            </a:r>
            <a:endParaRPr/>
          </a:p>
          <a:p>
            <a:pPr>
              <a:defRPr/>
            </a:pPr>
            <a:r>
              <a:rPr lang="en-US"/>
              <a:t>Sylph: Statistical metagenomic profiling</a:t>
            </a:r>
            <a:br>
              <a:rPr lang="en-US"/>
            </a:br>
            <a:r>
              <a:rPr lang="en-US"/>
              <a:t>[Shaw &amp; Yu, 2024, Nature Biotechnology]</a:t>
            </a:r>
            <a:endParaRPr/>
          </a:p>
          <a:p>
            <a:pPr>
              <a:defRPr/>
            </a:pPr>
            <a:r>
              <a:rPr lang="en-US"/>
              <a:t>Acknowledgements</a:t>
            </a:r>
            <a:endParaRPr/>
          </a:p>
        </p:txBody>
      </p:sp>
      <p:sp>
        <p:nvSpPr>
          <p:cNvPr id="979546231" name="Slide Number Placeholder 5"/>
          <p:cNvSpPr>
            <a:spLocks noGrp="1"/>
          </p:cNvSpPr>
          <p:nvPr>
            <p:ph type="sldNum" sz="quarter" idx="12"/>
          </p:nvPr>
        </p:nvSpPr>
        <p:spPr bwMode="auto"/>
        <p:txBody>
          <a:bodyPr/>
          <a:lstStyle/>
          <a:p>
            <a:pPr>
              <a:defRPr/>
            </a:pPr>
            <a:fld id="{61B680EC-6CCA-D559-2668-CD8FC9E0736B}"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0393410" name="Title 1"/>
          <p:cNvSpPr>
            <a:spLocks noGrp="1"/>
          </p:cNvSpPr>
          <p:nvPr>
            <p:ph type="title"/>
          </p:nvPr>
        </p:nvSpPr>
        <p:spPr bwMode="auto">
          <a:xfrm>
            <a:off x="432684" y="70926"/>
            <a:ext cx="10515600" cy="1325563"/>
          </a:xfrm>
        </p:spPr>
        <p:txBody>
          <a:bodyPr/>
          <a:lstStyle/>
          <a:p>
            <a:pPr>
              <a:defRPr/>
            </a:pPr>
            <a:r>
              <a:rPr lang="en-US"/>
              <a:t>Average Nucleotide Identity (ANI)</a:t>
            </a:r>
            <a:endParaRPr/>
          </a:p>
        </p:txBody>
      </p:sp>
      <p:cxnSp>
        <p:nvCxnSpPr>
          <p:cNvPr id="453341932" name="Straight Connector 3"/>
          <p:cNvCxnSpPr/>
          <p:nvPr/>
        </p:nvCxnSpPr>
        <p:spPr bwMode="auto">
          <a:xfrm>
            <a:off x="1398811" y="2396368"/>
            <a:ext cx="5223353" cy="0"/>
          </a:xfrm>
          <a:prstGeom prst="line">
            <a:avLst/>
          </a:prstGeom>
          <a:ln w="63500">
            <a:gradFill>
              <a:gsLst>
                <a:gs pos="0">
                  <a:schemeClr val="accent2"/>
                </a:gs>
                <a:gs pos="12000">
                  <a:schemeClr val="accent2"/>
                </a:gs>
                <a:gs pos="15000">
                  <a:srgbClr val="00B0F0"/>
                </a:gs>
                <a:gs pos="24000">
                  <a:srgbClr val="7030A0"/>
                </a:gs>
                <a:gs pos="32000">
                  <a:srgbClr val="FF0000"/>
                </a:gs>
                <a:gs pos="50000">
                  <a:srgbClr val="FF0000"/>
                </a:gs>
                <a:gs pos="56000">
                  <a:srgbClr val="00B0F0"/>
                </a:gs>
                <a:gs pos="67000">
                  <a:srgbClr val="FF0000"/>
                </a:gs>
                <a:gs pos="74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cxnSp>
        <p:nvCxnSpPr>
          <p:cNvPr id="937317787" name="Straight Connector 4"/>
          <p:cNvCxnSpPr/>
          <p:nvPr/>
        </p:nvCxnSpPr>
        <p:spPr bwMode="auto">
          <a:xfrm>
            <a:off x="1398811" y="1803848"/>
            <a:ext cx="5223353" cy="0"/>
          </a:xfrm>
          <a:prstGeom prst="line">
            <a:avLst/>
          </a:prstGeom>
          <a:ln w="63500">
            <a:gradFill>
              <a:gsLst>
                <a:gs pos="0">
                  <a:srgbClr val="00B050"/>
                </a:gs>
                <a:gs pos="12000">
                  <a:srgbClr val="00B050"/>
                </a:gs>
                <a:gs pos="15000">
                  <a:srgbClr val="00B0F0"/>
                </a:gs>
                <a:gs pos="24000">
                  <a:srgbClr val="00B0F0"/>
                </a:gs>
                <a:gs pos="32000">
                  <a:srgbClr val="FF0000"/>
                </a:gs>
                <a:gs pos="50000">
                  <a:srgbClr val="FF0000"/>
                </a:gs>
                <a:gs pos="56000">
                  <a:srgbClr val="FFFF00"/>
                </a:gs>
                <a:gs pos="67000">
                  <a:srgbClr val="FF0000"/>
                </a:gs>
                <a:gs pos="74000">
                  <a:srgbClr val="FFFF00"/>
                </a:gs>
                <a:gs pos="78000">
                  <a:srgbClr val="FF0000"/>
                </a:gs>
              </a:gsLst>
              <a:lin ang="0" scaled="1"/>
            </a:gradFill>
          </a:ln>
        </p:spPr>
        <p:style>
          <a:lnRef idx="3">
            <a:schemeClr val="dk1"/>
          </a:lnRef>
          <a:fillRef idx="0">
            <a:schemeClr val="dk1"/>
          </a:fillRef>
          <a:effectRef idx="2">
            <a:schemeClr val="dk1"/>
          </a:effectRef>
          <a:fontRef idx="minor">
            <a:schemeClr val="tx1"/>
          </a:fontRef>
        </p:style>
      </p:cxnSp>
      <p:grpSp>
        <p:nvGrpSpPr>
          <p:cNvPr id="176635386" name="Group 8"/>
          <p:cNvGrpSpPr/>
          <p:nvPr/>
        </p:nvGrpSpPr>
        <p:grpSpPr bwMode="auto">
          <a:xfrm>
            <a:off x="3052543" y="2649254"/>
            <a:ext cx="3569619" cy="738387"/>
            <a:chOff x="3052543" y="2649254"/>
            <a:chExt cx="3569619" cy="738387"/>
          </a:xfrm>
        </p:grpSpPr>
        <p:sp>
          <p:nvSpPr>
            <p:cNvPr id="6" name="Right Brace 5"/>
            <p:cNvSpPr/>
            <p:nvPr/>
          </p:nvSpPr>
          <p:spPr bwMode="auto">
            <a:xfrm rot="5400000">
              <a:off x="4667537" y="1034260"/>
              <a:ext cx="339634" cy="3569619"/>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p>
          </p:txBody>
        </p:sp>
        <p:sp>
          <p:nvSpPr>
            <p:cNvPr id="7" name="TextBox 6"/>
            <p:cNvSpPr txBox="1"/>
            <p:nvPr/>
          </p:nvSpPr>
          <p:spPr bwMode="auto">
            <a:xfrm>
              <a:off x="3328928" y="3018309"/>
              <a:ext cx="3016852" cy="369332"/>
            </a:xfrm>
            <a:prstGeom prst="rect">
              <a:avLst/>
            </a:prstGeom>
            <a:noFill/>
          </p:spPr>
          <p:txBody>
            <a:bodyPr wrap="none" rtlCol="0">
              <a:spAutoFit/>
            </a:bodyPr>
            <a:lstStyle/>
            <a:p>
              <a:pPr>
                <a:defRPr/>
              </a:pPr>
              <a:r>
                <a:rPr lang="en-US"/>
                <a:t>orthologous regions identified</a:t>
              </a:r>
              <a:endParaRPr/>
            </a:p>
          </p:txBody>
        </p:sp>
      </p:grpSp>
      <p:sp>
        <p:nvSpPr>
          <p:cNvPr id="2109263529" name="Rectangle 7"/>
          <p:cNvSpPr/>
          <p:nvPr/>
        </p:nvSpPr>
        <p:spPr bwMode="auto">
          <a:xfrm>
            <a:off x="609600" y="1332411"/>
            <a:ext cx="2272937" cy="16858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69747011" name="TextBox 9"/>
          <p:cNvSpPr txBox="1"/>
          <p:nvPr/>
        </p:nvSpPr>
        <p:spPr bwMode="auto">
          <a:xfrm>
            <a:off x="7182194" y="1491761"/>
            <a:ext cx="3150525" cy="1200329"/>
          </a:xfrm>
          <a:prstGeom prst="rect">
            <a:avLst/>
          </a:prstGeom>
          <a:noFill/>
        </p:spPr>
        <p:txBody>
          <a:bodyPr wrap="square" rtlCol="0">
            <a:spAutoFit/>
          </a:bodyPr>
          <a:lstStyle/>
          <a:p>
            <a:pPr>
              <a:defRPr/>
            </a:pPr>
            <a:r>
              <a:rPr lang="en-US" sz="2400"/>
              <a:t>ANI is the percent of shared nucleotides in the orthologous region.</a:t>
            </a:r>
            <a:endParaRPr/>
          </a:p>
        </p:txBody>
      </p:sp>
      <p:grpSp>
        <p:nvGrpSpPr>
          <p:cNvPr id="1338425318" name="Group 19"/>
          <p:cNvGrpSpPr/>
          <p:nvPr/>
        </p:nvGrpSpPr>
        <p:grpSpPr bwMode="auto">
          <a:xfrm>
            <a:off x="817288" y="3978740"/>
            <a:ext cx="10027079" cy="451944"/>
            <a:chOff x="817288" y="3978740"/>
            <a:chExt cx="10027079" cy="451944"/>
          </a:xfrm>
        </p:grpSpPr>
        <p:cxnSp>
          <p:nvCxnSpPr>
            <p:cNvPr id="14" name="Straight Arrow Connector 13"/>
            <p:cNvCxnSpPr/>
            <p:nvPr/>
          </p:nvCxnSpPr>
          <p:spPr bwMode="auto">
            <a:xfrm>
              <a:off x="989214" y="4430684"/>
              <a:ext cx="977576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bwMode="auto">
            <a:xfrm>
              <a:off x="817288" y="3978740"/>
              <a:ext cx="1857560" cy="369332"/>
            </a:xfrm>
            <a:prstGeom prst="rect">
              <a:avLst/>
            </a:prstGeom>
            <a:noFill/>
          </p:spPr>
          <p:txBody>
            <a:bodyPr wrap="none" rtlCol="0">
              <a:spAutoFit/>
            </a:bodyPr>
            <a:lstStyle/>
            <a:p>
              <a:pPr>
                <a:defRPr/>
              </a:pPr>
              <a:r>
                <a:rPr lang="en-US"/>
                <a:t>Slow but accurate</a:t>
              </a:r>
              <a:endParaRPr/>
            </a:p>
          </p:txBody>
        </p:sp>
        <p:sp>
          <p:nvSpPr>
            <p:cNvPr id="16" name="TextBox 15"/>
            <p:cNvSpPr txBox="1"/>
            <p:nvPr/>
          </p:nvSpPr>
          <p:spPr bwMode="auto">
            <a:xfrm>
              <a:off x="8882483" y="3981245"/>
              <a:ext cx="1961884" cy="369332"/>
            </a:xfrm>
            <a:prstGeom prst="rect">
              <a:avLst/>
            </a:prstGeom>
            <a:noFill/>
          </p:spPr>
          <p:txBody>
            <a:bodyPr wrap="none" rtlCol="0">
              <a:spAutoFit/>
            </a:bodyPr>
            <a:lstStyle/>
            <a:p>
              <a:pPr>
                <a:defRPr/>
              </a:pPr>
              <a:r>
                <a:rPr lang="en-US"/>
                <a:t>Fast but inaccurate</a:t>
              </a:r>
              <a:endParaRPr/>
            </a:p>
          </p:txBody>
        </p:sp>
      </p:grpSp>
      <p:sp>
        <p:nvSpPr>
          <p:cNvPr id="1500173103" name="TextBox 16"/>
          <p:cNvSpPr txBox="1"/>
          <p:nvPr/>
        </p:nvSpPr>
        <p:spPr bwMode="auto">
          <a:xfrm>
            <a:off x="742473" y="4612592"/>
            <a:ext cx="2764539" cy="923330"/>
          </a:xfrm>
          <a:prstGeom prst="rect">
            <a:avLst/>
          </a:prstGeom>
          <a:noFill/>
        </p:spPr>
        <p:txBody>
          <a:bodyPr wrap="none" rtlCol="0">
            <a:spAutoFit/>
          </a:bodyPr>
          <a:lstStyle/>
          <a:p>
            <a:pPr>
              <a:defRPr/>
            </a:pPr>
            <a:r>
              <a:rPr lang="en-US"/>
              <a:t>Alignment-based methods:</a:t>
            </a:r>
            <a:endParaRPr/>
          </a:p>
          <a:p>
            <a:pPr marL="285750" indent="-285750">
              <a:buFont typeface="Arial"/>
              <a:buChar char="•"/>
              <a:defRPr/>
            </a:pPr>
            <a:r>
              <a:rPr lang="en-US"/>
              <a:t>Blast-based (Ortho)</a:t>
            </a:r>
            <a:r>
              <a:rPr lang="en-US"/>
              <a:t>ANIu</a:t>
            </a:r>
            <a:endParaRPr lang="en-US"/>
          </a:p>
          <a:p>
            <a:pPr marL="285750" indent="-285750">
              <a:buFont typeface="Arial"/>
              <a:buChar char="•"/>
              <a:defRPr/>
            </a:pPr>
            <a:r>
              <a:rPr lang="en-US"/>
              <a:t>Mummer-based </a:t>
            </a:r>
            <a:r>
              <a:rPr lang="en-US"/>
              <a:t>ANIm</a:t>
            </a:r>
            <a:endParaRPr lang="en-US"/>
          </a:p>
        </p:txBody>
      </p:sp>
      <p:sp>
        <p:nvSpPr>
          <p:cNvPr id="135734031" name="TextBox 17"/>
          <p:cNvSpPr txBox="1"/>
          <p:nvPr/>
        </p:nvSpPr>
        <p:spPr bwMode="auto">
          <a:xfrm>
            <a:off x="8314177" y="4637283"/>
            <a:ext cx="3632982" cy="923330"/>
          </a:xfrm>
          <a:prstGeom prst="rect">
            <a:avLst/>
          </a:prstGeom>
          <a:noFill/>
        </p:spPr>
        <p:txBody>
          <a:bodyPr wrap="none" rtlCol="0">
            <a:spAutoFit/>
          </a:bodyPr>
          <a:lstStyle/>
          <a:p>
            <a:pPr>
              <a:defRPr/>
            </a:pPr>
            <a:r>
              <a:rPr lang="en-US"/>
              <a:t>Pure bag-of-words sketching</a:t>
            </a:r>
            <a:endParaRPr/>
          </a:p>
          <a:p>
            <a:pPr marL="285750" indent="-285750">
              <a:buFont typeface="Arial"/>
              <a:buChar char="•"/>
              <a:defRPr/>
            </a:pPr>
            <a:r>
              <a:rPr lang="en-US"/>
              <a:t>MinHash</a:t>
            </a:r>
            <a:r>
              <a:rPr lang="en-US"/>
              <a:t>-based Mash</a:t>
            </a:r>
            <a:endParaRPr/>
          </a:p>
          <a:p>
            <a:pPr>
              <a:defRPr/>
            </a:pPr>
            <a:r>
              <a:rPr lang="en-US"/>
              <a:t>(does not restrict to aligned fraction)</a:t>
            </a:r>
            <a:endParaRPr/>
          </a:p>
        </p:txBody>
      </p:sp>
      <p:sp>
        <p:nvSpPr>
          <p:cNvPr id="1606026437" name="TextBox 18"/>
          <p:cNvSpPr txBox="1"/>
          <p:nvPr/>
        </p:nvSpPr>
        <p:spPr bwMode="auto">
          <a:xfrm>
            <a:off x="4443046" y="4612592"/>
            <a:ext cx="3121535" cy="1200329"/>
          </a:xfrm>
          <a:prstGeom prst="rect">
            <a:avLst/>
          </a:prstGeom>
          <a:noFill/>
        </p:spPr>
        <p:txBody>
          <a:bodyPr wrap="square" rtlCol="0">
            <a:spAutoFit/>
          </a:bodyPr>
          <a:lstStyle/>
          <a:p>
            <a:pPr>
              <a:defRPr/>
            </a:pPr>
            <a:r>
              <a:rPr lang="en-US"/>
              <a:t>Hybrid approximate mapping</a:t>
            </a:r>
            <a:endParaRPr/>
          </a:p>
          <a:p>
            <a:pPr marL="285750" indent="-285750">
              <a:buFont typeface="Arial"/>
              <a:buChar char="•"/>
              <a:defRPr/>
            </a:pPr>
            <a:r>
              <a:rPr lang="en-US"/>
              <a:t>FastANI</a:t>
            </a:r>
            <a:r>
              <a:rPr lang="en-US"/>
              <a:t> based off </a:t>
            </a:r>
            <a:r>
              <a:rPr lang="en-US"/>
              <a:t>Mashmap</a:t>
            </a:r>
            <a:endParaRPr lang="en-US"/>
          </a:p>
          <a:p>
            <a:pPr>
              <a:defRPr/>
            </a:pPr>
            <a:r>
              <a:rPr lang="en-US"/>
              <a:t>Sketching minimizers for approximate mapping</a:t>
            </a:r>
            <a:endParaRPr/>
          </a:p>
        </p:txBody>
      </p:sp>
      <p:sp>
        <p:nvSpPr>
          <p:cNvPr id="1067246661" name="Slide Number Placeholder 5"/>
          <p:cNvSpPr>
            <a:spLocks noGrp="1"/>
          </p:cNvSpPr>
          <p:nvPr>
            <p:ph type="sldNum" sz="quarter" idx="12"/>
          </p:nvPr>
        </p:nvSpPr>
        <p:spPr bwMode="auto"/>
        <p:txBody>
          <a:bodyPr/>
          <a:lstStyle/>
          <a:p>
            <a:pPr>
              <a:defRPr/>
            </a:pPr>
            <a:fld id="{EBD837D5-BD7F-B195-AC51-E6DAC540464E}"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635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109263529"/>
                                        </p:tgtEl>
                                        <p:attrNameLst>
                                          <p:attrName>style.visibility</p:attrName>
                                        </p:attrNameLst>
                                      </p:cBhvr>
                                      <p:to>
                                        <p:strVal val="visible"/>
                                      </p:to>
                                    </p:set>
                                    <p:animEffect transition="in" filter="fade">
                                      <p:cBhvr>
                                        <p:cTn id="11" dur="500"/>
                                        <p:tgtEl>
                                          <p:spTgt spid="21092635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69747011"/>
                                        </p:tgtEl>
                                        <p:attrNameLst>
                                          <p:attrName>style.visibility</p:attrName>
                                        </p:attrNameLst>
                                      </p:cBhvr>
                                      <p:to>
                                        <p:strVal val="visible"/>
                                      </p:to>
                                    </p:set>
                                    <p:animEffect transition="in" filter="fade">
                                      <p:cBhvr>
                                        <p:cTn id="16" dur="500"/>
                                        <p:tgtEl>
                                          <p:spTgt spid="10697470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38425318"/>
                                        </p:tgtEl>
                                        <p:attrNameLst>
                                          <p:attrName>style.visibility</p:attrName>
                                        </p:attrNameLst>
                                      </p:cBhvr>
                                      <p:to>
                                        <p:strVal val="visible"/>
                                      </p:to>
                                    </p:set>
                                    <p:animEffect transition="in" filter="wipe(left)">
                                      <p:cBhvr>
                                        <p:cTn id="21" dur="500"/>
                                        <p:tgtEl>
                                          <p:spTgt spid="133842531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0017310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573403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06026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263529" grpId="0" animBg="1"/>
      <p:bldP spid="1069747011" grpId="0"/>
      <p:bldP spid="1500173103" grpId="0"/>
      <p:bldP spid="135734031" grpId="0"/>
      <p:bldP spid="1606026437" grpId="0"/>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8682185" name="Title 1"/>
          <p:cNvSpPr>
            <a:spLocks noGrp="1"/>
          </p:cNvSpPr>
          <p:nvPr>
            <p:ph type="title"/>
          </p:nvPr>
        </p:nvSpPr>
        <p:spPr bwMode="auto"/>
        <p:txBody>
          <a:bodyPr/>
          <a:lstStyle/>
          <a:p>
            <a:pPr>
              <a:defRPr/>
            </a:pPr>
            <a:r>
              <a:rPr lang="en-US"/>
              <a:t>Metagenomic data is noisy</a:t>
            </a:r>
            <a:endParaRPr/>
          </a:p>
        </p:txBody>
      </p:sp>
      <p:sp>
        <p:nvSpPr>
          <p:cNvPr id="988850473" name="Content Placeholder 2"/>
          <p:cNvSpPr>
            <a:spLocks noGrp="1"/>
          </p:cNvSpPr>
          <p:nvPr>
            <p:ph idx="1"/>
          </p:nvPr>
        </p:nvSpPr>
        <p:spPr bwMode="auto">
          <a:xfrm>
            <a:off x="838200" y="1825625"/>
            <a:ext cx="10515600" cy="2157978"/>
          </a:xfrm>
        </p:spPr>
        <p:txBody>
          <a:bodyPr/>
          <a:lstStyle/>
          <a:p>
            <a:pPr>
              <a:defRPr/>
            </a:pPr>
            <a:r>
              <a:rPr lang="en-US"/>
              <a:t>Metagenome-assembled genomes (MAGs) – assembled + binned from metagenomic data are noisy</a:t>
            </a:r>
            <a:endParaRPr/>
          </a:p>
          <a:p>
            <a:pPr lvl="1">
              <a:defRPr/>
            </a:pPr>
            <a:r>
              <a:rPr lang="en-US"/>
              <a:t>Incomplete (missing sequences)</a:t>
            </a:r>
            <a:endParaRPr/>
          </a:p>
          <a:p>
            <a:pPr lvl="1">
              <a:defRPr/>
            </a:pPr>
            <a:r>
              <a:rPr lang="en-US"/>
              <a:t>Contaminated (spurious sequences included)</a:t>
            </a:r>
            <a:endParaRPr/>
          </a:p>
          <a:p>
            <a:pPr lvl="1">
              <a:defRPr/>
            </a:pPr>
            <a:r>
              <a:rPr lang="en-US"/>
              <a:t>Fragmented (small contigs, low N50)</a:t>
            </a:r>
            <a:endParaRPr/>
          </a:p>
        </p:txBody>
      </p:sp>
      <p:pic>
        <p:nvPicPr>
          <p:cNvPr id="1844832116" name="Picture 2"/>
          <p:cNvPicPr>
            <a:picLocks noChangeAspect="1" noChangeArrowheads="1"/>
          </p:cNvPicPr>
          <p:nvPr/>
        </p:nvPicPr>
        <p:blipFill rotWithShape="1">
          <a:blip r:embed="rId3"/>
          <a:stretch/>
        </p:blipFill>
        <p:spPr bwMode="auto">
          <a:xfrm>
            <a:off x="2949934" y="4118538"/>
            <a:ext cx="5710978" cy="2157977"/>
          </a:xfrm>
          <a:prstGeom prst="rect">
            <a:avLst/>
          </a:prstGeom>
          <a:noFill/>
        </p:spPr>
      </p:pic>
      <p:sp>
        <p:nvSpPr>
          <p:cNvPr id="282546762" name="Slide Number Placeholder 5"/>
          <p:cNvSpPr>
            <a:spLocks noGrp="1"/>
          </p:cNvSpPr>
          <p:nvPr>
            <p:ph type="sldNum" sz="quarter" idx="12"/>
          </p:nvPr>
        </p:nvSpPr>
        <p:spPr bwMode="auto"/>
        <p:txBody>
          <a:bodyPr/>
          <a:lstStyle/>
          <a:p>
            <a:pPr>
              <a:defRPr/>
            </a:pPr>
            <a:fld id="{3A5F9353-24B5-4599-1AF0-84737BEE5AEE}"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1107734" name="Title 1"/>
          <p:cNvSpPr>
            <a:spLocks noGrp="1"/>
          </p:cNvSpPr>
          <p:nvPr>
            <p:ph type="title"/>
          </p:nvPr>
        </p:nvSpPr>
        <p:spPr bwMode="auto"/>
        <p:txBody>
          <a:bodyPr/>
          <a:lstStyle/>
          <a:p>
            <a:pPr>
              <a:defRPr/>
            </a:pPr>
            <a:r>
              <a:rPr lang="en-US"/>
              <a:t>MAG noise biases ANI calculations</a:t>
            </a:r>
            <a:endParaRPr/>
          </a:p>
        </p:txBody>
      </p:sp>
      <p:pic>
        <p:nvPicPr>
          <p:cNvPr id="727032495" name="Picture 2"/>
          <p:cNvPicPr>
            <a:picLocks noChangeAspect="1" noChangeArrowheads="1" noGrp="1"/>
          </p:cNvPicPr>
          <p:nvPr>
            <p:ph idx="1"/>
          </p:nvPr>
        </p:nvPicPr>
        <p:blipFill rotWithShape="1">
          <a:blip r:embed="rId3"/>
          <a:stretch/>
        </p:blipFill>
        <p:spPr bwMode="auto">
          <a:xfrm>
            <a:off x="961528" y="1702331"/>
            <a:ext cx="7867649" cy="361950"/>
          </a:xfrm>
          <a:prstGeom prst="rect">
            <a:avLst/>
          </a:prstGeom>
          <a:noFill/>
        </p:spPr>
      </p:pic>
      <p:pic>
        <p:nvPicPr>
          <p:cNvPr id="1898924586" name="Picture 4"/>
          <p:cNvPicPr>
            <a:picLocks noChangeAspect="1" noChangeArrowheads="1"/>
          </p:cNvPicPr>
          <p:nvPr/>
        </p:nvPicPr>
        <p:blipFill rotWithShape="1">
          <a:blip r:embed="rId4"/>
          <a:stretch/>
        </p:blipFill>
        <p:spPr bwMode="auto">
          <a:xfrm>
            <a:off x="-1518698" y="2163389"/>
            <a:ext cx="12192000" cy="3994150"/>
          </a:xfrm>
          <a:prstGeom prst="rect">
            <a:avLst/>
          </a:prstGeom>
          <a:noFill/>
        </p:spPr>
      </p:pic>
      <p:sp>
        <p:nvSpPr>
          <p:cNvPr id="1406124185" name="Slide Number Placeholder 5"/>
          <p:cNvSpPr>
            <a:spLocks noGrp="1"/>
          </p:cNvSpPr>
          <p:nvPr>
            <p:ph type="sldNum" sz="quarter" idx="12"/>
          </p:nvPr>
        </p:nvSpPr>
        <p:spPr bwMode="auto"/>
        <p:txBody>
          <a:bodyPr/>
          <a:lstStyle/>
          <a:p>
            <a:pPr>
              <a:defRPr/>
            </a:pPr>
            <a:fld id="{57961220-7870-D60D-E79F-78636868B851}"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3903759" name="Title 1"/>
          <p:cNvSpPr>
            <a:spLocks noGrp="1"/>
          </p:cNvSpPr>
          <p:nvPr>
            <p:ph type="title"/>
          </p:nvPr>
        </p:nvSpPr>
        <p:spPr bwMode="auto">
          <a:xfrm>
            <a:off x="456536" y="150440"/>
            <a:ext cx="11494273" cy="1325563"/>
          </a:xfrm>
        </p:spPr>
        <p:txBody>
          <a:bodyPr/>
          <a:lstStyle/>
          <a:p>
            <a:pPr>
              <a:defRPr/>
            </a:pPr>
            <a:r>
              <a:rPr lang="en-US"/>
              <a:t>Minimizer bias [</a:t>
            </a:r>
            <a:r>
              <a:rPr lang="en-US"/>
              <a:t>Belbasi</a:t>
            </a:r>
            <a:r>
              <a:rPr lang="en-US"/>
              <a:t> et al, 2022, Bioinformatics]</a:t>
            </a:r>
            <a:endParaRPr/>
          </a:p>
        </p:txBody>
      </p:sp>
      <p:sp>
        <p:nvSpPr>
          <p:cNvPr id="1502267762" name="Content Placeholder 2"/>
          <p:cNvSpPr>
            <a:spLocks noGrp="1"/>
          </p:cNvSpPr>
          <p:nvPr>
            <p:ph idx="1"/>
          </p:nvPr>
        </p:nvSpPr>
        <p:spPr bwMode="auto">
          <a:xfrm>
            <a:off x="456536" y="1348546"/>
            <a:ext cx="10515600" cy="5441866"/>
          </a:xfrm>
        </p:spPr>
        <p:txBody>
          <a:bodyPr>
            <a:normAutofit fontScale="92500"/>
          </a:bodyPr>
          <a:lstStyle/>
          <a:p>
            <a:pPr marL="0" indent="0">
              <a:buNone/>
              <a:defRPr/>
            </a:pPr>
            <a:r>
              <a:rPr lang="en-US">
                <a:solidFill>
                  <a:srgbClr val="FF0000"/>
                </a:solidFill>
              </a:rPr>
              <a:t>Problem (quoted from abstract)</a:t>
            </a:r>
            <a:endParaRPr/>
          </a:p>
          <a:p>
            <a:pPr marL="0" indent="0">
              <a:buNone/>
              <a:defRPr/>
            </a:pPr>
            <a:r>
              <a:rPr lang="en-US"/>
              <a:t>[The] minimizer Jaccard estimator is </a:t>
            </a:r>
            <a:r>
              <a:rPr lang="en-US" i="1"/>
              <a:t>biased</a:t>
            </a:r>
            <a:r>
              <a:rPr lang="en-US"/>
              <a:t> and </a:t>
            </a:r>
            <a:r>
              <a:rPr lang="en-US" i="1"/>
              <a:t>inconsistent</a:t>
            </a:r>
            <a:r>
              <a:rPr lang="en-US"/>
              <a:t>. […] this bias affects the accuracy of the widely used </a:t>
            </a:r>
            <a:r>
              <a:rPr lang="en-US"/>
              <a:t>mashmap</a:t>
            </a:r>
            <a:r>
              <a:rPr lang="en-US"/>
              <a:t> read mapping tool.</a:t>
            </a:r>
            <a:endParaRPr/>
          </a:p>
          <a:p>
            <a:pPr marL="0" indent="0">
              <a:buNone/>
              <a:defRPr/>
            </a:pPr>
            <a:r>
              <a:rPr lang="en-US">
                <a:solidFill>
                  <a:schemeClr val="accent1"/>
                </a:solidFill>
              </a:rPr>
              <a:t>Partial solution</a:t>
            </a:r>
            <a:endParaRPr/>
          </a:p>
          <a:p>
            <a:pPr marL="0" indent="0">
              <a:buNone/>
              <a:defRPr/>
            </a:pPr>
            <a:r>
              <a:rPr lang="en-US"/>
              <a:t>FastANI</a:t>
            </a:r>
            <a:r>
              <a:rPr lang="en-US"/>
              <a:t> uses a relatively small window size for minimizers, which decreases sparsity, but manages to largely ameliorate the issue. </a:t>
            </a:r>
            <a:r>
              <a:rPr lang="en-US"/>
              <a:t>FastANI</a:t>
            </a:r>
            <a:r>
              <a:rPr lang="en-US"/>
              <a:t>, though slower than Mash, is still orders of magnitude faster than alignment-based methods.</a:t>
            </a:r>
            <a:endParaRPr/>
          </a:p>
          <a:p>
            <a:pPr marL="0" indent="0">
              <a:buNone/>
              <a:defRPr/>
            </a:pPr>
            <a:r>
              <a:rPr lang="en-US">
                <a:solidFill>
                  <a:srgbClr val="00B050"/>
                </a:solidFill>
              </a:rPr>
              <a:t>Our solution: </a:t>
            </a:r>
            <a:r>
              <a:rPr lang="en-US">
                <a:solidFill>
                  <a:srgbClr val="00B050"/>
                </a:solidFill>
              </a:rPr>
              <a:t>skani</a:t>
            </a:r>
            <a:endParaRPr lang="en-US">
              <a:solidFill>
                <a:srgbClr val="00B050"/>
              </a:solidFill>
            </a:endParaRPr>
          </a:p>
          <a:p>
            <a:pPr marL="0" indent="0">
              <a:buNone/>
              <a:defRPr/>
            </a:pPr>
            <a:r>
              <a:rPr lang="en-US"/>
              <a:t>We use </a:t>
            </a:r>
            <a:r>
              <a:rPr lang="en-US"/>
              <a:t>FracMinHash</a:t>
            </a:r>
            <a:r>
              <a:rPr lang="en-US"/>
              <a:t> and our own sparse chaining implementation, which avoids the issue entirely. This allows for extremely high sparsity, making </a:t>
            </a:r>
            <a:r>
              <a:rPr lang="en-US"/>
              <a:t>skani</a:t>
            </a:r>
            <a:r>
              <a:rPr lang="en-US"/>
              <a:t> &gt;20x faster than </a:t>
            </a:r>
            <a:r>
              <a:rPr lang="en-US"/>
              <a:t>FastANI</a:t>
            </a:r>
            <a:r>
              <a:rPr lang="en-US"/>
              <a:t> with higher accuracy on low-quality MAGs (metagenome assembled genomes).</a:t>
            </a:r>
            <a:endParaRPr/>
          </a:p>
        </p:txBody>
      </p:sp>
      <p:sp>
        <p:nvSpPr>
          <p:cNvPr id="1008692579" name="Slide Number Placeholder 5"/>
          <p:cNvSpPr>
            <a:spLocks noGrp="1"/>
          </p:cNvSpPr>
          <p:nvPr>
            <p:ph type="sldNum" sz="quarter" idx="12"/>
          </p:nvPr>
        </p:nvSpPr>
        <p:spPr bwMode="auto"/>
        <p:txBody>
          <a:bodyPr/>
          <a:lstStyle/>
          <a:p>
            <a:pPr>
              <a:defRPr/>
            </a:pPr>
            <a:fld id="{BA00EBC1-C7ED-B6B0-DBF5-411BA825D4B0}"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226776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0226776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0226776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0226776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0226776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0226776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226776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4101038" name="Title 1"/>
          <p:cNvSpPr>
            <a:spLocks noGrp="1"/>
          </p:cNvSpPr>
          <p:nvPr>
            <p:ph type="title"/>
          </p:nvPr>
        </p:nvSpPr>
        <p:spPr bwMode="auto">
          <a:xfrm>
            <a:off x="575807" y="142488"/>
            <a:ext cx="10515600" cy="1325563"/>
          </a:xfrm>
        </p:spPr>
        <p:txBody>
          <a:bodyPr/>
          <a:lstStyle/>
          <a:p>
            <a:pPr>
              <a:defRPr/>
            </a:pPr>
            <a:r>
              <a:rPr lang="en-US"/>
              <a:t>skani</a:t>
            </a:r>
            <a:r>
              <a:rPr lang="en-US"/>
              <a:t> overview</a:t>
            </a:r>
            <a:endParaRPr/>
          </a:p>
        </p:txBody>
      </p:sp>
      <p:pic>
        <p:nvPicPr>
          <p:cNvPr id="335685885" name="Picture 4" descr="A screenshot of a graph&#10;&#10;Description automatically generated"/>
          <p:cNvPicPr>
            <a:picLocks noChangeAspect="1"/>
          </p:cNvPicPr>
          <p:nvPr/>
        </p:nvPicPr>
        <p:blipFill rotWithShape="1">
          <a:blip r:embed="rId3"/>
          <a:srcRect l="0" t="0" r="10875" b="61623"/>
          <a:stretch/>
        </p:blipFill>
        <p:spPr bwMode="auto">
          <a:xfrm>
            <a:off x="251491" y="1375575"/>
            <a:ext cx="11866297" cy="5184250"/>
          </a:xfrm>
          <a:prstGeom prst="rect">
            <a:avLst/>
          </a:prstGeom>
        </p:spPr>
      </p:pic>
      <p:sp>
        <p:nvSpPr>
          <p:cNvPr id="640504525" name="Slide Number Placeholder 5"/>
          <p:cNvSpPr>
            <a:spLocks noGrp="1"/>
          </p:cNvSpPr>
          <p:nvPr>
            <p:ph type="sldNum" sz="quarter" idx="12"/>
          </p:nvPr>
        </p:nvSpPr>
        <p:spPr bwMode="auto"/>
        <p:txBody>
          <a:bodyPr/>
          <a:lstStyle/>
          <a:p>
            <a:pPr>
              <a:defRPr/>
            </a:pPr>
            <a:fld id="{0A6BCF73-EC05-0ED3-FF09-A3B1D1B16007}"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0933773" name="Title 1"/>
          <p:cNvSpPr>
            <a:spLocks noGrp="1"/>
          </p:cNvSpPr>
          <p:nvPr>
            <p:ph type="title"/>
          </p:nvPr>
        </p:nvSpPr>
        <p:spPr bwMode="auto"/>
        <p:txBody>
          <a:bodyPr/>
          <a:lstStyle/>
          <a:p>
            <a:pPr>
              <a:defRPr/>
            </a:pPr>
            <a:r>
              <a:rPr lang="en-US"/>
              <a:t>skani</a:t>
            </a:r>
            <a:r>
              <a:rPr lang="en-US"/>
              <a:t> is more robust - simulated</a:t>
            </a:r>
            <a:endParaRPr/>
          </a:p>
        </p:txBody>
      </p:sp>
      <p:pic>
        <p:nvPicPr>
          <p:cNvPr id="1684046508" name="Picture 2"/>
          <p:cNvPicPr>
            <a:picLocks noChangeAspect="1" noChangeArrowheads="1"/>
          </p:cNvPicPr>
          <p:nvPr/>
        </p:nvPicPr>
        <p:blipFill rotWithShape="1">
          <a:blip r:embed="rId3"/>
          <a:stretch/>
        </p:blipFill>
        <p:spPr bwMode="auto">
          <a:xfrm>
            <a:off x="0" y="1395413"/>
            <a:ext cx="12192000" cy="4065587"/>
          </a:xfrm>
          <a:prstGeom prst="rect">
            <a:avLst/>
          </a:prstGeom>
          <a:noFill/>
        </p:spPr>
      </p:pic>
      <p:sp>
        <p:nvSpPr>
          <p:cNvPr id="390319408" name="Slide Number Placeholder 5"/>
          <p:cNvSpPr>
            <a:spLocks noGrp="1"/>
          </p:cNvSpPr>
          <p:nvPr>
            <p:ph type="sldNum" sz="quarter" idx="12"/>
          </p:nvPr>
        </p:nvSpPr>
        <p:spPr bwMode="auto"/>
        <p:txBody>
          <a:bodyPr/>
          <a:lstStyle/>
          <a:p>
            <a:pPr>
              <a:defRPr/>
            </a:pPr>
            <a:fld id="{7FEDD4DE-80EC-5B95-0A89-B703BC8636CA}"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9048536" name="Title 1"/>
          <p:cNvSpPr>
            <a:spLocks noGrp="1"/>
          </p:cNvSpPr>
          <p:nvPr>
            <p:ph type="title"/>
          </p:nvPr>
        </p:nvSpPr>
        <p:spPr bwMode="auto"/>
        <p:txBody>
          <a:bodyPr/>
          <a:lstStyle/>
          <a:p>
            <a:pPr>
              <a:defRPr/>
            </a:pPr>
            <a:r>
              <a:rPr lang="en-US"/>
              <a:t>Correlation with BLAST-based </a:t>
            </a:r>
            <a:r>
              <a:rPr lang="en-US"/>
              <a:t>OrthoANIu</a:t>
            </a:r>
            <a:endParaRPr lang="en-US"/>
          </a:p>
        </p:txBody>
      </p:sp>
      <p:pic>
        <p:nvPicPr>
          <p:cNvPr id="2067513891" name="Picture 4" descr="A graph with numbers and lines&#10;&#10;Description automatically generated with medium confidence"/>
          <p:cNvPicPr>
            <a:picLocks noChangeAspect="1"/>
          </p:cNvPicPr>
          <p:nvPr/>
        </p:nvPicPr>
        <p:blipFill rotWithShape="1">
          <a:blip r:embed="rId3"/>
          <a:stretch/>
        </p:blipFill>
        <p:spPr bwMode="auto">
          <a:xfrm>
            <a:off x="0" y="1690688"/>
            <a:ext cx="12192000" cy="4115132"/>
          </a:xfrm>
          <a:prstGeom prst="rect">
            <a:avLst/>
          </a:prstGeom>
        </p:spPr>
      </p:pic>
      <p:sp>
        <p:nvSpPr>
          <p:cNvPr id="1746491901" name="Slide Number Placeholder 5"/>
          <p:cNvSpPr>
            <a:spLocks noGrp="1"/>
          </p:cNvSpPr>
          <p:nvPr>
            <p:ph type="sldNum" sz="quarter" idx="12"/>
          </p:nvPr>
        </p:nvSpPr>
        <p:spPr bwMode="auto"/>
        <p:txBody>
          <a:bodyPr/>
          <a:lstStyle/>
          <a:p>
            <a:pPr>
              <a:defRPr/>
            </a:pPr>
            <a:fld id="{39F01C72-BD1D-E771-162A-B4947B01C5FC}"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92324407" name="Picture 4" descr="A group of colorful bars&#10;&#10;Description automatically generated with medium confidence"/>
          <p:cNvPicPr>
            <a:picLocks noChangeAspect="1"/>
          </p:cNvPicPr>
          <p:nvPr/>
        </p:nvPicPr>
        <p:blipFill rotWithShape="1">
          <a:blip r:embed="rId3"/>
          <a:stretch/>
        </p:blipFill>
        <p:spPr bwMode="auto">
          <a:xfrm>
            <a:off x="1338349" y="761613"/>
            <a:ext cx="9182834" cy="6096387"/>
          </a:xfrm>
          <a:prstGeom prst="rect">
            <a:avLst/>
          </a:prstGeom>
        </p:spPr>
      </p:pic>
      <p:sp>
        <p:nvSpPr>
          <p:cNvPr id="653440614" name="Title 1"/>
          <p:cNvSpPr>
            <a:spLocks noGrp="1"/>
          </p:cNvSpPr>
          <p:nvPr>
            <p:ph type="title"/>
          </p:nvPr>
        </p:nvSpPr>
        <p:spPr bwMode="auto">
          <a:xfrm>
            <a:off x="139931" y="-183515"/>
            <a:ext cx="10515600" cy="1325563"/>
          </a:xfrm>
        </p:spPr>
        <p:txBody>
          <a:bodyPr/>
          <a:lstStyle/>
          <a:p>
            <a:pPr>
              <a:defRPr/>
            </a:pPr>
            <a:r>
              <a:rPr lang="en-US"/>
              <a:t>Time and memory benchmarks</a:t>
            </a:r>
            <a:endParaRPr/>
          </a:p>
        </p:txBody>
      </p:sp>
      <p:sp>
        <p:nvSpPr>
          <p:cNvPr id="841519691" name="Slide Number Placeholder 5"/>
          <p:cNvSpPr>
            <a:spLocks noGrp="1"/>
          </p:cNvSpPr>
          <p:nvPr>
            <p:ph type="sldNum" sz="quarter" idx="12"/>
          </p:nvPr>
        </p:nvSpPr>
        <p:spPr bwMode="auto"/>
        <p:txBody>
          <a:bodyPr/>
          <a:lstStyle/>
          <a:p>
            <a:pPr>
              <a:defRPr/>
            </a:pPr>
            <a:fld id="{B61EA969-BEC1-3F47-5601-8259B57FBB83}"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198297" name="Title 1"/>
          <p:cNvSpPr>
            <a:spLocks noGrp="1"/>
          </p:cNvSpPr>
          <p:nvPr>
            <p:ph type="title"/>
          </p:nvPr>
        </p:nvSpPr>
        <p:spPr bwMode="auto"/>
        <p:txBody>
          <a:bodyPr/>
          <a:lstStyle/>
          <a:p>
            <a:pPr>
              <a:defRPr/>
            </a:pPr>
            <a:r>
              <a:rPr lang="en-US"/>
              <a:t>ANI as a function of Incompleteness</a:t>
            </a:r>
            <a:endParaRPr/>
          </a:p>
        </p:txBody>
      </p:sp>
      <p:pic>
        <p:nvPicPr>
          <p:cNvPr id="2059824711" name="Picture 3" descr="A screenshot of a graph&#10;&#10;Description automatically generated"/>
          <p:cNvPicPr>
            <a:picLocks noChangeAspect="1"/>
          </p:cNvPicPr>
          <p:nvPr/>
        </p:nvPicPr>
        <p:blipFill rotWithShape="1">
          <a:blip r:embed="rId3"/>
          <a:srcRect l="-125" t="38062" r="400" b="29623"/>
          <a:stretch/>
        </p:blipFill>
        <p:spPr bwMode="auto">
          <a:xfrm>
            <a:off x="306185" y="1525477"/>
            <a:ext cx="11579630" cy="3807046"/>
          </a:xfrm>
          <a:prstGeom prst="rect">
            <a:avLst/>
          </a:prstGeom>
        </p:spPr>
      </p:pic>
      <p:sp>
        <p:nvSpPr>
          <p:cNvPr id="751441017" name="TextBox 4"/>
          <p:cNvSpPr txBox="1"/>
          <p:nvPr/>
        </p:nvSpPr>
        <p:spPr bwMode="auto">
          <a:xfrm>
            <a:off x="997527" y="5627716"/>
            <a:ext cx="9676015" cy="646331"/>
          </a:xfrm>
          <a:prstGeom prst="rect">
            <a:avLst/>
          </a:prstGeom>
          <a:noFill/>
        </p:spPr>
        <p:txBody>
          <a:bodyPr wrap="square" rtlCol="0">
            <a:spAutoFit/>
          </a:bodyPr>
          <a:lstStyle/>
          <a:p>
            <a:pPr>
              <a:defRPr/>
            </a:pPr>
            <a:r>
              <a:rPr lang="en-US"/>
              <a:t>We took all pairs of MAGs with &gt;99% ANI according to </a:t>
            </a:r>
            <a:r>
              <a:rPr lang="en-US"/>
              <a:t>ANIm</a:t>
            </a:r>
            <a:r>
              <a:rPr lang="en-US"/>
              <a:t> from species-level bins from [</a:t>
            </a:r>
            <a:r>
              <a:rPr lang="en-US"/>
              <a:t>Pasolli</a:t>
            </a:r>
            <a:r>
              <a:rPr lang="en-US"/>
              <a:t> et al 2019, Cell] with between 25 and 50 genomes</a:t>
            </a:r>
            <a:endParaRPr/>
          </a:p>
        </p:txBody>
      </p:sp>
      <p:sp>
        <p:nvSpPr>
          <p:cNvPr id="129957544" name="Slide Number Placeholder 5"/>
          <p:cNvSpPr>
            <a:spLocks noGrp="1"/>
          </p:cNvSpPr>
          <p:nvPr>
            <p:ph type="sldNum" sz="quarter" idx="12"/>
          </p:nvPr>
        </p:nvSpPr>
        <p:spPr bwMode="auto"/>
        <p:txBody>
          <a:bodyPr/>
          <a:lstStyle/>
          <a:p>
            <a:pPr>
              <a:defRPr/>
            </a:pPr>
            <a:fld id="{BB5A32E3-29BA-B6D2-1C3C-35DF9B2508E9}"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2166957" name="Title 1"/>
          <p:cNvSpPr>
            <a:spLocks noGrp="1"/>
          </p:cNvSpPr>
          <p:nvPr>
            <p:ph type="title"/>
          </p:nvPr>
        </p:nvSpPr>
        <p:spPr bwMode="auto"/>
        <p:txBody>
          <a:bodyPr/>
          <a:lstStyle/>
          <a:p>
            <a:pPr>
              <a:defRPr/>
            </a:pPr>
            <a:r>
              <a:rPr lang="en-US"/>
              <a:t>Structure of talk</a:t>
            </a:r>
            <a:endParaRPr/>
          </a:p>
        </p:txBody>
      </p:sp>
      <p:sp>
        <p:nvSpPr>
          <p:cNvPr id="2104005316" name="Content Placeholder 2"/>
          <p:cNvSpPr>
            <a:spLocks noGrp="1"/>
          </p:cNvSpPr>
          <p:nvPr>
            <p:ph idx="1"/>
          </p:nvPr>
        </p:nvSpPr>
        <p:spPr bwMode="auto"/>
        <p:txBody>
          <a:bodyPr/>
          <a:lstStyle/>
          <a:p>
            <a:pPr>
              <a:defRPr/>
            </a:pPr>
            <a:r>
              <a:rPr lang="en-US">
                <a:solidFill>
                  <a:schemeClr val="tx1">
                    <a:lumMod val="50000"/>
                    <a:lumOff val="50000"/>
                  </a:schemeClr>
                </a:solidFill>
              </a:rPr>
              <a:t>Background on genomics, alignment, and k-mer sketching</a:t>
            </a:r>
            <a:endParaRPr/>
          </a:p>
          <a:p>
            <a:pPr>
              <a:defRPr/>
            </a:pPr>
            <a:r>
              <a:rPr lang="en-US">
                <a:solidFill>
                  <a:schemeClr val="tx1">
                    <a:lumMod val="50000"/>
                    <a:lumOff val="50000"/>
                  </a:schemeClr>
                </a:solidFill>
              </a:rPr>
              <a:t>Average-case analysis of seed-chain-extend heuristic</a:t>
            </a:r>
            <a:br>
              <a:rPr lang="en-US">
                <a:solidFill>
                  <a:schemeClr val="tx1">
                    <a:lumMod val="50000"/>
                    <a:lumOff val="50000"/>
                  </a:schemeClr>
                </a:solidFill>
              </a:rPr>
            </a:br>
            <a:r>
              <a:rPr lang="en-US">
                <a:solidFill>
                  <a:schemeClr val="tx1">
                    <a:lumMod val="50000"/>
                    <a:lumOff val="50000"/>
                  </a:schemeClr>
                </a:solidFill>
              </a:rPr>
              <a:t>[Shaw &amp; Yu, 2023, RECOMB/Genome Research]</a:t>
            </a:r>
            <a:endParaRPr/>
          </a:p>
          <a:p>
            <a:pPr>
              <a:defRPr/>
            </a:pPr>
            <a:r>
              <a:rPr lang="en-US">
                <a:solidFill>
                  <a:schemeClr val="tx1">
                    <a:lumMod val="50000"/>
                    <a:lumOff val="50000"/>
                  </a:schemeClr>
                </a:solidFill>
              </a:rPr>
              <a:t>Skani: metagenomic sequence comparison through sparse chaining [Shaw &amp; Yu, 2023, Nature Methods]</a:t>
            </a:r>
            <a:endParaRPr/>
          </a:p>
          <a:p>
            <a:pPr>
              <a:defRPr/>
            </a:pPr>
            <a:r>
              <a:rPr lang="en-US"/>
              <a:t>Sylph: Statistical metagenomic profiling</a:t>
            </a:r>
            <a:br>
              <a:rPr lang="en-US"/>
            </a:br>
            <a:r>
              <a:rPr lang="en-US"/>
              <a:t>[Shaw &amp; Yu, 2024, Nature Biotechnology]</a:t>
            </a:r>
            <a:endParaRPr/>
          </a:p>
          <a:p>
            <a:pPr>
              <a:defRPr/>
            </a:pPr>
            <a:r>
              <a:rPr lang="en-US">
                <a:solidFill>
                  <a:schemeClr val="tx1">
                    <a:lumMod val="50000"/>
                    <a:lumOff val="50000"/>
                  </a:schemeClr>
                </a:solidFill>
              </a:rPr>
              <a:t>Acknowledgements</a:t>
            </a:r>
            <a:endParaRPr/>
          </a:p>
        </p:txBody>
      </p:sp>
      <p:sp>
        <p:nvSpPr>
          <p:cNvPr id="1102714334" name="Slide Number Placeholder 5"/>
          <p:cNvSpPr>
            <a:spLocks noGrp="1"/>
          </p:cNvSpPr>
          <p:nvPr>
            <p:ph type="sldNum" sz="quarter" idx="12"/>
          </p:nvPr>
        </p:nvSpPr>
        <p:spPr bwMode="auto"/>
        <p:txBody>
          <a:bodyPr/>
          <a:lstStyle/>
          <a:p>
            <a:pPr>
              <a:defRPr/>
            </a:pPr>
            <a:fld id="{47AA0F4F-3AE3-6FF7-5101-4617730AD59D}"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9963283" name="Title 1"/>
          <p:cNvSpPr>
            <a:spLocks noGrp="1"/>
          </p:cNvSpPr>
          <p:nvPr>
            <p:ph type="title"/>
          </p:nvPr>
        </p:nvSpPr>
        <p:spPr bwMode="auto"/>
        <p:txBody>
          <a:bodyPr/>
          <a:lstStyle/>
          <a:p>
            <a:pPr>
              <a:defRPr/>
            </a:pPr>
            <a:r>
              <a:rPr lang="en-US"/>
              <a:t>Metagenomic profiling</a:t>
            </a:r>
            <a:endParaRPr/>
          </a:p>
        </p:txBody>
      </p:sp>
      <p:grpSp>
        <p:nvGrpSpPr>
          <p:cNvPr id="685860511" name="Group 5"/>
          <p:cNvGrpSpPr/>
          <p:nvPr/>
        </p:nvGrpSpPr>
        <p:grpSpPr bwMode="auto">
          <a:xfrm>
            <a:off x="906086" y="1769748"/>
            <a:ext cx="3807228" cy="3318504"/>
            <a:chOff x="540326" y="1690688"/>
            <a:chExt cx="3807228" cy="3318504"/>
          </a:xfrm>
        </p:grpSpPr>
        <p:pic>
          <p:nvPicPr>
            <p:cNvPr id="4" name="Picture 2"/>
            <p:cNvPicPr>
              <a:picLocks noChangeAspect="1" noChangeArrowheads="1"/>
            </p:cNvPicPr>
            <p:nvPr/>
          </p:nvPicPr>
          <p:blipFill rotWithShape="1">
            <a:blip r:embed="rId3"/>
            <a:srcRect l="22882" t="0" r="43339" b="24718"/>
            <a:stretch/>
          </p:blipFill>
          <p:spPr bwMode="auto">
            <a:xfrm>
              <a:off x="540326" y="1690688"/>
              <a:ext cx="3807228" cy="3318504"/>
            </a:xfrm>
            <a:prstGeom prst="rect">
              <a:avLst/>
            </a:prstGeom>
            <a:noFill/>
          </p:spPr>
        </p:pic>
        <p:sp>
          <p:nvSpPr>
            <p:cNvPr id="5" name="Rectangle 4"/>
            <p:cNvSpPr/>
            <p:nvPr/>
          </p:nvSpPr>
          <p:spPr bwMode="auto">
            <a:xfrm>
              <a:off x="1637607" y="4513810"/>
              <a:ext cx="1238597" cy="2909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cxnSp>
        <p:nvCxnSpPr>
          <p:cNvPr id="1810961158" name="Straight Arrow Connector 7"/>
          <p:cNvCxnSpPr/>
          <p:nvPr/>
        </p:nvCxnSpPr>
        <p:spPr bwMode="auto">
          <a:xfrm>
            <a:off x="5203767" y="3429000"/>
            <a:ext cx="13632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2535524" name="Straight Connector 9"/>
          <p:cNvCxnSpPr/>
          <p:nvPr/>
        </p:nvCxnSpPr>
        <p:spPr bwMode="auto">
          <a:xfrm flipV="1">
            <a:off x="7888778" y="4738340"/>
            <a:ext cx="2793077" cy="5"/>
          </a:xfrm>
          <a:prstGeom prst="line">
            <a:avLst/>
          </a:prstGeom>
          <a:ln w="28575"/>
        </p:spPr>
        <p:style>
          <a:lnRef idx="1">
            <a:schemeClr val="dk1"/>
          </a:lnRef>
          <a:fillRef idx="0">
            <a:schemeClr val="dk1"/>
          </a:fillRef>
          <a:effectRef idx="0">
            <a:schemeClr val="dk1"/>
          </a:effectRef>
          <a:fontRef idx="minor">
            <a:schemeClr val="tx1"/>
          </a:fontRef>
        </p:style>
      </p:cxnSp>
      <p:sp>
        <p:nvSpPr>
          <p:cNvPr id="58932208" name="Rectangle 10"/>
          <p:cNvSpPr/>
          <p:nvPr/>
        </p:nvSpPr>
        <p:spPr bwMode="auto">
          <a:xfrm>
            <a:off x="8412480" y="3429002"/>
            <a:ext cx="271548" cy="1309340"/>
          </a:xfrm>
          <a:prstGeom prst="rect">
            <a:avLst/>
          </a:prstGeom>
          <a:solidFill>
            <a:srgbClr val="D6E9D5"/>
          </a:solidFill>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US"/>
          </a:p>
        </p:txBody>
      </p:sp>
      <p:sp>
        <p:nvSpPr>
          <p:cNvPr id="347018422" name="Rectangle 11"/>
          <p:cNvSpPr/>
          <p:nvPr/>
        </p:nvSpPr>
        <p:spPr bwMode="auto">
          <a:xfrm>
            <a:off x="8897388" y="3873732"/>
            <a:ext cx="271549" cy="864609"/>
          </a:xfrm>
          <a:prstGeom prst="rect">
            <a:avLst/>
          </a:prstGeom>
          <a:solidFill>
            <a:srgbClr val="FFE6CC"/>
          </a:solidFill>
        </p:spPr>
        <p:style>
          <a:lnRef idx="2">
            <a:schemeClr val="accent2"/>
          </a:lnRef>
          <a:fillRef idx="1">
            <a:schemeClr val="lt1"/>
          </a:fillRef>
          <a:effectRef idx="0">
            <a:schemeClr val="accent2"/>
          </a:effectRef>
          <a:fontRef idx="minor">
            <a:schemeClr val="dk1"/>
          </a:fontRef>
        </p:style>
        <p:txBody>
          <a:bodyPr rtlCol="0" anchor="ctr"/>
          <a:lstStyle/>
          <a:p>
            <a:pPr algn="ctr">
              <a:defRPr/>
            </a:pPr>
            <a:endParaRPr lang="en-US"/>
          </a:p>
        </p:txBody>
      </p:sp>
      <p:sp>
        <p:nvSpPr>
          <p:cNvPr id="1618939422" name="Rectangle 12"/>
          <p:cNvSpPr/>
          <p:nvPr/>
        </p:nvSpPr>
        <p:spPr bwMode="auto">
          <a:xfrm>
            <a:off x="9382297" y="2119659"/>
            <a:ext cx="271549" cy="2618681"/>
          </a:xfrm>
          <a:prstGeom prst="rect">
            <a:avLst/>
          </a:prstGeom>
          <a:solidFill>
            <a:srgbClr val="F8CECC"/>
          </a:solidFill>
          <a:ln>
            <a:solidFill>
              <a:srgbClr val="C77876"/>
            </a:solidFill>
          </a:ln>
        </p:spPr>
        <p:style>
          <a:lnRef idx="2">
            <a:schemeClr val="accent2"/>
          </a:lnRef>
          <a:fillRef idx="1">
            <a:schemeClr val="lt1"/>
          </a:fillRef>
          <a:effectRef idx="0">
            <a:schemeClr val="accent2"/>
          </a:effectRef>
          <a:fontRef idx="minor">
            <a:schemeClr val="dk1"/>
          </a:fontRef>
        </p:style>
        <p:txBody>
          <a:bodyPr rtlCol="0" anchor="ctr"/>
          <a:lstStyle/>
          <a:p>
            <a:pPr algn="ctr">
              <a:defRPr/>
            </a:pPr>
            <a:endParaRPr lang="en-US"/>
          </a:p>
        </p:txBody>
      </p:sp>
      <p:sp>
        <p:nvSpPr>
          <p:cNvPr id="1840889487" name="Rectangle 13"/>
          <p:cNvSpPr/>
          <p:nvPr/>
        </p:nvSpPr>
        <p:spPr bwMode="auto">
          <a:xfrm>
            <a:off x="9872745" y="3732423"/>
            <a:ext cx="271549" cy="1005917"/>
          </a:xfrm>
          <a:prstGeom prst="rect">
            <a:avLst/>
          </a:prstGeom>
          <a:solidFill>
            <a:srgbClr val="E1D4E7"/>
          </a:solidFill>
          <a:ln>
            <a:solidFill>
              <a:srgbClr val="A788B4"/>
            </a:solidFill>
          </a:ln>
        </p:spPr>
        <p:style>
          <a:lnRef idx="2">
            <a:schemeClr val="accent2"/>
          </a:lnRef>
          <a:fillRef idx="1">
            <a:schemeClr val="lt1"/>
          </a:fillRef>
          <a:effectRef idx="0">
            <a:schemeClr val="accent2"/>
          </a:effectRef>
          <a:fontRef idx="minor">
            <a:schemeClr val="dk1"/>
          </a:fontRef>
        </p:style>
        <p:txBody>
          <a:bodyPr rtlCol="0" anchor="ctr"/>
          <a:lstStyle/>
          <a:p>
            <a:pPr algn="ctr">
              <a:defRPr/>
            </a:pPr>
            <a:endParaRPr lang="en-US"/>
          </a:p>
        </p:txBody>
      </p:sp>
      <p:cxnSp>
        <p:nvCxnSpPr>
          <p:cNvPr id="80839291" name="Straight Connector 15"/>
          <p:cNvCxnSpPr/>
          <p:nvPr/>
        </p:nvCxnSpPr>
        <p:spPr bwMode="auto">
          <a:xfrm>
            <a:off x="7874919" y="1978431"/>
            <a:ext cx="13859" cy="2759908"/>
          </a:xfrm>
          <a:prstGeom prst="line">
            <a:avLst/>
          </a:prstGeom>
          <a:ln w="28575"/>
        </p:spPr>
        <p:style>
          <a:lnRef idx="1">
            <a:schemeClr val="dk1"/>
          </a:lnRef>
          <a:fillRef idx="0">
            <a:schemeClr val="dk1"/>
          </a:fillRef>
          <a:effectRef idx="0">
            <a:schemeClr val="dk1"/>
          </a:effectRef>
          <a:fontRef idx="minor">
            <a:schemeClr val="tx1"/>
          </a:fontRef>
        </p:style>
      </p:cxnSp>
      <p:sp>
        <p:nvSpPr>
          <p:cNvPr id="1940952487" name="TextBox 18"/>
          <p:cNvSpPr txBox="1"/>
          <p:nvPr/>
        </p:nvSpPr>
        <p:spPr bwMode="auto">
          <a:xfrm>
            <a:off x="8448348" y="4876366"/>
            <a:ext cx="1740285" cy="369332"/>
          </a:xfrm>
          <a:prstGeom prst="rect">
            <a:avLst/>
          </a:prstGeom>
          <a:noFill/>
        </p:spPr>
        <p:txBody>
          <a:bodyPr wrap="none" rtlCol="0">
            <a:spAutoFit/>
          </a:bodyPr>
          <a:lstStyle/>
          <a:p>
            <a:pPr>
              <a:defRPr/>
            </a:pPr>
            <a:r>
              <a:rPr lang="en-US"/>
              <a:t>Bacterial species</a:t>
            </a:r>
            <a:endParaRPr/>
          </a:p>
        </p:txBody>
      </p:sp>
      <p:sp>
        <p:nvSpPr>
          <p:cNvPr id="1167230159" name="TextBox 19"/>
          <p:cNvSpPr txBox="1"/>
          <p:nvPr/>
        </p:nvSpPr>
        <p:spPr bwMode="auto">
          <a:xfrm rot="16199999">
            <a:off x="6552902" y="3244333"/>
            <a:ext cx="2026132" cy="369332"/>
          </a:xfrm>
          <a:prstGeom prst="rect">
            <a:avLst/>
          </a:prstGeom>
          <a:noFill/>
        </p:spPr>
        <p:txBody>
          <a:bodyPr wrap="none" rtlCol="0">
            <a:spAutoFit/>
          </a:bodyPr>
          <a:lstStyle/>
          <a:p>
            <a:pPr>
              <a:defRPr/>
            </a:pPr>
            <a:r>
              <a:rPr lang="en-US"/>
              <a:t>Relative abundance</a:t>
            </a:r>
            <a:endParaRPr/>
          </a:p>
        </p:txBody>
      </p:sp>
      <p:sp>
        <p:nvSpPr>
          <p:cNvPr id="1828795777" name="Slide Number Placeholder 5"/>
          <p:cNvSpPr>
            <a:spLocks noGrp="1"/>
          </p:cNvSpPr>
          <p:nvPr>
            <p:ph type="sldNum" sz="quarter" idx="12"/>
          </p:nvPr>
        </p:nvSpPr>
        <p:spPr bwMode="auto"/>
        <p:txBody>
          <a:bodyPr/>
          <a:lstStyle/>
          <a:p>
            <a:pPr>
              <a:defRPr/>
            </a:pPr>
            <a:fld id="{1C971ACB-C733-F0B6-B307-55EA38CC5A6E}"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919005" name="Title 1"/>
          <p:cNvSpPr>
            <a:spLocks noGrp="1"/>
          </p:cNvSpPr>
          <p:nvPr>
            <p:ph type="title"/>
          </p:nvPr>
        </p:nvSpPr>
        <p:spPr bwMode="auto">
          <a:xfrm>
            <a:off x="550465" y="-6829"/>
            <a:ext cx="10515600" cy="1115244"/>
          </a:xfrm>
        </p:spPr>
        <p:txBody>
          <a:bodyPr>
            <a:normAutofit/>
          </a:bodyPr>
          <a:lstStyle/>
          <a:p>
            <a:pPr>
              <a:defRPr/>
            </a:pPr>
            <a:r>
              <a:rPr lang="en-CA" sz="4000"/>
              <a:t>Metagenomic profiling via sequencing</a:t>
            </a:r>
            <a:endParaRPr/>
          </a:p>
        </p:txBody>
      </p:sp>
      <p:sp>
        <p:nvSpPr>
          <p:cNvPr id="305493197" name="Oval 3"/>
          <p:cNvSpPr/>
          <p:nvPr/>
        </p:nvSpPr>
        <p:spPr bwMode="auto">
          <a:xfrm>
            <a:off x="2779246" y="2786972"/>
            <a:ext cx="972416" cy="667667"/>
          </a:xfrm>
          <a:prstGeom prst="ellipse">
            <a:avLst/>
          </a:prstGeom>
          <a:solidFill>
            <a:schemeClr val="accent5"/>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defRPr/>
            </a:pPr>
            <a:endParaRPr lang="en-CA" sz="1350"/>
          </a:p>
        </p:txBody>
      </p:sp>
      <p:sp>
        <p:nvSpPr>
          <p:cNvPr id="1456360114" name="Circle: Hollow 4"/>
          <p:cNvSpPr/>
          <p:nvPr/>
        </p:nvSpPr>
        <p:spPr bwMode="auto">
          <a:xfrm>
            <a:off x="2939807" y="2991407"/>
            <a:ext cx="325646" cy="258795"/>
          </a:xfrm>
          <a:prstGeom prst="donut">
            <a:avLst>
              <a:gd name="adj" fmla="val 10489"/>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chemeClr val="tx1"/>
              </a:solidFill>
            </a:endParaRPr>
          </a:p>
        </p:txBody>
      </p:sp>
      <p:sp>
        <p:nvSpPr>
          <p:cNvPr id="1020976625" name="Rectangle 7"/>
          <p:cNvSpPr/>
          <p:nvPr/>
        </p:nvSpPr>
        <p:spPr bwMode="auto">
          <a:xfrm>
            <a:off x="4784789" y="2832575"/>
            <a:ext cx="2234046" cy="909257"/>
          </a:xfrm>
          <a:prstGeom prst="rect">
            <a:avLst/>
          </a:prstGeom>
          <a:solidFill>
            <a:schemeClr val="bg1">
              <a:lumMod val="9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CA" sz="2100" b="1">
                <a:solidFill>
                  <a:schemeClr val="tx1"/>
                </a:solidFill>
              </a:rPr>
              <a:t>Sequencing </a:t>
            </a:r>
            <a:endParaRPr/>
          </a:p>
        </p:txBody>
      </p:sp>
      <p:cxnSp>
        <p:nvCxnSpPr>
          <p:cNvPr id="1943024184" name="Straight Arrow Connector 9"/>
          <p:cNvCxnSpPr>
            <a:endCxn id="1020976625" idx="1"/>
          </p:cNvCxnSpPr>
          <p:nvPr/>
        </p:nvCxnSpPr>
        <p:spPr bwMode="auto">
          <a:xfrm>
            <a:off x="4126335" y="3287201"/>
            <a:ext cx="658455" cy="2"/>
          </a:xfrm>
          <a:prstGeom prst="straightConnector1">
            <a:avLst/>
          </a:prstGeom>
          <a:ln>
            <a:tailEnd type="triangle" w="lg" len="lg"/>
          </a:ln>
        </p:spPr>
        <p:style>
          <a:lnRef idx="1">
            <a:schemeClr val="dk1"/>
          </a:lnRef>
          <a:fillRef idx="0">
            <a:schemeClr val="dk1"/>
          </a:fillRef>
          <a:effectRef idx="0">
            <a:schemeClr val="dk1"/>
          </a:effectRef>
          <a:fontRef idx="minor">
            <a:schemeClr val="tx1"/>
          </a:fontRef>
        </p:style>
      </p:cxnSp>
      <p:cxnSp>
        <p:nvCxnSpPr>
          <p:cNvPr id="25868544" name="Straight Arrow Connector 10"/>
          <p:cNvCxnSpPr/>
          <p:nvPr/>
        </p:nvCxnSpPr>
        <p:spPr bwMode="auto">
          <a:xfrm flipV="1">
            <a:off x="7018836" y="3287203"/>
            <a:ext cx="612163" cy="1"/>
          </a:xfrm>
          <a:prstGeom prst="straightConnector1">
            <a:avLst/>
          </a:prstGeom>
          <a:ln>
            <a:tailEnd type="triangle" w="lg" len="lg"/>
          </a:ln>
        </p:spPr>
        <p:style>
          <a:lnRef idx="1">
            <a:schemeClr val="dk1"/>
          </a:lnRef>
          <a:fillRef idx="0">
            <a:schemeClr val="dk1"/>
          </a:fillRef>
          <a:effectRef idx="0">
            <a:schemeClr val="dk1"/>
          </a:effectRef>
          <a:fontRef idx="minor">
            <a:schemeClr val="tx1"/>
          </a:fontRef>
        </p:style>
      </p:cxnSp>
      <p:sp>
        <p:nvSpPr>
          <p:cNvPr id="2143591975" name="TextBox 28"/>
          <p:cNvSpPr txBox="1"/>
          <p:nvPr/>
        </p:nvSpPr>
        <p:spPr bwMode="auto">
          <a:xfrm>
            <a:off x="2489727" y="1882780"/>
            <a:ext cx="1668287" cy="923330"/>
          </a:xfrm>
          <a:prstGeom prst="rect">
            <a:avLst/>
          </a:prstGeom>
          <a:noFill/>
        </p:spPr>
        <p:txBody>
          <a:bodyPr wrap="square" rtlCol="0">
            <a:spAutoFit/>
          </a:bodyPr>
          <a:lstStyle/>
          <a:p>
            <a:pPr algn="ctr">
              <a:defRPr/>
            </a:pPr>
            <a:r>
              <a:rPr lang="en-CA"/>
              <a:t>Microbiome (metagenome) samples</a:t>
            </a:r>
            <a:endParaRPr/>
          </a:p>
        </p:txBody>
      </p:sp>
      <p:sp>
        <p:nvSpPr>
          <p:cNvPr id="586793147" name="TextBox 100"/>
          <p:cNvSpPr txBox="1"/>
          <p:nvPr/>
        </p:nvSpPr>
        <p:spPr bwMode="auto">
          <a:xfrm>
            <a:off x="7607171" y="2100683"/>
            <a:ext cx="2338445" cy="646331"/>
          </a:xfrm>
          <a:prstGeom prst="rect">
            <a:avLst/>
          </a:prstGeom>
          <a:noFill/>
        </p:spPr>
        <p:txBody>
          <a:bodyPr wrap="square" rtlCol="0">
            <a:spAutoFit/>
          </a:bodyPr>
          <a:lstStyle/>
          <a:p>
            <a:pPr algn="ctr">
              <a:defRPr/>
            </a:pPr>
            <a:r>
              <a:rPr lang="en-CA"/>
              <a:t>Fragmented DNA in hard drive (</a:t>
            </a:r>
            <a:r>
              <a:rPr lang="en-CA" b="1"/>
              <a:t>reads</a:t>
            </a:r>
            <a:r>
              <a:rPr lang="en-CA"/>
              <a:t>)</a:t>
            </a:r>
            <a:endParaRPr/>
          </a:p>
        </p:txBody>
      </p:sp>
      <p:sp>
        <p:nvSpPr>
          <p:cNvPr id="1865351449" name="TextBox 13"/>
          <p:cNvSpPr txBox="1"/>
          <p:nvPr/>
        </p:nvSpPr>
        <p:spPr bwMode="auto">
          <a:xfrm>
            <a:off x="4584832" y="2158268"/>
            <a:ext cx="2627900" cy="646331"/>
          </a:xfrm>
          <a:prstGeom prst="rect">
            <a:avLst/>
          </a:prstGeom>
          <a:noFill/>
        </p:spPr>
        <p:txBody>
          <a:bodyPr wrap="square" rtlCol="0">
            <a:spAutoFit/>
          </a:bodyPr>
          <a:lstStyle/>
          <a:p>
            <a:pPr algn="ctr">
              <a:defRPr/>
            </a:pPr>
            <a:r>
              <a:rPr lang="en-CA"/>
              <a:t>Randomly</a:t>
            </a:r>
            <a:r>
              <a:rPr lang="en-CA" b="1"/>
              <a:t> </a:t>
            </a:r>
            <a:r>
              <a:rPr lang="en-CA"/>
              <a:t>sample substrings of DNA</a:t>
            </a:r>
            <a:endParaRPr lang="en-CA" b="1"/>
          </a:p>
        </p:txBody>
      </p:sp>
      <p:sp>
        <p:nvSpPr>
          <p:cNvPr id="603908568" name="Oval 5"/>
          <p:cNvSpPr/>
          <p:nvPr/>
        </p:nvSpPr>
        <p:spPr bwMode="auto">
          <a:xfrm>
            <a:off x="2583994" y="3499107"/>
            <a:ext cx="547043" cy="513848"/>
          </a:xfrm>
          <a:prstGeom prst="ellipse">
            <a:avLst/>
          </a:prstGeom>
          <a:solidFill>
            <a:schemeClr val="accent2">
              <a:lumMod val="40000"/>
              <a:lumOff val="6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defRPr/>
            </a:pPr>
            <a:endParaRPr lang="en-CA" sz="1350"/>
          </a:p>
        </p:txBody>
      </p:sp>
      <p:sp>
        <p:nvSpPr>
          <p:cNvPr id="1581795805" name="Circle: Hollow 6"/>
          <p:cNvSpPr/>
          <p:nvPr/>
        </p:nvSpPr>
        <p:spPr bwMode="auto">
          <a:xfrm>
            <a:off x="2744553" y="3703542"/>
            <a:ext cx="200860" cy="139452"/>
          </a:xfrm>
          <a:prstGeom prst="donut">
            <a:avLst>
              <a:gd name="adj" fmla="val 10489"/>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chemeClr val="tx1"/>
              </a:solidFill>
            </a:endParaRPr>
          </a:p>
        </p:txBody>
      </p:sp>
      <p:sp>
        <p:nvSpPr>
          <p:cNvPr id="987290750" name="Oval 8"/>
          <p:cNvSpPr/>
          <p:nvPr/>
        </p:nvSpPr>
        <p:spPr bwMode="auto">
          <a:xfrm>
            <a:off x="2977974" y="3593269"/>
            <a:ext cx="547043" cy="513848"/>
          </a:xfrm>
          <a:prstGeom prst="ellipse">
            <a:avLst/>
          </a:prstGeom>
          <a:solidFill>
            <a:schemeClr val="accent2">
              <a:lumMod val="40000"/>
              <a:lumOff val="6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defRPr/>
            </a:pPr>
            <a:endParaRPr lang="en-CA" sz="1350"/>
          </a:p>
        </p:txBody>
      </p:sp>
      <p:sp>
        <p:nvSpPr>
          <p:cNvPr id="1408726825" name="Circle: Hollow 11"/>
          <p:cNvSpPr/>
          <p:nvPr/>
        </p:nvSpPr>
        <p:spPr bwMode="auto">
          <a:xfrm>
            <a:off x="3138534" y="3797705"/>
            <a:ext cx="200860" cy="139452"/>
          </a:xfrm>
          <a:prstGeom prst="donut">
            <a:avLst>
              <a:gd name="adj" fmla="val 10489"/>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chemeClr val="tx1"/>
              </a:solidFill>
            </a:endParaRPr>
          </a:p>
        </p:txBody>
      </p:sp>
      <p:sp>
        <p:nvSpPr>
          <p:cNvPr id="1871266152" name="Oval 29"/>
          <p:cNvSpPr/>
          <p:nvPr/>
        </p:nvSpPr>
        <p:spPr bwMode="auto">
          <a:xfrm>
            <a:off x="2299658" y="3152246"/>
            <a:ext cx="432256" cy="302393"/>
          </a:xfrm>
          <a:prstGeom prst="ellipse">
            <a:avLst/>
          </a:prstGeom>
          <a:solidFill>
            <a:schemeClr val="bg2">
              <a:lumMod val="9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defRPr/>
            </a:pPr>
            <a:endParaRPr lang="en-CA" sz="1350"/>
          </a:p>
        </p:txBody>
      </p:sp>
      <p:sp>
        <p:nvSpPr>
          <p:cNvPr id="1597438870" name="Circle: Hollow 30"/>
          <p:cNvSpPr/>
          <p:nvPr/>
        </p:nvSpPr>
        <p:spPr bwMode="auto">
          <a:xfrm>
            <a:off x="2500517" y="3303442"/>
            <a:ext cx="144755" cy="117211"/>
          </a:xfrm>
          <a:prstGeom prst="donut">
            <a:avLst>
              <a:gd name="adj" fmla="val 10489"/>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chemeClr val="tx1"/>
              </a:solidFill>
            </a:endParaRPr>
          </a:p>
        </p:txBody>
      </p:sp>
      <p:sp>
        <p:nvSpPr>
          <p:cNvPr id="2032105117" name="Oval 31"/>
          <p:cNvSpPr/>
          <p:nvPr/>
        </p:nvSpPr>
        <p:spPr bwMode="auto">
          <a:xfrm>
            <a:off x="3573363" y="3432143"/>
            <a:ext cx="432256" cy="302393"/>
          </a:xfrm>
          <a:prstGeom prst="ellipse">
            <a:avLst/>
          </a:prstGeom>
          <a:solidFill>
            <a:schemeClr val="bg2">
              <a:lumMod val="9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defRPr/>
            </a:pPr>
            <a:endParaRPr lang="en-CA" sz="1350"/>
          </a:p>
        </p:txBody>
      </p:sp>
      <p:sp>
        <p:nvSpPr>
          <p:cNvPr id="136054" name="Circle: Hollow 32"/>
          <p:cNvSpPr/>
          <p:nvPr/>
        </p:nvSpPr>
        <p:spPr bwMode="auto">
          <a:xfrm>
            <a:off x="3774221" y="3583339"/>
            <a:ext cx="144755" cy="117211"/>
          </a:xfrm>
          <a:prstGeom prst="donut">
            <a:avLst>
              <a:gd name="adj" fmla="val 10489"/>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chemeClr val="tx1"/>
              </a:solidFill>
            </a:endParaRPr>
          </a:p>
        </p:txBody>
      </p:sp>
      <p:sp>
        <p:nvSpPr>
          <p:cNvPr id="72907405" name="Oval 40"/>
          <p:cNvSpPr/>
          <p:nvPr/>
        </p:nvSpPr>
        <p:spPr bwMode="auto">
          <a:xfrm>
            <a:off x="2075473" y="3557428"/>
            <a:ext cx="432256" cy="302393"/>
          </a:xfrm>
          <a:prstGeom prst="ellipse">
            <a:avLst/>
          </a:prstGeom>
          <a:solidFill>
            <a:schemeClr val="bg2">
              <a:lumMod val="9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defRPr/>
            </a:pPr>
            <a:endParaRPr lang="en-CA" sz="1350"/>
          </a:p>
        </p:txBody>
      </p:sp>
      <p:sp>
        <p:nvSpPr>
          <p:cNvPr id="716409401" name="Circle: Hollow 41"/>
          <p:cNvSpPr/>
          <p:nvPr/>
        </p:nvSpPr>
        <p:spPr bwMode="auto">
          <a:xfrm>
            <a:off x="2276332" y="3708624"/>
            <a:ext cx="144755" cy="117211"/>
          </a:xfrm>
          <a:prstGeom prst="donut">
            <a:avLst>
              <a:gd name="adj" fmla="val 10489"/>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chemeClr val="tx1"/>
              </a:solidFill>
            </a:endParaRPr>
          </a:p>
        </p:txBody>
      </p:sp>
      <p:sp>
        <p:nvSpPr>
          <p:cNvPr id="677513125" name="Oval 42"/>
          <p:cNvSpPr/>
          <p:nvPr/>
        </p:nvSpPr>
        <p:spPr bwMode="auto">
          <a:xfrm>
            <a:off x="2268276" y="2781515"/>
            <a:ext cx="432256" cy="302393"/>
          </a:xfrm>
          <a:prstGeom prst="ellipse">
            <a:avLst/>
          </a:prstGeom>
          <a:solidFill>
            <a:schemeClr val="bg2">
              <a:lumMod val="9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defRPr/>
            </a:pPr>
            <a:endParaRPr lang="en-CA" sz="1350"/>
          </a:p>
        </p:txBody>
      </p:sp>
      <p:sp>
        <p:nvSpPr>
          <p:cNvPr id="81718646" name="Circle: Hollow 43"/>
          <p:cNvSpPr/>
          <p:nvPr/>
        </p:nvSpPr>
        <p:spPr bwMode="auto">
          <a:xfrm>
            <a:off x="2469135" y="2932711"/>
            <a:ext cx="144755" cy="117211"/>
          </a:xfrm>
          <a:prstGeom prst="donut">
            <a:avLst>
              <a:gd name="adj" fmla="val 10489"/>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chemeClr val="tx1"/>
              </a:solidFill>
            </a:endParaRPr>
          </a:p>
        </p:txBody>
      </p:sp>
      <p:cxnSp>
        <p:nvCxnSpPr>
          <p:cNvPr id="375265729" name="Straight Arrow Connector 19"/>
          <p:cNvCxnSpPr/>
          <p:nvPr/>
        </p:nvCxnSpPr>
        <p:spPr bwMode="auto">
          <a:xfrm>
            <a:off x="8832946" y="3708623"/>
            <a:ext cx="0" cy="608393"/>
          </a:xfrm>
          <a:prstGeom prst="straightConnector1">
            <a:avLst/>
          </a:prstGeom>
          <a:ln>
            <a:tailEnd type="triangle" w="lg" len="lg"/>
          </a:ln>
        </p:spPr>
        <p:style>
          <a:lnRef idx="1">
            <a:schemeClr val="dk1"/>
          </a:lnRef>
          <a:fillRef idx="0">
            <a:schemeClr val="dk1"/>
          </a:fillRef>
          <a:effectRef idx="0">
            <a:schemeClr val="dk1"/>
          </a:effectRef>
          <a:fontRef idx="minor">
            <a:schemeClr val="tx1"/>
          </a:fontRef>
        </p:style>
      </p:cxnSp>
      <p:sp>
        <p:nvSpPr>
          <p:cNvPr id="535103683" name="Rectangle 14"/>
          <p:cNvSpPr/>
          <p:nvPr/>
        </p:nvSpPr>
        <p:spPr bwMode="auto">
          <a:xfrm>
            <a:off x="7825225" y="28823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923603848" name="Rectangle 15"/>
          <p:cNvSpPr/>
          <p:nvPr/>
        </p:nvSpPr>
        <p:spPr bwMode="auto">
          <a:xfrm>
            <a:off x="7939525" y="29966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146480987" name="Rectangle 16"/>
          <p:cNvSpPr/>
          <p:nvPr/>
        </p:nvSpPr>
        <p:spPr bwMode="auto">
          <a:xfrm>
            <a:off x="8053825" y="31109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343398190" name="Rectangle 17"/>
          <p:cNvSpPr/>
          <p:nvPr/>
        </p:nvSpPr>
        <p:spPr bwMode="auto">
          <a:xfrm>
            <a:off x="8168125" y="32252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737942046" name="Rectangle 18"/>
          <p:cNvSpPr/>
          <p:nvPr/>
        </p:nvSpPr>
        <p:spPr bwMode="auto">
          <a:xfrm>
            <a:off x="8282424" y="33395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712215179" name="Rectangle 20"/>
          <p:cNvSpPr/>
          <p:nvPr/>
        </p:nvSpPr>
        <p:spPr bwMode="auto">
          <a:xfrm>
            <a:off x="8396725" y="34538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202065765" name="Rectangle 21"/>
          <p:cNvSpPr/>
          <p:nvPr/>
        </p:nvSpPr>
        <p:spPr bwMode="auto">
          <a:xfrm>
            <a:off x="8511025" y="35681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648298946" name="Rectangle 22"/>
          <p:cNvSpPr/>
          <p:nvPr/>
        </p:nvSpPr>
        <p:spPr bwMode="auto">
          <a:xfrm>
            <a:off x="8301042" y="2883539"/>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513169879" name="Rectangle 23"/>
          <p:cNvSpPr/>
          <p:nvPr/>
        </p:nvSpPr>
        <p:spPr bwMode="auto">
          <a:xfrm>
            <a:off x="8415342" y="2997839"/>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279112065" name="Rectangle 25"/>
          <p:cNvSpPr/>
          <p:nvPr/>
        </p:nvSpPr>
        <p:spPr bwMode="auto">
          <a:xfrm>
            <a:off x="8529642" y="3112139"/>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215465546" name="Rectangle 26"/>
          <p:cNvSpPr/>
          <p:nvPr/>
        </p:nvSpPr>
        <p:spPr bwMode="auto">
          <a:xfrm>
            <a:off x="8643942" y="3226439"/>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2126077262" name="Rectangle 27"/>
          <p:cNvSpPr/>
          <p:nvPr/>
        </p:nvSpPr>
        <p:spPr bwMode="auto">
          <a:xfrm>
            <a:off x="8758242" y="3340739"/>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rgbClr val="FF0000"/>
              </a:solidFill>
            </a:endParaRPr>
          </a:p>
        </p:txBody>
      </p:sp>
      <p:sp>
        <p:nvSpPr>
          <p:cNvPr id="1878577269" name="Rectangle 48"/>
          <p:cNvSpPr/>
          <p:nvPr/>
        </p:nvSpPr>
        <p:spPr bwMode="auto">
          <a:xfrm>
            <a:off x="8872542" y="3455039"/>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rgbClr val="FF0000"/>
              </a:solidFill>
            </a:endParaRPr>
          </a:p>
        </p:txBody>
      </p:sp>
      <p:sp>
        <p:nvSpPr>
          <p:cNvPr id="1064108836" name="Rectangle 49"/>
          <p:cNvSpPr/>
          <p:nvPr/>
        </p:nvSpPr>
        <p:spPr bwMode="auto">
          <a:xfrm>
            <a:off x="8986842" y="3569339"/>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rgbClr val="FF0000"/>
              </a:solidFill>
            </a:endParaRPr>
          </a:p>
        </p:txBody>
      </p:sp>
      <p:sp>
        <p:nvSpPr>
          <p:cNvPr id="1798745832" name="Rectangle 50"/>
          <p:cNvSpPr/>
          <p:nvPr/>
        </p:nvSpPr>
        <p:spPr bwMode="auto">
          <a:xfrm>
            <a:off x="8748717" y="28823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067516282" name="Rectangle 51"/>
          <p:cNvSpPr/>
          <p:nvPr/>
        </p:nvSpPr>
        <p:spPr bwMode="auto">
          <a:xfrm>
            <a:off x="8863017" y="29966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674992859" name="Rectangle 52"/>
          <p:cNvSpPr/>
          <p:nvPr/>
        </p:nvSpPr>
        <p:spPr bwMode="auto">
          <a:xfrm>
            <a:off x="8977317" y="31109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955251808" name="Rectangle 53"/>
          <p:cNvSpPr/>
          <p:nvPr/>
        </p:nvSpPr>
        <p:spPr bwMode="auto">
          <a:xfrm>
            <a:off x="9091617" y="32252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981593410" name="Rectangle 54"/>
          <p:cNvSpPr/>
          <p:nvPr/>
        </p:nvSpPr>
        <p:spPr bwMode="auto">
          <a:xfrm>
            <a:off x="9205917" y="33395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rgbClr val="FF0000"/>
              </a:solidFill>
            </a:endParaRPr>
          </a:p>
        </p:txBody>
      </p:sp>
      <p:sp>
        <p:nvSpPr>
          <p:cNvPr id="2010510623" name="Rectangle 55"/>
          <p:cNvSpPr/>
          <p:nvPr/>
        </p:nvSpPr>
        <p:spPr bwMode="auto">
          <a:xfrm>
            <a:off x="9320217" y="34538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rgbClr val="FF0000"/>
              </a:solidFill>
            </a:endParaRPr>
          </a:p>
        </p:txBody>
      </p:sp>
      <p:sp>
        <p:nvSpPr>
          <p:cNvPr id="1696522533" name="Rectangle 56"/>
          <p:cNvSpPr/>
          <p:nvPr/>
        </p:nvSpPr>
        <p:spPr bwMode="auto">
          <a:xfrm>
            <a:off x="9434517" y="3568154"/>
            <a:ext cx="333375" cy="34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solidFill>
                <a:srgbClr val="FF0000"/>
              </a:solidFill>
            </a:endParaRPr>
          </a:p>
        </p:txBody>
      </p:sp>
      <p:sp>
        <p:nvSpPr>
          <p:cNvPr id="1401625840" name="Rectangle 57"/>
          <p:cNvSpPr/>
          <p:nvPr/>
        </p:nvSpPr>
        <p:spPr bwMode="auto">
          <a:xfrm>
            <a:off x="7685204" y="2809713"/>
            <a:ext cx="2238521" cy="8812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CA" sz="1350"/>
          </a:p>
        </p:txBody>
      </p:sp>
      <p:sp>
        <p:nvSpPr>
          <p:cNvPr id="1200798272" name="TextBox 58"/>
          <p:cNvSpPr txBox="1"/>
          <p:nvPr/>
        </p:nvSpPr>
        <p:spPr bwMode="auto">
          <a:xfrm>
            <a:off x="7524428" y="4449138"/>
            <a:ext cx="2617037" cy="1061829"/>
          </a:xfrm>
          <a:prstGeom prst="rect">
            <a:avLst/>
          </a:prstGeom>
          <a:noFill/>
        </p:spPr>
        <p:txBody>
          <a:bodyPr wrap="square" rtlCol="0">
            <a:spAutoFit/>
          </a:bodyPr>
          <a:lstStyle/>
          <a:p>
            <a:pPr>
              <a:defRPr/>
            </a:pPr>
            <a:r>
              <a:rPr lang="en-CA" sz="2100"/>
              <a:t>What’s in my sample?</a:t>
            </a:r>
            <a:endParaRPr/>
          </a:p>
          <a:p>
            <a:pPr>
              <a:defRPr/>
            </a:pPr>
            <a:r>
              <a:rPr lang="en-CA" sz="2100"/>
              <a:t>(easier than mapping or assembly)</a:t>
            </a:r>
            <a:endParaRPr/>
          </a:p>
        </p:txBody>
      </p:sp>
      <p:sp>
        <p:nvSpPr>
          <p:cNvPr id="1994157653" name="TextBox 2"/>
          <p:cNvSpPr txBox="1"/>
          <p:nvPr/>
        </p:nvSpPr>
        <p:spPr bwMode="auto">
          <a:xfrm>
            <a:off x="4779233" y="6475437"/>
            <a:ext cx="2058064" cy="369332"/>
          </a:xfrm>
          <a:prstGeom prst="rect">
            <a:avLst/>
          </a:prstGeom>
          <a:noFill/>
        </p:spPr>
        <p:txBody>
          <a:bodyPr wrap="none" rtlCol="0">
            <a:spAutoFit/>
          </a:bodyPr>
          <a:lstStyle/>
          <a:p>
            <a:pPr>
              <a:defRPr/>
            </a:pPr>
            <a:r>
              <a:rPr lang="en-US"/>
              <a:t>Slide from Jim Shaw</a:t>
            </a:r>
            <a:endParaRPr/>
          </a:p>
        </p:txBody>
      </p:sp>
      <p:sp>
        <p:nvSpPr>
          <p:cNvPr id="1045274830" name="Slide Number Placeholder 5"/>
          <p:cNvSpPr>
            <a:spLocks noGrp="1"/>
          </p:cNvSpPr>
          <p:nvPr>
            <p:ph type="sldNum" sz="quarter" idx="12"/>
          </p:nvPr>
        </p:nvSpPr>
        <p:spPr bwMode="auto"/>
        <p:txBody>
          <a:bodyPr/>
          <a:lstStyle/>
          <a:p>
            <a:pPr>
              <a:defRPr/>
            </a:pPr>
            <a:fld id="{A51125BC-AC19-DDD5-E4FB-EEC431C4D646}"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8822914" name="Title 1"/>
          <p:cNvSpPr>
            <a:spLocks noGrp="1"/>
          </p:cNvSpPr>
          <p:nvPr>
            <p:ph type="title"/>
          </p:nvPr>
        </p:nvSpPr>
        <p:spPr bwMode="auto">
          <a:xfrm>
            <a:off x="119266" y="98302"/>
            <a:ext cx="9016409" cy="565334"/>
          </a:xfrm>
        </p:spPr>
        <p:txBody>
          <a:bodyPr>
            <a:normAutofit fontScale="90000"/>
          </a:bodyPr>
          <a:lstStyle/>
          <a:p>
            <a:pPr>
              <a:defRPr/>
            </a:pPr>
            <a:r>
              <a:rPr lang="en-US"/>
              <a:t>Standard approach – read binning</a:t>
            </a:r>
            <a:endParaRPr/>
          </a:p>
        </p:txBody>
      </p:sp>
      <p:sp>
        <p:nvSpPr>
          <p:cNvPr id="1137361614" name="TextBox 10"/>
          <p:cNvSpPr txBox="1"/>
          <p:nvPr/>
        </p:nvSpPr>
        <p:spPr bwMode="auto">
          <a:xfrm>
            <a:off x="415548" y="1941093"/>
            <a:ext cx="2337819" cy="369332"/>
          </a:xfrm>
          <a:prstGeom prst="rect">
            <a:avLst/>
          </a:prstGeom>
          <a:noFill/>
        </p:spPr>
        <p:txBody>
          <a:bodyPr wrap="none" rtlCol="0">
            <a:spAutoFit/>
          </a:bodyPr>
          <a:lstStyle/>
          <a:p>
            <a:pPr>
              <a:spcAft>
                <a:spcPts val="1650"/>
              </a:spcAft>
              <a:defRPr/>
            </a:pPr>
            <a:r>
              <a:rPr lang="en-US">
                <a:solidFill>
                  <a:srgbClr val="990000"/>
                </a:solidFill>
                <a:latin typeface="+mj-lt"/>
              </a:rPr>
              <a:t>Environmental samples</a:t>
            </a:r>
            <a:endParaRPr/>
          </a:p>
        </p:txBody>
      </p:sp>
      <p:grpSp>
        <p:nvGrpSpPr>
          <p:cNvPr id="1627355737" name="Group 11"/>
          <p:cNvGrpSpPr/>
          <p:nvPr/>
        </p:nvGrpSpPr>
        <p:grpSpPr bwMode="auto">
          <a:xfrm>
            <a:off x="899435" y="916885"/>
            <a:ext cx="917614" cy="917614"/>
            <a:chOff x="2402270" y="1428605"/>
            <a:chExt cx="4339461" cy="4339461"/>
          </a:xfrm>
        </p:grpSpPr>
        <p:pic>
          <p:nvPicPr>
            <p:cNvPr id="13" name="wb7.png"/>
            <p:cNvPicPr/>
            <p:nvPr/>
          </p:nvPicPr>
          <p:blipFill rotWithShape="1">
            <a:blip r:embed="rId3"/>
            <a:stretch/>
          </p:blipFill>
          <p:spPr bwMode="auto">
            <a:xfrm>
              <a:off x="2402270" y="1428605"/>
              <a:ext cx="4339461" cy="4339461"/>
            </a:xfrm>
            <a:prstGeom prst="rect">
              <a:avLst/>
            </a:prstGeom>
            <a:ln w="12700">
              <a:miter lim="400000"/>
            </a:ln>
          </p:spPr>
        </p:pic>
        <p:pic>
          <p:nvPicPr>
            <p:cNvPr id="14" name="Straw-4oz.jpg"/>
            <p:cNvPicPr/>
            <p:nvPr/>
          </p:nvPicPr>
          <p:blipFill rotWithShape="1">
            <a:blip r:embed="rId4"/>
            <a:stretch/>
          </p:blipFill>
          <p:spPr bwMode="auto">
            <a:xfrm>
              <a:off x="3278519" y="2271084"/>
              <a:ext cx="2623376" cy="2654629"/>
            </a:xfrm>
            <a:prstGeom prst="rect">
              <a:avLst/>
            </a:prstGeom>
            <a:ln w="12700">
              <a:miter lim="400000"/>
            </a:ln>
          </p:spPr>
        </p:pic>
      </p:grpSp>
      <p:sp>
        <p:nvSpPr>
          <p:cNvPr id="419042375" name="TextBox 14"/>
          <p:cNvSpPr txBox="1"/>
          <p:nvPr/>
        </p:nvSpPr>
        <p:spPr bwMode="auto">
          <a:xfrm>
            <a:off x="3614174" y="2185156"/>
            <a:ext cx="3986669" cy="369332"/>
          </a:xfrm>
          <a:prstGeom prst="rect">
            <a:avLst/>
          </a:prstGeom>
          <a:noFill/>
        </p:spPr>
        <p:txBody>
          <a:bodyPr wrap="none" rtlCol="0">
            <a:spAutoFit/>
          </a:bodyPr>
          <a:lstStyle/>
          <a:p>
            <a:pPr>
              <a:spcAft>
                <a:spcPts val="1650"/>
              </a:spcAft>
              <a:defRPr/>
            </a:pPr>
            <a:r>
              <a:rPr lang="en-US">
                <a:solidFill>
                  <a:srgbClr val="990000"/>
                </a:solidFill>
                <a:latin typeface="+mj-lt"/>
              </a:rPr>
              <a:t>Many different bacterial source genomes</a:t>
            </a:r>
            <a:endParaRPr/>
          </a:p>
        </p:txBody>
      </p:sp>
      <p:cxnSp>
        <p:nvCxnSpPr>
          <p:cNvPr id="1380123621" name="Straight Connector 15"/>
          <p:cNvCxnSpPr/>
          <p:nvPr/>
        </p:nvCxnSpPr>
        <p:spPr bwMode="auto">
          <a:xfrm>
            <a:off x="2435505"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76577112" name="Straight Connector 16"/>
          <p:cNvCxnSpPr/>
          <p:nvPr/>
        </p:nvCxnSpPr>
        <p:spPr bwMode="auto">
          <a:xfrm>
            <a:off x="2587905"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12332307" name="Straight Connector 17"/>
          <p:cNvCxnSpPr/>
          <p:nvPr/>
        </p:nvCxnSpPr>
        <p:spPr bwMode="auto">
          <a:xfrm>
            <a:off x="2740305"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352194799" name="Straight Connector 18"/>
          <p:cNvCxnSpPr/>
          <p:nvPr/>
        </p:nvCxnSpPr>
        <p:spPr bwMode="auto">
          <a:xfrm>
            <a:off x="2892705"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00638357" name="Straight Connector 19"/>
          <p:cNvCxnSpPr/>
          <p:nvPr/>
        </p:nvCxnSpPr>
        <p:spPr bwMode="auto">
          <a:xfrm>
            <a:off x="3045105"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61277537" name="Straight Connector 20"/>
          <p:cNvCxnSpPr/>
          <p:nvPr/>
        </p:nvCxnSpPr>
        <p:spPr bwMode="auto">
          <a:xfrm>
            <a:off x="3197505"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98689494" name="Straight Connector 21"/>
          <p:cNvCxnSpPr/>
          <p:nvPr/>
        </p:nvCxnSpPr>
        <p:spPr bwMode="auto">
          <a:xfrm>
            <a:off x="3349905"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56402105" name="Straight Connector 22"/>
          <p:cNvCxnSpPr/>
          <p:nvPr/>
        </p:nvCxnSpPr>
        <p:spPr bwMode="auto">
          <a:xfrm>
            <a:off x="2951071"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615956982" name="Straight Connector 23"/>
          <p:cNvCxnSpPr/>
          <p:nvPr/>
        </p:nvCxnSpPr>
        <p:spPr bwMode="auto">
          <a:xfrm>
            <a:off x="3103471"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45257667" name="Straight Connector 24"/>
          <p:cNvCxnSpPr/>
          <p:nvPr/>
        </p:nvCxnSpPr>
        <p:spPr bwMode="auto">
          <a:xfrm>
            <a:off x="3255870"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209541953" name="Straight Connector 25"/>
          <p:cNvCxnSpPr/>
          <p:nvPr/>
        </p:nvCxnSpPr>
        <p:spPr bwMode="auto">
          <a:xfrm>
            <a:off x="3408271"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816769369" name="Straight Connector 26"/>
          <p:cNvCxnSpPr/>
          <p:nvPr/>
        </p:nvCxnSpPr>
        <p:spPr bwMode="auto">
          <a:xfrm>
            <a:off x="3560671"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41791768" name="Straight Connector 27"/>
          <p:cNvCxnSpPr/>
          <p:nvPr/>
        </p:nvCxnSpPr>
        <p:spPr bwMode="auto">
          <a:xfrm>
            <a:off x="3713071"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42813025" name="Straight Connector 28"/>
          <p:cNvCxnSpPr/>
          <p:nvPr/>
        </p:nvCxnSpPr>
        <p:spPr bwMode="auto">
          <a:xfrm>
            <a:off x="3865471"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14066343" name="Straight Connector 29"/>
          <p:cNvCxnSpPr/>
          <p:nvPr/>
        </p:nvCxnSpPr>
        <p:spPr bwMode="auto">
          <a:xfrm>
            <a:off x="3466637"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130744425" name="Straight Connector 30"/>
          <p:cNvCxnSpPr/>
          <p:nvPr/>
        </p:nvCxnSpPr>
        <p:spPr bwMode="auto">
          <a:xfrm>
            <a:off x="3619037"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09248471" name="Straight Connector 31"/>
          <p:cNvCxnSpPr/>
          <p:nvPr/>
        </p:nvCxnSpPr>
        <p:spPr bwMode="auto">
          <a:xfrm>
            <a:off x="3771437"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282156251" name="Straight Connector 32"/>
          <p:cNvCxnSpPr/>
          <p:nvPr/>
        </p:nvCxnSpPr>
        <p:spPr bwMode="auto">
          <a:xfrm>
            <a:off x="3923837"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19869964" name="Straight Connector 33"/>
          <p:cNvCxnSpPr/>
          <p:nvPr/>
        </p:nvCxnSpPr>
        <p:spPr bwMode="auto">
          <a:xfrm>
            <a:off x="4076237"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079428423" name="Straight Connector 34"/>
          <p:cNvCxnSpPr/>
          <p:nvPr/>
        </p:nvCxnSpPr>
        <p:spPr bwMode="auto">
          <a:xfrm>
            <a:off x="4228637"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31727720" name="Straight Connector 35"/>
          <p:cNvCxnSpPr/>
          <p:nvPr/>
        </p:nvCxnSpPr>
        <p:spPr bwMode="auto">
          <a:xfrm>
            <a:off x="4381037"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3666262" name="Straight Connector 36"/>
          <p:cNvCxnSpPr/>
          <p:nvPr/>
        </p:nvCxnSpPr>
        <p:spPr bwMode="auto">
          <a:xfrm>
            <a:off x="3982203"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78573122" name="Straight Connector 37"/>
          <p:cNvCxnSpPr/>
          <p:nvPr/>
        </p:nvCxnSpPr>
        <p:spPr bwMode="auto">
          <a:xfrm>
            <a:off x="4134603"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749967859" name="Straight Connector 38"/>
          <p:cNvCxnSpPr/>
          <p:nvPr/>
        </p:nvCxnSpPr>
        <p:spPr bwMode="auto">
          <a:xfrm>
            <a:off x="4287003"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75586577" name="Straight Connector 39"/>
          <p:cNvCxnSpPr/>
          <p:nvPr/>
        </p:nvCxnSpPr>
        <p:spPr bwMode="auto">
          <a:xfrm>
            <a:off x="4439403"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08401666" name="Straight Connector 40"/>
          <p:cNvCxnSpPr/>
          <p:nvPr/>
        </p:nvCxnSpPr>
        <p:spPr bwMode="auto">
          <a:xfrm>
            <a:off x="4591803"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826659871" name="Straight Connector 41"/>
          <p:cNvCxnSpPr/>
          <p:nvPr/>
        </p:nvCxnSpPr>
        <p:spPr bwMode="auto">
          <a:xfrm>
            <a:off x="4744202"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52565010" name="Straight Connector 42"/>
          <p:cNvCxnSpPr/>
          <p:nvPr/>
        </p:nvCxnSpPr>
        <p:spPr bwMode="auto">
          <a:xfrm>
            <a:off x="4896603"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07244923" name="Straight Connector 43"/>
          <p:cNvCxnSpPr/>
          <p:nvPr/>
        </p:nvCxnSpPr>
        <p:spPr bwMode="auto">
          <a:xfrm>
            <a:off x="4497769"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821232361" name="Straight Connector 44"/>
          <p:cNvCxnSpPr/>
          <p:nvPr/>
        </p:nvCxnSpPr>
        <p:spPr bwMode="auto">
          <a:xfrm>
            <a:off x="4650169"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53699868" name="Straight Connector 45"/>
          <p:cNvCxnSpPr/>
          <p:nvPr/>
        </p:nvCxnSpPr>
        <p:spPr bwMode="auto">
          <a:xfrm>
            <a:off x="4802568"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29758133" name="Straight Connector 46"/>
          <p:cNvCxnSpPr/>
          <p:nvPr/>
        </p:nvCxnSpPr>
        <p:spPr bwMode="auto">
          <a:xfrm>
            <a:off x="5107369"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95396904" name="Straight Connector 47"/>
          <p:cNvCxnSpPr/>
          <p:nvPr/>
        </p:nvCxnSpPr>
        <p:spPr bwMode="auto">
          <a:xfrm>
            <a:off x="5259769"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018954051" name="Straight Connector 48"/>
          <p:cNvCxnSpPr/>
          <p:nvPr/>
        </p:nvCxnSpPr>
        <p:spPr bwMode="auto">
          <a:xfrm>
            <a:off x="5412169"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68030436" name="Straight Connector 49"/>
          <p:cNvCxnSpPr/>
          <p:nvPr/>
        </p:nvCxnSpPr>
        <p:spPr bwMode="auto">
          <a:xfrm>
            <a:off x="5013335"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138492820" name="Straight Connector 50"/>
          <p:cNvCxnSpPr/>
          <p:nvPr/>
        </p:nvCxnSpPr>
        <p:spPr bwMode="auto">
          <a:xfrm>
            <a:off x="5165735"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07193792" name="Straight Connector 51"/>
          <p:cNvCxnSpPr/>
          <p:nvPr/>
        </p:nvCxnSpPr>
        <p:spPr bwMode="auto">
          <a:xfrm>
            <a:off x="5318135"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9562864" name="Straight Connector 52"/>
          <p:cNvCxnSpPr/>
          <p:nvPr/>
        </p:nvCxnSpPr>
        <p:spPr bwMode="auto">
          <a:xfrm>
            <a:off x="5470535"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73267947" name="Straight Connector 53"/>
          <p:cNvCxnSpPr/>
          <p:nvPr/>
        </p:nvCxnSpPr>
        <p:spPr bwMode="auto">
          <a:xfrm>
            <a:off x="5622935"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69830415" name="Straight Connector 54"/>
          <p:cNvCxnSpPr/>
          <p:nvPr/>
        </p:nvCxnSpPr>
        <p:spPr bwMode="auto">
          <a:xfrm>
            <a:off x="5775335"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16209096" name="Straight Connector 55"/>
          <p:cNvCxnSpPr/>
          <p:nvPr/>
        </p:nvCxnSpPr>
        <p:spPr bwMode="auto">
          <a:xfrm>
            <a:off x="5927735"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93120902" name="Straight Connector 56"/>
          <p:cNvCxnSpPr/>
          <p:nvPr/>
        </p:nvCxnSpPr>
        <p:spPr bwMode="auto">
          <a:xfrm>
            <a:off x="5528901"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18603287" name="Straight Connector 57"/>
          <p:cNvCxnSpPr/>
          <p:nvPr/>
        </p:nvCxnSpPr>
        <p:spPr bwMode="auto">
          <a:xfrm>
            <a:off x="5681301"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08623641" name="Straight Connector 58"/>
          <p:cNvCxnSpPr/>
          <p:nvPr/>
        </p:nvCxnSpPr>
        <p:spPr bwMode="auto">
          <a:xfrm>
            <a:off x="5833701"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392640410" name="Straight Connector 59"/>
          <p:cNvCxnSpPr/>
          <p:nvPr/>
        </p:nvCxnSpPr>
        <p:spPr bwMode="auto">
          <a:xfrm>
            <a:off x="5986101"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22073771" name="Straight Connector 60"/>
          <p:cNvCxnSpPr/>
          <p:nvPr/>
        </p:nvCxnSpPr>
        <p:spPr bwMode="auto">
          <a:xfrm>
            <a:off x="6138501"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15531767" name="Straight Connector 61"/>
          <p:cNvCxnSpPr/>
          <p:nvPr/>
        </p:nvCxnSpPr>
        <p:spPr bwMode="auto">
          <a:xfrm>
            <a:off x="6290901"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84432628" name="Straight Connector 62"/>
          <p:cNvCxnSpPr/>
          <p:nvPr/>
        </p:nvCxnSpPr>
        <p:spPr bwMode="auto">
          <a:xfrm>
            <a:off x="6443301"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80740062" name="Straight Connector 63"/>
          <p:cNvCxnSpPr/>
          <p:nvPr/>
        </p:nvCxnSpPr>
        <p:spPr bwMode="auto">
          <a:xfrm>
            <a:off x="6044467"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17509805" name="Straight Connector 64"/>
          <p:cNvCxnSpPr/>
          <p:nvPr/>
        </p:nvCxnSpPr>
        <p:spPr bwMode="auto">
          <a:xfrm>
            <a:off x="6196867"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23489616" name="Straight Connector 65"/>
          <p:cNvCxnSpPr/>
          <p:nvPr/>
        </p:nvCxnSpPr>
        <p:spPr bwMode="auto">
          <a:xfrm>
            <a:off x="6349267"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75954139" name="Straight Connector 66"/>
          <p:cNvCxnSpPr/>
          <p:nvPr/>
        </p:nvCxnSpPr>
        <p:spPr bwMode="auto">
          <a:xfrm>
            <a:off x="6501667"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29888002" name="Straight Connector 67"/>
          <p:cNvCxnSpPr/>
          <p:nvPr/>
        </p:nvCxnSpPr>
        <p:spPr bwMode="auto">
          <a:xfrm>
            <a:off x="6654067"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0829867" name="Straight Connector 68"/>
          <p:cNvCxnSpPr/>
          <p:nvPr/>
        </p:nvCxnSpPr>
        <p:spPr bwMode="auto">
          <a:xfrm>
            <a:off x="6806467"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50806616" name="Straight Connector 69"/>
          <p:cNvCxnSpPr/>
          <p:nvPr/>
        </p:nvCxnSpPr>
        <p:spPr bwMode="auto">
          <a:xfrm>
            <a:off x="6958867"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202484537" name="Straight Connector 70"/>
          <p:cNvCxnSpPr/>
          <p:nvPr/>
        </p:nvCxnSpPr>
        <p:spPr bwMode="auto">
          <a:xfrm>
            <a:off x="6560033"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58209749" name="Straight Connector 71"/>
          <p:cNvCxnSpPr/>
          <p:nvPr/>
        </p:nvCxnSpPr>
        <p:spPr bwMode="auto">
          <a:xfrm>
            <a:off x="6712433"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40050895" name="Straight Connector 72"/>
          <p:cNvCxnSpPr/>
          <p:nvPr/>
        </p:nvCxnSpPr>
        <p:spPr bwMode="auto">
          <a:xfrm>
            <a:off x="6864833"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0555080" name="Straight Connector 73"/>
          <p:cNvCxnSpPr/>
          <p:nvPr/>
        </p:nvCxnSpPr>
        <p:spPr bwMode="auto">
          <a:xfrm>
            <a:off x="7017233"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647717348" name="Straight Connector 74"/>
          <p:cNvCxnSpPr/>
          <p:nvPr/>
        </p:nvCxnSpPr>
        <p:spPr bwMode="auto">
          <a:xfrm>
            <a:off x="7169633"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526725503" name="Straight Connector 75"/>
          <p:cNvCxnSpPr/>
          <p:nvPr/>
        </p:nvCxnSpPr>
        <p:spPr bwMode="auto">
          <a:xfrm>
            <a:off x="7322033"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2036092619" name="Straight Connector 76"/>
          <p:cNvCxnSpPr/>
          <p:nvPr/>
        </p:nvCxnSpPr>
        <p:spPr bwMode="auto">
          <a:xfrm>
            <a:off x="7474433"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496319986" name="Straight Connector 77"/>
          <p:cNvCxnSpPr/>
          <p:nvPr/>
        </p:nvCxnSpPr>
        <p:spPr bwMode="auto">
          <a:xfrm>
            <a:off x="7075599" y="3152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265633201" name="Straight Connector 78"/>
          <p:cNvCxnSpPr/>
          <p:nvPr/>
        </p:nvCxnSpPr>
        <p:spPr bwMode="auto">
          <a:xfrm>
            <a:off x="7227999" y="33047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311440089" name="Straight Connector 79"/>
          <p:cNvCxnSpPr/>
          <p:nvPr/>
        </p:nvCxnSpPr>
        <p:spPr bwMode="auto">
          <a:xfrm>
            <a:off x="7380399" y="34571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979395402" name="Straight Connector 80"/>
          <p:cNvCxnSpPr/>
          <p:nvPr/>
        </p:nvCxnSpPr>
        <p:spPr bwMode="auto">
          <a:xfrm>
            <a:off x="7532799" y="36095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415044124" name="Straight Connector 81"/>
          <p:cNvCxnSpPr/>
          <p:nvPr/>
        </p:nvCxnSpPr>
        <p:spPr bwMode="auto">
          <a:xfrm>
            <a:off x="7685198" y="37619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02977539" name="Straight Connector 82"/>
          <p:cNvCxnSpPr/>
          <p:nvPr/>
        </p:nvCxnSpPr>
        <p:spPr bwMode="auto">
          <a:xfrm>
            <a:off x="7837599" y="3914339"/>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164729574" name="Straight Connector 83"/>
          <p:cNvCxnSpPr/>
          <p:nvPr/>
        </p:nvCxnSpPr>
        <p:spPr bwMode="auto">
          <a:xfrm>
            <a:off x="7989999" y="4066738"/>
            <a:ext cx="340468" cy="0"/>
          </a:xfrm>
          <a:prstGeom prst="line">
            <a:avLst/>
          </a:prstGeom>
        </p:spPr>
        <p:style>
          <a:lnRef idx="3">
            <a:schemeClr val="dk1"/>
          </a:lnRef>
          <a:fillRef idx="0">
            <a:schemeClr val="dk1"/>
          </a:fillRef>
          <a:effectRef idx="2">
            <a:schemeClr val="dk1"/>
          </a:effectRef>
          <a:fontRef idx="minor">
            <a:schemeClr val="tx1"/>
          </a:fontRef>
        </p:style>
      </p:cxnSp>
      <p:cxnSp>
        <p:nvCxnSpPr>
          <p:cNvPr id="1781076993" name="Straight Connector 84"/>
          <p:cNvCxnSpPr/>
          <p:nvPr/>
        </p:nvCxnSpPr>
        <p:spPr bwMode="auto">
          <a:xfrm>
            <a:off x="4970125" y="3609539"/>
            <a:ext cx="340468" cy="0"/>
          </a:xfrm>
          <a:prstGeom prst="line">
            <a:avLst/>
          </a:prstGeom>
        </p:spPr>
        <p:style>
          <a:lnRef idx="3">
            <a:schemeClr val="dk1"/>
          </a:lnRef>
          <a:fillRef idx="0">
            <a:schemeClr val="dk1"/>
          </a:fillRef>
          <a:effectRef idx="2">
            <a:schemeClr val="dk1"/>
          </a:effectRef>
          <a:fontRef idx="minor">
            <a:schemeClr val="tx1"/>
          </a:fontRef>
        </p:style>
      </p:cxnSp>
      <p:sp>
        <p:nvSpPr>
          <p:cNvPr id="2023146537" name="TextBox 85"/>
          <p:cNvSpPr txBox="1"/>
          <p:nvPr/>
        </p:nvSpPr>
        <p:spPr bwMode="auto">
          <a:xfrm>
            <a:off x="3299883" y="4210122"/>
            <a:ext cx="4429033" cy="369332"/>
          </a:xfrm>
          <a:prstGeom prst="rect">
            <a:avLst/>
          </a:prstGeom>
          <a:noFill/>
        </p:spPr>
        <p:txBody>
          <a:bodyPr wrap="none" rtlCol="0">
            <a:spAutoFit/>
          </a:bodyPr>
          <a:lstStyle/>
          <a:p>
            <a:pPr>
              <a:spcAft>
                <a:spcPts val="1650"/>
              </a:spcAft>
              <a:defRPr/>
            </a:pPr>
            <a:r>
              <a:rPr lang="en-US">
                <a:solidFill>
                  <a:srgbClr val="990000"/>
                </a:solidFill>
                <a:latin typeface="+mj-lt"/>
              </a:rPr>
              <a:t>Read sequences from many different species. </a:t>
            </a:r>
            <a:endParaRPr/>
          </a:p>
        </p:txBody>
      </p:sp>
      <p:cxnSp>
        <p:nvCxnSpPr>
          <p:cNvPr id="1296738075" name="Straight Arrow Connector 88"/>
          <p:cNvCxnSpPr/>
          <p:nvPr/>
        </p:nvCxnSpPr>
        <p:spPr bwMode="auto">
          <a:xfrm>
            <a:off x="2108007" y="1472885"/>
            <a:ext cx="1183532"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54899504" name="Straight Arrow Connector 89"/>
          <p:cNvCxnSpPr/>
          <p:nvPr/>
        </p:nvCxnSpPr>
        <p:spPr bwMode="auto">
          <a:xfrm>
            <a:off x="5143037" y="2642615"/>
            <a:ext cx="0" cy="31517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467746942" name="Oval 2"/>
          <p:cNvSpPr/>
          <p:nvPr/>
        </p:nvSpPr>
        <p:spPr bwMode="auto">
          <a:xfrm>
            <a:off x="3673366" y="943712"/>
            <a:ext cx="781396" cy="738522"/>
          </a:xfrm>
          <a:prstGeom prst="ellipse">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00727839" name="Oval 3"/>
          <p:cNvSpPr/>
          <p:nvPr/>
        </p:nvSpPr>
        <p:spPr bwMode="auto">
          <a:xfrm>
            <a:off x="4200980" y="1763567"/>
            <a:ext cx="687186" cy="460021"/>
          </a:xfrm>
          <a:prstGeom prst="ellipse">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96632284" name="Oval 86"/>
          <p:cNvSpPr/>
          <p:nvPr/>
        </p:nvSpPr>
        <p:spPr bwMode="auto">
          <a:xfrm>
            <a:off x="4604773" y="918931"/>
            <a:ext cx="687186" cy="460021"/>
          </a:xfrm>
          <a:prstGeom prst="ellipse">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55101523" name="Oval 87"/>
          <p:cNvSpPr/>
          <p:nvPr/>
        </p:nvSpPr>
        <p:spPr bwMode="auto">
          <a:xfrm>
            <a:off x="5433356" y="619124"/>
            <a:ext cx="579121" cy="738522"/>
          </a:xfrm>
          <a:prstGeom prst="ellipse">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63491654" name="Oval 92"/>
          <p:cNvSpPr/>
          <p:nvPr/>
        </p:nvSpPr>
        <p:spPr bwMode="auto">
          <a:xfrm>
            <a:off x="5152818" y="1462398"/>
            <a:ext cx="579121" cy="738522"/>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50633506" name="Oval 93"/>
          <p:cNvSpPr/>
          <p:nvPr/>
        </p:nvSpPr>
        <p:spPr bwMode="auto">
          <a:xfrm>
            <a:off x="5884078" y="1518396"/>
            <a:ext cx="989747" cy="738522"/>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47841079" name="Oval 94"/>
          <p:cNvSpPr/>
          <p:nvPr/>
        </p:nvSpPr>
        <p:spPr bwMode="auto">
          <a:xfrm>
            <a:off x="6268203" y="723444"/>
            <a:ext cx="989747" cy="738522"/>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67914401" name="TextBox 1"/>
          <p:cNvSpPr txBox="1">
            <a:spLocks noChangeArrowheads="1"/>
          </p:cNvSpPr>
          <p:nvPr/>
        </p:nvSpPr>
        <p:spPr bwMode="auto">
          <a:xfrm>
            <a:off x="3595877" y="4875236"/>
            <a:ext cx="4088209" cy="881780"/>
          </a:xfrm>
          <a:prstGeom prst="rect">
            <a:avLst/>
          </a:prstGeom>
          <a:noFill/>
          <a:ln w="9525">
            <a:noFill/>
            <a:miter lim="800000"/>
            <a:headEnd/>
            <a:tailEnd/>
          </a:ln>
        </p:spPr>
        <p:txBody>
          <a:bodyPr wrap="square">
            <a:spAutoFit/>
          </a:bodyPr>
          <a:lstStyle/>
          <a:p>
            <a:pPr>
              <a:lnSpc>
                <a:spcPct val="95000"/>
              </a:lnSpc>
              <a:defRPr/>
            </a:pPr>
            <a:r>
              <a:rPr lang="en-US">
                <a:solidFill>
                  <a:srgbClr val="990000"/>
                </a:solidFill>
                <a:latin typeface="Calibri"/>
                <a:ea typeface="ＭＳ Ｐゴシック"/>
                <a:cs typeface="Calibri"/>
              </a:rPr>
              <a:t>Strategy: </a:t>
            </a:r>
            <a:r>
              <a:rPr lang="en-US"/>
              <a:t>Assign each read from a sample to a species, and then count the reads.</a:t>
            </a:r>
            <a:endParaRPr/>
          </a:p>
          <a:p>
            <a:pPr>
              <a:lnSpc>
                <a:spcPct val="95000"/>
              </a:lnSpc>
              <a:defRPr/>
            </a:pPr>
            <a:endParaRPr lang="en-US">
              <a:solidFill>
                <a:srgbClr val="595959"/>
              </a:solidFill>
              <a:latin typeface="Calibri"/>
              <a:ea typeface="ＭＳ Ｐゴシック"/>
              <a:cs typeface="Calibri"/>
            </a:endParaRPr>
          </a:p>
        </p:txBody>
      </p:sp>
      <p:grpSp>
        <p:nvGrpSpPr>
          <p:cNvPr id="440807882" name="Group 161"/>
          <p:cNvGrpSpPr/>
          <p:nvPr/>
        </p:nvGrpSpPr>
        <p:grpSpPr bwMode="auto">
          <a:xfrm>
            <a:off x="8025667" y="698499"/>
            <a:ext cx="3480533" cy="2837657"/>
            <a:chOff x="8025667" y="698499"/>
            <a:chExt cx="3480533" cy="2837657"/>
          </a:xfrm>
        </p:grpSpPr>
        <p:cxnSp>
          <p:nvCxnSpPr>
            <p:cNvPr id="137" name="Straight Arrow Connector 136"/>
            <p:cNvCxnSpPr/>
            <p:nvPr/>
          </p:nvCxnSpPr>
          <p:spPr bwMode="auto">
            <a:xfrm flipV="1">
              <a:off x="8025667" y="2705301"/>
              <a:ext cx="1161196" cy="830855"/>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39" name="Straight Connector 138"/>
            <p:cNvCxnSpPr/>
            <p:nvPr/>
          </p:nvCxnSpPr>
          <p:spPr bwMode="auto">
            <a:xfrm>
              <a:off x="9575800" y="698499"/>
              <a:ext cx="0" cy="1826355"/>
            </a:xfrm>
            <a:prstGeom prst="line">
              <a:avLst/>
            </a:prstGeom>
            <a:ln w="28575"/>
          </p:spPr>
          <p:style>
            <a:lnRef idx="1">
              <a:schemeClr val="dk1"/>
            </a:lnRef>
            <a:fillRef idx="0">
              <a:schemeClr val="dk1"/>
            </a:fillRef>
            <a:effectRef idx="0">
              <a:schemeClr val="dk1"/>
            </a:effectRef>
            <a:fontRef idx="minor">
              <a:schemeClr val="tx1"/>
            </a:fontRef>
          </p:style>
        </p:cxnSp>
        <p:cxnSp>
          <p:nvCxnSpPr>
            <p:cNvPr id="140" name="Straight Connector 139"/>
            <p:cNvCxnSpPr/>
            <p:nvPr/>
          </p:nvCxnSpPr>
          <p:spPr bwMode="auto">
            <a:xfrm flipH="1">
              <a:off x="9563100" y="2524854"/>
              <a:ext cx="1943100" cy="0"/>
            </a:xfrm>
            <a:prstGeom prst="line">
              <a:avLst/>
            </a:prstGeom>
            <a:ln w="28575"/>
          </p:spPr>
          <p:style>
            <a:lnRef idx="1">
              <a:schemeClr val="dk1"/>
            </a:lnRef>
            <a:fillRef idx="0">
              <a:schemeClr val="dk1"/>
            </a:fillRef>
            <a:effectRef idx="0">
              <a:schemeClr val="dk1"/>
            </a:effectRef>
            <a:fontRef idx="minor">
              <a:schemeClr val="tx1"/>
            </a:fontRef>
          </p:style>
        </p:cxnSp>
        <p:sp>
          <p:nvSpPr>
            <p:cNvPr id="143" name="TextBox 142"/>
            <p:cNvSpPr txBox="1"/>
            <p:nvPr/>
          </p:nvSpPr>
          <p:spPr bwMode="auto">
            <a:xfrm>
              <a:off x="10066867" y="2542803"/>
              <a:ext cx="883575" cy="369332"/>
            </a:xfrm>
            <a:prstGeom prst="rect">
              <a:avLst/>
            </a:prstGeom>
            <a:noFill/>
          </p:spPr>
          <p:txBody>
            <a:bodyPr wrap="none" rtlCol="0">
              <a:spAutoFit/>
            </a:bodyPr>
            <a:lstStyle/>
            <a:p>
              <a:pPr>
                <a:defRPr/>
              </a:pPr>
              <a:r>
                <a:rPr lang="en-US"/>
                <a:t>Species</a:t>
              </a:r>
              <a:endParaRPr/>
            </a:p>
          </p:txBody>
        </p:sp>
        <p:sp>
          <p:nvSpPr>
            <p:cNvPr id="144" name="TextBox 143"/>
            <p:cNvSpPr txBox="1"/>
            <p:nvPr/>
          </p:nvSpPr>
          <p:spPr bwMode="auto">
            <a:xfrm rot="16199999">
              <a:off x="8758769" y="1459468"/>
              <a:ext cx="1250663" cy="369332"/>
            </a:xfrm>
            <a:prstGeom prst="rect">
              <a:avLst/>
            </a:prstGeom>
            <a:noFill/>
          </p:spPr>
          <p:txBody>
            <a:bodyPr wrap="none" rtlCol="0">
              <a:spAutoFit/>
            </a:bodyPr>
            <a:lstStyle/>
            <a:p>
              <a:pPr>
                <a:defRPr/>
              </a:pPr>
              <a:r>
                <a:rPr lang="en-US"/>
                <a:t>Abundance</a:t>
              </a:r>
              <a:endParaRPr/>
            </a:p>
          </p:txBody>
        </p:sp>
        <p:cxnSp>
          <p:nvCxnSpPr>
            <p:cNvPr id="145" name="Straight Connector 144"/>
            <p:cNvCxnSpPr/>
            <p:nvPr/>
          </p:nvCxnSpPr>
          <p:spPr bwMode="auto">
            <a:xfrm>
              <a:off x="9880600" y="2243667"/>
              <a:ext cx="0" cy="276954"/>
            </a:xfrm>
            <a:prstGeom prst="line">
              <a:avLst/>
            </a:prstGeom>
            <a:ln w="76200">
              <a:solidFill>
                <a:schemeClr val="accent6"/>
              </a:solidFill>
            </a:ln>
          </p:spPr>
          <p:style>
            <a:lnRef idx="1">
              <a:schemeClr val="dk1"/>
            </a:lnRef>
            <a:fillRef idx="0">
              <a:schemeClr val="dk1"/>
            </a:fillRef>
            <a:effectRef idx="0">
              <a:schemeClr val="dk1"/>
            </a:effectRef>
            <a:fontRef idx="minor">
              <a:schemeClr val="tx1"/>
            </a:fontRef>
          </p:style>
        </p:cxnSp>
        <p:cxnSp>
          <p:nvCxnSpPr>
            <p:cNvPr id="147" name="Straight Connector 146"/>
            <p:cNvCxnSpPr/>
            <p:nvPr/>
          </p:nvCxnSpPr>
          <p:spPr bwMode="auto">
            <a:xfrm>
              <a:off x="10033000" y="1472885"/>
              <a:ext cx="0" cy="1040026"/>
            </a:xfrm>
            <a:prstGeom prst="line">
              <a:avLst/>
            </a:prstGeom>
            <a:ln w="76200">
              <a:solidFill>
                <a:schemeClr val="accent5"/>
              </a:solidFill>
            </a:ln>
          </p:spPr>
          <p:style>
            <a:lnRef idx="1">
              <a:schemeClr val="dk1"/>
            </a:lnRef>
            <a:fillRef idx="0">
              <a:schemeClr val="dk1"/>
            </a:fillRef>
            <a:effectRef idx="0">
              <a:schemeClr val="dk1"/>
            </a:effectRef>
            <a:fontRef idx="minor">
              <a:schemeClr val="tx1"/>
            </a:fontRef>
          </p:style>
        </p:cxnSp>
        <p:cxnSp>
          <p:nvCxnSpPr>
            <p:cNvPr id="149" name="Straight Connector 148"/>
            <p:cNvCxnSpPr/>
            <p:nvPr/>
          </p:nvCxnSpPr>
          <p:spPr bwMode="auto">
            <a:xfrm>
              <a:off x="10185400" y="1941093"/>
              <a:ext cx="0" cy="571818"/>
            </a:xfrm>
            <a:prstGeom prst="line">
              <a:avLst/>
            </a:prstGeom>
            <a:ln w="76200">
              <a:solidFill>
                <a:srgbClr val="FF0000"/>
              </a:solidFill>
            </a:ln>
          </p:spPr>
          <p:style>
            <a:lnRef idx="1">
              <a:schemeClr val="dk1"/>
            </a:lnRef>
            <a:fillRef idx="0">
              <a:schemeClr val="dk1"/>
            </a:fillRef>
            <a:effectRef idx="0">
              <a:schemeClr val="dk1"/>
            </a:effectRef>
            <a:fontRef idx="minor">
              <a:schemeClr val="tx1"/>
            </a:fontRef>
          </p:style>
        </p:cxnSp>
        <p:cxnSp>
          <p:nvCxnSpPr>
            <p:cNvPr id="151" name="Straight Connector 150"/>
            <p:cNvCxnSpPr/>
            <p:nvPr/>
          </p:nvCxnSpPr>
          <p:spPr bwMode="auto">
            <a:xfrm>
              <a:off x="10329334" y="977900"/>
              <a:ext cx="0" cy="1535011"/>
            </a:xfrm>
            <a:prstGeom prst="line">
              <a:avLst/>
            </a:prstGeom>
            <a:ln w="76200">
              <a:solidFill>
                <a:srgbClr val="92D050"/>
              </a:solidFill>
            </a:ln>
          </p:spPr>
          <p:style>
            <a:lnRef idx="1">
              <a:schemeClr val="dk1"/>
            </a:lnRef>
            <a:fillRef idx="0">
              <a:schemeClr val="dk1"/>
            </a:fillRef>
            <a:effectRef idx="0">
              <a:schemeClr val="dk1"/>
            </a:effectRef>
            <a:fontRef idx="minor">
              <a:schemeClr val="tx1"/>
            </a:fontRef>
          </p:style>
        </p:cxnSp>
        <p:cxnSp>
          <p:nvCxnSpPr>
            <p:cNvPr id="152" name="Straight Connector 151"/>
            <p:cNvCxnSpPr/>
            <p:nvPr/>
          </p:nvCxnSpPr>
          <p:spPr bwMode="auto">
            <a:xfrm>
              <a:off x="10473268" y="2404533"/>
              <a:ext cx="0" cy="108378"/>
            </a:xfrm>
            <a:prstGeom prst="line">
              <a:avLst/>
            </a:prstGeom>
            <a:ln w="76200">
              <a:solidFill>
                <a:schemeClr val="accent4"/>
              </a:solidFill>
            </a:ln>
          </p:spPr>
          <p:style>
            <a:lnRef idx="1">
              <a:schemeClr val="dk1"/>
            </a:lnRef>
            <a:fillRef idx="0">
              <a:schemeClr val="dk1"/>
            </a:fillRef>
            <a:effectRef idx="0">
              <a:schemeClr val="dk1"/>
            </a:effectRef>
            <a:fontRef idx="minor">
              <a:schemeClr val="tx1"/>
            </a:fontRef>
          </p:style>
        </p:cxnSp>
        <p:cxnSp>
          <p:nvCxnSpPr>
            <p:cNvPr id="153" name="Straight Connector 152"/>
            <p:cNvCxnSpPr/>
            <p:nvPr/>
          </p:nvCxnSpPr>
          <p:spPr bwMode="auto">
            <a:xfrm>
              <a:off x="10617202" y="1875367"/>
              <a:ext cx="0" cy="637544"/>
            </a:xfrm>
            <a:prstGeom prst="line">
              <a:avLst/>
            </a:prstGeom>
            <a:ln w="76200">
              <a:solidFill>
                <a:schemeClr val="accent1"/>
              </a:solidFill>
            </a:ln>
          </p:spPr>
          <p:style>
            <a:lnRef idx="1">
              <a:schemeClr val="dk1"/>
            </a:lnRef>
            <a:fillRef idx="0">
              <a:schemeClr val="dk1"/>
            </a:fillRef>
            <a:effectRef idx="0">
              <a:schemeClr val="dk1"/>
            </a:effectRef>
            <a:fontRef idx="minor">
              <a:schemeClr val="tx1"/>
            </a:fontRef>
          </p:style>
        </p:cxnSp>
        <p:cxnSp>
          <p:nvCxnSpPr>
            <p:cNvPr id="154" name="Straight Connector 153"/>
            <p:cNvCxnSpPr/>
            <p:nvPr/>
          </p:nvCxnSpPr>
          <p:spPr bwMode="auto">
            <a:xfrm>
              <a:off x="10761136" y="2185156"/>
              <a:ext cx="0" cy="327755"/>
            </a:xfrm>
            <a:prstGeom prst="line">
              <a:avLst/>
            </a:prstGeom>
            <a:ln w="76200">
              <a:solidFill>
                <a:schemeClr val="accent2"/>
              </a:solidFill>
            </a:ln>
          </p:spPr>
          <p:style>
            <a:lnRef idx="1">
              <a:schemeClr val="dk1"/>
            </a:lnRef>
            <a:fillRef idx="0">
              <a:schemeClr val="dk1"/>
            </a:fillRef>
            <a:effectRef idx="0">
              <a:schemeClr val="dk1"/>
            </a:effectRef>
            <a:fontRef idx="minor">
              <a:schemeClr val="tx1"/>
            </a:fontRef>
          </p:style>
        </p:cxnSp>
      </p:grpSp>
      <p:sp>
        <p:nvSpPr>
          <p:cNvPr id="830509406" name="TextBox 1"/>
          <p:cNvSpPr txBox="1">
            <a:spLocks noChangeArrowheads="1"/>
          </p:cNvSpPr>
          <p:nvPr/>
        </p:nvSpPr>
        <p:spPr bwMode="auto">
          <a:xfrm>
            <a:off x="9037434" y="3032559"/>
            <a:ext cx="2796718" cy="881780"/>
          </a:xfrm>
          <a:prstGeom prst="rect">
            <a:avLst/>
          </a:prstGeom>
          <a:noFill/>
          <a:ln w="9525">
            <a:noFill/>
            <a:miter lim="800000"/>
            <a:headEnd/>
            <a:tailEnd/>
          </a:ln>
        </p:spPr>
        <p:txBody>
          <a:bodyPr wrap="square">
            <a:spAutoFit/>
          </a:bodyPr>
          <a:lstStyle/>
          <a:p>
            <a:pPr>
              <a:lnSpc>
                <a:spcPct val="95000"/>
              </a:lnSpc>
              <a:defRPr/>
            </a:pPr>
            <a:r>
              <a:rPr lang="en-US">
                <a:solidFill>
                  <a:srgbClr val="990000"/>
                </a:solidFill>
                <a:latin typeface="Calibri"/>
                <a:ea typeface="ＭＳ Ｐゴシック"/>
                <a:cs typeface="Calibri"/>
              </a:rPr>
              <a:t>Profiling: </a:t>
            </a:r>
            <a:r>
              <a:rPr lang="en-US">
                <a:solidFill>
                  <a:srgbClr val="595959"/>
                </a:solidFill>
                <a:latin typeface="Calibri"/>
                <a:ea typeface="ＭＳ Ｐゴシック"/>
                <a:cs typeface="Calibri"/>
              </a:rPr>
              <a:t>Determine the relative abundance of bacterial species present</a:t>
            </a:r>
            <a:endParaRPr/>
          </a:p>
        </p:txBody>
      </p:sp>
      <p:sp>
        <p:nvSpPr>
          <p:cNvPr id="706184645" name="Slide Number Placeholder 5"/>
          <p:cNvSpPr>
            <a:spLocks noGrp="1"/>
          </p:cNvSpPr>
          <p:nvPr>
            <p:ph type="sldNum" sz="quarter" idx="16"/>
          </p:nvPr>
        </p:nvSpPr>
        <p:spPr bwMode="auto"/>
        <p:txBody>
          <a:bodyPr/>
          <a:lstStyle>
            <a:lvl1pPr>
              <a:defRPr/>
            </a:lvl1pPr>
          </a:lstStyle>
          <a:p>
            <a:pPr>
              <a:defRPr/>
            </a:pPr>
            <a:fld id="{2F9634B3-BAD6-EF22-D742-13A2341BBA61}" type="slidenum">
              <a:rPr lang="en-US"/>
              <a:t>36</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19042375"/>
                                        </p:tgtEl>
                                        <p:attrNameLst>
                                          <p:attrName>style.visibility</p:attrName>
                                        </p:attrNameLst>
                                      </p:cBhvr>
                                      <p:to>
                                        <p:strVal val="visible"/>
                                      </p:to>
                                    </p:set>
                                    <p:animEffect transition="in" filter="fade">
                                      <p:cBhvr>
                                        <p:cTn id="7" dur="500"/>
                                        <p:tgtEl>
                                          <p:spTgt spid="419042375"/>
                                        </p:tgtEl>
                                      </p:cBhvr>
                                    </p:animEffect>
                                  </p:childTnLst>
                                </p:cTn>
                              </p:par>
                              <p:par>
                                <p:cTn id="8" presetID="10" presetClass="entr" presetSubtype="0" fill="hold" nodeType="withEffect">
                                  <p:stCondLst>
                                    <p:cond delay="0"/>
                                  </p:stCondLst>
                                  <p:childTnLst>
                                    <p:set>
                                      <p:cBhvr>
                                        <p:cTn id="9" dur="1" fill="hold">
                                          <p:stCondLst>
                                            <p:cond delay="0"/>
                                          </p:stCondLst>
                                        </p:cTn>
                                        <p:tgtEl>
                                          <p:spTgt spid="1296738075"/>
                                        </p:tgtEl>
                                        <p:attrNameLst>
                                          <p:attrName>style.visibility</p:attrName>
                                        </p:attrNameLst>
                                      </p:cBhvr>
                                      <p:to>
                                        <p:strVal val="visible"/>
                                      </p:to>
                                    </p:set>
                                    <p:animEffect transition="in" filter="fade">
                                      <p:cBhvr>
                                        <p:cTn id="10" dur="500"/>
                                        <p:tgtEl>
                                          <p:spTgt spid="129673807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80123621"/>
                                        </p:tgtEl>
                                        <p:attrNameLst>
                                          <p:attrName>style.visibility</p:attrName>
                                        </p:attrNameLst>
                                      </p:cBhvr>
                                      <p:to>
                                        <p:strVal val="visible"/>
                                      </p:to>
                                    </p:set>
                                    <p:animEffect transition="in" filter="fade">
                                      <p:cBhvr>
                                        <p:cTn id="15" dur="500"/>
                                        <p:tgtEl>
                                          <p:spTgt spid="1380123621"/>
                                        </p:tgtEl>
                                      </p:cBhvr>
                                    </p:animEffect>
                                  </p:childTnLst>
                                </p:cTn>
                              </p:par>
                              <p:par>
                                <p:cTn id="16" presetID="10" presetClass="entr" presetSubtype="0" fill="hold" nodeType="withEffect">
                                  <p:stCondLst>
                                    <p:cond delay="0"/>
                                  </p:stCondLst>
                                  <p:childTnLst>
                                    <p:set>
                                      <p:cBhvr>
                                        <p:cTn id="17" dur="1" fill="hold">
                                          <p:stCondLst>
                                            <p:cond delay="0"/>
                                          </p:stCondLst>
                                        </p:cTn>
                                        <p:tgtEl>
                                          <p:spTgt spid="76577112"/>
                                        </p:tgtEl>
                                        <p:attrNameLst>
                                          <p:attrName>style.visibility</p:attrName>
                                        </p:attrNameLst>
                                      </p:cBhvr>
                                      <p:to>
                                        <p:strVal val="visible"/>
                                      </p:to>
                                    </p:set>
                                    <p:animEffect transition="in" filter="fade">
                                      <p:cBhvr>
                                        <p:cTn id="18" dur="500"/>
                                        <p:tgtEl>
                                          <p:spTgt spid="76577112"/>
                                        </p:tgtEl>
                                      </p:cBhvr>
                                    </p:animEffect>
                                  </p:childTnLst>
                                </p:cTn>
                              </p:par>
                              <p:par>
                                <p:cTn id="19" presetID="10" presetClass="entr" presetSubtype="0" fill="hold" nodeType="withEffect">
                                  <p:stCondLst>
                                    <p:cond delay="0"/>
                                  </p:stCondLst>
                                  <p:childTnLst>
                                    <p:set>
                                      <p:cBhvr>
                                        <p:cTn id="20" dur="1" fill="hold">
                                          <p:stCondLst>
                                            <p:cond delay="0"/>
                                          </p:stCondLst>
                                        </p:cTn>
                                        <p:tgtEl>
                                          <p:spTgt spid="612332307"/>
                                        </p:tgtEl>
                                        <p:attrNameLst>
                                          <p:attrName>style.visibility</p:attrName>
                                        </p:attrNameLst>
                                      </p:cBhvr>
                                      <p:to>
                                        <p:strVal val="visible"/>
                                      </p:to>
                                    </p:set>
                                    <p:animEffect transition="in" filter="fade">
                                      <p:cBhvr>
                                        <p:cTn id="21" dur="500"/>
                                        <p:tgtEl>
                                          <p:spTgt spid="612332307"/>
                                        </p:tgtEl>
                                      </p:cBhvr>
                                    </p:animEffect>
                                  </p:childTnLst>
                                </p:cTn>
                              </p:par>
                              <p:par>
                                <p:cTn id="22" presetID="10" presetClass="entr" presetSubtype="0" fill="hold" nodeType="withEffect">
                                  <p:stCondLst>
                                    <p:cond delay="0"/>
                                  </p:stCondLst>
                                  <p:childTnLst>
                                    <p:set>
                                      <p:cBhvr>
                                        <p:cTn id="23" dur="1" fill="hold">
                                          <p:stCondLst>
                                            <p:cond delay="0"/>
                                          </p:stCondLst>
                                        </p:cTn>
                                        <p:tgtEl>
                                          <p:spTgt spid="1352194799"/>
                                        </p:tgtEl>
                                        <p:attrNameLst>
                                          <p:attrName>style.visibility</p:attrName>
                                        </p:attrNameLst>
                                      </p:cBhvr>
                                      <p:to>
                                        <p:strVal val="visible"/>
                                      </p:to>
                                    </p:set>
                                    <p:animEffect transition="in" filter="fade">
                                      <p:cBhvr>
                                        <p:cTn id="24" dur="500"/>
                                        <p:tgtEl>
                                          <p:spTgt spid="1352194799"/>
                                        </p:tgtEl>
                                      </p:cBhvr>
                                    </p:animEffect>
                                  </p:childTnLst>
                                </p:cTn>
                              </p:par>
                              <p:par>
                                <p:cTn id="25" presetID="10" presetClass="entr" presetSubtype="0" fill="hold" nodeType="withEffect">
                                  <p:stCondLst>
                                    <p:cond delay="0"/>
                                  </p:stCondLst>
                                  <p:childTnLst>
                                    <p:set>
                                      <p:cBhvr>
                                        <p:cTn id="26" dur="1" fill="hold">
                                          <p:stCondLst>
                                            <p:cond delay="0"/>
                                          </p:stCondLst>
                                        </p:cTn>
                                        <p:tgtEl>
                                          <p:spTgt spid="100638357"/>
                                        </p:tgtEl>
                                        <p:attrNameLst>
                                          <p:attrName>style.visibility</p:attrName>
                                        </p:attrNameLst>
                                      </p:cBhvr>
                                      <p:to>
                                        <p:strVal val="visible"/>
                                      </p:to>
                                    </p:set>
                                    <p:animEffect transition="in" filter="fade">
                                      <p:cBhvr>
                                        <p:cTn id="27" dur="500"/>
                                        <p:tgtEl>
                                          <p:spTgt spid="100638357"/>
                                        </p:tgtEl>
                                      </p:cBhvr>
                                    </p:animEffect>
                                  </p:childTnLst>
                                </p:cTn>
                              </p:par>
                              <p:par>
                                <p:cTn id="28" presetID="10" presetClass="entr" presetSubtype="0" fill="hold" nodeType="withEffect">
                                  <p:stCondLst>
                                    <p:cond delay="0"/>
                                  </p:stCondLst>
                                  <p:childTnLst>
                                    <p:set>
                                      <p:cBhvr>
                                        <p:cTn id="29" dur="1" fill="hold">
                                          <p:stCondLst>
                                            <p:cond delay="0"/>
                                          </p:stCondLst>
                                        </p:cTn>
                                        <p:tgtEl>
                                          <p:spTgt spid="161277537"/>
                                        </p:tgtEl>
                                        <p:attrNameLst>
                                          <p:attrName>style.visibility</p:attrName>
                                        </p:attrNameLst>
                                      </p:cBhvr>
                                      <p:to>
                                        <p:strVal val="visible"/>
                                      </p:to>
                                    </p:set>
                                    <p:animEffect transition="in" filter="fade">
                                      <p:cBhvr>
                                        <p:cTn id="30" dur="500"/>
                                        <p:tgtEl>
                                          <p:spTgt spid="161277537"/>
                                        </p:tgtEl>
                                      </p:cBhvr>
                                    </p:animEffect>
                                  </p:childTnLst>
                                </p:cTn>
                              </p:par>
                              <p:par>
                                <p:cTn id="31" presetID="10" presetClass="entr" presetSubtype="0" fill="hold" nodeType="withEffect">
                                  <p:stCondLst>
                                    <p:cond delay="0"/>
                                  </p:stCondLst>
                                  <p:childTnLst>
                                    <p:set>
                                      <p:cBhvr>
                                        <p:cTn id="32" dur="1" fill="hold">
                                          <p:stCondLst>
                                            <p:cond delay="0"/>
                                          </p:stCondLst>
                                        </p:cTn>
                                        <p:tgtEl>
                                          <p:spTgt spid="1598689494"/>
                                        </p:tgtEl>
                                        <p:attrNameLst>
                                          <p:attrName>style.visibility</p:attrName>
                                        </p:attrNameLst>
                                      </p:cBhvr>
                                      <p:to>
                                        <p:strVal val="visible"/>
                                      </p:to>
                                    </p:set>
                                    <p:animEffect transition="in" filter="fade">
                                      <p:cBhvr>
                                        <p:cTn id="33" dur="500"/>
                                        <p:tgtEl>
                                          <p:spTgt spid="1598689494"/>
                                        </p:tgtEl>
                                      </p:cBhvr>
                                    </p:animEffect>
                                  </p:childTnLst>
                                </p:cTn>
                              </p:par>
                              <p:par>
                                <p:cTn id="34" presetID="10" presetClass="entr" presetSubtype="0" fill="hold" nodeType="withEffect">
                                  <p:stCondLst>
                                    <p:cond delay="0"/>
                                  </p:stCondLst>
                                  <p:childTnLst>
                                    <p:set>
                                      <p:cBhvr>
                                        <p:cTn id="35" dur="1" fill="hold">
                                          <p:stCondLst>
                                            <p:cond delay="0"/>
                                          </p:stCondLst>
                                        </p:cTn>
                                        <p:tgtEl>
                                          <p:spTgt spid="1456402105"/>
                                        </p:tgtEl>
                                        <p:attrNameLst>
                                          <p:attrName>style.visibility</p:attrName>
                                        </p:attrNameLst>
                                      </p:cBhvr>
                                      <p:to>
                                        <p:strVal val="visible"/>
                                      </p:to>
                                    </p:set>
                                    <p:animEffect transition="in" filter="fade">
                                      <p:cBhvr>
                                        <p:cTn id="36" dur="500"/>
                                        <p:tgtEl>
                                          <p:spTgt spid="1456402105"/>
                                        </p:tgtEl>
                                      </p:cBhvr>
                                    </p:animEffect>
                                  </p:childTnLst>
                                </p:cTn>
                              </p:par>
                              <p:par>
                                <p:cTn id="37" presetID="10" presetClass="entr" presetSubtype="0" fill="hold" nodeType="withEffect">
                                  <p:stCondLst>
                                    <p:cond delay="0"/>
                                  </p:stCondLst>
                                  <p:childTnLst>
                                    <p:set>
                                      <p:cBhvr>
                                        <p:cTn id="38" dur="1" fill="hold">
                                          <p:stCondLst>
                                            <p:cond delay="0"/>
                                          </p:stCondLst>
                                        </p:cTn>
                                        <p:tgtEl>
                                          <p:spTgt spid="1615956982"/>
                                        </p:tgtEl>
                                        <p:attrNameLst>
                                          <p:attrName>style.visibility</p:attrName>
                                        </p:attrNameLst>
                                      </p:cBhvr>
                                      <p:to>
                                        <p:strVal val="visible"/>
                                      </p:to>
                                    </p:set>
                                    <p:animEffect transition="in" filter="fade">
                                      <p:cBhvr>
                                        <p:cTn id="39" dur="500"/>
                                        <p:tgtEl>
                                          <p:spTgt spid="1615956982"/>
                                        </p:tgtEl>
                                      </p:cBhvr>
                                    </p:animEffect>
                                  </p:childTnLst>
                                </p:cTn>
                              </p:par>
                              <p:par>
                                <p:cTn id="40" presetID="10" presetClass="entr" presetSubtype="0" fill="hold" nodeType="withEffect">
                                  <p:stCondLst>
                                    <p:cond delay="0"/>
                                  </p:stCondLst>
                                  <p:childTnLst>
                                    <p:set>
                                      <p:cBhvr>
                                        <p:cTn id="41" dur="1" fill="hold">
                                          <p:stCondLst>
                                            <p:cond delay="0"/>
                                          </p:stCondLst>
                                        </p:cTn>
                                        <p:tgtEl>
                                          <p:spTgt spid="645257667"/>
                                        </p:tgtEl>
                                        <p:attrNameLst>
                                          <p:attrName>style.visibility</p:attrName>
                                        </p:attrNameLst>
                                      </p:cBhvr>
                                      <p:to>
                                        <p:strVal val="visible"/>
                                      </p:to>
                                    </p:set>
                                    <p:animEffect transition="in" filter="fade">
                                      <p:cBhvr>
                                        <p:cTn id="42" dur="500"/>
                                        <p:tgtEl>
                                          <p:spTgt spid="645257667"/>
                                        </p:tgtEl>
                                      </p:cBhvr>
                                    </p:animEffect>
                                  </p:childTnLst>
                                </p:cTn>
                              </p:par>
                              <p:par>
                                <p:cTn id="43" presetID="10" presetClass="entr" presetSubtype="0" fill="hold" nodeType="withEffect">
                                  <p:stCondLst>
                                    <p:cond delay="0"/>
                                  </p:stCondLst>
                                  <p:childTnLst>
                                    <p:set>
                                      <p:cBhvr>
                                        <p:cTn id="44" dur="1" fill="hold">
                                          <p:stCondLst>
                                            <p:cond delay="0"/>
                                          </p:stCondLst>
                                        </p:cTn>
                                        <p:tgtEl>
                                          <p:spTgt spid="1209541953"/>
                                        </p:tgtEl>
                                        <p:attrNameLst>
                                          <p:attrName>style.visibility</p:attrName>
                                        </p:attrNameLst>
                                      </p:cBhvr>
                                      <p:to>
                                        <p:strVal val="visible"/>
                                      </p:to>
                                    </p:set>
                                    <p:animEffect transition="in" filter="fade">
                                      <p:cBhvr>
                                        <p:cTn id="45" dur="500"/>
                                        <p:tgtEl>
                                          <p:spTgt spid="1209541953"/>
                                        </p:tgtEl>
                                      </p:cBhvr>
                                    </p:animEffect>
                                  </p:childTnLst>
                                </p:cTn>
                              </p:par>
                              <p:par>
                                <p:cTn id="46" presetID="10" presetClass="entr" presetSubtype="0" fill="hold" nodeType="withEffect">
                                  <p:stCondLst>
                                    <p:cond delay="0"/>
                                  </p:stCondLst>
                                  <p:childTnLst>
                                    <p:set>
                                      <p:cBhvr>
                                        <p:cTn id="47" dur="1" fill="hold">
                                          <p:stCondLst>
                                            <p:cond delay="0"/>
                                          </p:stCondLst>
                                        </p:cTn>
                                        <p:tgtEl>
                                          <p:spTgt spid="816769369"/>
                                        </p:tgtEl>
                                        <p:attrNameLst>
                                          <p:attrName>style.visibility</p:attrName>
                                        </p:attrNameLst>
                                      </p:cBhvr>
                                      <p:to>
                                        <p:strVal val="visible"/>
                                      </p:to>
                                    </p:set>
                                    <p:animEffect transition="in" filter="fade">
                                      <p:cBhvr>
                                        <p:cTn id="48" dur="500"/>
                                        <p:tgtEl>
                                          <p:spTgt spid="816769369"/>
                                        </p:tgtEl>
                                      </p:cBhvr>
                                    </p:animEffect>
                                  </p:childTnLst>
                                </p:cTn>
                              </p:par>
                              <p:par>
                                <p:cTn id="49" presetID="10" presetClass="entr" presetSubtype="0" fill="hold" nodeType="withEffect">
                                  <p:stCondLst>
                                    <p:cond delay="0"/>
                                  </p:stCondLst>
                                  <p:childTnLst>
                                    <p:set>
                                      <p:cBhvr>
                                        <p:cTn id="50" dur="1" fill="hold">
                                          <p:stCondLst>
                                            <p:cond delay="0"/>
                                          </p:stCondLst>
                                        </p:cTn>
                                        <p:tgtEl>
                                          <p:spTgt spid="541791768"/>
                                        </p:tgtEl>
                                        <p:attrNameLst>
                                          <p:attrName>style.visibility</p:attrName>
                                        </p:attrNameLst>
                                      </p:cBhvr>
                                      <p:to>
                                        <p:strVal val="visible"/>
                                      </p:to>
                                    </p:set>
                                    <p:animEffect transition="in" filter="fade">
                                      <p:cBhvr>
                                        <p:cTn id="51" dur="500"/>
                                        <p:tgtEl>
                                          <p:spTgt spid="541791768"/>
                                        </p:tgtEl>
                                      </p:cBhvr>
                                    </p:animEffect>
                                  </p:childTnLst>
                                </p:cTn>
                              </p:par>
                              <p:par>
                                <p:cTn id="52" presetID="10" presetClass="entr" presetSubtype="0" fill="hold" nodeType="withEffect">
                                  <p:stCondLst>
                                    <p:cond delay="0"/>
                                  </p:stCondLst>
                                  <p:childTnLst>
                                    <p:set>
                                      <p:cBhvr>
                                        <p:cTn id="53" dur="1" fill="hold">
                                          <p:stCondLst>
                                            <p:cond delay="0"/>
                                          </p:stCondLst>
                                        </p:cTn>
                                        <p:tgtEl>
                                          <p:spTgt spid="942813025"/>
                                        </p:tgtEl>
                                        <p:attrNameLst>
                                          <p:attrName>style.visibility</p:attrName>
                                        </p:attrNameLst>
                                      </p:cBhvr>
                                      <p:to>
                                        <p:strVal val="visible"/>
                                      </p:to>
                                    </p:set>
                                    <p:animEffect transition="in" filter="fade">
                                      <p:cBhvr>
                                        <p:cTn id="54" dur="500"/>
                                        <p:tgtEl>
                                          <p:spTgt spid="942813025"/>
                                        </p:tgtEl>
                                      </p:cBhvr>
                                    </p:animEffect>
                                  </p:childTnLst>
                                </p:cTn>
                              </p:par>
                              <p:par>
                                <p:cTn id="55" presetID="10" presetClass="entr" presetSubtype="0" fill="hold" nodeType="withEffect">
                                  <p:stCondLst>
                                    <p:cond delay="0"/>
                                  </p:stCondLst>
                                  <p:childTnLst>
                                    <p:set>
                                      <p:cBhvr>
                                        <p:cTn id="56" dur="1" fill="hold">
                                          <p:stCondLst>
                                            <p:cond delay="0"/>
                                          </p:stCondLst>
                                        </p:cTn>
                                        <p:tgtEl>
                                          <p:spTgt spid="914066343"/>
                                        </p:tgtEl>
                                        <p:attrNameLst>
                                          <p:attrName>style.visibility</p:attrName>
                                        </p:attrNameLst>
                                      </p:cBhvr>
                                      <p:to>
                                        <p:strVal val="visible"/>
                                      </p:to>
                                    </p:set>
                                    <p:animEffect transition="in" filter="fade">
                                      <p:cBhvr>
                                        <p:cTn id="57" dur="500"/>
                                        <p:tgtEl>
                                          <p:spTgt spid="914066343"/>
                                        </p:tgtEl>
                                      </p:cBhvr>
                                    </p:animEffect>
                                  </p:childTnLst>
                                </p:cTn>
                              </p:par>
                              <p:par>
                                <p:cTn id="58" presetID="10" presetClass="entr" presetSubtype="0" fill="hold" nodeType="withEffect">
                                  <p:stCondLst>
                                    <p:cond delay="0"/>
                                  </p:stCondLst>
                                  <p:childTnLst>
                                    <p:set>
                                      <p:cBhvr>
                                        <p:cTn id="59" dur="1" fill="hold">
                                          <p:stCondLst>
                                            <p:cond delay="0"/>
                                          </p:stCondLst>
                                        </p:cTn>
                                        <p:tgtEl>
                                          <p:spTgt spid="2130744425"/>
                                        </p:tgtEl>
                                        <p:attrNameLst>
                                          <p:attrName>style.visibility</p:attrName>
                                        </p:attrNameLst>
                                      </p:cBhvr>
                                      <p:to>
                                        <p:strVal val="visible"/>
                                      </p:to>
                                    </p:set>
                                    <p:animEffect transition="in" filter="fade">
                                      <p:cBhvr>
                                        <p:cTn id="60" dur="500"/>
                                        <p:tgtEl>
                                          <p:spTgt spid="2130744425"/>
                                        </p:tgtEl>
                                      </p:cBhvr>
                                    </p:animEffect>
                                  </p:childTnLst>
                                </p:cTn>
                              </p:par>
                              <p:par>
                                <p:cTn id="61" presetID="10" presetClass="entr" presetSubtype="0" fill="hold" nodeType="withEffect">
                                  <p:stCondLst>
                                    <p:cond delay="0"/>
                                  </p:stCondLst>
                                  <p:childTnLst>
                                    <p:set>
                                      <p:cBhvr>
                                        <p:cTn id="62" dur="1" fill="hold">
                                          <p:stCondLst>
                                            <p:cond delay="0"/>
                                          </p:stCondLst>
                                        </p:cTn>
                                        <p:tgtEl>
                                          <p:spTgt spid="1509248471"/>
                                        </p:tgtEl>
                                        <p:attrNameLst>
                                          <p:attrName>style.visibility</p:attrName>
                                        </p:attrNameLst>
                                      </p:cBhvr>
                                      <p:to>
                                        <p:strVal val="visible"/>
                                      </p:to>
                                    </p:set>
                                    <p:animEffect transition="in" filter="fade">
                                      <p:cBhvr>
                                        <p:cTn id="63" dur="500"/>
                                        <p:tgtEl>
                                          <p:spTgt spid="1509248471"/>
                                        </p:tgtEl>
                                      </p:cBhvr>
                                    </p:animEffect>
                                  </p:childTnLst>
                                </p:cTn>
                              </p:par>
                              <p:par>
                                <p:cTn id="64" presetID="10" presetClass="entr" presetSubtype="0" fill="hold" nodeType="withEffect">
                                  <p:stCondLst>
                                    <p:cond delay="0"/>
                                  </p:stCondLst>
                                  <p:childTnLst>
                                    <p:set>
                                      <p:cBhvr>
                                        <p:cTn id="65" dur="1" fill="hold">
                                          <p:stCondLst>
                                            <p:cond delay="0"/>
                                          </p:stCondLst>
                                        </p:cTn>
                                        <p:tgtEl>
                                          <p:spTgt spid="1282156251"/>
                                        </p:tgtEl>
                                        <p:attrNameLst>
                                          <p:attrName>style.visibility</p:attrName>
                                        </p:attrNameLst>
                                      </p:cBhvr>
                                      <p:to>
                                        <p:strVal val="visible"/>
                                      </p:to>
                                    </p:set>
                                    <p:animEffect transition="in" filter="fade">
                                      <p:cBhvr>
                                        <p:cTn id="66" dur="500"/>
                                        <p:tgtEl>
                                          <p:spTgt spid="1282156251"/>
                                        </p:tgtEl>
                                      </p:cBhvr>
                                    </p:animEffect>
                                  </p:childTnLst>
                                </p:cTn>
                              </p:par>
                              <p:par>
                                <p:cTn id="67" presetID="10" presetClass="entr" presetSubtype="0" fill="hold" nodeType="withEffect">
                                  <p:stCondLst>
                                    <p:cond delay="0"/>
                                  </p:stCondLst>
                                  <p:childTnLst>
                                    <p:set>
                                      <p:cBhvr>
                                        <p:cTn id="68" dur="1" fill="hold">
                                          <p:stCondLst>
                                            <p:cond delay="0"/>
                                          </p:stCondLst>
                                        </p:cTn>
                                        <p:tgtEl>
                                          <p:spTgt spid="419869964"/>
                                        </p:tgtEl>
                                        <p:attrNameLst>
                                          <p:attrName>style.visibility</p:attrName>
                                        </p:attrNameLst>
                                      </p:cBhvr>
                                      <p:to>
                                        <p:strVal val="visible"/>
                                      </p:to>
                                    </p:set>
                                    <p:animEffect transition="in" filter="fade">
                                      <p:cBhvr>
                                        <p:cTn id="69" dur="500"/>
                                        <p:tgtEl>
                                          <p:spTgt spid="419869964"/>
                                        </p:tgtEl>
                                      </p:cBhvr>
                                    </p:animEffect>
                                  </p:childTnLst>
                                </p:cTn>
                              </p:par>
                              <p:par>
                                <p:cTn id="70" presetID="10" presetClass="entr" presetSubtype="0" fill="hold" nodeType="withEffect">
                                  <p:stCondLst>
                                    <p:cond delay="0"/>
                                  </p:stCondLst>
                                  <p:childTnLst>
                                    <p:set>
                                      <p:cBhvr>
                                        <p:cTn id="71" dur="1" fill="hold">
                                          <p:stCondLst>
                                            <p:cond delay="0"/>
                                          </p:stCondLst>
                                        </p:cTn>
                                        <p:tgtEl>
                                          <p:spTgt spid="1079428423"/>
                                        </p:tgtEl>
                                        <p:attrNameLst>
                                          <p:attrName>style.visibility</p:attrName>
                                        </p:attrNameLst>
                                      </p:cBhvr>
                                      <p:to>
                                        <p:strVal val="visible"/>
                                      </p:to>
                                    </p:set>
                                    <p:animEffect transition="in" filter="fade">
                                      <p:cBhvr>
                                        <p:cTn id="72" dur="500"/>
                                        <p:tgtEl>
                                          <p:spTgt spid="1079428423"/>
                                        </p:tgtEl>
                                      </p:cBhvr>
                                    </p:animEffect>
                                  </p:childTnLst>
                                </p:cTn>
                              </p:par>
                              <p:par>
                                <p:cTn id="73" presetID="10" presetClass="entr" presetSubtype="0" fill="hold" nodeType="withEffect">
                                  <p:stCondLst>
                                    <p:cond delay="0"/>
                                  </p:stCondLst>
                                  <p:childTnLst>
                                    <p:set>
                                      <p:cBhvr>
                                        <p:cTn id="74" dur="1" fill="hold">
                                          <p:stCondLst>
                                            <p:cond delay="0"/>
                                          </p:stCondLst>
                                        </p:cTn>
                                        <p:tgtEl>
                                          <p:spTgt spid="631727720"/>
                                        </p:tgtEl>
                                        <p:attrNameLst>
                                          <p:attrName>style.visibility</p:attrName>
                                        </p:attrNameLst>
                                      </p:cBhvr>
                                      <p:to>
                                        <p:strVal val="visible"/>
                                      </p:to>
                                    </p:set>
                                    <p:animEffect transition="in" filter="fade">
                                      <p:cBhvr>
                                        <p:cTn id="75" dur="500"/>
                                        <p:tgtEl>
                                          <p:spTgt spid="631727720"/>
                                        </p:tgtEl>
                                      </p:cBhvr>
                                    </p:animEffect>
                                  </p:childTnLst>
                                </p:cTn>
                              </p:par>
                              <p:par>
                                <p:cTn id="76" presetID="10" presetClass="entr" presetSubtype="0" fill="hold" nodeType="withEffect">
                                  <p:stCondLst>
                                    <p:cond delay="0"/>
                                  </p:stCondLst>
                                  <p:childTnLst>
                                    <p:set>
                                      <p:cBhvr>
                                        <p:cTn id="77" dur="1" fill="hold">
                                          <p:stCondLst>
                                            <p:cond delay="0"/>
                                          </p:stCondLst>
                                        </p:cTn>
                                        <p:tgtEl>
                                          <p:spTgt spid="203666262"/>
                                        </p:tgtEl>
                                        <p:attrNameLst>
                                          <p:attrName>style.visibility</p:attrName>
                                        </p:attrNameLst>
                                      </p:cBhvr>
                                      <p:to>
                                        <p:strVal val="visible"/>
                                      </p:to>
                                    </p:set>
                                    <p:animEffect transition="in" filter="fade">
                                      <p:cBhvr>
                                        <p:cTn id="78" dur="500"/>
                                        <p:tgtEl>
                                          <p:spTgt spid="203666262"/>
                                        </p:tgtEl>
                                      </p:cBhvr>
                                    </p:animEffect>
                                  </p:childTnLst>
                                </p:cTn>
                              </p:par>
                              <p:par>
                                <p:cTn id="79" presetID="10" presetClass="entr" presetSubtype="0" fill="hold" nodeType="withEffect">
                                  <p:stCondLst>
                                    <p:cond delay="0"/>
                                  </p:stCondLst>
                                  <p:childTnLst>
                                    <p:set>
                                      <p:cBhvr>
                                        <p:cTn id="80" dur="1" fill="hold">
                                          <p:stCondLst>
                                            <p:cond delay="0"/>
                                          </p:stCondLst>
                                        </p:cTn>
                                        <p:tgtEl>
                                          <p:spTgt spid="478573122"/>
                                        </p:tgtEl>
                                        <p:attrNameLst>
                                          <p:attrName>style.visibility</p:attrName>
                                        </p:attrNameLst>
                                      </p:cBhvr>
                                      <p:to>
                                        <p:strVal val="visible"/>
                                      </p:to>
                                    </p:set>
                                    <p:animEffect transition="in" filter="fade">
                                      <p:cBhvr>
                                        <p:cTn id="81" dur="500"/>
                                        <p:tgtEl>
                                          <p:spTgt spid="478573122"/>
                                        </p:tgtEl>
                                      </p:cBhvr>
                                    </p:animEffect>
                                  </p:childTnLst>
                                </p:cTn>
                              </p:par>
                              <p:par>
                                <p:cTn id="82" presetID="10" presetClass="entr" presetSubtype="0" fill="hold" nodeType="withEffect">
                                  <p:stCondLst>
                                    <p:cond delay="0"/>
                                  </p:stCondLst>
                                  <p:childTnLst>
                                    <p:set>
                                      <p:cBhvr>
                                        <p:cTn id="83" dur="1" fill="hold">
                                          <p:stCondLst>
                                            <p:cond delay="0"/>
                                          </p:stCondLst>
                                        </p:cTn>
                                        <p:tgtEl>
                                          <p:spTgt spid="749967859"/>
                                        </p:tgtEl>
                                        <p:attrNameLst>
                                          <p:attrName>style.visibility</p:attrName>
                                        </p:attrNameLst>
                                      </p:cBhvr>
                                      <p:to>
                                        <p:strVal val="visible"/>
                                      </p:to>
                                    </p:set>
                                    <p:animEffect transition="in" filter="fade">
                                      <p:cBhvr>
                                        <p:cTn id="84" dur="500"/>
                                        <p:tgtEl>
                                          <p:spTgt spid="749967859"/>
                                        </p:tgtEl>
                                      </p:cBhvr>
                                    </p:animEffect>
                                  </p:childTnLst>
                                </p:cTn>
                              </p:par>
                              <p:par>
                                <p:cTn id="85" presetID="10" presetClass="entr" presetSubtype="0" fill="hold" nodeType="withEffect">
                                  <p:stCondLst>
                                    <p:cond delay="0"/>
                                  </p:stCondLst>
                                  <p:childTnLst>
                                    <p:set>
                                      <p:cBhvr>
                                        <p:cTn id="86" dur="1" fill="hold">
                                          <p:stCondLst>
                                            <p:cond delay="0"/>
                                          </p:stCondLst>
                                        </p:cTn>
                                        <p:tgtEl>
                                          <p:spTgt spid="475586577"/>
                                        </p:tgtEl>
                                        <p:attrNameLst>
                                          <p:attrName>style.visibility</p:attrName>
                                        </p:attrNameLst>
                                      </p:cBhvr>
                                      <p:to>
                                        <p:strVal val="visible"/>
                                      </p:to>
                                    </p:set>
                                    <p:animEffect transition="in" filter="fade">
                                      <p:cBhvr>
                                        <p:cTn id="87" dur="500"/>
                                        <p:tgtEl>
                                          <p:spTgt spid="475586577"/>
                                        </p:tgtEl>
                                      </p:cBhvr>
                                    </p:animEffect>
                                  </p:childTnLst>
                                </p:cTn>
                              </p:par>
                              <p:par>
                                <p:cTn id="88" presetID="10" presetClass="entr" presetSubtype="0" fill="hold" nodeType="withEffect">
                                  <p:stCondLst>
                                    <p:cond delay="0"/>
                                  </p:stCondLst>
                                  <p:childTnLst>
                                    <p:set>
                                      <p:cBhvr>
                                        <p:cTn id="89" dur="1" fill="hold">
                                          <p:stCondLst>
                                            <p:cond delay="0"/>
                                          </p:stCondLst>
                                        </p:cTn>
                                        <p:tgtEl>
                                          <p:spTgt spid="1108401666"/>
                                        </p:tgtEl>
                                        <p:attrNameLst>
                                          <p:attrName>style.visibility</p:attrName>
                                        </p:attrNameLst>
                                      </p:cBhvr>
                                      <p:to>
                                        <p:strVal val="visible"/>
                                      </p:to>
                                    </p:set>
                                    <p:animEffect transition="in" filter="fade">
                                      <p:cBhvr>
                                        <p:cTn id="90" dur="500"/>
                                        <p:tgtEl>
                                          <p:spTgt spid="1108401666"/>
                                        </p:tgtEl>
                                      </p:cBhvr>
                                    </p:animEffect>
                                  </p:childTnLst>
                                </p:cTn>
                              </p:par>
                              <p:par>
                                <p:cTn id="91" presetID="10" presetClass="entr" presetSubtype="0" fill="hold" nodeType="withEffect">
                                  <p:stCondLst>
                                    <p:cond delay="0"/>
                                  </p:stCondLst>
                                  <p:childTnLst>
                                    <p:set>
                                      <p:cBhvr>
                                        <p:cTn id="92" dur="1" fill="hold">
                                          <p:stCondLst>
                                            <p:cond delay="0"/>
                                          </p:stCondLst>
                                        </p:cTn>
                                        <p:tgtEl>
                                          <p:spTgt spid="1826659871"/>
                                        </p:tgtEl>
                                        <p:attrNameLst>
                                          <p:attrName>style.visibility</p:attrName>
                                        </p:attrNameLst>
                                      </p:cBhvr>
                                      <p:to>
                                        <p:strVal val="visible"/>
                                      </p:to>
                                    </p:set>
                                    <p:animEffect transition="in" filter="fade">
                                      <p:cBhvr>
                                        <p:cTn id="93" dur="500"/>
                                        <p:tgtEl>
                                          <p:spTgt spid="1826659871"/>
                                        </p:tgtEl>
                                      </p:cBhvr>
                                    </p:animEffect>
                                  </p:childTnLst>
                                </p:cTn>
                              </p:par>
                              <p:par>
                                <p:cTn id="94" presetID="10" presetClass="entr" presetSubtype="0" fill="hold" nodeType="withEffect">
                                  <p:stCondLst>
                                    <p:cond delay="0"/>
                                  </p:stCondLst>
                                  <p:childTnLst>
                                    <p:set>
                                      <p:cBhvr>
                                        <p:cTn id="95" dur="1" fill="hold">
                                          <p:stCondLst>
                                            <p:cond delay="0"/>
                                          </p:stCondLst>
                                        </p:cTn>
                                        <p:tgtEl>
                                          <p:spTgt spid="552565010"/>
                                        </p:tgtEl>
                                        <p:attrNameLst>
                                          <p:attrName>style.visibility</p:attrName>
                                        </p:attrNameLst>
                                      </p:cBhvr>
                                      <p:to>
                                        <p:strVal val="visible"/>
                                      </p:to>
                                    </p:set>
                                    <p:animEffect transition="in" filter="fade">
                                      <p:cBhvr>
                                        <p:cTn id="96" dur="500"/>
                                        <p:tgtEl>
                                          <p:spTgt spid="552565010"/>
                                        </p:tgtEl>
                                      </p:cBhvr>
                                    </p:animEffect>
                                  </p:childTnLst>
                                </p:cTn>
                              </p:par>
                              <p:par>
                                <p:cTn id="97" presetID="10" presetClass="entr" presetSubtype="0" fill="hold" nodeType="withEffect">
                                  <p:stCondLst>
                                    <p:cond delay="0"/>
                                  </p:stCondLst>
                                  <p:childTnLst>
                                    <p:set>
                                      <p:cBhvr>
                                        <p:cTn id="98" dur="1" fill="hold">
                                          <p:stCondLst>
                                            <p:cond delay="0"/>
                                          </p:stCondLst>
                                        </p:cTn>
                                        <p:tgtEl>
                                          <p:spTgt spid="1507244923"/>
                                        </p:tgtEl>
                                        <p:attrNameLst>
                                          <p:attrName>style.visibility</p:attrName>
                                        </p:attrNameLst>
                                      </p:cBhvr>
                                      <p:to>
                                        <p:strVal val="visible"/>
                                      </p:to>
                                    </p:set>
                                    <p:animEffect transition="in" filter="fade">
                                      <p:cBhvr>
                                        <p:cTn id="99" dur="500"/>
                                        <p:tgtEl>
                                          <p:spTgt spid="1507244923"/>
                                        </p:tgtEl>
                                      </p:cBhvr>
                                    </p:animEffect>
                                  </p:childTnLst>
                                </p:cTn>
                              </p:par>
                              <p:par>
                                <p:cTn id="100" presetID="10" presetClass="entr" presetSubtype="0" fill="hold" nodeType="withEffect">
                                  <p:stCondLst>
                                    <p:cond delay="0"/>
                                  </p:stCondLst>
                                  <p:childTnLst>
                                    <p:set>
                                      <p:cBhvr>
                                        <p:cTn id="101" dur="1" fill="hold">
                                          <p:stCondLst>
                                            <p:cond delay="0"/>
                                          </p:stCondLst>
                                        </p:cTn>
                                        <p:tgtEl>
                                          <p:spTgt spid="821232361"/>
                                        </p:tgtEl>
                                        <p:attrNameLst>
                                          <p:attrName>style.visibility</p:attrName>
                                        </p:attrNameLst>
                                      </p:cBhvr>
                                      <p:to>
                                        <p:strVal val="visible"/>
                                      </p:to>
                                    </p:set>
                                    <p:animEffect transition="in" filter="fade">
                                      <p:cBhvr>
                                        <p:cTn id="102" dur="500"/>
                                        <p:tgtEl>
                                          <p:spTgt spid="821232361"/>
                                        </p:tgtEl>
                                      </p:cBhvr>
                                    </p:animEffect>
                                  </p:childTnLst>
                                </p:cTn>
                              </p:par>
                              <p:par>
                                <p:cTn id="103" presetID="10" presetClass="entr" presetSubtype="0" fill="hold" nodeType="withEffect">
                                  <p:stCondLst>
                                    <p:cond delay="0"/>
                                  </p:stCondLst>
                                  <p:childTnLst>
                                    <p:set>
                                      <p:cBhvr>
                                        <p:cTn id="104" dur="1" fill="hold">
                                          <p:stCondLst>
                                            <p:cond delay="0"/>
                                          </p:stCondLst>
                                        </p:cTn>
                                        <p:tgtEl>
                                          <p:spTgt spid="553699868"/>
                                        </p:tgtEl>
                                        <p:attrNameLst>
                                          <p:attrName>style.visibility</p:attrName>
                                        </p:attrNameLst>
                                      </p:cBhvr>
                                      <p:to>
                                        <p:strVal val="visible"/>
                                      </p:to>
                                    </p:set>
                                    <p:animEffect transition="in" filter="fade">
                                      <p:cBhvr>
                                        <p:cTn id="105" dur="500"/>
                                        <p:tgtEl>
                                          <p:spTgt spid="553699868"/>
                                        </p:tgtEl>
                                      </p:cBhvr>
                                    </p:animEffect>
                                  </p:childTnLst>
                                </p:cTn>
                              </p:par>
                              <p:par>
                                <p:cTn id="106" presetID="10" presetClass="entr" presetSubtype="0" fill="hold" nodeType="withEffect">
                                  <p:stCondLst>
                                    <p:cond delay="0"/>
                                  </p:stCondLst>
                                  <p:childTnLst>
                                    <p:set>
                                      <p:cBhvr>
                                        <p:cTn id="107" dur="1" fill="hold">
                                          <p:stCondLst>
                                            <p:cond delay="0"/>
                                          </p:stCondLst>
                                        </p:cTn>
                                        <p:tgtEl>
                                          <p:spTgt spid="529758133"/>
                                        </p:tgtEl>
                                        <p:attrNameLst>
                                          <p:attrName>style.visibility</p:attrName>
                                        </p:attrNameLst>
                                      </p:cBhvr>
                                      <p:to>
                                        <p:strVal val="visible"/>
                                      </p:to>
                                    </p:set>
                                    <p:animEffect transition="in" filter="fade">
                                      <p:cBhvr>
                                        <p:cTn id="108" dur="500"/>
                                        <p:tgtEl>
                                          <p:spTgt spid="529758133"/>
                                        </p:tgtEl>
                                      </p:cBhvr>
                                    </p:animEffect>
                                  </p:childTnLst>
                                </p:cTn>
                              </p:par>
                              <p:par>
                                <p:cTn id="109" presetID="10" presetClass="entr" presetSubtype="0" fill="hold" nodeType="withEffect">
                                  <p:stCondLst>
                                    <p:cond delay="0"/>
                                  </p:stCondLst>
                                  <p:childTnLst>
                                    <p:set>
                                      <p:cBhvr>
                                        <p:cTn id="110" dur="1" fill="hold">
                                          <p:stCondLst>
                                            <p:cond delay="0"/>
                                          </p:stCondLst>
                                        </p:cTn>
                                        <p:tgtEl>
                                          <p:spTgt spid="2095396904"/>
                                        </p:tgtEl>
                                        <p:attrNameLst>
                                          <p:attrName>style.visibility</p:attrName>
                                        </p:attrNameLst>
                                      </p:cBhvr>
                                      <p:to>
                                        <p:strVal val="visible"/>
                                      </p:to>
                                    </p:set>
                                    <p:animEffect transition="in" filter="fade">
                                      <p:cBhvr>
                                        <p:cTn id="111" dur="500"/>
                                        <p:tgtEl>
                                          <p:spTgt spid="2095396904"/>
                                        </p:tgtEl>
                                      </p:cBhvr>
                                    </p:animEffect>
                                  </p:childTnLst>
                                </p:cTn>
                              </p:par>
                              <p:par>
                                <p:cTn id="112" presetID="10" presetClass="entr" presetSubtype="0" fill="hold" nodeType="withEffect">
                                  <p:stCondLst>
                                    <p:cond delay="0"/>
                                  </p:stCondLst>
                                  <p:childTnLst>
                                    <p:set>
                                      <p:cBhvr>
                                        <p:cTn id="113" dur="1" fill="hold">
                                          <p:stCondLst>
                                            <p:cond delay="0"/>
                                          </p:stCondLst>
                                        </p:cTn>
                                        <p:tgtEl>
                                          <p:spTgt spid="1018954051"/>
                                        </p:tgtEl>
                                        <p:attrNameLst>
                                          <p:attrName>style.visibility</p:attrName>
                                        </p:attrNameLst>
                                      </p:cBhvr>
                                      <p:to>
                                        <p:strVal val="visible"/>
                                      </p:to>
                                    </p:set>
                                    <p:animEffect transition="in" filter="fade">
                                      <p:cBhvr>
                                        <p:cTn id="114" dur="500"/>
                                        <p:tgtEl>
                                          <p:spTgt spid="1018954051"/>
                                        </p:tgtEl>
                                      </p:cBhvr>
                                    </p:animEffect>
                                  </p:childTnLst>
                                </p:cTn>
                              </p:par>
                              <p:par>
                                <p:cTn id="115" presetID="10" presetClass="entr" presetSubtype="0" fill="hold" nodeType="withEffect">
                                  <p:stCondLst>
                                    <p:cond delay="0"/>
                                  </p:stCondLst>
                                  <p:childTnLst>
                                    <p:set>
                                      <p:cBhvr>
                                        <p:cTn id="116" dur="1" fill="hold">
                                          <p:stCondLst>
                                            <p:cond delay="0"/>
                                          </p:stCondLst>
                                        </p:cTn>
                                        <p:tgtEl>
                                          <p:spTgt spid="668030436"/>
                                        </p:tgtEl>
                                        <p:attrNameLst>
                                          <p:attrName>style.visibility</p:attrName>
                                        </p:attrNameLst>
                                      </p:cBhvr>
                                      <p:to>
                                        <p:strVal val="visible"/>
                                      </p:to>
                                    </p:set>
                                    <p:animEffect transition="in" filter="fade">
                                      <p:cBhvr>
                                        <p:cTn id="117" dur="500"/>
                                        <p:tgtEl>
                                          <p:spTgt spid="668030436"/>
                                        </p:tgtEl>
                                      </p:cBhvr>
                                    </p:animEffect>
                                  </p:childTnLst>
                                </p:cTn>
                              </p:par>
                              <p:par>
                                <p:cTn id="118" presetID="10" presetClass="entr" presetSubtype="0" fill="hold" nodeType="withEffect">
                                  <p:stCondLst>
                                    <p:cond delay="0"/>
                                  </p:stCondLst>
                                  <p:childTnLst>
                                    <p:set>
                                      <p:cBhvr>
                                        <p:cTn id="119" dur="1" fill="hold">
                                          <p:stCondLst>
                                            <p:cond delay="0"/>
                                          </p:stCondLst>
                                        </p:cTn>
                                        <p:tgtEl>
                                          <p:spTgt spid="2138492820"/>
                                        </p:tgtEl>
                                        <p:attrNameLst>
                                          <p:attrName>style.visibility</p:attrName>
                                        </p:attrNameLst>
                                      </p:cBhvr>
                                      <p:to>
                                        <p:strVal val="visible"/>
                                      </p:to>
                                    </p:set>
                                    <p:animEffect transition="in" filter="fade">
                                      <p:cBhvr>
                                        <p:cTn id="120" dur="500"/>
                                        <p:tgtEl>
                                          <p:spTgt spid="2138492820"/>
                                        </p:tgtEl>
                                      </p:cBhvr>
                                    </p:animEffect>
                                  </p:childTnLst>
                                </p:cTn>
                              </p:par>
                              <p:par>
                                <p:cTn id="121" presetID="10" presetClass="entr" presetSubtype="0" fill="hold" nodeType="withEffect">
                                  <p:stCondLst>
                                    <p:cond delay="0"/>
                                  </p:stCondLst>
                                  <p:childTnLst>
                                    <p:set>
                                      <p:cBhvr>
                                        <p:cTn id="122" dur="1" fill="hold">
                                          <p:stCondLst>
                                            <p:cond delay="0"/>
                                          </p:stCondLst>
                                        </p:cTn>
                                        <p:tgtEl>
                                          <p:spTgt spid="1107193792"/>
                                        </p:tgtEl>
                                        <p:attrNameLst>
                                          <p:attrName>style.visibility</p:attrName>
                                        </p:attrNameLst>
                                      </p:cBhvr>
                                      <p:to>
                                        <p:strVal val="visible"/>
                                      </p:to>
                                    </p:set>
                                    <p:animEffect transition="in" filter="fade">
                                      <p:cBhvr>
                                        <p:cTn id="123" dur="500"/>
                                        <p:tgtEl>
                                          <p:spTgt spid="1107193792"/>
                                        </p:tgtEl>
                                      </p:cBhvr>
                                    </p:animEffect>
                                  </p:childTnLst>
                                </p:cTn>
                              </p:par>
                              <p:par>
                                <p:cTn id="124" presetID="10" presetClass="entr" presetSubtype="0" fill="hold" nodeType="withEffect">
                                  <p:stCondLst>
                                    <p:cond delay="0"/>
                                  </p:stCondLst>
                                  <p:childTnLst>
                                    <p:set>
                                      <p:cBhvr>
                                        <p:cTn id="125" dur="1" fill="hold">
                                          <p:stCondLst>
                                            <p:cond delay="0"/>
                                          </p:stCondLst>
                                        </p:cTn>
                                        <p:tgtEl>
                                          <p:spTgt spid="49562864"/>
                                        </p:tgtEl>
                                        <p:attrNameLst>
                                          <p:attrName>style.visibility</p:attrName>
                                        </p:attrNameLst>
                                      </p:cBhvr>
                                      <p:to>
                                        <p:strVal val="visible"/>
                                      </p:to>
                                    </p:set>
                                    <p:animEffect transition="in" filter="fade">
                                      <p:cBhvr>
                                        <p:cTn id="126" dur="500"/>
                                        <p:tgtEl>
                                          <p:spTgt spid="49562864"/>
                                        </p:tgtEl>
                                      </p:cBhvr>
                                    </p:animEffect>
                                  </p:childTnLst>
                                </p:cTn>
                              </p:par>
                              <p:par>
                                <p:cTn id="127" presetID="10" presetClass="entr" presetSubtype="0" fill="hold" nodeType="withEffect">
                                  <p:stCondLst>
                                    <p:cond delay="0"/>
                                  </p:stCondLst>
                                  <p:childTnLst>
                                    <p:set>
                                      <p:cBhvr>
                                        <p:cTn id="128" dur="1" fill="hold">
                                          <p:stCondLst>
                                            <p:cond delay="0"/>
                                          </p:stCondLst>
                                        </p:cTn>
                                        <p:tgtEl>
                                          <p:spTgt spid="273267947"/>
                                        </p:tgtEl>
                                        <p:attrNameLst>
                                          <p:attrName>style.visibility</p:attrName>
                                        </p:attrNameLst>
                                      </p:cBhvr>
                                      <p:to>
                                        <p:strVal val="visible"/>
                                      </p:to>
                                    </p:set>
                                    <p:animEffect transition="in" filter="fade">
                                      <p:cBhvr>
                                        <p:cTn id="129" dur="500"/>
                                        <p:tgtEl>
                                          <p:spTgt spid="273267947"/>
                                        </p:tgtEl>
                                      </p:cBhvr>
                                    </p:animEffect>
                                  </p:childTnLst>
                                </p:cTn>
                              </p:par>
                              <p:par>
                                <p:cTn id="130" presetID="10" presetClass="entr" presetSubtype="0" fill="hold" nodeType="withEffect">
                                  <p:stCondLst>
                                    <p:cond delay="0"/>
                                  </p:stCondLst>
                                  <p:childTnLst>
                                    <p:set>
                                      <p:cBhvr>
                                        <p:cTn id="131" dur="1" fill="hold">
                                          <p:stCondLst>
                                            <p:cond delay="0"/>
                                          </p:stCondLst>
                                        </p:cTn>
                                        <p:tgtEl>
                                          <p:spTgt spid="1469830415"/>
                                        </p:tgtEl>
                                        <p:attrNameLst>
                                          <p:attrName>style.visibility</p:attrName>
                                        </p:attrNameLst>
                                      </p:cBhvr>
                                      <p:to>
                                        <p:strVal val="visible"/>
                                      </p:to>
                                    </p:set>
                                    <p:animEffect transition="in" filter="fade">
                                      <p:cBhvr>
                                        <p:cTn id="132" dur="500"/>
                                        <p:tgtEl>
                                          <p:spTgt spid="1469830415"/>
                                        </p:tgtEl>
                                      </p:cBhvr>
                                    </p:animEffect>
                                  </p:childTnLst>
                                </p:cTn>
                              </p:par>
                              <p:par>
                                <p:cTn id="133" presetID="10" presetClass="entr" presetSubtype="0" fill="hold" nodeType="withEffect">
                                  <p:stCondLst>
                                    <p:cond delay="0"/>
                                  </p:stCondLst>
                                  <p:childTnLst>
                                    <p:set>
                                      <p:cBhvr>
                                        <p:cTn id="134" dur="1" fill="hold">
                                          <p:stCondLst>
                                            <p:cond delay="0"/>
                                          </p:stCondLst>
                                        </p:cTn>
                                        <p:tgtEl>
                                          <p:spTgt spid="516209096"/>
                                        </p:tgtEl>
                                        <p:attrNameLst>
                                          <p:attrName>style.visibility</p:attrName>
                                        </p:attrNameLst>
                                      </p:cBhvr>
                                      <p:to>
                                        <p:strVal val="visible"/>
                                      </p:to>
                                    </p:set>
                                    <p:animEffect transition="in" filter="fade">
                                      <p:cBhvr>
                                        <p:cTn id="135" dur="500"/>
                                        <p:tgtEl>
                                          <p:spTgt spid="516209096"/>
                                        </p:tgtEl>
                                      </p:cBhvr>
                                    </p:animEffect>
                                  </p:childTnLst>
                                </p:cTn>
                              </p:par>
                              <p:par>
                                <p:cTn id="136" presetID="10" presetClass="entr" presetSubtype="0" fill="hold" nodeType="withEffect">
                                  <p:stCondLst>
                                    <p:cond delay="0"/>
                                  </p:stCondLst>
                                  <p:childTnLst>
                                    <p:set>
                                      <p:cBhvr>
                                        <p:cTn id="137" dur="1" fill="hold">
                                          <p:stCondLst>
                                            <p:cond delay="0"/>
                                          </p:stCondLst>
                                        </p:cTn>
                                        <p:tgtEl>
                                          <p:spTgt spid="993120902"/>
                                        </p:tgtEl>
                                        <p:attrNameLst>
                                          <p:attrName>style.visibility</p:attrName>
                                        </p:attrNameLst>
                                      </p:cBhvr>
                                      <p:to>
                                        <p:strVal val="visible"/>
                                      </p:to>
                                    </p:set>
                                    <p:animEffect transition="in" filter="fade">
                                      <p:cBhvr>
                                        <p:cTn id="138" dur="500"/>
                                        <p:tgtEl>
                                          <p:spTgt spid="993120902"/>
                                        </p:tgtEl>
                                      </p:cBhvr>
                                    </p:animEffect>
                                  </p:childTnLst>
                                </p:cTn>
                              </p:par>
                              <p:par>
                                <p:cTn id="139" presetID="10" presetClass="entr" presetSubtype="0" fill="hold" nodeType="withEffect">
                                  <p:stCondLst>
                                    <p:cond delay="0"/>
                                  </p:stCondLst>
                                  <p:childTnLst>
                                    <p:set>
                                      <p:cBhvr>
                                        <p:cTn id="140" dur="1" fill="hold">
                                          <p:stCondLst>
                                            <p:cond delay="0"/>
                                          </p:stCondLst>
                                        </p:cTn>
                                        <p:tgtEl>
                                          <p:spTgt spid="2018603287"/>
                                        </p:tgtEl>
                                        <p:attrNameLst>
                                          <p:attrName>style.visibility</p:attrName>
                                        </p:attrNameLst>
                                      </p:cBhvr>
                                      <p:to>
                                        <p:strVal val="visible"/>
                                      </p:to>
                                    </p:set>
                                    <p:animEffect transition="in" filter="fade">
                                      <p:cBhvr>
                                        <p:cTn id="141" dur="500"/>
                                        <p:tgtEl>
                                          <p:spTgt spid="2018603287"/>
                                        </p:tgtEl>
                                      </p:cBhvr>
                                    </p:animEffect>
                                  </p:childTnLst>
                                </p:cTn>
                              </p:par>
                              <p:par>
                                <p:cTn id="142" presetID="10" presetClass="entr" presetSubtype="0" fill="hold" nodeType="withEffect">
                                  <p:stCondLst>
                                    <p:cond delay="0"/>
                                  </p:stCondLst>
                                  <p:childTnLst>
                                    <p:set>
                                      <p:cBhvr>
                                        <p:cTn id="143" dur="1" fill="hold">
                                          <p:stCondLst>
                                            <p:cond delay="0"/>
                                          </p:stCondLst>
                                        </p:cTn>
                                        <p:tgtEl>
                                          <p:spTgt spid="608623641"/>
                                        </p:tgtEl>
                                        <p:attrNameLst>
                                          <p:attrName>style.visibility</p:attrName>
                                        </p:attrNameLst>
                                      </p:cBhvr>
                                      <p:to>
                                        <p:strVal val="visible"/>
                                      </p:to>
                                    </p:set>
                                    <p:animEffect transition="in" filter="fade">
                                      <p:cBhvr>
                                        <p:cTn id="144" dur="500"/>
                                        <p:tgtEl>
                                          <p:spTgt spid="608623641"/>
                                        </p:tgtEl>
                                      </p:cBhvr>
                                    </p:animEffect>
                                  </p:childTnLst>
                                </p:cTn>
                              </p:par>
                              <p:par>
                                <p:cTn id="145" presetID="10" presetClass="entr" presetSubtype="0" fill="hold" nodeType="withEffect">
                                  <p:stCondLst>
                                    <p:cond delay="0"/>
                                  </p:stCondLst>
                                  <p:childTnLst>
                                    <p:set>
                                      <p:cBhvr>
                                        <p:cTn id="146" dur="1" fill="hold">
                                          <p:stCondLst>
                                            <p:cond delay="0"/>
                                          </p:stCondLst>
                                        </p:cTn>
                                        <p:tgtEl>
                                          <p:spTgt spid="1392640410"/>
                                        </p:tgtEl>
                                        <p:attrNameLst>
                                          <p:attrName>style.visibility</p:attrName>
                                        </p:attrNameLst>
                                      </p:cBhvr>
                                      <p:to>
                                        <p:strVal val="visible"/>
                                      </p:to>
                                    </p:set>
                                    <p:animEffect transition="in" filter="fade">
                                      <p:cBhvr>
                                        <p:cTn id="147" dur="500"/>
                                        <p:tgtEl>
                                          <p:spTgt spid="1392640410"/>
                                        </p:tgtEl>
                                      </p:cBhvr>
                                    </p:animEffect>
                                  </p:childTnLst>
                                </p:cTn>
                              </p:par>
                              <p:par>
                                <p:cTn id="148" presetID="10" presetClass="entr" presetSubtype="0" fill="hold" nodeType="withEffect">
                                  <p:stCondLst>
                                    <p:cond delay="0"/>
                                  </p:stCondLst>
                                  <p:childTnLst>
                                    <p:set>
                                      <p:cBhvr>
                                        <p:cTn id="149" dur="1" fill="hold">
                                          <p:stCondLst>
                                            <p:cond delay="0"/>
                                          </p:stCondLst>
                                        </p:cTn>
                                        <p:tgtEl>
                                          <p:spTgt spid="222073771"/>
                                        </p:tgtEl>
                                        <p:attrNameLst>
                                          <p:attrName>style.visibility</p:attrName>
                                        </p:attrNameLst>
                                      </p:cBhvr>
                                      <p:to>
                                        <p:strVal val="visible"/>
                                      </p:to>
                                    </p:set>
                                    <p:animEffect transition="in" filter="fade">
                                      <p:cBhvr>
                                        <p:cTn id="150" dur="500"/>
                                        <p:tgtEl>
                                          <p:spTgt spid="222073771"/>
                                        </p:tgtEl>
                                      </p:cBhvr>
                                    </p:animEffect>
                                  </p:childTnLst>
                                </p:cTn>
                              </p:par>
                              <p:par>
                                <p:cTn id="151" presetID="10" presetClass="entr" presetSubtype="0" fill="hold" nodeType="withEffect">
                                  <p:stCondLst>
                                    <p:cond delay="0"/>
                                  </p:stCondLst>
                                  <p:childTnLst>
                                    <p:set>
                                      <p:cBhvr>
                                        <p:cTn id="152" dur="1" fill="hold">
                                          <p:stCondLst>
                                            <p:cond delay="0"/>
                                          </p:stCondLst>
                                        </p:cTn>
                                        <p:tgtEl>
                                          <p:spTgt spid="315531767"/>
                                        </p:tgtEl>
                                        <p:attrNameLst>
                                          <p:attrName>style.visibility</p:attrName>
                                        </p:attrNameLst>
                                      </p:cBhvr>
                                      <p:to>
                                        <p:strVal val="visible"/>
                                      </p:to>
                                    </p:set>
                                    <p:animEffect transition="in" filter="fade">
                                      <p:cBhvr>
                                        <p:cTn id="153" dur="500"/>
                                        <p:tgtEl>
                                          <p:spTgt spid="315531767"/>
                                        </p:tgtEl>
                                      </p:cBhvr>
                                    </p:animEffect>
                                  </p:childTnLst>
                                </p:cTn>
                              </p:par>
                              <p:par>
                                <p:cTn id="154" presetID="10" presetClass="entr" presetSubtype="0" fill="hold" nodeType="withEffect">
                                  <p:stCondLst>
                                    <p:cond delay="0"/>
                                  </p:stCondLst>
                                  <p:childTnLst>
                                    <p:set>
                                      <p:cBhvr>
                                        <p:cTn id="155" dur="1" fill="hold">
                                          <p:stCondLst>
                                            <p:cond delay="0"/>
                                          </p:stCondLst>
                                        </p:cTn>
                                        <p:tgtEl>
                                          <p:spTgt spid="684432628"/>
                                        </p:tgtEl>
                                        <p:attrNameLst>
                                          <p:attrName>style.visibility</p:attrName>
                                        </p:attrNameLst>
                                      </p:cBhvr>
                                      <p:to>
                                        <p:strVal val="visible"/>
                                      </p:to>
                                    </p:set>
                                    <p:animEffect transition="in" filter="fade">
                                      <p:cBhvr>
                                        <p:cTn id="156" dur="500"/>
                                        <p:tgtEl>
                                          <p:spTgt spid="684432628"/>
                                        </p:tgtEl>
                                      </p:cBhvr>
                                    </p:animEffect>
                                  </p:childTnLst>
                                </p:cTn>
                              </p:par>
                              <p:par>
                                <p:cTn id="157" presetID="10" presetClass="entr" presetSubtype="0" fill="hold" nodeType="withEffect">
                                  <p:stCondLst>
                                    <p:cond delay="0"/>
                                  </p:stCondLst>
                                  <p:childTnLst>
                                    <p:set>
                                      <p:cBhvr>
                                        <p:cTn id="158" dur="1" fill="hold">
                                          <p:stCondLst>
                                            <p:cond delay="0"/>
                                          </p:stCondLst>
                                        </p:cTn>
                                        <p:tgtEl>
                                          <p:spTgt spid="1480740062"/>
                                        </p:tgtEl>
                                        <p:attrNameLst>
                                          <p:attrName>style.visibility</p:attrName>
                                        </p:attrNameLst>
                                      </p:cBhvr>
                                      <p:to>
                                        <p:strVal val="visible"/>
                                      </p:to>
                                    </p:set>
                                    <p:animEffect transition="in" filter="fade">
                                      <p:cBhvr>
                                        <p:cTn id="159" dur="500"/>
                                        <p:tgtEl>
                                          <p:spTgt spid="1480740062"/>
                                        </p:tgtEl>
                                      </p:cBhvr>
                                    </p:animEffect>
                                  </p:childTnLst>
                                </p:cTn>
                              </p:par>
                              <p:par>
                                <p:cTn id="160" presetID="10" presetClass="entr" presetSubtype="0" fill="hold" nodeType="withEffect">
                                  <p:stCondLst>
                                    <p:cond delay="0"/>
                                  </p:stCondLst>
                                  <p:childTnLst>
                                    <p:set>
                                      <p:cBhvr>
                                        <p:cTn id="161" dur="1" fill="hold">
                                          <p:stCondLst>
                                            <p:cond delay="0"/>
                                          </p:stCondLst>
                                        </p:cTn>
                                        <p:tgtEl>
                                          <p:spTgt spid="617509805"/>
                                        </p:tgtEl>
                                        <p:attrNameLst>
                                          <p:attrName>style.visibility</p:attrName>
                                        </p:attrNameLst>
                                      </p:cBhvr>
                                      <p:to>
                                        <p:strVal val="visible"/>
                                      </p:to>
                                    </p:set>
                                    <p:animEffect transition="in" filter="fade">
                                      <p:cBhvr>
                                        <p:cTn id="162" dur="500"/>
                                        <p:tgtEl>
                                          <p:spTgt spid="617509805"/>
                                        </p:tgtEl>
                                      </p:cBhvr>
                                    </p:animEffect>
                                  </p:childTnLst>
                                </p:cTn>
                              </p:par>
                              <p:par>
                                <p:cTn id="163" presetID="10" presetClass="entr" presetSubtype="0" fill="hold" nodeType="withEffect">
                                  <p:stCondLst>
                                    <p:cond delay="0"/>
                                  </p:stCondLst>
                                  <p:childTnLst>
                                    <p:set>
                                      <p:cBhvr>
                                        <p:cTn id="164" dur="1" fill="hold">
                                          <p:stCondLst>
                                            <p:cond delay="0"/>
                                          </p:stCondLst>
                                        </p:cTn>
                                        <p:tgtEl>
                                          <p:spTgt spid="223489616"/>
                                        </p:tgtEl>
                                        <p:attrNameLst>
                                          <p:attrName>style.visibility</p:attrName>
                                        </p:attrNameLst>
                                      </p:cBhvr>
                                      <p:to>
                                        <p:strVal val="visible"/>
                                      </p:to>
                                    </p:set>
                                    <p:animEffect transition="in" filter="fade">
                                      <p:cBhvr>
                                        <p:cTn id="165" dur="500"/>
                                        <p:tgtEl>
                                          <p:spTgt spid="223489616"/>
                                        </p:tgtEl>
                                      </p:cBhvr>
                                    </p:animEffect>
                                  </p:childTnLst>
                                </p:cTn>
                              </p:par>
                              <p:par>
                                <p:cTn id="166" presetID="10" presetClass="entr" presetSubtype="0" fill="hold" nodeType="withEffect">
                                  <p:stCondLst>
                                    <p:cond delay="0"/>
                                  </p:stCondLst>
                                  <p:childTnLst>
                                    <p:set>
                                      <p:cBhvr>
                                        <p:cTn id="167" dur="1" fill="hold">
                                          <p:stCondLst>
                                            <p:cond delay="0"/>
                                          </p:stCondLst>
                                        </p:cTn>
                                        <p:tgtEl>
                                          <p:spTgt spid="2075954139"/>
                                        </p:tgtEl>
                                        <p:attrNameLst>
                                          <p:attrName>style.visibility</p:attrName>
                                        </p:attrNameLst>
                                      </p:cBhvr>
                                      <p:to>
                                        <p:strVal val="visible"/>
                                      </p:to>
                                    </p:set>
                                    <p:animEffect transition="in" filter="fade">
                                      <p:cBhvr>
                                        <p:cTn id="168" dur="500"/>
                                        <p:tgtEl>
                                          <p:spTgt spid="2075954139"/>
                                        </p:tgtEl>
                                      </p:cBhvr>
                                    </p:animEffect>
                                  </p:childTnLst>
                                </p:cTn>
                              </p:par>
                              <p:par>
                                <p:cTn id="169" presetID="10" presetClass="entr" presetSubtype="0" fill="hold" nodeType="withEffect">
                                  <p:stCondLst>
                                    <p:cond delay="0"/>
                                  </p:stCondLst>
                                  <p:childTnLst>
                                    <p:set>
                                      <p:cBhvr>
                                        <p:cTn id="170" dur="1" fill="hold">
                                          <p:stCondLst>
                                            <p:cond delay="0"/>
                                          </p:stCondLst>
                                        </p:cTn>
                                        <p:tgtEl>
                                          <p:spTgt spid="2029888002"/>
                                        </p:tgtEl>
                                        <p:attrNameLst>
                                          <p:attrName>style.visibility</p:attrName>
                                        </p:attrNameLst>
                                      </p:cBhvr>
                                      <p:to>
                                        <p:strVal val="visible"/>
                                      </p:to>
                                    </p:set>
                                    <p:animEffect transition="in" filter="fade">
                                      <p:cBhvr>
                                        <p:cTn id="171" dur="500"/>
                                        <p:tgtEl>
                                          <p:spTgt spid="2029888002"/>
                                        </p:tgtEl>
                                      </p:cBhvr>
                                    </p:animEffect>
                                  </p:childTnLst>
                                </p:cTn>
                              </p:par>
                              <p:par>
                                <p:cTn id="172" presetID="10" presetClass="entr" presetSubtype="0" fill="hold" nodeType="withEffect">
                                  <p:stCondLst>
                                    <p:cond delay="0"/>
                                  </p:stCondLst>
                                  <p:childTnLst>
                                    <p:set>
                                      <p:cBhvr>
                                        <p:cTn id="173" dur="1" fill="hold">
                                          <p:stCondLst>
                                            <p:cond delay="0"/>
                                          </p:stCondLst>
                                        </p:cTn>
                                        <p:tgtEl>
                                          <p:spTgt spid="30829867"/>
                                        </p:tgtEl>
                                        <p:attrNameLst>
                                          <p:attrName>style.visibility</p:attrName>
                                        </p:attrNameLst>
                                      </p:cBhvr>
                                      <p:to>
                                        <p:strVal val="visible"/>
                                      </p:to>
                                    </p:set>
                                    <p:animEffect transition="in" filter="fade">
                                      <p:cBhvr>
                                        <p:cTn id="174" dur="500"/>
                                        <p:tgtEl>
                                          <p:spTgt spid="30829867"/>
                                        </p:tgtEl>
                                      </p:cBhvr>
                                    </p:animEffect>
                                  </p:childTnLst>
                                </p:cTn>
                              </p:par>
                              <p:par>
                                <p:cTn id="175" presetID="10" presetClass="entr" presetSubtype="0" fill="hold" nodeType="withEffect">
                                  <p:stCondLst>
                                    <p:cond delay="0"/>
                                  </p:stCondLst>
                                  <p:childTnLst>
                                    <p:set>
                                      <p:cBhvr>
                                        <p:cTn id="176" dur="1" fill="hold">
                                          <p:stCondLst>
                                            <p:cond delay="0"/>
                                          </p:stCondLst>
                                        </p:cTn>
                                        <p:tgtEl>
                                          <p:spTgt spid="1550806616"/>
                                        </p:tgtEl>
                                        <p:attrNameLst>
                                          <p:attrName>style.visibility</p:attrName>
                                        </p:attrNameLst>
                                      </p:cBhvr>
                                      <p:to>
                                        <p:strVal val="visible"/>
                                      </p:to>
                                    </p:set>
                                    <p:animEffect transition="in" filter="fade">
                                      <p:cBhvr>
                                        <p:cTn id="177" dur="500"/>
                                        <p:tgtEl>
                                          <p:spTgt spid="1550806616"/>
                                        </p:tgtEl>
                                      </p:cBhvr>
                                    </p:animEffect>
                                  </p:childTnLst>
                                </p:cTn>
                              </p:par>
                              <p:par>
                                <p:cTn id="178" presetID="10" presetClass="entr" presetSubtype="0" fill="hold" nodeType="withEffect">
                                  <p:stCondLst>
                                    <p:cond delay="0"/>
                                  </p:stCondLst>
                                  <p:childTnLst>
                                    <p:set>
                                      <p:cBhvr>
                                        <p:cTn id="179" dur="1" fill="hold">
                                          <p:stCondLst>
                                            <p:cond delay="0"/>
                                          </p:stCondLst>
                                        </p:cTn>
                                        <p:tgtEl>
                                          <p:spTgt spid="1202484537"/>
                                        </p:tgtEl>
                                        <p:attrNameLst>
                                          <p:attrName>style.visibility</p:attrName>
                                        </p:attrNameLst>
                                      </p:cBhvr>
                                      <p:to>
                                        <p:strVal val="visible"/>
                                      </p:to>
                                    </p:set>
                                    <p:animEffect transition="in" filter="fade">
                                      <p:cBhvr>
                                        <p:cTn id="180" dur="500"/>
                                        <p:tgtEl>
                                          <p:spTgt spid="1202484537"/>
                                        </p:tgtEl>
                                      </p:cBhvr>
                                    </p:animEffect>
                                  </p:childTnLst>
                                </p:cTn>
                              </p:par>
                              <p:par>
                                <p:cTn id="181" presetID="10" presetClass="entr" presetSubtype="0" fill="hold" nodeType="withEffect">
                                  <p:stCondLst>
                                    <p:cond delay="0"/>
                                  </p:stCondLst>
                                  <p:childTnLst>
                                    <p:set>
                                      <p:cBhvr>
                                        <p:cTn id="182" dur="1" fill="hold">
                                          <p:stCondLst>
                                            <p:cond delay="0"/>
                                          </p:stCondLst>
                                        </p:cTn>
                                        <p:tgtEl>
                                          <p:spTgt spid="158209749"/>
                                        </p:tgtEl>
                                        <p:attrNameLst>
                                          <p:attrName>style.visibility</p:attrName>
                                        </p:attrNameLst>
                                      </p:cBhvr>
                                      <p:to>
                                        <p:strVal val="visible"/>
                                      </p:to>
                                    </p:set>
                                    <p:animEffect transition="in" filter="fade">
                                      <p:cBhvr>
                                        <p:cTn id="183" dur="500"/>
                                        <p:tgtEl>
                                          <p:spTgt spid="158209749"/>
                                        </p:tgtEl>
                                      </p:cBhvr>
                                    </p:animEffect>
                                  </p:childTnLst>
                                </p:cTn>
                              </p:par>
                              <p:par>
                                <p:cTn id="184" presetID="10" presetClass="entr" presetSubtype="0" fill="hold" nodeType="withEffect">
                                  <p:stCondLst>
                                    <p:cond delay="0"/>
                                  </p:stCondLst>
                                  <p:childTnLst>
                                    <p:set>
                                      <p:cBhvr>
                                        <p:cTn id="185" dur="1" fill="hold">
                                          <p:stCondLst>
                                            <p:cond delay="0"/>
                                          </p:stCondLst>
                                        </p:cTn>
                                        <p:tgtEl>
                                          <p:spTgt spid="2040050895"/>
                                        </p:tgtEl>
                                        <p:attrNameLst>
                                          <p:attrName>style.visibility</p:attrName>
                                        </p:attrNameLst>
                                      </p:cBhvr>
                                      <p:to>
                                        <p:strVal val="visible"/>
                                      </p:to>
                                    </p:set>
                                    <p:animEffect transition="in" filter="fade">
                                      <p:cBhvr>
                                        <p:cTn id="186" dur="500"/>
                                        <p:tgtEl>
                                          <p:spTgt spid="2040050895"/>
                                        </p:tgtEl>
                                      </p:cBhvr>
                                    </p:animEffect>
                                  </p:childTnLst>
                                </p:cTn>
                              </p:par>
                              <p:par>
                                <p:cTn id="187" presetID="10" presetClass="entr" presetSubtype="0" fill="hold" nodeType="withEffect">
                                  <p:stCondLst>
                                    <p:cond delay="0"/>
                                  </p:stCondLst>
                                  <p:childTnLst>
                                    <p:set>
                                      <p:cBhvr>
                                        <p:cTn id="188" dur="1" fill="hold">
                                          <p:stCondLst>
                                            <p:cond delay="0"/>
                                          </p:stCondLst>
                                        </p:cTn>
                                        <p:tgtEl>
                                          <p:spTgt spid="40555080"/>
                                        </p:tgtEl>
                                        <p:attrNameLst>
                                          <p:attrName>style.visibility</p:attrName>
                                        </p:attrNameLst>
                                      </p:cBhvr>
                                      <p:to>
                                        <p:strVal val="visible"/>
                                      </p:to>
                                    </p:set>
                                    <p:animEffect transition="in" filter="fade">
                                      <p:cBhvr>
                                        <p:cTn id="189" dur="500"/>
                                        <p:tgtEl>
                                          <p:spTgt spid="40555080"/>
                                        </p:tgtEl>
                                      </p:cBhvr>
                                    </p:animEffect>
                                  </p:childTnLst>
                                </p:cTn>
                              </p:par>
                              <p:par>
                                <p:cTn id="190" presetID="10" presetClass="entr" presetSubtype="0" fill="hold" nodeType="withEffect">
                                  <p:stCondLst>
                                    <p:cond delay="0"/>
                                  </p:stCondLst>
                                  <p:childTnLst>
                                    <p:set>
                                      <p:cBhvr>
                                        <p:cTn id="191" dur="1" fill="hold">
                                          <p:stCondLst>
                                            <p:cond delay="0"/>
                                          </p:stCondLst>
                                        </p:cTn>
                                        <p:tgtEl>
                                          <p:spTgt spid="647717348"/>
                                        </p:tgtEl>
                                        <p:attrNameLst>
                                          <p:attrName>style.visibility</p:attrName>
                                        </p:attrNameLst>
                                      </p:cBhvr>
                                      <p:to>
                                        <p:strVal val="visible"/>
                                      </p:to>
                                    </p:set>
                                    <p:animEffect transition="in" filter="fade">
                                      <p:cBhvr>
                                        <p:cTn id="192" dur="500"/>
                                        <p:tgtEl>
                                          <p:spTgt spid="647717348"/>
                                        </p:tgtEl>
                                      </p:cBhvr>
                                    </p:animEffect>
                                  </p:childTnLst>
                                </p:cTn>
                              </p:par>
                              <p:par>
                                <p:cTn id="193" presetID="10" presetClass="entr" presetSubtype="0" fill="hold" nodeType="withEffect">
                                  <p:stCondLst>
                                    <p:cond delay="0"/>
                                  </p:stCondLst>
                                  <p:childTnLst>
                                    <p:set>
                                      <p:cBhvr>
                                        <p:cTn id="194" dur="1" fill="hold">
                                          <p:stCondLst>
                                            <p:cond delay="0"/>
                                          </p:stCondLst>
                                        </p:cTn>
                                        <p:tgtEl>
                                          <p:spTgt spid="526725503"/>
                                        </p:tgtEl>
                                        <p:attrNameLst>
                                          <p:attrName>style.visibility</p:attrName>
                                        </p:attrNameLst>
                                      </p:cBhvr>
                                      <p:to>
                                        <p:strVal val="visible"/>
                                      </p:to>
                                    </p:set>
                                    <p:animEffect transition="in" filter="fade">
                                      <p:cBhvr>
                                        <p:cTn id="195" dur="500"/>
                                        <p:tgtEl>
                                          <p:spTgt spid="526725503"/>
                                        </p:tgtEl>
                                      </p:cBhvr>
                                    </p:animEffect>
                                  </p:childTnLst>
                                </p:cTn>
                              </p:par>
                              <p:par>
                                <p:cTn id="196" presetID="10" presetClass="entr" presetSubtype="0" fill="hold" nodeType="withEffect">
                                  <p:stCondLst>
                                    <p:cond delay="0"/>
                                  </p:stCondLst>
                                  <p:childTnLst>
                                    <p:set>
                                      <p:cBhvr>
                                        <p:cTn id="197" dur="1" fill="hold">
                                          <p:stCondLst>
                                            <p:cond delay="0"/>
                                          </p:stCondLst>
                                        </p:cTn>
                                        <p:tgtEl>
                                          <p:spTgt spid="2036092619"/>
                                        </p:tgtEl>
                                        <p:attrNameLst>
                                          <p:attrName>style.visibility</p:attrName>
                                        </p:attrNameLst>
                                      </p:cBhvr>
                                      <p:to>
                                        <p:strVal val="visible"/>
                                      </p:to>
                                    </p:set>
                                    <p:animEffect transition="in" filter="fade">
                                      <p:cBhvr>
                                        <p:cTn id="198" dur="500"/>
                                        <p:tgtEl>
                                          <p:spTgt spid="2036092619"/>
                                        </p:tgtEl>
                                      </p:cBhvr>
                                    </p:animEffect>
                                  </p:childTnLst>
                                </p:cTn>
                              </p:par>
                              <p:par>
                                <p:cTn id="199" presetID="10" presetClass="entr" presetSubtype="0" fill="hold" nodeType="withEffect">
                                  <p:stCondLst>
                                    <p:cond delay="0"/>
                                  </p:stCondLst>
                                  <p:childTnLst>
                                    <p:set>
                                      <p:cBhvr>
                                        <p:cTn id="200" dur="1" fill="hold">
                                          <p:stCondLst>
                                            <p:cond delay="0"/>
                                          </p:stCondLst>
                                        </p:cTn>
                                        <p:tgtEl>
                                          <p:spTgt spid="496319986"/>
                                        </p:tgtEl>
                                        <p:attrNameLst>
                                          <p:attrName>style.visibility</p:attrName>
                                        </p:attrNameLst>
                                      </p:cBhvr>
                                      <p:to>
                                        <p:strVal val="visible"/>
                                      </p:to>
                                    </p:set>
                                    <p:animEffect transition="in" filter="fade">
                                      <p:cBhvr>
                                        <p:cTn id="201" dur="500"/>
                                        <p:tgtEl>
                                          <p:spTgt spid="496319986"/>
                                        </p:tgtEl>
                                      </p:cBhvr>
                                    </p:animEffect>
                                  </p:childTnLst>
                                </p:cTn>
                              </p:par>
                              <p:par>
                                <p:cTn id="202" presetID="10" presetClass="entr" presetSubtype="0" fill="hold" nodeType="withEffect">
                                  <p:stCondLst>
                                    <p:cond delay="0"/>
                                  </p:stCondLst>
                                  <p:childTnLst>
                                    <p:set>
                                      <p:cBhvr>
                                        <p:cTn id="203" dur="1" fill="hold">
                                          <p:stCondLst>
                                            <p:cond delay="0"/>
                                          </p:stCondLst>
                                        </p:cTn>
                                        <p:tgtEl>
                                          <p:spTgt spid="1265633201"/>
                                        </p:tgtEl>
                                        <p:attrNameLst>
                                          <p:attrName>style.visibility</p:attrName>
                                        </p:attrNameLst>
                                      </p:cBhvr>
                                      <p:to>
                                        <p:strVal val="visible"/>
                                      </p:to>
                                    </p:set>
                                    <p:animEffect transition="in" filter="fade">
                                      <p:cBhvr>
                                        <p:cTn id="204" dur="500"/>
                                        <p:tgtEl>
                                          <p:spTgt spid="1265633201"/>
                                        </p:tgtEl>
                                      </p:cBhvr>
                                    </p:animEffect>
                                  </p:childTnLst>
                                </p:cTn>
                              </p:par>
                              <p:par>
                                <p:cTn id="205" presetID="10" presetClass="entr" presetSubtype="0" fill="hold" nodeType="withEffect">
                                  <p:stCondLst>
                                    <p:cond delay="0"/>
                                  </p:stCondLst>
                                  <p:childTnLst>
                                    <p:set>
                                      <p:cBhvr>
                                        <p:cTn id="206" dur="1" fill="hold">
                                          <p:stCondLst>
                                            <p:cond delay="0"/>
                                          </p:stCondLst>
                                        </p:cTn>
                                        <p:tgtEl>
                                          <p:spTgt spid="311440089"/>
                                        </p:tgtEl>
                                        <p:attrNameLst>
                                          <p:attrName>style.visibility</p:attrName>
                                        </p:attrNameLst>
                                      </p:cBhvr>
                                      <p:to>
                                        <p:strVal val="visible"/>
                                      </p:to>
                                    </p:set>
                                    <p:animEffect transition="in" filter="fade">
                                      <p:cBhvr>
                                        <p:cTn id="207" dur="500"/>
                                        <p:tgtEl>
                                          <p:spTgt spid="311440089"/>
                                        </p:tgtEl>
                                      </p:cBhvr>
                                    </p:animEffect>
                                  </p:childTnLst>
                                </p:cTn>
                              </p:par>
                              <p:par>
                                <p:cTn id="208" presetID="10" presetClass="entr" presetSubtype="0" fill="hold" nodeType="withEffect">
                                  <p:stCondLst>
                                    <p:cond delay="0"/>
                                  </p:stCondLst>
                                  <p:childTnLst>
                                    <p:set>
                                      <p:cBhvr>
                                        <p:cTn id="209" dur="1" fill="hold">
                                          <p:stCondLst>
                                            <p:cond delay="0"/>
                                          </p:stCondLst>
                                        </p:cTn>
                                        <p:tgtEl>
                                          <p:spTgt spid="979395402"/>
                                        </p:tgtEl>
                                        <p:attrNameLst>
                                          <p:attrName>style.visibility</p:attrName>
                                        </p:attrNameLst>
                                      </p:cBhvr>
                                      <p:to>
                                        <p:strVal val="visible"/>
                                      </p:to>
                                    </p:set>
                                    <p:animEffect transition="in" filter="fade">
                                      <p:cBhvr>
                                        <p:cTn id="210" dur="500"/>
                                        <p:tgtEl>
                                          <p:spTgt spid="979395402"/>
                                        </p:tgtEl>
                                      </p:cBhvr>
                                    </p:animEffect>
                                  </p:childTnLst>
                                </p:cTn>
                              </p:par>
                              <p:par>
                                <p:cTn id="211" presetID="10" presetClass="entr" presetSubtype="0" fill="hold" nodeType="withEffect">
                                  <p:stCondLst>
                                    <p:cond delay="0"/>
                                  </p:stCondLst>
                                  <p:childTnLst>
                                    <p:set>
                                      <p:cBhvr>
                                        <p:cTn id="212" dur="1" fill="hold">
                                          <p:stCondLst>
                                            <p:cond delay="0"/>
                                          </p:stCondLst>
                                        </p:cTn>
                                        <p:tgtEl>
                                          <p:spTgt spid="1415044124"/>
                                        </p:tgtEl>
                                        <p:attrNameLst>
                                          <p:attrName>style.visibility</p:attrName>
                                        </p:attrNameLst>
                                      </p:cBhvr>
                                      <p:to>
                                        <p:strVal val="visible"/>
                                      </p:to>
                                    </p:set>
                                    <p:animEffect transition="in" filter="fade">
                                      <p:cBhvr>
                                        <p:cTn id="213" dur="500"/>
                                        <p:tgtEl>
                                          <p:spTgt spid="1415044124"/>
                                        </p:tgtEl>
                                      </p:cBhvr>
                                    </p:animEffect>
                                  </p:childTnLst>
                                </p:cTn>
                              </p:par>
                              <p:par>
                                <p:cTn id="214" presetID="10" presetClass="entr" presetSubtype="0" fill="hold" nodeType="withEffect">
                                  <p:stCondLst>
                                    <p:cond delay="0"/>
                                  </p:stCondLst>
                                  <p:childTnLst>
                                    <p:set>
                                      <p:cBhvr>
                                        <p:cTn id="215" dur="1" fill="hold">
                                          <p:stCondLst>
                                            <p:cond delay="0"/>
                                          </p:stCondLst>
                                        </p:cTn>
                                        <p:tgtEl>
                                          <p:spTgt spid="102977539"/>
                                        </p:tgtEl>
                                        <p:attrNameLst>
                                          <p:attrName>style.visibility</p:attrName>
                                        </p:attrNameLst>
                                      </p:cBhvr>
                                      <p:to>
                                        <p:strVal val="visible"/>
                                      </p:to>
                                    </p:set>
                                    <p:animEffect transition="in" filter="fade">
                                      <p:cBhvr>
                                        <p:cTn id="216" dur="500"/>
                                        <p:tgtEl>
                                          <p:spTgt spid="102977539"/>
                                        </p:tgtEl>
                                      </p:cBhvr>
                                    </p:animEffect>
                                  </p:childTnLst>
                                </p:cTn>
                              </p:par>
                              <p:par>
                                <p:cTn id="217" presetID="10" presetClass="entr" presetSubtype="0" fill="hold" nodeType="withEffect">
                                  <p:stCondLst>
                                    <p:cond delay="0"/>
                                  </p:stCondLst>
                                  <p:childTnLst>
                                    <p:set>
                                      <p:cBhvr>
                                        <p:cTn id="218" dur="1" fill="hold">
                                          <p:stCondLst>
                                            <p:cond delay="0"/>
                                          </p:stCondLst>
                                        </p:cTn>
                                        <p:tgtEl>
                                          <p:spTgt spid="1164729574"/>
                                        </p:tgtEl>
                                        <p:attrNameLst>
                                          <p:attrName>style.visibility</p:attrName>
                                        </p:attrNameLst>
                                      </p:cBhvr>
                                      <p:to>
                                        <p:strVal val="visible"/>
                                      </p:to>
                                    </p:set>
                                    <p:animEffect transition="in" filter="fade">
                                      <p:cBhvr>
                                        <p:cTn id="219" dur="500"/>
                                        <p:tgtEl>
                                          <p:spTgt spid="1164729574"/>
                                        </p:tgtEl>
                                      </p:cBhvr>
                                    </p:animEffect>
                                  </p:childTnLst>
                                </p:cTn>
                              </p:par>
                              <p:par>
                                <p:cTn id="220" presetID="10" presetClass="entr" presetSubtype="0" fill="hold" nodeType="withEffect">
                                  <p:stCondLst>
                                    <p:cond delay="0"/>
                                  </p:stCondLst>
                                  <p:childTnLst>
                                    <p:set>
                                      <p:cBhvr>
                                        <p:cTn id="221" dur="1" fill="hold">
                                          <p:stCondLst>
                                            <p:cond delay="0"/>
                                          </p:stCondLst>
                                        </p:cTn>
                                        <p:tgtEl>
                                          <p:spTgt spid="1781076993"/>
                                        </p:tgtEl>
                                        <p:attrNameLst>
                                          <p:attrName>style.visibility</p:attrName>
                                        </p:attrNameLst>
                                      </p:cBhvr>
                                      <p:to>
                                        <p:strVal val="visible"/>
                                      </p:to>
                                    </p:set>
                                    <p:animEffect transition="in" filter="fade">
                                      <p:cBhvr>
                                        <p:cTn id="222" dur="500"/>
                                        <p:tgtEl>
                                          <p:spTgt spid="1781076993"/>
                                        </p:tgtEl>
                                      </p:cBhvr>
                                    </p:animEffect>
                                  </p:childTnLst>
                                </p:cTn>
                              </p:par>
                              <p:par>
                                <p:cTn id="223" presetID="10" presetClass="entr" presetSubtype="0" fill="hold" nodeType="withEffect">
                                  <p:stCondLst>
                                    <p:cond delay="0"/>
                                  </p:stCondLst>
                                  <p:childTnLst>
                                    <p:set>
                                      <p:cBhvr>
                                        <p:cTn id="224" dur="1" fill="hold">
                                          <p:stCondLst>
                                            <p:cond delay="0"/>
                                          </p:stCondLst>
                                        </p:cTn>
                                        <p:tgtEl>
                                          <p:spTgt spid="354899504"/>
                                        </p:tgtEl>
                                        <p:attrNameLst>
                                          <p:attrName>style.visibility</p:attrName>
                                        </p:attrNameLst>
                                      </p:cBhvr>
                                      <p:to>
                                        <p:strVal val="visible"/>
                                      </p:to>
                                    </p:set>
                                    <p:animEffect transition="in" filter="fade">
                                      <p:cBhvr>
                                        <p:cTn id="225" dur="500"/>
                                        <p:tgtEl>
                                          <p:spTgt spid="354899504"/>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2023146537"/>
                                        </p:tgtEl>
                                        <p:attrNameLst>
                                          <p:attrName>style.visibility</p:attrName>
                                        </p:attrNameLst>
                                      </p:cBhvr>
                                      <p:to>
                                        <p:strVal val="visible"/>
                                      </p:to>
                                    </p:set>
                                    <p:animEffect transition="in" filter="fade">
                                      <p:cBhvr>
                                        <p:cTn id="228" dur="500"/>
                                        <p:tgtEl>
                                          <p:spTgt spid="2023146537"/>
                                        </p:tgtEl>
                                      </p:cBhvr>
                                    </p:animEffect>
                                  </p:childTnLst>
                                </p:cTn>
                              </p:par>
                            </p:childTnLst>
                          </p:cTn>
                        </p:par>
                      </p:childTnLst>
                    </p:cTn>
                  </p:par>
                  <p:par>
                    <p:cTn id="229" fill="hold">
                      <p:stCondLst>
                        <p:cond delay="indefinite"/>
                      </p:stCondLst>
                      <p:childTnLst>
                        <p:par>
                          <p:cTn id="230" fill="hold">
                            <p:stCondLst>
                              <p:cond delay="0"/>
                            </p:stCondLst>
                            <p:childTnLst>
                              <p:par>
                                <p:cTn id="231" presetID="7" presetClass="emph" presetSubtype="2" fill="hold" nodeType="clickEffect">
                                  <p:stCondLst>
                                    <p:cond delay="0"/>
                                  </p:stCondLst>
                                  <p:childTnLst>
                                    <p:animClr clrSpc="rgb" dir="cw">
                                      <p:cBhvr>
                                        <p:cTn id="232" dur="2000" fill="hold"/>
                                        <p:tgtEl>
                                          <p:spTgt spid="1380123621"/>
                                        </p:tgtEl>
                                        <p:attrNameLst>
                                          <p:attrName>stroke.color</p:attrName>
                                        </p:attrNameLst>
                                      </p:cBhvr>
                                      <p:to>
                                        <a:srgbClr val="00CCFF"/>
                                      </p:to>
                                    </p:animClr>
                                    <p:set>
                                      <p:cBhvr>
                                        <p:cTn id="233" dur="2000" fill="hold"/>
                                        <p:tgtEl>
                                          <p:spTgt spid="1380123621"/>
                                        </p:tgtEl>
                                        <p:attrNameLst>
                                          <p:attrName>stroke.on</p:attrName>
                                        </p:attrNameLst>
                                      </p:cBhvr>
                                      <p:to>
                                        <p:strVal val="true"/>
                                      </p:to>
                                    </p:set>
                                  </p:childTnLst>
                                </p:cTn>
                              </p:par>
                              <p:par>
                                <p:cTn id="234" presetID="7" presetClass="emph" presetSubtype="2" fill="hold" nodeType="withEffect">
                                  <p:stCondLst>
                                    <p:cond delay="0"/>
                                  </p:stCondLst>
                                  <p:childTnLst>
                                    <p:animClr clrSpc="rgb" dir="cw">
                                      <p:cBhvr>
                                        <p:cTn id="235" dur="2000" fill="hold"/>
                                        <p:tgtEl>
                                          <p:spTgt spid="76577112"/>
                                        </p:tgtEl>
                                        <p:attrNameLst>
                                          <p:attrName>stroke.color</p:attrName>
                                        </p:attrNameLst>
                                      </p:cBhvr>
                                      <p:to>
                                        <a:srgbClr val="800000"/>
                                      </p:to>
                                    </p:animClr>
                                    <p:set>
                                      <p:cBhvr>
                                        <p:cTn id="236" dur="2000" fill="hold"/>
                                        <p:tgtEl>
                                          <p:spTgt spid="76577112"/>
                                        </p:tgtEl>
                                        <p:attrNameLst>
                                          <p:attrName>stroke.on</p:attrName>
                                        </p:attrNameLst>
                                      </p:cBhvr>
                                      <p:to>
                                        <p:strVal val="true"/>
                                      </p:to>
                                    </p:set>
                                  </p:childTnLst>
                                </p:cTn>
                              </p:par>
                              <p:par>
                                <p:cTn id="237" presetID="7" presetClass="emph" presetSubtype="2" fill="hold" nodeType="withEffect">
                                  <p:stCondLst>
                                    <p:cond delay="0"/>
                                  </p:stCondLst>
                                  <p:childTnLst>
                                    <p:animClr clrSpc="rgb" dir="cw">
                                      <p:cBhvr>
                                        <p:cTn id="238" dur="2000" fill="hold"/>
                                        <p:tgtEl>
                                          <p:spTgt spid="612332307"/>
                                        </p:tgtEl>
                                        <p:attrNameLst>
                                          <p:attrName>stroke.color</p:attrName>
                                        </p:attrNameLst>
                                      </p:cBhvr>
                                      <p:to>
                                        <a:srgbClr val="9933FF"/>
                                      </p:to>
                                    </p:animClr>
                                    <p:set>
                                      <p:cBhvr>
                                        <p:cTn id="239" dur="2000" fill="hold"/>
                                        <p:tgtEl>
                                          <p:spTgt spid="612332307"/>
                                        </p:tgtEl>
                                        <p:attrNameLst>
                                          <p:attrName>stroke.on</p:attrName>
                                        </p:attrNameLst>
                                      </p:cBhvr>
                                      <p:to>
                                        <p:strVal val="true"/>
                                      </p:to>
                                    </p:set>
                                  </p:childTnLst>
                                </p:cTn>
                              </p:par>
                              <p:par>
                                <p:cTn id="240" presetID="7" presetClass="emph" presetSubtype="2" fill="hold" nodeType="withEffect">
                                  <p:stCondLst>
                                    <p:cond delay="0"/>
                                  </p:stCondLst>
                                  <p:childTnLst>
                                    <p:animClr clrSpc="rgb" dir="cw">
                                      <p:cBhvr>
                                        <p:cTn id="241" dur="2000" fill="hold"/>
                                        <p:tgtEl>
                                          <p:spTgt spid="1352194799"/>
                                        </p:tgtEl>
                                        <p:attrNameLst>
                                          <p:attrName>stroke.color</p:attrName>
                                        </p:attrNameLst>
                                      </p:cBhvr>
                                      <p:to>
                                        <a:schemeClr val="accent2"/>
                                      </p:to>
                                    </p:animClr>
                                    <p:set>
                                      <p:cBhvr>
                                        <p:cTn id="242" dur="2000" fill="hold"/>
                                        <p:tgtEl>
                                          <p:spTgt spid="1352194799"/>
                                        </p:tgtEl>
                                        <p:attrNameLst>
                                          <p:attrName>stroke.on</p:attrName>
                                        </p:attrNameLst>
                                      </p:cBhvr>
                                      <p:to>
                                        <p:strVal val="true"/>
                                      </p:to>
                                    </p:set>
                                  </p:childTnLst>
                                </p:cTn>
                              </p:par>
                              <p:par>
                                <p:cTn id="243" presetID="7" presetClass="emph" presetSubtype="2" fill="hold" nodeType="withEffect">
                                  <p:stCondLst>
                                    <p:cond delay="0"/>
                                  </p:stCondLst>
                                  <p:childTnLst>
                                    <p:animClr clrSpc="rgb" dir="cw">
                                      <p:cBhvr>
                                        <p:cTn id="244" dur="2000" fill="hold"/>
                                        <p:tgtEl>
                                          <p:spTgt spid="100638357"/>
                                        </p:tgtEl>
                                        <p:attrNameLst>
                                          <p:attrName>stroke.color</p:attrName>
                                        </p:attrNameLst>
                                      </p:cBhvr>
                                      <p:to>
                                        <a:srgbClr val="339933"/>
                                      </p:to>
                                    </p:animClr>
                                    <p:set>
                                      <p:cBhvr>
                                        <p:cTn id="245" dur="2000" fill="hold"/>
                                        <p:tgtEl>
                                          <p:spTgt spid="100638357"/>
                                        </p:tgtEl>
                                        <p:attrNameLst>
                                          <p:attrName>stroke.on</p:attrName>
                                        </p:attrNameLst>
                                      </p:cBhvr>
                                      <p:to>
                                        <p:strVal val="true"/>
                                      </p:to>
                                    </p:set>
                                  </p:childTnLst>
                                </p:cTn>
                              </p:par>
                              <p:par>
                                <p:cTn id="246" presetID="7" presetClass="emph" presetSubtype="2" fill="hold" nodeType="withEffect">
                                  <p:stCondLst>
                                    <p:cond delay="0"/>
                                  </p:stCondLst>
                                  <p:childTnLst>
                                    <p:animClr clrSpc="rgb" dir="cw">
                                      <p:cBhvr>
                                        <p:cTn id="247" dur="2000" fill="hold"/>
                                        <p:tgtEl>
                                          <p:spTgt spid="161277537"/>
                                        </p:tgtEl>
                                        <p:attrNameLst>
                                          <p:attrName>stroke.color</p:attrName>
                                        </p:attrNameLst>
                                      </p:cBhvr>
                                      <p:to>
                                        <a:schemeClr val="accent2"/>
                                      </p:to>
                                    </p:animClr>
                                    <p:set>
                                      <p:cBhvr>
                                        <p:cTn id="248" dur="2000" fill="hold"/>
                                        <p:tgtEl>
                                          <p:spTgt spid="161277537"/>
                                        </p:tgtEl>
                                        <p:attrNameLst>
                                          <p:attrName>stroke.on</p:attrName>
                                        </p:attrNameLst>
                                      </p:cBhvr>
                                      <p:to>
                                        <p:strVal val="true"/>
                                      </p:to>
                                    </p:set>
                                  </p:childTnLst>
                                </p:cTn>
                              </p:par>
                              <p:par>
                                <p:cTn id="249" presetID="7" presetClass="emph" presetSubtype="2" fill="hold" nodeType="withEffect">
                                  <p:stCondLst>
                                    <p:cond delay="0"/>
                                  </p:stCondLst>
                                  <p:childTnLst>
                                    <p:animClr clrSpc="rgb" dir="cw">
                                      <p:cBhvr>
                                        <p:cTn id="250" dur="2000" fill="hold"/>
                                        <p:tgtEl>
                                          <p:spTgt spid="1598689494"/>
                                        </p:tgtEl>
                                        <p:attrNameLst>
                                          <p:attrName>stroke.color</p:attrName>
                                        </p:attrNameLst>
                                      </p:cBhvr>
                                      <p:to>
                                        <a:srgbClr val="FF6600"/>
                                      </p:to>
                                    </p:animClr>
                                    <p:set>
                                      <p:cBhvr>
                                        <p:cTn id="251" dur="2000" fill="hold"/>
                                        <p:tgtEl>
                                          <p:spTgt spid="1598689494"/>
                                        </p:tgtEl>
                                        <p:attrNameLst>
                                          <p:attrName>stroke.on</p:attrName>
                                        </p:attrNameLst>
                                      </p:cBhvr>
                                      <p:to>
                                        <p:strVal val="true"/>
                                      </p:to>
                                    </p:set>
                                  </p:childTnLst>
                                </p:cTn>
                              </p:par>
                              <p:par>
                                <p:cTn id="252" presetID="7" presetClass="emph" presetSubtype="2" fill="hold" nodeType="withEffect">
                                  <p:stCondLst>
                                    <p:cond delay="0"/>
                                  </p:stCondLst>
                                  <p:childTnLst>
                                    <p:animClr clrSpc="rgb" dir="cw">
                                      <p:cBhvr>
                                        <p:cTn id="253" dur="2000" fill="hold"/>
                                        <p:tgtEl>
                                          <p:spTgt spid="1456402105"/>
                                        </p:tgtEl>
                                        <p:attrNameLst>
                                          <p:attrName>stroke.color</p:attrName>
                                        </p:attrNameLst>
                                      </p:cBhvr>
                                      <p:to>
                                        <a:schemeClr val="accent2"/>
                                      </p:to>
                                    </p:animClr>
                                    <p:set>
                                      <p:cBhvr>
                                        <p:cTn id="254" dur="2000" fill="hold"/>
                                        <p:tgtEl>
                                          <p:spTgt spid="1456402105"/>
                                        </p:tgtEl>
                                        <p:attrNameLst>
                                          <p:attrName>stroke.on</p:attrName>
                                        </p:attrNameLst>
                                      </p:cBhvr>
                                      <p:to>
                                        <p:strVal val="true"/>
                                      </p:to>
                                    </p:set>
                                  </p:childTnLst>
                                </p:cTn>
                              </p:par>
                              <p:par>
                                <p:cTn id="255" presetID="7" presetClass="emph" presetSubtype="2" fill="hold" nodeType="withEffect">
                                  <p:stCondLst>
                                    <p:cond delay="0"/>
                                  </p:stCondLst>
                                  <p:childTnLst>
                                    <p:animClr clrSpc="rgb" dir="cw">
                                      <p:cBhvr>
                                        <p:cTn id="256" dur="2000" fill="hold"/>
                                        <p:tgtEl>
                                          <p:spTgt spid="1615956982"/>
                                        </p:tgtEl>
                                        <p:attrNameLst>
                                          <p:attrName>stroke.color</p:attrName>
                                        </p:attrNameLst>
                                      </p:cBhvr>
                                      <p:to>
                                        <a:srgbClr val="9933FF"/>
                                      </p:to>
                                    </p:animClr>
                                    <p:set>
                                      <p:cBhvr>
                                        <p:cTn id="257" dur="2000" fill="hold"/>
                                        <p:tgtEl>
                                          <p:spTgt spid="1615956982"/>
                                        </p:tgtEl>
                                        <p:attrNameLst>
                                          <p:attrName>stroke.on</p:attrName>
                                        </p:attrNameLst>
                                      </p:cBhvr>
                                      <p:to>
                                        <p:strVal val="true"/>
                                      </p:to>
                                    </p:set>
                                  </p:childTnLst>
                                </p:cTn>
                              </p:par>
                              <p:par>
                                <p:cTn id="258" presetID="7" presetClass="emph" presetSubtype="2" fill="hold" nodeType="withEffect">
                                  <p:stCondLst>
                                    <p:cond delay="0"/>
                                  </p:stCondLst>
                                  <p:childTnLst>
                                    <p:animClr clrSpc="rgb" dir="cw">
                                      <p:cBhvr>
                                        <p:cTn id="259" dur="2000" fill="hold"/>
                                        <p:tgtEl>
                                          <p:spTgt spid="645257667"/>
                                        </p:tgtEl>
                                        <p:attrNameLst>
                                          <p:attrName>stroke.color</p:attrName>
                                        </p:attrNameLst>
                                      </p:cBhvr>
                                      <p:to>
                                        <a:srgbClr val="FF6600"/>
                                      </p:to>
                                    </p:animClr>
                                    <p:set>
                                      <p:cBhvr>
                                        <p:cTn id="260" dur="2000" fill="hold"/>
                                        <p:tgtEl>
                                          <p:spTgt spid="645257667"/>
                                        </p:tgtEl>
                                        <p:attrNameLst>
                                          <p:attrName>stroke.on</p:attrName>
                                        </p:attrNameLst>
                                      </p:cBhvr>
                                      <p:to>
                                        <p:strVal val="true"/>
                                      </p:to>
                                    </p:set>
                                  </p:childTnLst>
                                </p:cTn>
                              </p:par>
                              <p:par>
                                <p:cTn id="261" presetID="7" presetClass="emph" presetSubtype="2" fill="hold" nodeType="withEffect">
                                  <p:stCondLst>
                                    <p:cond delay="0"/>
                                  </p:stCondLst>
                                  <p:childTnLst>
                                    <p:animClr clrSpc="rgb" dir="cw">
                                      <p:cBhvr>
                                        <p:cTn id="262" dur="2000" fill="hold"/>
                                        <p:tgtEl>
                                          <p:spTgt spid="1209541953"/>
                                        </p:tgtEl>
                                        <p:attrNameLst>
                                          <p:attrName>stroke.color</p:attrName>
                                        </p:attrNameLst>
                                      </p:cBhvr>
                                      <p:to>
                                        <a:schemeClr val="accent2"/>
                                      </p:to>
                                    </p:animClr>
                                    <p:set>
                                      <p:cBhvr>
                                        <p:cTn id="263" dur="2000" fill="hold"/>
                                        <p:tgtEl>
                                          <p:spTgt spid="1209541953"/>
                                        </p:tgtEl>
                                        <p:attrNameLst>
                                          <p:attrName>stroke.on</p:attrName>
                                        </p:attrNameLst>
                                      </p:cBhvr>
                                      <p:to>
                                        <p:strVal val="true"/>
                                      </p:to>
                                    </p:set>
                                  </p:childTnLst>
                                </p:cTn>
                              </p:par>
                              <p:par>
                                <p:cTn id="264" presetID="7" presetClass="emph" presetSubtype="2" fill="hold" nodeType="withEffect">
                                  <p:stCondLst>
                                    <p:cond delay="0"/>
                                  </p:stCondLst>
                                  <p:childTnLst>
                                    <p:animClr clrSpc="rgb" dir="cw">
                                      <p:cBhvr>
                                        <p:cTn id="265" dur="2000" fill="hold"/>
                                        <p:tgtEl>
                                          <p:spTgt spid="816769369"/>
                                        </p:tgtEl>
                                        <p:attrNameLst>
                                          <p:attrName>stroke.color</p:attrName>
                                        </p:attrNameLst>
                                      </p:cBhvr>
                                      <p:to>
                                        <a:schemeClr val="accent2"/>
                                      </p:to>
                                    </p:animClr>
                                    <p:set>
                                      <p:cBhvr>
                                        <p:cTn id="266" dur="2000" fill="hold"/>
                                        <p:tgtEl>
                                          <p:spTgt spid="816769369"/>
                                        </p:tgtEl>
                                        <p:attrNameLst>
                                          <p:attrName>stroke.on</p:attrName>
                                        </p:attrNameLst>
                                      </p:cBhvr>
                                      <p:to>
                                        <p:strVal val="true"/>
                                      </p:to>
                                    </p:set>
                                  </p:childTnLst>
                                </p:cTn>
                              </p:par>
                              <p:par>
                                <p:cTn id="267" presetID="7" presetClass="emph" presetSubtype="2" fill="hold" nodeType="withEffect">
                                  <p:stCondLst>
                                    <p:cond delay="0"/>
                                  </p:stCondLst>
                                  <p:childTnLst>
                                    <p:animClr clrSpc="rgb" dir="cw">
                                      <p:cBhvr>
                                        <p:cTn id="268" dur="2000" fill="hold"/>
                                        <p:tgtEl>
                                          <p:spTgt spid="541791768"/>
                                        </p:tgtEl>
                                        <p:attrNameLst>
                                          <p:attrName>stroke.color</p:attrName>
                                        </p:attrNameLst>
                                      </p:cBhvr>
                                      <p:to>
                                        <a:srgbClr val="003399"/>
                                      </p:to>
                                    </p:animClr>
                                    <p:set>
                                      <p:cBhvr>
                                        <p:cTn id="269" dur="2000" fill="hold"/>
                                        <p:tgtEl>
                                          <p:spTgt spid="541791768"/>
                                        </p:tgtEl>
                                        <p:attrNameLst>
                                          <p:attrName>stroke.on</p:attrName>
                                        </p:attrNameLst>
                                      </p:cBhvr>
                                      <p:to>
                                        <p:strVal val="true"/>
                                      </p:to>
                                    </p:set>
                                  </p:childTnLst>
                                </p:cTn>
                              </p:par>
                              <p:par>
                                <p:cTn id="270" presetID="7" presetClass="emph" presetSubtype="2" fill="hold" nodeType="withEffect">
                                  <p:stCondLst>
                                    <p:cond delay="0"/>
                                  </p:stCondLst>
                                  <p:childTnLst>
                                    <p:animClr clrSpc="rgb" dir="cw">
                                      <p:cBhvr>
                                        <p:cTn id="271" dur="2000" fill="hold"/>
                                        <p:tgtEl>
                                          <p:spTgt spid="942813025"/>
                                        </p:tgtEl>
                                        <p:attrNameLst>
                                          <p:attrName>stroke.color</p:attrName>
                                        </p:attrNameLst>
                                      </p:cBhvr>
                                      <p:to>
                                        <a:srgbClr val="9933FF"/>
                                      </p:to>
                                    </p:animClr>
                                    <p:set>
                                      <p:cBhvr>
                                        <p:cTn id="272" dur="2000" fill="hold"/>
                                        <p:tgtEl>
                                          <p:spTgt spid="942813025"/>
                                        </p:tgtEl>
                                        <p:attrNameLst>
                                          <p:attrName>stroke.on</p:attrName>
                                        </p:attrNameLst>
                                      </p:cBhvr>
                                      <p:to>
                                        <p:strVal val="true"/>
                                      </p:to>
                                    </p:set>
                                  </p:childTnLst>
                                </p:cTn>
                              </p:par>
                              <p:par>
                                <p:cTn id="273" presetID="7" presetClass="emph" presetSubtype="2" fill="hold" nodeType="withEffect">
                                  <p:stCondLst>
                                    <p:cond delay="0"/>
                                  </p:stCondLst>
                                  <p:childTnLst>
                                    <p:animClr clrSpc="rgb" dir="cw">
                                      <p:cBhvr>
                                        <p:cTn id="274" dur="2000" fill="hold"/>
                                        <p:tgtEl>
                                          <p:spTgt spid="914066343"/>
                                        </p:tgtEl>
                                        <p:attrNameLst>
                                          <p:attrName>stroke.color</p:attrName>
                                        </p:attrNameLst>
                                      </p:cBhvr>
                                      <p:to>
                                        <a:srgbClr val="FF6600"/>
                                      </p:to>
                                    </p:animClr>
                                    <p:set>
                                      <p:cBhvr>
                                        <p:cTn id="275" dur="2000" fill="hold"/>
                                        <p:tgtEl>
                                          <p:spTgt spid="914066343"/>
                                        </p:tgtEl>
                                        <p:attrNameLst>
                                          <p:attrName>stroke.on</p:attrName>
                                        </p:attrNameLst>
                                      </p:cBhvr>
                                      <p:to>
                                        <p:strVal val="true"/>
                                      </p:to>
                                    </p:set>
                                  </p:childTnLst>
                                </p:cTn>
                              </p:par>
                              <p:par>
                                <p:cTn id="276" presetID="7" presetClass="emph" presetSubtype="2" fill="hold" nodeType="withEffect">
                                  <p:stCondLst>
                                    <p:cond delay="0"/>
                                  </p:stCondLst>
                                  <p:childTnLst>
                                    <p:animClr clrSpc="rgb" dir="cw">
                                      <p:cBhvr>
                                        <p:cTn id="277" dur="2000" fill="hold"/>
                                        <p:tgtEl>
                                          <p:spTgt spid="2130744425"/>
                                        </p:tgtEl>
                                        <p:attrNameLst>
                                          <p:attrName>stroke.color</p:attrName>
                                        </p:attrNameLst>
                                      </p:cBhvr>
                                      <p:to>
                                        <a:srgbClr val="800000"/>
                                      </p:to>
                                    </p:animClr>
                                    <p:set>
                                      <p:cBhvr>
                                        <p:cTn id="278" dur="2000" fill="hold"/>
                                        <p:tgtEl>
                                          <p:spTgt spid="2130744425"/>
                                        </p:tgtEl>
                                        <p:attrNameLst>
                                          <p:attrName>stroke.on</p:attrName>
                                        </p:attrNameLst>
                                      </p:cBhvr>
                                      <p:to>
                                        <p:strVal val="true"/>
                                      </p:to>
                                    </p:set>
                                  </p:childTnLst>
                                </p:cTn>
                              </p:par>
                              <p:par>
                                <p:cTn id="279" presetID="7" presetClass="emph" presetSubtype="2" fill="hold" nodeType="withEffect">
                                  <p:stCondLst>
                                    <p:cond delay="0"/>
                                  </p:stCondLst>
                                  <p:childTnLst>
                                    <p:animClr clrSpc="rgb" dir="cw">
                                      <p:cBhvr>
                                        <p:cTn id="280" dur="2000" fill="hold"/>
                                        <p:tgtEl>
                                          <p:spTgt spid="1509248471"/>
                                        </p:tgtEl>
                                        <p:attrNameLst>
                                          <p:attrName>stroke.color</p:attrName>
                                        </p:attrNameLst>
                                      </p:cBhvr>
                                      <p:to>
                                        <a:srgbClr val="003399"/>
                                      </p:to>
                                    </p:animClr>
                                    <p:set>
                                      <p:cBhvr>
                                        <p:cTn id="281" dur="2000" fill="hold"/>
                                        <p:tgtEl>
                                          <p:spTgt spid="1509248471"/>
                                        </p:tgtEl>
                                        <p:attrNameLst>
                                          <p:attrName>stroke.on</p:attrName>
                                        </p:attrNameLst>
                                      </p:cBhvr>
                                      <p:to>
                                        <p:strVal val="true"/>
                                      </p:to>
                                    </p:set>
                                  </p:childTnLst>
                                </p:cTn>
                              </p:par>
                              <p:par>
                                <p:cTn id="282" presetID="7" presetClass="emph" presetSubtype="2" fill="hold" nodeType="withEffect">
                                  <p:stCondLst>
                                    <p:cond delay="0"/>
                                  </p:stCondLst>
                                  <p:childTnLst>
                                    <p:animClr clrSpc="rgb" dir="cw">
                                      <p:cBhvr>
                                        <p:cTn id="283" dur="2000" fill="hold"/>
                                        <p:tgtEl>
                                          <p:spTgt spid="1282156251"/>
                                        </p:tgtEl>
                                        <p:attrNameLst>
                                          <p:attrName>stroke.color</p:attrName>
                                        </p:attrNameLst>
                                      </p:cBhvr>
                                      <p:to>
                                        <a:srgbClr val="9933FF"/>
                                      </p:to>
                                    </p:animClr>
                                    <p:set>
                                      <p:cBhvr>
                                        <p:cTn id="284" dur="2000" fill="hold"/>
                                        <p:tgtEl>
                                          <p:spTgt spid="1282156251"/>
                                        </p:tgtEl>
                                        <p:attrNameLst>
                                          <p:attrName>stroke.on</p:attrName>
                                        </p:attrNameLst>
                                      </p:cBhvr>
                                      <p:to>
                                        <p:strVal val="true"/>
                                      </p:to>
                                    </p:set>
                                  </p:childTnLst>
                                </p:cTn>
                              </p:par>
                              <p:par>
                                <p:cTn id="285" presetID="7" presetClass="emph" presetSubtype="2" fill="hold" nodeType="withEffect">
                                  <p:stCondLst>
                                    <p:cond delay="0"/>
                                  </p:stCondLst>
                                  <p:childTnLst>
                                    <p:animClr clrSpc="rgb" dir="cw">
                                      <p:cBhvr>
                                        <p:cTn id="286" dur="2000" fill="hold"/>
                                        <p:tgtEl>
                                          <p:spTgt spid="419869964"/>
                                        </p:tgtEl>
                                        <p:attrNameLst>
                                          <p:attrName>stroke.color</p:attrName>
                                        </p:attrNameLst>
                                      </p:cBhvr>
                                      <p:to>
                                        <a:srgbClr val="FF6600"/>
                                      </p:to>
                                    </p:animClr>
                                    <p:set>
                                      <p:cBhvr>
                                        <p:cTn id="287" dur="2000" fill="hold"/>
                                        <p:tgtEl>
                                          <p:spTgt spid="419869964"/>
                                        </p:tgtEl>
                                        <p:attrNameLst>
                                          <p:attrName>stroke.on</p:attrName>
                                        </p:attrNameLst>
                                      </p:cBhvr>
                                      <p:to>
                                        <p:strVal val="true"/>
                                      </p:to>
                                    </p:set>
                                  </p:childTnLst>
                                </p:cTn>
                              </p:par>
                              <p:par>
                                <p:cTn id="288" presetID="7" presetClass="emph" presetSubtype="2" fill="hold" nodeType="withEffect">
                                  <p:stCondLst>
                                    <p:cond delay="0"/>
                                  </p:stCondLst>
                                  <p:childTnLst>
                                    <p:animClr clrSpc="rgb" dir="cw">
                                      <p:cBhvr>
                                        <p:cTn id="289" dur="2000" fill="hold"/>
                                        <p:tgtEl>
                                          <p:spTgt spid="1079428423"/>
                                        </p:tgtEl>
                                        <p:attrNameLst>
                                          <p:attrName>stroke.color</p:attrName>
                                        </p:attrNameLst>
                                      </p:cBhvr>
                                      <p:to>
                                        <a:srgbClr val="00CCFF"/>
                                      </p:to>
                                    </p:animClr>
                                    <p:set>
                                      <p:cBhvr>
                                        <p:cTn id="290" dur="2000" fill="hold"/>
                                        <p:tgtEl>
                                          <p:spTgt spid="1079428423"/>
                                        </p:tgtEl>
                                        <p:attrNameLst>
                                          <p:attrName>stroke.on</p:attrName>
                                        </p:attrNameLst>
                                      </p:cBhvr>
                                      <p:to>
                                        <p:strVal val="true"/>
                                      </p:to>
                                    </p:set>
                                  </p:childTnLst>
                                </p:cTn>
                              </p:par>
                              <p:par>
                                <p:cTn id="291" presetID="7" presetClass="emph" presetSubtype="2" fill="hold" nodeType="withEffect">
                                  <p:stCondLst>
                                    <p:cond delay="0"/>
                                  </p:stCondLst>
                                  <p:childTnLst>
                                    <p:animClr clrSpc="rgb" dir="cw">
                                      <p:cBhvr>
                                        <p:cTn id="292" dur="2000" fill="hold"/>
                                        <p:tgtEl>
                                          <p:spTgt spid="631727720"/>
                                        </p:tgtEl>
                                        <p:attrNameLst>
                                          <p:attrName>stroke.color</p:attrName>
                                        </p:attrNameLst>
                                      </p:cBhvr>
                                      <p:to>
                                        <a:srgbClr val="003399"/>
                                      </p:to>
                                    </p:animClr>
                                    <p:set>
                                      <p:cBhvr>
                                        <p:cTn id="293" dur="2000" fill="hold"/>
                                        <p:tgtEl>
                                          <p:spTgt spid="631727720"/>
                                        </p:tgtEl>
                                        <p:attrNameLst>
                                          <p:attrName>stroke.on</p:attrName>
                                        </p:attrNameLst>
                                      </p:cBhvr>
                                      <p:to>
                                        <p:strVal val="true"/>
                                      </p:to>
                                    </p:set>
                                  </p:childTnLst>
                                </p:cTn>
                              </p:par>
                              <p:par>
                                <p:cTn id="294" presetID="7" presetClass="emph" presetSubtype="2" fill="hold" nodeType="withEffect">
                                  <p:stCondLst>
                                    <p:cond delay="0"/>
                                  </p:stCondLst>
                                  <p:childTnLst>
                                    <p:animClr clrSpc="rgb" dir="cw">
                                      <p:cBhvr>
                                        <p:cTn id="295" dur="2000" fill="hold"/>
                                        <p:tgtEl>
                                          <p:spTgt spid="203666262"/>
                                        </p:tgtEl>
                                        <p:attrNameLst>
                                          <p:attrName>stroke.color</p:attrName>
                                        </p:attrNameLst>
                                      </p:cBhvr>
                                      <p:to>
                                        <a:srgbClr val="339933"/>
                                      </p:to>
                                    </p:animClr>
                                    <p:set>
                                      <p:cBhvr>
                                        <p:cTn id="296" dur="2000" fill="hold"/>
                                        <p:tgtEl>
                                          <p:spTgt spid="203666262"/>
                                        </p:tgtEl>
                                        <p:attrNameLst>
                                          <p:attrName>stroke.on</p:attrName>
                                        </p:attrNameLst>
                                      </p:cBhvr>
                                      <p:to>
                                        <p:strVal val="true"/>
                                      </p:to>
                                    </p:set>
                                  </p:childTnLst>
                                </p:cTn>
                              </p:par>
                              <p:par>
                                <p:cTn id="297" presetID="7" presetClass="emph" presetSubtype="2" fill="hold" nodeType="withEffect">
                                  <p:stCondLst>
                                    <p:cond delay="0"/>
                                  </p:stCondLst>
                                  <p:childTnLst>
                                    <p:animClr clrSpc="rgb" dir="cw">
                                      <p:cBhvr>
                                        <p:cTn id="298" dur="2000" fill="hold"/>
                                        <p:tgtEl>
                                          <p:spTgt spid="478573122"/>
                                        </p:tgtEl>
                                        <p:attrNameLst>
                                          <p:attrName>stroke.color</p:attrName>
                                        </p:attrNameLst>
                                      </p:cBhvr>
                                      <p:to>
                                        <a:srgbClr val="9933FF"/>
                                      </p:to>
                                    </p:animClr>
                                    <p:set>
                                      <p:cBhvr>
                                        <p:cTn id="299" dur="2000" fill="hold"/>
                                        <p:tgtEl>
                                          <p:spTgt spid="478573122"/>
                                        </p:tgtEl>
                                        <p:attrNameLst>
                                          <p:attrName>stroke.on</p:attrName>
                                        </p:attrNameLst>
                                      </p:cBhvr>
                                      <p:to>
                                        <p:strVal val="true"/>
                                      </p:to>
                                    </p:set>
                                  </p:childTnLst>
                                </p:cTn>
                              </p:par>
                              <p:par>
                                <p:cTn id="300" presetID="7" presetClass="emph" presetSubtype="2" fill="hold" nodeType="withEffect">
                                  <p:stCondLst>
                                    <p:cond delay="0"/>
                                  </p:stCondLst>
                                  <p:childTnLst>
                                    <p:animClr clrSpc="rgb" dir="cw">
                                      <p:cBhvr>
                                        <p:cTn id="301" dur="2000" fill="hold"/>
                                        <p:tgtEl>
                                          <p:spTgt spid="749967859"/>
                                        </p:tgtEl>
                                        <p:attrNameLst>
                                          <p:attrName>stroke.color</p:attrName>
                                        </p:attrNameLst>
                                      </p:cBhvr>
                                      <p:to>
                                        <a:srgbClr val="00CCFF"/>
                                      </p:to>
                                    </p:animClr>
                                    <p:set>
                                      <p:cBhvr>
                                        <p:cTn id="302" dur="2000" fill="hold"/>
                                        <p:tgtEl>
                                          <p:spTgt spid="749967859"/>
                                        </p:tgtEl>
                                        <p:attrNameLst>
                                          <p:attrName>stroke.on</p:attrName>
                                        </p:attrNameLst>
                                      </p:cBhvr>
                                      <p:to>
                                        <p:strVal val="true"/>
                                      </p:to>
                                    </p:set>
                                  </p:childTnLst>
                                </p:cTn>
                              </p:par>
                              <p:par>
                                <p:cTn id="303" presetID="7" presetClass="emph" presetSubtype="2" fill="hold" nodeType="withEffect">
                                  <p:stCondLst>
                                    <p:cond delay="0"/>
                                  </p:stCondLst>
                                  <p:childTnLst>
                                    <p:animClr clrSpc="rgb" dir="cw">
                                      <p:cBhvr>
                                        <p:cTn id="304" dur="2000" fill="hold"/>
                                        <p:tgtEl>
                                          <p:spTgt spid="475586577"/>
                                        </p:tgtEl>
                                        <p:attrNameLst>
                                          <p:attrName>stroke.color</p:attrName>
                                        </p:attrNameLst>
                                      </p:cBhvr>
                                      <p:to>
                                        <a:srgbClr val="339933"/>
                                      </p:to>
                                    </p:animClr>
                                    <p:set>
                                      <p:cBhvr>
                                        <p:cTn id="305" dur="2000" fill="hold"/>
                                        <p:tgtEl>
                                          <p:spTgt spid="475586577"/>
                                        </p:tgtEl>
                                        <p:attrNameLst>
                                          <p:attrName>stroke.on</p:attrName>
                                        </p:attrNameLst>
                                      </p:cBhvr>
                                      <p:to>
                                        <p:strVal val="true"/>
                                      </p:to>
                                    </p:set>
                                  </p:childTnLst>
                                </p:cTn>
                              </p:par>
                              <p:par>
                                <p:cTn id="306" presetID="7" presetClass="emph" presetSubtype="2" fill="hold" nodeType="withEffect">
                                  <p:stCondLst>
                                    <p:cond delay="0"/>
                                  </p:stCondLst>
                                  <p:childTnLst>
                                    <p:animClr clrSpc="rgb" dir="cw">
                                      <p:cBhvr>
                                        <p:cTn id="307" dur="2000" fill="hold"/>
                                        <p:tgtEl>
                                          <p:spTgt spid="1108401666"/>
                                        </p:tgtEl>
                                        <p:attrNameLst>
                                          <p:attrName>stroke.color</p:attrName>
                                        </p:attrNameLst>
                                      </p:cBhvr>
                                      <p:to>
                                        <a:srgbClr val="9933FF"/>
                                      </p:to>
                                    </p:animClr>
                                    <p:set>
                                      <p:cBhvr>
                                        <p:cTn id="308" dur="2000" fill="hold"/>
                                        <p:tgtEl>
                                          <p:spTgt spid="1108401666"/>
                                        </p:tgtEl>
                                        <p:attrNameLst>
                                          <p:attrName>stroke.on</p:attrName>
                                        </p:attrNameLst>
                                      </p:cBhvr>
                                      <p:to>
                                        <p:strVal val="true"/>
                                      </p:to>
                                    </p:set>
                                  </p:childTnLst>
                                </p:cTn>
                              </p:par>
                              <p:par>
                                <p:cTn id="309" presetID="7" presetClass="emph" presetSubtype="2" fill="hold" nodeType="withEffect">
                                  <p:stCondLst>
                                    <p:cond delay="0"/>
                                  </p:stCondLst>
                                  <p:childTnLst>
                                    <p:animClr clrSpc="rgb" dir="cw">
                                      <p:cBhvr>
                                        <p:cTn id="310" dur="2000" fill="hold"/>
                                        <p:tgtEl>
                                          <p:spTgt spid="1826659871"/>
                                        </p:tgtEl>
                                        <p:attrNameLst>
                                          <p:attrName>stroke.color</p:attrName>
                                        </p:attrNameLst>
                                      </p:cBhvr>
                                      <p:to>
                                        <a:schemeClr val="accent2"/>
                                      </p:to>
                                    </p:animClr>
                                    <p:set>
                                      <p:cBhvr>
                                        <p:cTn id="311" dur="2000" fill="hold"/>
                                        <p:tgtEl>
                                          <p:spTgt spid="1826659871"/>
                                        </p:tgtEl>
                                        <p:attrNameLst>
                                          <p:attrName>stroke.on</p:attrName>
                                        </p:attrNameLst>
                                      </p:cBhvr>
                                      <p:to>
                                        <p:strVal val="true"/>
                                      </p:to>
                                    </p:set>
                                  </p:childTnLst>
                                </p:cTn>
                              </p:par>
                              <p:par>
                                <p:cTn id="312" presetID="7" presetClass="emph" presetSubtype="2" fill="hold" nodeType="withEffect">
                                  <p:stCondLst>
                                    <p:cond delay="0"/>
                                  </p:stCondLst>
                                  <p:childTnLst>
                                    <p:animClr clrSpc="rgb" dir="cw">
                                      <p:cBhvr>
                                        <p:cTn id="313" dur="2000" fill="hold"/>
                                        <p:tgtEl>
                                          <p:spTgt spid="552565010"/>
                                        </p:tgtEl>
                                        <p:attrNameLst>
                                          <p:attrName>stroke.color</p:attrName>
                                        </p:attrNameLst>
                                      </p:cBhvr>
                                      <p:to>
                                        <a:srgbClr val="003399"/>
                                      </p:to>
                                    </p:animClr>
                                    <p:set>
                                      <p:cBhvr>
                                        <p:cTn id="314" dur="2000" fill="hold"/>
                                        <p:tgtEl>
                                          <p:spTgt spid="552565010"/>
                                        </p:tgtEl>
                                        <p:attrNameLst>
                                          <p:attrName>stroke.on</p:attrName>
                                        </p:attrNameLst>
                                      </p:cBhvr>
                                      <p:to>
                                        <p:strVal val="true"/>
                                      </p:to>
                                    </p:set>
                                  </p:childTnLst>
                                </p:cTn>
                              </p:par>
                              <p:par>
                                <p:cTn id="315" presetID="7" presetClass="emph" presetSubtype="2" fill="hold" nodeType="withEffect">
                                  <p:stCondLst>
                                    <p:cond delay="0"/>
                                  </p:stCondLst>
                                  <p:childTnLst>
                                    <p:animClr clrSpc="rgb" dir="cw">
                                      <p:cBhvr>
                                        <p:cTn id="316" dur="2000" fill="hold"/>
                                        <p:tgtEl>
                                          <p:spTgt spid="1507244923"/>
                                        </p:tgtEl>
                                        <p:attrNameLst>
                                          <p:attrName>stroke.color</p:attrName>
                                        </p:attrNameLst>
                                      </p:cBhvr>
                                      <p:to>
                                        <a:srgbClr val="FF6600"/>
                                      </p:to>
                                    </p:animClr>
                                    <p:set>
                                      <p:cBhvr>
                                        <p:cTn id="317" dur="2000" fill="hold"/>
                                        <p:tgtEl>
                                          <p:spTgt spid="1507244923"/>
                                        </p:tgtEl>
                                        <p:attrNameLst>
                                          <p:attrName>stroke.on</p:attrName>
                                        </p:attrNameLst>
                                      </p:cBhvr>
                                      <p:to>
                                        <p:strVal val="true"/>
                                      </p:to>
                                    </p:set>
                                  </p:childTnLst>
                                </p:cTn>
                              </p:par>
                              <p:par>
                                <p:cTn id="318" presetID="7" presetClass="emph" presetSubtype="2" fill="hold" nodeType="withEffect">
                                  <p:stCondLst>
                                    <p:cond delay="0"/>
                                  </p:stCondLst>
                                  <p:childTnLst>
                                    <p:animClr clrSpc="rgb" dir="cw">
                                      <p:cBhvr>
                                        <p:cTn id="319" dur="2000" fill="hold"/>
                                        <p:tgtEl>
                                          <p:spTgt spid="821232361"/>
                                        </p:tgtEl>
                                        <p:attrNameLst>
                                          <p:attrName>stroke.color</p:attrName>
                                        </p:attrNameLst>
                                      </p:cBhvr>
                                      <p:to>
                                        <a:srgbClr val="003399"/>
                                      </p:to>
                                    </p:animClr>
                                    <p:set>
                                      <p:cBhvr>
                                        <p:cTn id="320" dur="2000" fill="hold"/>
                                        <p:tgtEl>
                                          <p:spTgt spid="821232361"/>
                                        </p:tgtEl>
                                        <p:attrNameLst>
                                          <p:attrName>stroke.on</p:attrName>
                                        </p:attrNameLst>
                                      </p:cBhvr>
                                      <p:to>
                                        <p:strVal val="true"/>
                                      </p:to>
                                    </p:set>
                                  </p:childTnLst>
                                </p:cTn>
                              </p:par>
                              <p:par>
                                <p:cTn id="321" presetID="7" presetClass="emph" presetSubtype="2" fill="hold" nodeType="withEffect">
                                  <p:stCondLst>
                                    <p:cond delay="0"/>
                                  </p:stCondLst>
                                  <p:childTnLst>
                                    <p:animClr clrSpc="rgb" dir="cw">
                                      <p:cBhvr>
                                        <p:cTn id="322" dur="2000" fill="hold"/>
                                        <p:tgtEl>
                                          <p:spTgt spid="553699868"/>
                                        </p:tgtEl>
                                        <p:attrNameLst>
                                          <p:attrName>stroke.color</p:attrName>
                                        </p:attrNameLst>
                                      </p:cBhvr>
                                      <p:to>
                                        <a:srgbClr val="9933FF"/>
                                      </p:to>
                                    </p:animClr>
                                    <p:set>
                                      <p:cBhvr>
                                        <p:cTn id="323" dur="2000" fill="hold"/>
                                        <p:tgtEl>
                                          <p:spTgt spid="553699868"/>
                                        </p:tgtEl>
                                        <p:attrNameLst>
                                          <p:attrName>stroke.on</p:attrName>
                                        </p:attrNameLst>
                                      </p:cBhvr>
                                      <p:to>
                                        <p:strVal val="true"/>
                                      </p:to>
                                    </p:set>
                                  </p:childTnLst>
                                </p:cTn>
                              </p:par>
                              <p:par>
                                <p:cTn id="324" presetID="7" presetClass="emph" presetSubtype="2" fill="hold" nodeType="withEffect">
                                  <p:stCondLst>
                                    <p:cond delay="0"/>
                                  </p:stCondLst>
                                  <p:childTnLst>
                                    <p:animClr clrSpc="rgb" dir="cw">
                                      <p:cBhvr>
                                        <p:cTn id="325" dur="2000" fill="hold"/>
                                        <p:tgtEl>
                                          <p:spTgt spid="529758133"/>
                                        </p:tgtEl>
                                        <p:attrNameLst>
                                          <p:attrName>stroke.color</p:attrName>
                                        </p:attrNameLst>
                                      </p:cBhvr>
                                      <p:to>
                                        <a:srgbClr val="FF6600"/>
                                      </p:to>
                                    </p:animClr>
                                    <p:set>
                                      <p:cBhvr>
                                        <p:cTn id="326" dur="2000" fill="hold"/>
                                        <p:tgtEl>
                                          <p:spTgt spid="529758133"/>
                                        </p:tgtEl>
                                        <p:attrNameLst>
                                          <p:attrName>stroke.on</p:attrName>
                                        </p:attrNameLst>
                                      </p:cBhvr>
                                      <p:to>
                                        <p:strVal val="true"/>
                                      </p:to>
                                    </p:set>
                                  </p:childTnLst>
                                </p:cTn>
                              </p:par>
                              <p:par>
                                <p:cTn id="327" presetID="7" presetClass="emph" presetSubtype="2" fill="hold" nodeType="withEffect">
                                  <p:stCondLst>
                                    <p:cond delay="0"/>
                                  </p:stCondLst>
                                  <p:childTnLst>
                                    <p:animClr clrSpc="rgb" dir="cw">
                                      <p:cBhvr>
                                        <p:cTn id="328" dur="2000" fill="hold"/>
                                        <p:tgtEl>
                                          <p:spTgt spid="2095396904"/>
                                        </p:tgtEl>
                                        <p:attrNameLst>
                                          <p:attrName>stroke.color</p:attrName>
                                        </p:attrNameLst>
                                      </p:cBhvr>
                                      <p:to>
                                        <a:srgbClr val="00CCFF"/>
                                      </p:to>
                                    </p:animClr>
                                    <p:set>
                                      <p:cBhvr>
                                        <p:cTn id="329" dur="2000" fill="hold"/>
                                        <p:tgtEl>
                                          <p:spTgt spid="2095396904"/>
                                        </p:tgtEl>
                                        <p:attrNameLst>
                                          <p:attrName>stroke.on</p:attrName>
                                        </p:attrNameLst>
                                      </p:cBhvr>
                                      <p:to>
                                        <p:strVal val="true"/>
                                      </p:to>
                                    </p:set>
                                  </p:childTnLst>
                                </p:cTn>
                              </p:par>
                              <p:par>
                                <p:cTn id="330" presetID="7" presetClass="emph" presetSubtype="2" fill="hold" nodeType="withEffect">
                                  <p:stCondLst>
                                    <p:cond delay="0"/>
                                  </p:stCondLst>
                                  <p:childTnLst>
                                    <p:animClr clrSpc="rgb" dir="cw">
                                      <p:cBhvr>
                                        <p:cTn id="331" dur="2000" fill="hold"/>
                                        <p:tgtEl>
                                          <p:spTgt spid="1018954051"/>
                                        </p:tgtEl>
                                        <p:attrNameLst>
                                          <p:attrName>stroke.color</p:attrName>
                                        </p:attrNameLst>
                                      </p:cBhvr>
                                      <p:to>
                                        <a:schemeClr val="accent2"/>
                                      </p:to>
                                    </p:animClr>
                                    <p:set>
                                      <p:cBhvr>
                                        <p:cTn id="332" dur="2000" fill="hold"/>
                                        <p:tgtEl>
                                          <p:spTgt spid="1018954051"/>
                                        </p:tgtEl>
                                        <p:attrNameLst>
                                          <p:attrName>stroke.on</p:attrName>
                                        </p:attrNameLst>
                                      </p:cBhvr>
                                      <p:to>
                                        <p:strVal val="true"/>
                                      </p:to>
                                    </p:set>
                                  </p:childTnLst>
                                </p:cTn>
                              </p:par>
                              <p:par>
                                <p:cTn id="333" presetID="7" presetClass="emph" presetSubtype="2" fill="hold" nodeType="withEffect">
                                  <p:stCondLst>
                                    <p:cond delay="0"/>
                                  </p:stCondLst>
                                  <p:childTnLst>
                                    <p:animClr clrSpc="rgb" dir="cw">
                                      <p:cBhvr>
                                        <p:cTn id="334" dur="2000" fill="hold"/>
                                        <p:tgtEl>
                                          <p:spTgt spid="668030436"/>
                                        </p:tgtEl>
                                        <p:attrNameLst>
                                          <p:attrName>stroke.color</p:attrName>
                                        </p:attrNameLst>
                                      </p:cBhvr>
                                      <p:to>
                                        <a:srgbClr val="003399"/>
                                      </p:to>
                                    </p:animClr>
                                    <p:set>
                                      <p:cBhvr>
                                        <p:cTn id="335" dur="2000" fill="hold"/>
                                        <p:tgtEl>
                                          <p:spTgt spid="668030436"/>
                                        </p:tgtEl>
                                        <p:attrNameLst>
                                          <p:attrName>stroke.on</p:attrName>
                                        </p:attrNameLst>
                                      </p:cBhvr>
                                      <p:to>
                                        <p:strVal val="true"/>
                                      </p:to>
                                    </p:set>
                                  </p:childTnLst>
                                </p:cTn>
                              </p:par>
                              <p:par>
                                <p:cTn id="336" presetID="7" presetClass="emph" presetSubtype="2" fill="hold" nodeType="withEffect">
                                  <p:stCondLst>
                                    <p:cond delay="0"/>
                                  </p:stCondLst>
                                  <p:childTnLst>
                                    <p:animClr clrSpc="rgb" dir="cw">
                                      <p:cBhvr>
                                        <p:cTn id="337" dur="2000" fill="hold"/>
                                        <p:tgtEl>
                                          <p:spTgt spid="2138492820"/>
                                        </p:tgtEl>
                                        <p:attrNameLst>
                                          <p:attrName>stroke.color</p:attrName>
                                        </p:attrNameLst>
                                      </p:cBhvr>
                                      <p:to>
                                        <a:schemeClr val="accent2"/>
                                      </p:to>
                                    </p:animClr>
                                    <p:set>
                                      <p:cBhvr>
                                        <p:cTn id="338" dur="2000" fill="hold"/>
                                        <p:tgtEl>
                                          <p:spTgt spid="2138492820"/>
                                        </p:tgtEl>
                                        <p:attrNameLst>
                                          <p:attrName>stroke.on</p:attrName>
                                        </p:attrNameLst>
                                      </p:cBhvr>
                                      <p:to>
                                        <p:strVal val="true"/>
                                      </p:to>
                                    </p:set>
                                  </p:childTnLst>
                                </p:cTn>
                              </p:par>
                              <p:par>
                                <p:cTn id="339" presetID="7" presetClass="emph" presetSubtype="2" fill="hold" nodeType="withEffect">
                                  <p:stCondLst>
                                    <p:cond delay="0"/>
                                  </p:stCondLst>
                                  <p:childTnLst>
                                    <p:animClr clrSpc="rgb" dir="cw">
                                      <p:cBhvr>
                                        <p:cTn id="340" dur="2000" fill="hold"/>
                                        <p:tgtEl>
                                          <p:spTgt spid="1107193792"/>
                                        </p:tgtEl>
                                        <p:attrNameLst>
                                          <p:attrName>stroke.color</p:attrName>
                                        </p:attrNameLst>
                                      </p:cBhvr>
                                      <p:to>
                                        <a:srgbClr val="339933"/>
                                      </p:to>
                                    </p:animClr>
                                    <p:set>
                                      <p:cBhvr>
                                        <p:cTn id="341" dur="2000" fill="hold"/>
                                        <p:tgtEl>
                                          <p:spTgt spid="1107193792"/>
                                        </p:tgtEl>
                                        <p:attrNameLst>
                                          <p:attrName>stroke.on</p:attrName>
                                        </p:attrNameLst>
                                      </p:cBhvr>
                                      <p:to>
                                        <p:strVal val="true"/>
                                      </p:to>
                                    </p:set>
                                  </p:childTnLst>
                                </p:cTn>
                              </p:par>
                              <p:par>
                                <p:cTn id="342" presetID="7" presetClass="emph" presetSubtype="2" fill="hold" nodeType="withEffect">
                                  <p:stCondLst>
                                    <p:cond delay="0"/>
                                  </p:stCondLst>
                                  <p:childTnLst>
                                    <p:animClr clrSpc="rgb" dir="cw">
                                      <p:cBhvr>
                                        <p:cTn id="343" dur="2000" fill="hold"/>
                                        <p:tgtEl>
                                          <p:spTgt spid="49562864"/>
                                        </p:tgtEl>
                                        <p:attrNameLst>
                                          <p:attrName>stroke.color</p:attrName>
                                        </p:attrNameLst>
                                      </p:cBhvr>
                                      <p:to>
                                        <a:schemeClr val="accent2"/>
                                      </p:to>
                                    </p:animClr>
                                    <p:set>
                                      <p:cBhvr>
                                        <p:cTn id="344" dur="2000" fill="hold"/>
                                        <p:tgtEl>
                                          <p:spTgt spid="49562864"/>
                                        </p:tgtEl>
                                        <p:attrNameLst>
                                          <p:attrName>stroke.on</p:attrName>
                                        </p:attrNameLst>
                                      </p:cBhvr>
                                      <p:to>
                                        <p:strVal val="true"/>
                                      </p:to>
                                    </p:set>
                                  </p:childTnLst>
                                </p:cTn>
                              </p:par>
                              <p:par>
                                <p:cTn id="345" presetID="7" presetClass="emph" presetSubtype="2" fill="hold" nodeType="withEffect">
                                  <p:stCondLst>
                                    <p:cond delay="0"/>
                                  </p:stCondLst>
                                  <p:childTnLst>
                                    <p:animClr clrSpc="rgb" dir="cw">
                                      <p:cBhvr>
                                        <p:cTn id="346" dur="2000" fill="hold"/>
                                        <p:tgtEl>
                                          <p:spTgt spid="273267947"/>
                                        </p:tgtEl>
                                        <p:attrNameLst>
                                          <p:attrName>stroke.color</p:attrName>
                                        </p:attrNameLst>
                                      </p:cBhvr>
                                      <p:to>
                                        <a:srgbClr val="00CCFF"/>
                                      </p:to>
                                    </p:animClr>
                                    <p:set>
                                      <p:cBhvr>
                                        <p:cTn id="347" dur="2000" fill="hold"/>
                                        <p:tgtEl>
                                          <p:spTgt spid="273267947"/>
                                        </p:tgtEl>
                                        <p:attrNameLst>
                                          <p:attrName>stroke.on</p:attrName>
                                        </p:attrNameLst>
                                      </p:cBhvr>
                                      <p:to>
                                        <p:strVal val="true"/>
                                      </p:to>
                                    </p:set>
                                  </p:childTnLst>
                                </p:cTn>
                              </p:par>
                              <p:par>
                                <p:cTn id="348" presetID="7" presetClass="emph" presetSubtype="2" fill="hold" nodeType="withEffect">
                                  <p:stCondLst>
                                    <p:cond delay="0"/>
                                  </p:stCondLst>
                                  <p:childTnLst>
                                    <p:animClr clrSpc="rgb" dir="cw">
                                      <p:cBhvr>
                                        <p:cTn id="349" dur="2000" fill="hold"/>
                                        <p:tgtEl>
                                          <p:spTgt spid="1469830415"/>
                                        </p:tgtEl>
                                        <p:attrNameLst>
                                          <p:attrName>stroke.color</p:attrName>
                                        </p:attrNameLst>
                                      </p:cBhvr>
                                      <p:to>
                                        <a:schemeClr val="accent2"/>
                                      </p:to>
                                    </p:animClr>
                                    <p:set>
                                      <p:cBhvr>
                                        <p:cTn id="350" dur="2000" fill="hold"/>
                                        <p:tgtEl>
                                          <p:spTgt spid="1469830415"/>
                                        </p:tgtEl>
                                        <p:attrNameLst>
                                          <p:attrName>stroke.on</p:attrName>
                                        </p:attrNameLst>
                                      </p:cBhvr>
                                      <p:to>
                                        <p:strVal val="true"/>
                                      </p:to>
                                    </p:set>
                                  </p:childTnLst>
                                </p:cTn>
                              </p:par>
                              <p:par>
                                <p:cTn id="351" presetID="7" presetClass="emph" presetSubtype="2" fill="hold" nodeType="withEffect">
                                  <p:stCondLst>
                                    <p:cond delay="0"/>
                                  </p:stCondLst>
                                  <p:childTnLst>
                                    <p:animClr clrSpc="rgb" dir="cw">
                                      <p:cBhvr>
                                        <p:cTn id="352" dur="2000" fill="hold"/>
                                        <p:tgtEl>
                                          <p:spTgt spid="516209096"/>
                                        </p:tgtEl>
                                        <p:attrNameLst>
                                          <p:attrName>stroke.color</p:attrName>
                                        </p:attrNameLst>
                                      </p:cBhvr>
                                      <p:to>
                                        <a:srgbClr val="FF6600"/>
                                      </p:to>
                                    </p:animClr>
                                    <p:set>
                                      <p:cBhvr>
                                        <p:cTn id="353" dur="2000" fill="hold"/>
                                        <p:tgtEl>
                                          <p:spTgt spid="516209096"/>
                                        </p:tgtEl>
                                        <p:attrNameLst>
                                          <p:attrName>stroke.on</p:attrName>
                                        </p:attrNameLst>
                                      </p:cBhvr>
                                      <p:to>
                                        <p:strVal val="true"/>
                                      </p:to>
                                    </p:set>
                                  </p:childTnLst>
                                </p:cTn>
                              </p:par>
                              <p:par>
                                <p:cTn id="354" presetID="7" presetClass="emph" presetSubtype="2" fill="hold" nodeType="withEffect">
                                  <p:stCondLst>
                                    <p:cond delay="0"/>
                                  </p:stCondLst>
                                  <p:childTnLst>
                                    <p:animClr clrSpc="rgb" dir="cw">
                                      <p:cBhvr>
                                        <p:cTn id="355" dur="2000" fill="hold"/>
                                        <p:tgtEl>
                                          <p:spTgt spid="993120902"/>
                                        </p:tgtEl>
                                        <p:attrNameLst>
                                          <p:attrName>stroke.color</p:attrName>
                                        </p:attrNameLst>
                                      </p:cBhvr>
                                      <p:to>
                                        <a:schemeClr val="accent2"/>
                                      </p:to>
                                    </p:animClr>
                                    <p:set>
                                      <p:cBhvr>
                                        <p:cTn id="356" dur="2000" fill="hold"/>
                                        <p:tgtEl>
                                          <p:spTgt spid="993120902"/>
                                        </p:tgtEl>
                                        <p:attrNameLst>
                                          <p:attrName>stroke.on</p:attrName>
                                        </p:attrNameLst>
                                      </p:cBhvr>
                                      <p:to>
                                        <p:strVal val="true"/>
                                      </p:to>
                                    </p:set>
                                  </p:childTnLst>
                                </p:cTn>
                              </p:par>
                              <p:par>
                                <p:cTn id="357" presetID="7" presetClass="emph" presetSubtype="2" fill="hold" nodeType="withEffect">
                                  <p:stCondLst>
                                    <p:cond delay="0"/>
                                  </p:stCondLst>
                                  <p:childTnLst>
                                    <p:animClr clrSpc="rgb" dir="cw">
                                      <p:cBhvr>
                                        <p:cTn id="358" dur="2000" fill="hold"/>
                                        <p:tgtEl>
                                          <p:spTgt spid="2018603287"/>
                                        </p:tgtEl>
                                        <p:attrNameLst>
                                          <p:attrName>stroke.color</p:attrName>
                                        </p:attrNameLst>
                                      </p:cBhvr>
                                      <p:to>
                                        <a:schemeClr val="accent2"/>
                                      </p:to>
                                    </p:animClr>
                                    <p:set>
                                      <p:cBhvr>
                                        <p:cTn id="359" dur="2000" fill="hold"/>
                                        <p:tgtEl>
                                          <p:spTgt spid="2018603287"/>
                                        </p:tgtEl>
                                        <p:attrNameLst>
                                          <p:attrName>stroke.on</p:attrName>
                                        </p:attrNameLst>
                                      </p:cBhvr>
                                      <p:to>
                                        <p:strVal val="true"/>
                                      </p:to>
                                    </p:set>
                                  </p:childTnLst>
                                </p:cTn>
                              </p:par>
                              <p:par>
                                <p:cTn id="360" presetID="7" presetClass="emph" presetSubtype="2" fill="hold" nodeType="withEffect">
                                  <p:stCondLst>
                                    <p:cond delay="0"/>
                                  </p:stCondLst>
                                  <p:childTnLst>
                                    <p:animClr clrSpc="rgb" dir="cw">
                                      <p:cBhvr>
                                        <p:cTn id="361" dur="2000" fill="hold"/>
                                        <p:tgtEl>
                                          <p:spTgt spid="608623641"/>
                                        </p:tgtEl>
                                        <p:attrNameLst>
                                          <p:attrName>stroke.color</p:attrName>
                                        </p:attrNameLst>
                                      </p:cBhvr>
                                      <p:to>
                                        <a:srgbClr val="800000"/>
                                      </p:to>
                                    </p:animClr>
                                    <p:set>
                                      <p:cBhvr>
                                        <p:cTn id="362" dur="2000" fill="hold"/>
                                        <p:tgtEl>
                                          <p:spTgt spid="608623641"/>
                                        </p:tgtEl>
                                        <p:attrNameLst>
                                          <p:attrName>stroke.on</p:attrName>
                                        </p:attrNameLst>
                                      </p:cBhvr>
                                      <p:to>
                                        <p:strVal val="true"/>
                                      </p:to>
                                    </p:set>
                                  </p:childTnLst>
                                </p:cTn>
                              </p:par>
                              <p:par>
                                <p:cTn id="363" presetID="7" presetClass="emph" presetSubtype="2" fill="hold" nodeType="withEffect">
                                  <p:stCondLst>
                                    <p:cond delay="0"/>
                                  </p:stCondLst>
                                  <p:childTnLst>
                                    <p:animClr clrSpc="rgb" dir="cw">
                                      <p:cBhvr>
                                        <p:cTn id="364" dur="2000" fill="hold"/>
                                        <p:tgtEl>
                                          <p:spTgt spid="1392640410"/>
                                        </p:tgtEl>
                                        <p:attrNameLst>
                                          <p:attrName>stroke.color</p:attrName>
                                        </p:attrNameLst>
                                      </p:cBhvr>
                                      <p:to>
                                        <a:srgbClr val="9933FF"/>
                                      </p:to>
                                    </p:animClr>
                                    <p:set>
                                      <p:cBhvr>
                                        <p:cTn id="365" dur="2000" fill="hold"/>
                                        <p:tgtEl>
                                          <p:spTgt spid="1392640410"/>
                                        </p:tgtEl>
                                        <p:attrNameLst>
                                          <p:attrName>stroke.on</p:attrName>
                                        </p:attrNameLst>
                                      </p:cBhvr>
                                      <p:to>
                                        <p:strVal val="true"/>
                                      </p:to>
                                    </p:set>
                                  </p:childTnLst>
                                </p:cTn>
                              </p:par>
                              <p:par>
                                <p:cTn id="366" presetID="7" presetClass="emph" presetSubtype="2" fill="hold" nodeType="withEffect">
                                  <p:stCondLst>
                                    <p:cond delay="0"/>
                                  </p:stCondLst>
                                  <p:childTnLst>
                                    <p:animClr clrSpc="rgb" dir="cw">
                                      <p:cBhvr>
                                        <p:cTn id="367" dur="2000" fill="hold"/>
                                        <p:tgtEl>
                                          <p:spTgt spid="222073771"/>
                                        </p:tgtEl>
                                        <p:attrNameLst>
                                          <p:attrName>stroke.color</p:attrName>
                                        </p:attrNameLst>
                                      </p:cBhvr>
                                      <p:to>
                                        <a:srgbClr val="339933"/>
                                      </p:to>
                                    </p:animClr>
                                    <p:set>
                                      <p:cBhvr>
                                        <p:cTn id="368" dur="2000" fill="hold"/>
                                        <p:tgtEl>
                                          <p:spTgt spid="222073771"/>
                                        </p:tgtEl>
                                        <p:attrNameLst>
                                          <p:attrName>stroke.on</p:attrName>
                                        </p:attrNameLst>
                                      </p:cBhvr>
                                      <p:to>
                                        <p:strVal val="true"/>
                                      </p:to>
                                    </p:set>
                                  </p:childTnLst>
                                </p:cTn>
                              </p:par>
                              <p:par>
                                <p:cTn id="369" presetID="7" presetClass="emph" presetSubtype="2" fill="hold" nodeType="withEffect">
                                  <p:stCondLst>
                                    <p:cond delay="0"/>
                                  </p:stCondLst>
                                  <p:childTnLst>
                                    <p:animClr clrSpc="rgb" dir="cw">
                                      <p:cBhvr>
                                        <p:cTn id="370" dur="2000" fill="hold"/>
                                        <p:tgtEl>
                                          <p:spTgt spid="315531767"/>
                                        </p:tgtEl>
                                        <p:attrNameLst>
                                          <p:attrName>stroke.color</p:attrName>
                                        </p:attrNameLst>
                                      </p:cBhvr>
                                      <p:to>
                                        <a:schemeClr val="accent2"/>
                                      </p:to>
                                    </p:animClr>
                                    <p:set>
                                      <p:cBhvr>
                                        <p:cTn id="371" dur="2000" fill="hold"/>
                                        <p:tgtEl>
                                          <p:spTgt spid="315531767"/>
                                        </p:tgtEl>
                                        <p:attrNameLst>
                                          <p:attrName>stroke.on</p:attrName>
                                        </p:attrNameLst>
                                      </p:cBhvr>
                                      <p:to>
                                        <p:strVal val="true"/>
                                      </p:to>
                                    </p:set>
                                  </p:childTnLst>
                                </p:cTn>
                              </p:par>
                              <p:par>
                                <p:cTn id="372" presetID="7" presetClass="emph" presetSubtype="2" fill="hold" nodeType="withEffect">
                                  <p:stCondLst>
                                    <p:cond delay="0"/>
                                  </p:stCondLst>
                                  <p:childTnLst>
                                    <p:animClr clrSpc="rgb" dir="cw">
                                      <p:cBhvr>
                                        <p:cTn id="373" dur="2000" fill="hold"/>
                                        <p:tgtEl>
                                          <p:spTgt spid="684432628"/>
                                        </p:tgtEl>
                                        <p:attrNameLst>
                                          <p:attrName>stroke.color</p:attrName>
                                        </p:attrNameLst>
                                      </p:cBhvr>
                                      <p:to>
                                        <a:srgbClr val="FF6600"/>
                                      </p:to>
                                    </p:animClr>
                                    <p:set>
                                      <p:cBhvr>
                                        <p:cTn id="374" dur="2000" fill="hold"/>
                                        <p:tgtEl>
                                          <p:spTgt spid="684432628"/>
                                        </p:tgtEl>
                                        <p:attrNameLst>
                                          <p:attrName>stroke.on</p:attrName>
                                        </p:attrNameLst>
                                      </p:cBhvr>
                                      <p:to>
                                        <p:strVal val="true"/>
                                      </p:to>
                                    </p:set>
                                  </p:childTnLst>
                                </p:cTn>
                              </p:par>
                              <p:par>
                                <p:cTn id="375" presetID="7" presetClass="emph" presetSubtype="2" fill="hold" nodeType="withEffect">
                                  <p:stCondLst>
                                    <p:cond delay="0"/>
                                  </p:stCondLst>
                                  <p:childTnLst>
                                    <p:animClr clrSpc="rgb" dir="cw">
                                      <p:cBhvr>
                                        <p:cTn id="376" dur="2000" fill="hold"/>
                                        <p:tgtEl>
                                          <p:spTgt spid="1480740062"/>
                                        </p:tgtEl>
                                        <p:attrNameLst>
                                          <p:attrName>stroke.color</p:attrName>
                                        </p:attrNameLst>
                                      </p:cBhvr>
                                      <p:to>
                                        <a:srgbClr val="800000"/>
                                      </p:to>
                                    </p:animClr>
                                    <p:set>
                                      <p:cBhvr>
                                        <p:cTn id="377" dur="2000" fill="hold"/>
                                        <p:tgtEl>
                                          <p:spTgt spid="1480740062"/>
                                        </p:tgtEl>
                                        <p:attrNameLst>
                                          <p:attrName>stroke.on</p:attrName>
                                        </p:attrNameLst>
                                      </p:cBhvr>
                                      <p:to>
                                        <p:strVal val="true"/>
                                      </p:to>
                                    </p:set>
                                  </p:childTnLst>
                                </p:cTn>
                              </p:par>
                              <p:par>
                                <p:cTn id="378" presetID="7" presetClass="emph" presetSubtype="2" fill="hold" nodeType="withEffect">
                                  <p:stCondLst>
                                    <p:cond delay="0"/>
                                  </p:stCondLst>
                                  <p:childTnLst>
                                    <p:animClr clrSpc="rgb" dir="cw">
                                      <p:cBhvr>
                                        <p:cTn id="379" dur="2000" fill="hold"/>
                                        <p:tgtEl>
                                          <p:spTgt spid="617509805"/>
                                        </p:tgtEl>
                                        <p:attrNameLst>
                                          <p:attrName>stroke.color</p:attrName>
                                        </p:attrNameLst>
                                      </p:cBhvr>
                                      <p:to>
                                        <a:srgbClr val="339933"/>
                                      </p:to>
                                    </p:animClr>
                                    <p:set>
                                      <p:cBhvr>
                                        <p:cTn id="380" dur="2000" fill="hold"/>
                                        <p:tgtEl>
                                          <p:spTgt spid="617509805"/>
                                        </p:tgtEl>
                                        <p:attrNameLst>
                                          <p:attrName>stroke.on</p:attrName>
                                        </p:attrNameLst>
                                      </p:cBhvr>
                                      <p:to>
                                        <p:strVal val="true"/>
                                      </p:to>
                                    </p:set>
                                  </p:childTnLst>
                                </p:cTn>
                              </p:par>
                              <p:par>
                                <p:cTn id="381" presetID="7" presetClass="emph" presetSubtype="2" fill="hold" nodeType="withEffect">
                                  <p:stCondLst>
                                    <p:cond delay="0"/>
                                  </p:stCondLst>
                                  <p:childTnLst>
                                    <p:animClr clrSpc="rgb" dir="cw">
                                      <p:cBhvr>
                                        <p:cTn id="382" dur="2000" fill="hold"/>
                                        <p:tgtEl>
                                          <p:spTgt spid="223489616"/>
                                        </p:tgtEl>
                                        <p:attrNameLst>
                                          <p:attrName>stroke.color</p:attrName>
                                        </p:attrNameLst>
                                      </p:cBhvr>
                                      <p:to>
                                        <a:srgbClr val="FF6600"/>
                                      </p:to>
                                    </p:animClr>
                                    <p:set>
                                      <p:cBhvr>
                                        <p:cTn id="383" dur="2000" fill="hold"/>
                                        <p:tgtEl>
                                          <p:spTgt spid="223489616"/>
                                        </p:tgtEl>
                                        <p:attrNameLst>
                                          <p:attrName>stroke.on</p:attrName>
                                        </p:attrNameLst>
                                      </p:cBhvr>
                                      <p:to>
                                        <p:strVal val="true"/>
                                      </p:to>
                                    </p:set>
                                  </p:childTnLst>
                                </p:cTn>
                              </p:par>
                              <p:par>
                                <p:cTn id="384" presetID="7" presetClass="emph" presetSubtype="2" fill="hold" nodeType="withEffect">
                                  <p:stCondLst>
                                    <p:cond delay="0"/>
                                  </p:stCondLst>
                                  <p:childTnLst>
                                    <p:animClr clrSpc="rgb" dir="cw">
                                      <p:cBhvr>
                                        <p:cTn id="385" dur="2000" fill="hold"/>
                                        <p:tgtEl>
                                          <p:spTgt spid="2075954139"/>
                                        </p:tgtEl>
                                        <p:attrNameLst>
                                          <p:attrName>stroke.color</p:attrName>
                                        </p:attrNameLst>
                                      </p:cBhvr>
                                      <p:to>
                                        <a:srgbClr val="00CCFF"/>
                                      </p:to>
                                    </p:animClr>
                                    <p:set>
                                      <p:cBhvr>
                                        <p:cTn id="386" dur="2000" fill="hold"/>
                                        <p:tgtEl>
                                          <p:spTgt spid="2075954139"/>
                                        </p:tgtEl>
                                        <p:attrNameLst>
                                          <p:attrName>stroke.on</p:attrName>
                                        </p:attrNameLst>
                                      </p:cBhvr>
                                      <p:to>
                                        <p:strVal val="true"/>
                                      </p:to>
                                    </p:set>
                                  </p:childTnLst>
                                </p:cTn>
                              </p:par>
                              <p:par>
                                <p:cTn id="387" presetID="7" presetClass="emph" presetSubtype="2" fill="hold" nodeType="withEffect">
                                  <p:stCondLst>
                                    <p:cond delay="0"/>
                                  </p:stCondLst>
                                  <p:childTnLst>
                                    <p:animClr clrSpc="rgb" dir="cw">
                                      <p:cBhvr>
                                        <p:cTn id="388" dur="2000" fill="hold"/>
                                        <p:tgtEl>
                                          <p:spTgt spid="2029888002"/>
                                        </p:tgtEl>
                                        <p:attrNameLst>
                                          <p:attrName>stroke.color</p:attrName>
                                        </p:attrNameLst>
                                      </p:cBhvr>
                                      <p:to>
                                        <a:srgbClr val="003399"/>
                                      </p:to>
                                    </p:animClr>
                                    <p:set>
                                      <p:cBhvr>
                                        <p:cTn id="389" dur="2000" fill="hold"/>
                                        <p:tgtEl>
                                          <p:spTgt spid="2029888002"/>
                                        </p:tgtEl>
                                        <p:attrNameLst>
                                          <p:attrName>stroke.on</p:attrName>
                                        </p:attrNameLst>
                                      </p:cBhvr>
                                      <p:to>
                                        <p:strVal val="true"/>
                                      </p:to>
                                    </p:set>
                                  </p:childTnLst>
                                </p:cTn>
                              </p:par>
                              <p:par>
                                <p:cTn id="390" presetID="7" presetClass="emph" presetSubtype="2" fill="hold" nodeType="withEffect">
                                  <p:stCondLst>
                                    <p:cond delay="0"/>
                                  </p:stCondLst>
                                  <p:childTnLst>
                                    <p:animClr clrSpc="rgb" dir="cw">
                                      <p:cBhvr>
                                        <p:cTn id="391" dur="2000" fill="hold"/>
                                        <p:tgtEl>
                                          <p:spTgt spid="30829867"/>
                                        </p:tgtEl>
                                        <p:attrNameLst>
                                          <p:attrName>stroke.color</p:attrName>
                                        </p:attrNameLst>
                                      </p:cBhvr>
                                      <p:to>
                                        <a:srgbClr val="9933FF"/>
                                      </p:to>
                                    </p:animClr>
                                    <p:set>
                                      <p:cBhvr>
                                        <p:cTn id="392" dur="2000" fill="hold"/>
                                        <p:tgtEl>
                                          <p:spTgt spid="30829867"/>
                                        </p:tgtEl>
                                        <p:attrNameLst>
                                          <p:attrName>stroke.on</p:attrName>
                                        </p:attrNameLst>
                                      </p:cBhvr>
                                      <p:to>
                                        <p:strVal val="true"/>
                                      </p:to>
                                    </p:set>
                                  </p:childTnLst>
                                </p:cTn>
                              </p:par>
                              <p:par>
                                <p:cTn id="393" presetID="7" presetClass="emph" presetSubtype="2" fill="hold" nodeType="withEffect">
                                  <p:stCondLst>
                                    <p:cond delay="0"/>
                                  </p:stCondLst>
                                  <p:childTnLst>
                                    <p:animClr clrSpc="rgb" dir="cw">
                                      <p:cBhvr>
                                        <p:cTn id="394" dur="2000" fill="hold"/>
                                        <p:tgtEl>
                                          <p:spTgt spid="1550806616"/>
                                        </p:tgtEl>
                                        <p:attrNameLst>
                                          <p:attrName>stroke.color</p:attrName>
                                        </p:attrNameLst>
                                      </p:cBhvr>
                                      <p:to>
                                        <a:schemeClr val="accent2"/>
                                      </p:to>
                                    </p:animClr>
                                    <p:set>
                                      <p:cBhvr>
                                        <p:cTn id="395" dur="2000" fill="hold"/>
                                        <p:tgtEl>
                                          <p:spTgt spid="1550806616"/>
                                        </p:tgtEl>
                                        <p:attrNameLst>
                                          <p:attrName>stroke.on</p:attrName>
                                        </p:attrNameLst>
                                      </p:cBhvr>
                                      <p:to>
                                        <p:strVal val="true"/>
                                      </p:to>
                                    </p:set>
                                  </p:childTnLst>
                                </p:cTn>
                              </p:par>
                              <p:par>
                                <p:cTn id="396" presetID="7" presetClass="emph" presetSubtype="2" fill="hold" nodeType="withEffect">
                                  <p:stCondLst>
                                    <p:cond delay="0"/>
                                  </p:stCondLst>
                                  <p:childTnLst>
                                    <p:animClr clrSpc="rgb" dir="cw">
                                      <p:cBhvr>
                                        <p:cTn id="397" dur="2000" fill="hold"/>
                                        <p:tgtEl>
                                          <p:spTgt spid="1202484537"/>
                                        </p:tgtEl>
                                        <p:attrNameLst>
                                          <p:attrName>stroke.color</p:attrName>
                                        </p:attrNameLst>
                                      </p:cBhvr>
                                      <p:to>
                                        <a:srgbClr val="FF6600"/>
                                      </p:to>
                                    </p:animClr>
                                    <p:set>
                                      <p:cBhvr>
                                        <p:cTn id="398" dur="2000" fill="hold"/>
                                        <p:tgtEl>
                                          <p:spTgt spid="1202484537"/>
                                        </p:tgtEl>
                                        <p:attrNameLst>
                                          <p:attrName>stroke.on</p:attrName>
                                        </p:attrNameLst>
                                      </p:cBhvr>
                                      <p:to>
                                        <p:strVal val="true"/>
                                      </p:to>
                                    </p:set>
                                  </p:childTnLst>
                                </p:cTn>
                              </p:par>
                              <p:par>
                                <p:cTn id="399" presetID="7" presetClass="emph" presetSubtype="2" fill="hold" nodeType="withEffect">
                                  <p:stCondLst>
                                    <p:cond delay="0"/>
                                  </p:stCondLst>
                                  <p:childTnLst>
                                    <p:animClr clrSpc="rgb" dir="cw">
                                      <p:cBhvr>
                                        <p:cTn id="400" dur="2000" fill="hold"/>
                                        <p:tgtEl>
                                          <p:spTgt spid="158209749"/>
                                        </p:tgtEl>
                                        <p:attrNameLst>
                                          <p:attrName>stroke.color</p:attrName>
                                        </p:attrNameLst>
                                      </p:cBhvr>
                                      <p:to>
                                        <a:srgbClr val="00CCFF"/>
                                      </p:to>
                                    </p:animClr>
                                    <p:set>
                                      <p:cBhvr>
                                        <p:cTn id="401" dur="2000" fill="hold"/>
                                        <p:tgtEl>
                                          <p:spTgt spid="158209749"/>
                                        </p:tgtEl>
                                        <p:attrNameLst>
                                          <p:attrName>stroke.on</p:attrName>
                                        </p:attrNameLst>
                                      </p:cBhvr>
                                      <p:to>
                                        <p:strVal val="true"/>
                                      </p:to>
                                    </p:set>
                                  </p:childTnLst>
                                </p:cTn>
                              </p:par>
                              <p:par>
                                <p:cTn id="402" presetID="7" presetClass="emph" presetSubtype="2" fill="hold" nodeType="withEffect">
                                  <p:stCondLst>
                                    <p:cond delay="0"/>
                                  </p:stCondLst>
                                  <p:childTnLst>
                                    <p:animClr clrSpc="rgb" dir="cw">
                                      <p:cBhvr>
                                        <p:cTn id="403" dur="2000" fill="hold"/>
                                        <p:tgtEl>
                                          <p:spTgt spid="2040050895"/>
                                        </p:tgtEl>
                                        <p:attrNameLst>
                                          <p:attrName>stroke.color</p:attrName>
                                        </p:attrNameLst>
                                      </p:cBhvr>
                                      <p:to>
                                        <a:srgbClr val="9933FF"/>
                                      </p:to>
                                    </p:animClr>
                                    <p:set>
                                      <p:cBhvr>
                                        <p:cTn id="404" dur="2000" fill="hold"/>
                                        <p:tgtEl>
                                          <p:spTgt spid="2040050895"/>
                                        </p:tgtEl>
                                        <p:attrNameLst>
                                          <p:attrName>stroke.on</p:attrName>
                                        </p:attrNameLst>
                                      </p:cBhvr>
                                      <p:to>
                                        <p:strVal val="true"/>
                                      </p:to>
                                    </p:set>
                                  </p:childTnLst>
                                </p:cTn>
                              </p:par>
                              <p:par>
                                <p:cTn id="405" presetID="7" presetClass="emph" presetSubtype="2" fill="hold" nodeType="withEffect">
                                  <p:stCondLst>
                                    <p:cond delay="0"/>
                                  </p:stCondLst>
                                  <p:childTnLst>
                                    <p:animClr clrSpc="rgb" dir="cw">
                                      <p:cBhvr>
                                        <p:cTn id="406" dur="2000" fill="hold"/>
                                        <p:tgtEl>
                                          <p:spTgt spid="40555080"/>
                                        </p:tgtEl>
                                        <p:attrNameLst>
                                          <p:attrName>stroke.color</p:attrName>
                                        </p:attrNameLst>
                                      </p:cBhvr>
                                      <p:to>
                                        <a:schemeClr val="accent2"/>
                                      </p:to>
                                    </p:animClr>
                                    <p:set>
                                      <p:cBhvr>
                                        <p:cTn id="407" dur="2000" fill="hold"/>
                                        <p:tgtEl>
                                          <p:spTgt spid="40555080"/>
                                        </p:tgtEl>
                                        <p:attrNameLst>
                                          <p:attrName>stroke.on</p:attrName>
                                        </p:attrNameLst>
                                      </p:cBhvr>
                                      <p:to>
                                        <p:strVal val="true"/>
                                      </p:to>
                                    </p:set>
                                  </p:childTnLst>
                                </p:cTn>
                              </p:par>
                              <p:par>
                                <p:cTn id="408" presetID="7" presetClass="emph" presetSubtype="2" fill="hold" nodeType="withEffect">
                                  <p:stCondLst>
                                    <p:cond delay="0"/>
                                  </p:stCondLst>
                                  <p:childTnLst>
                                    <p:animClr clrSpc="rgb" dir="cw">
                                      <p:cBhvr>
                                        <p:cTn id="409" dur="2000" fill="hold"/>
                                        <p:tgtEl>
                                          <p:spTgt spid="647717348"/>
                                        </p:tgtEl>
                                        <p:attrNameLst>
                                          <p:attrName>stroke.color</p:attrName>
                                        </p:attrNameLst>
                                      </p:cBhvr>
                                      <p:to>
                                        <a:srgbClr val="FF6600"/>
                                      </p:to>
                                    </p:animClr>
                                    <p:set>
                                      <p:cBhvr>
                                        <p:cTn id="410" dur="2000" fill="hold"/>
                                        <p:tgtEl>
                                          <p:spTgt spid="647717348"/>
                                        </p:tgtEl>
                                        <p:attrNameLst>
                                          <p:attrName>stroke.on</p:attrName>
                                        </p:attrNameLst>
                                      </p:cBhvr>
                                      <p:to>
                                        <p:strVal val="true"/>
                                      </p:to>
                                    </p:set>
                                  </p:childTnLst>
                                </p:cTn>
                              </p:par>
                              <p:par>
                                <p:cTn id="411" presetID="7" presetClass="emph" presetSubtype="2" fill="hold" nodeType="withEffect">
                                  <p:stCondLst>
                                    <p:cond delay="0"/>
                                  </p:stCondLst>
                                  <p:childTnLst>
                                    <p:animClr clrSpc="rgb" dir="cw">
                                      <p:cBhvr>
                                        <p:cTn id="412" dur="2000" fill="hold"/>
                                        <p:tgtEl>
                                          <p:spTgt spid="526725503"/>
                                        </p:tgtEl>
                                        <p:attrNameLst>
                                          <p:attrName>stroke.color</p:attrName>
                                        </p:attrNameLst>
                                      </p:cBhvr>
                                      <p:to>
                                        <a:srgbClr val="800000"/>
                                      </p:to>
                                    </p:animClr>
                                    <p:set>
                                      <p:cBhvr>
                                        <p:cTn id="413" dur="2000" fill="hold"/>
                                        <p:tgtEl>
                                          <p:spTgt spid="526725503"/>
                                        </p:tgtEl>
                                        <p:attrNameLst>
                                          <p:attrName>stroke.on</p:attrName>
                                        </p:attrNameLst>
                                      </p:cBhvr>
                                      <p:to>
                                        <p:strVal val="true"/>
                                      </p:to>
                                    </p:set>
                                  </p:childTnLst>
                                </p:cTn>
                              </p:par>
                              <p:par>
                                <p:cTn id="414" presetID="7" presetClass="emph" presetSubtype="2" fill="hold" nodeType="withEffect">
                                  <p:stCondLst>
                                    <p:cond delay="0"/>
                                  </p:stCondLst>
                                  <p:childTnLst>
                                    <p:animClr clrSpc="rgb" dir="cw">
                                      <p:cBhvr>
                                        <p:cTn id="415" dur="2000" fill="hold"/>
                                        <p:tgtEl>
                                          <p:spTgt spid="2036092619"/>
                                        </p:tgtEl>
                                        <p:attrNameLst>
                                          <p:attrName>stroke.color</p:attrName>
                                        </p:attrNameLst>
                                      </p:cBhvr>
                                      <p:to>
                                        <a:srgbClr val="800000"/>
                                      </p:to>
                                    </p:animClr>
                                    <p:set>
                                      <p:cBhvr>
                                        <p:cTn id="416" dur="2000" fill="hold"/>
                                        <p:tgtEl>
                                          <p:spTgt spid="2036092619"/>
                                        </p:tgtEl>
                                        <p:attrNameLst>
                                          <p:attrName>stroke.on</p:attrName>
                                        </p:attrNameLst>
                                      </p:cBhvr>
                                      <p:to>
                                        <p:strVal val="true"/>
                                      </p:to>
                                    </p:set>
                                  </p:childTnLst>
                                </p:cTn>
                              </p:par>
                              <p:par>
                                <p:cTn id="417" presetID="7" presetClass="emph" presetSubtype="2" fill="hold" nodeType="withEffect">
                                  <p:stCondLst>
                                    <p:cond delay="0"/>
                                  </p:stCondLst>
                                  <p:childTnLst>
                                    <p:animClr clrSpc="rgb" dir="cw">
                                      <p:cBhvr>
                                        <p:cTn id="418" dur="2000" fill="hold"/>
                                        <p:tgtEl>
                                          <p:spTgt spid="496319986"/>
                                        </p:tgtEl>
                                        <p:attrNameLst>
                                          <p:attrName>stroke.color</p:attrName>
                                        </p:attrNameLst>
                                      </p:cBhvr>
                                      <p:to>
                                        <a:srgbClr val="9933FF"/>
                                      </p:to>
                                    </p:animClr>
                                    <p:set>
                                      <p:cBhvr>
                                        <p:cTn id="419" dur="2000" fill="hold"/>
                                        <p:tgtEl>
                                          <p:spTgt spid="496319986"/>
                                        </p:tgtEl>
                                        <p:attrNameLst>
                                          <p:attrName>stroke.on</p:attrName>
                                        </p:attrNameLst>
                                      </p:cBhvr>
                                      <p:to>
                                        <p:strVal val="true"/>
                                      </p:to>
                                    </p:set>
                                  </p:childTnLst>
                                </p:cTn>
                              </p:par>
                              <p:par>
                                <p:cTn id="420" presetID="7" presetClass="emph" presetSubtype="2" fill="hold" nodeType="withEffect">
                                  <p:stCondLst>
                                    <p:cond delay="0"/>
                                  </p:stCondLst>
                                  <p:childTnLst>
                                    <p:animClr clrSpc="rgb" dir="cw">
                                      <p:cBhvr>
                                        <p:cTn id="421" dur="2000" fill="hold"/>
                                        <p:tgtEl>
                                          <p:spTgt spid="1265633201"/>
                                        </p:tgtEl>
                                        <p:attrNameLst>
                                          <p:attrName>stroke.color</p:attrName>
                                        </p:attrNameLst>
                                      </p:cBhvr>
                                      <p:to>
                                        <a:srgbClr val="003399"/>
                                      </p:to>
                                    </p:animClr>
                                    <p:set>
                                      <p:cBhvr>
                                        <p:cTn id="422" dur="2000" fill="hold"/>
                                        <p:tgtEl>
                                          <p:spTgt spid="1265633201"/>
                                        </p:tgtEl>
                                        <p:attrNameLst>
                                          <p:attrName>stroke.on</p:attrName>
                                        </p:attrNameLst>
                                      </p:cBhvr>
                                      <p:to>
                                        <p:strVal val="true"/>
                                      </p:to>
                                    </p:set>
                                  </p:childTnLst>
                                </p:cTn>
                              </p:par>
                              <p:par>
                                <p:cTn id="423" presetID="7" presetClass="emph" presetSubtype="2" fill="hold" nodeType="withEffect">
                                  <p:stCondLst>
                                    <p:cond delay="0"/>
                                  </p:stCondLst>
                                  <p:childTnLst>
                                    <p:animClr clrSpc="rgb" dir="cw">
                                      <p:cBhvr>
                                        <p:cTn id="424" dur="2000" fill="hold"/>
                                        <p:tgtEl>
                                          <p:spTgt spid="311440089"/>
                                        </p:tgtEl>
                                        <p:attrNameLst>
                                          <p:attrName>stroke.color</p:attrName>
                                        </p:attrNameLst>
                                      </p:cBhvr>
                                      <p:to>
                                        <a:srgbClr val="FF6600"/>
                                      </p:to>
                                    </p:animClr>
                                    <p:set>
                                      <p:cBhvr>
                                        <p:cTn id="425" dur="2000" fill="hold"/>
                                        <p:tgtEl>
                                          <p:spTgt spid="311440089"/>
                                        </p:tgtEl>
                                        <p:attrNameLst>
                                          <p:attrName>stroke.on</p:attrName>
                                        </p:attrNameLst>
                                      </p:cBhvr>
                                      <p:to>
                                        <p:strVal val="true"/>
                                      </p:to>
                                    </p:set>
                                  </p:childTnLst>
                                </p:cTn>
                              </p:par>
                              <p:par>
                                <p:cTn id="426" presetID="7" presetClass="emph" presetSubtype="2" fill="hold" nodeType="withEffect">
                                  <p:stCondLst>
                                    <p:cond delay="0"/>
                                  </p:stCondLst>
                                  <p:childTnLst>
                                    <p:animClr clrSpc="rgb" dir="cw">
                                      <p:cBhvr>
                                        <p:cTn id="427" dur="2000" fill="hold"/>
                                        <p:tgtEl>
                                          <p:spTgt spid="979395402"/>
                                        </p:tgtEl>
                                        <p:attrNameLst>
                                          <p:attrName>stroke.color</p:attrName>
                                        </p:attrNameLst>
                                      </p:cBhvr>
                                      <p:to>
                                        <a:srgbClr val="9933FF"/>
                                      </p:to>
                                    </p:animClr>
                                    <p:set>
                                      <p:cBhvr>
                                        <p:cTn id="428" dur="2000" fill="hold"/>
                                        <p:tgtEl>
                                          <p:spTgt spid="979395402"/>
                                        </p:tgtEl>
                                        <p:attrNameLst>
                                          <p:attrName>stroke.on</p:attrName>
                                        </p:attrNameLst>
                                      </p:cBhvr>
                                      <p:to>
                                        <p:strVal val="true"/>
                                      </p:to>
                                    </p:set>
                                  </p:childTnLst>
                                </p:cTn>
                              </p:par>
                              <p:par>
                                <p:cTn id="429" presetID="7" presetClass="emph" presetSubtype="2" fill="hold" nodeType="withEffect">
                                  <p:stCondLst>
                                    <p:cond delay="0"/>
                                  </p:stCondLst>
                                  <p:childTnLst>
                                    <p:animClr clrSpc="rgb" dir="cw">
                                      <p:cBhvr>
                                        <p:cTn id="430" dur="2000" fill="hold"/>
                                        <p:tgtEl>
                                          <p:spTgt spid="1415044124"/>
                                        </p:tgtEl>
                                        <p:attrNameLst>
                                          <p:attrName>stroke.color</p:attrName>
                                        </p:attrNameLst>
                                      </p:cBhvr>
                                      <p:to>
                                        <a:srgbClr val="FF6600"/>
                                      </p:to>
                                    </p:animClr>
                                    <p:set>
                                      <p:cBhvr>
                                        <p:cTn id="431" dur="2000" fill="hold"/>
                                        <p:tgtEl>
                                          <p:spTgt spid="1415044124"/>
                                        </p:tgtEl>
                                        <p:attrNameLst>
                                          <p:attrName>stroke.on</p:attrName>
                                        </p:attrNameLst>
                                      </p:cBhvr>
                                      <p:to>
                                        <p:strVal val="true"/>
                                      </p:to>
                                    </p:set>
                                  </p:childTnLst>
                                </p:cTn>
                              </p:par>
                              <p:par>
                                <p:cTn id="432" presetID="7" presetClass="emph" presetSubtype="2" fill="hold" nodeType="withEffect">
                                  <p:stCondLst>
                                    <p:cond delay="0"/>
                                  </p:stCondLst>
                                  <p:childTnLst>
                                    <p:animClr clrSpc="rgb" dir="cw">
                                      <p:cBhvr>
                                        <p:cTn id="433" dur="2000" fill="hold"/>
                                        <p:tgtEl>
                                          <p:spTgt spid="102977539"/>
                                        </p:tgtEl>
                                        <p:attrNameLst>
                                          <p:attrName>stroke.color</p:attrName>
                                        </p:attrNameLst>
                                      </p:cBhvr>
                                      <p:to>
                                        <a:srgbClr val="339933"/>
                                      </p:to>
                                    </p:animClr>
                                    <p:set>
                                      <p:cBhvr>
                                        <p:cTn id="434" dur="2000" fill="hold"/>
                                        <p:tgtEl>
                                          <p:spTgt spid="102977539"/>
                                        </p:tgtEl>
                                        <p:attrNameLst>
                                          <p:attrName>stroke.on</p:attrName>
                                        </p:attrNameLst>
                                      </p:cBhvr>
                                      <p:to>
                                        <p:strVal val="true"/>
                                      </p:to>
                                    </p:set>
                                  </p:childTnLst>
                                </p:cTn>
                              </p:par>
                              <p:par>
                                <p:cTn id="435" presetID="7" presetClass="emph" presetSubtype="2" fill="hold" nodeType="withEffect">
                                  <p:stCondLst>
                                    <p:cond delay="0"/>
                                  </p:stCondLst>
                                  <p:childTnLst>
                                    <p:animClr clrSpc="rgb" dir="cw">
                                      <p:cBhvr>
                                        <p:cTn id="436" dur="2000" fill="hold"/>
                                        <p:tgtEl>
                                          <p:spTgt spid="1164729574"/>
                                        </p:tgtEl>
                                        <p:attrNameLst>
                                          <p:attrName>stroke.color</p:attrName>
                                        </p:attrNameLst>
                                      </p:cBhvr>
                                      <p:to>
                                        <a:srgbClr val="9933FF"/>
                                      </p:to>
                                    </p:animClr>
                                    <p:set>
                                      <p:cBhvr>
                                        <p:cTn id="437" dur="2000" fill="hold"/>
                                        <p:tgtEl>
                                          <p:spTgt spid="1164729574"/>
                                        </p:tgtEl>
                                        <p:attrNameLst>
                                          <p:attrName>stroke.on</p:attrName>
                                        </p:attrNameLst>
                                      </p:cBhvr>
                                      <p:to>
                                        <p:strVal val="true"/>
                                      </p:to>
                                    </p:set>
                                  </p:childTnLst>
                                </p:cTn>
                              </p:par>
                              <p:par>
                                <p:cTn id="438" presetID="7" presetClass="emph" presetSubtype="2" fill="hold" nodeType="withEffect">
                                  <p:stCondLst>
                                    <p:cond delay="0"/>
                                  </p:stCondLst>
                                  <p:childTnLst>
                                    <p:animClr clrSpc="rgb" dir="cw">
                                      <p:cBhvr>
                                        <p:cTn id="439" dur="2000" fill="hold"/>
                                        <p:tgtEl>
                                          <p:spTgt spid="1781076993"/>
                                        </p:tgtEl>
                                        <p:attrNameLst>
                                          <p:attrName>stroke.color</p:attrName>
                                        </p:attrNameLst>
                                      </p:cBhvr>
                                      <p:to>
                                        <a:srgbClr val="339933"/>
                                      </p:to>
                                    </p:animClr>
                                    <p:set>
                                      <p:cBhvr>
                                        <p:cTn id="440" dur="2000" fill="hold"/>
                                        <p:tgtEl>
                                          <p:spTgt spid="1781076993"/>
                                        </p:tgtEl>
                                        <p:attrNameLst>
                                          <p:attrName>stroke.on</p:attrName>
                                        </p:attrNameLst>
                                      </p:cBhvr>
                                      <p:to>
                                        <p:strVal val="true"/>
                                      </p:to>
                                    </p:set>
                                  </p:childTnLst>
                                </p:cTn>
                              </p:par>
                              <p:par>
                                <p:cTn id="441" presetID="10" presetClass="entr" presetSubtype="0" fill="hold" grpId="0" nodeType="withEffect">
                                  <p:stCondLst>
                                    <p:cond delay="0"/>
                                  </p:stCondLst>
                                  <p:childTnLst>
                                    <p:set>
                                      <p:cBhvr>
                                        <p:cTn id="442" dur="1" fill="hold">
                                          <p:stCondLst>
                                            <p:cond delay="0"/>
                                          </p:stCondLst>
                                        </p:cTn>
                                        <p:tgtEl>
                                          <p:spTgt spid="1867914401"/>
                                        </p:tgtEl>
                                        <p:attrNameLst>
                                          <p:attrName>style.visibility</p:attrName>
                                        </p:attrNameLst>
                                      </p:cBhvr>
                                      <p:to>
                                        <p:strVal val="visible"/>
                                      </p:to>
                                    </p:set>
                                    <p:animEffect transition="in" filter="fade">
                                      <p:cBhvr>
                                        <p:cTn id="443" dur="500"/>
                                        <p:tgtEl>
                                          <p:spTgt spid="1867914401"/>
                                        </p:tgtEl>
                                      </p:cBhvr>
                                    </p:animEffect>
                                  </p:childTnLst>
                                </p:cTn>
                              </p:par>
                            </p:childTnLst>
                          </p:cTn>
                        </p:par>
                      </p:childTnLst>
                    </p:cTn>
                  </p:par>
                  <p:par>
                    <p:cTn id="444" fill="hold">
                      <p:stCondLst>
                        <p:cond delay="indefinite"/>
                      </p:stCondLst>
                      <p:childTnLst>
                        <p:par>
                          <p:cTn id="445" fill="hold">
                            <p:stCondLst>
                              <p:cond delay="0"/>
                            </p:stCondLst>
                            <p:childTnLst>
                              <p:par>
                                <p:cTn id="446" presetID="1" presetClass="entr" presetSubtype="0" fill="hold" nodeType="clickEffect">
                                  <p:stCondLst>
                                    <p:cond delay="0"/>
                                  </p:stCondLst>
                                  <p:childTnLst>
                                    <p:set>
                                      <p:cBhvr>
                                        <p:cTn id="447" dur="1" fill="hold">
                                          <p:stCondLst>
                                            <p:cond delay="0"/>
                                          </p:stCondLst>
                                        </p:cTn>
                                        <p:tgtEl>
                                          <p:spTgt spid="440807882"/>
                                        </p:tgtEl>
                                        <p:attrNameLst>
                                          <p:attrName>style.visibility</p:attrName>
                                        </p:attrNameLst>
                                      </p:cBhvr>
                                      <p:to>
                                        <p:strVal val="visible"/>
                                      </p:to>
                                    </p:set>
                                  </p:childTnLst>
                                </p:cTn>
                              </p:par>
                              <p:par>
                                <p:cTn id="448" presetID="10" presetClass="entr" presetSubtype="0" fill="hold" grpId="0" nodeType="withEffect">
                                  <p:stCondLst>
                                    <p:cond delay="0"/>
                                  </p:stCondLst>
                                  <p:childTnLst>
                                    <p:set>
                                      <p:cBhvr>
                                        <p:cTn id="449" dur="1" fill="hold">
                                          <p:stCondLst>
                                            <p:cond delay="0"/>
                                          </p:stCondLst>
                                        </p:cTn>
                                        <p:tgtEl>
                                          <p:spTgt spid="830509406"/>
                                        </p:tgtEl>
                                        <p:attrNameLst>
                                          <p:attrName>style.visibility</p:attrName>
                                        </p:attrNameLst>
                                      </p:cBhvr>
                                      <p:to>
                                        <p:strVal val="visible"/>
                                      </p:to>
                                    </p:set>
                                    <p:animEffect transition="in" filter="fade">
                                      <p:cBhvr>
                                        <p:cTn id="450" dur="500"/>
                                        <p:tgtEl>
                                          <p:spTgt spid="830509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042375" grpId="0"/>
      <p:bldP spid="2023146537" grpId="0"/>
      <p:bldP spid="1867914401" grpId="0"/>
      <p:bldP spid="830509406" grpId="0"/>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3685840" name="Title 1"/>
          <p:cNvSpPr>
            <a:spLocks noGrp="1"/>
          </p:cNvSpPr>
          <p:nvPr>
            <p:ph type="title"/>
          </p:nvPr>
        </p:nvSpPr>
        <p:spPr bwMode="auto"/>
        <p:txBody>
          <a:bodyPr/>
          <a:lstStyle/>
          <a:p>
            <a:pPr>
              <a:defRPr/>
            </a:pPr>
            <a:r>
              <a:rPr lang="en-US"/>
              <a:t>Sketching genome divergence, containment</a:t>
            </a:r>
            <a:endParaRPr/>
          </a:p>
        </p:txBody>
      </p:sp>
      <p:pic>
        <p:nvPicPr>
          <p:cNvPr id="1771757160" name="Picture 2"/>
          <p:cNvPicPr>
            <a:picLocks noChangeAspect="1" noChangeArrowheads="1" noGrp="1"/>
          </p:cNvPicPr>
          <p:nvPr>
            <p:ph idx="1"/>
          </p:nvPr>
        </p:nvPicPr>
        <p:blipFill rotWithShape="1">
          <a:blip r:embed="rId3"/>
          <a:stretch/>
        </p:blipFill>
        <p:spPr bwMode="auto">
          <a:xfrm>
            <a:off x="671223" y="1610943"/>
            <a:ext cx="11270888" cy="4408193"/>
          </a:xfrm>
          <a:prstGeom prst="rect">
            <a:avLst/>
          </a:prstGeom>
          <a:noFill/>
        </p:spPr>
      </p:pic>
      <p:sp>
        <p:nvSpPr>
          <p:cNvPr id="1575065875" name="Slide Number Placeholder 5"/>
          <p:cNvSpPr>
            <a:spLocks noGrp="1"/>
          </p:cNvSpPr>
          <p:nvPr>
            <p:ph type="sldNum" sz="quarter" idx="12"/>
          </p:nvPr>
        </p:nvSpPr>
        <p:spPr bwMode="auto"/>
        <p:txBody>
          <a:bodyPr/>
          <a:lstStyle/>
          <a:p>
            <a:pPr>
              <a:defRPr/>
            </a:pPr>
            <a:fld id="{89E4EDBB-67B7-235A-6281-8CDFEC71A3E7}"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6929457" name="Title 1"/>
          <p:cNvSpPr>
            <a:spLocks noGrp="1"/>
          </p:cNvSpPr>
          <p:nvPr>
            <p:ph type="title"/>
          </p:nvPr>
        </p:nvSpPr>
        <p:spPr bwMode="auto">
          <a:xfrm>
            <a:off x="2222389" y="174294"/>
            <a:ext cx="7747222" cy="1325563"/>
          </a:xfrm>
        </p:spPr>
        <p:txBody>
          <a:bodyPr/>
          <a:lstStyle/>
          <a:p>
            <a:pPr algn="ctr">
              <a:defRPr/>
            </a:pPr>
            <a:r>
              <a:rPr lang="en-US"/>
              <a:t>Sketching genome divergence</a:t>
            </a:r>
            <a:br>
              <a:rPr lang="en-US"/>
            </a:br>
            <a:r>
              <a:rPr lang="en-US"/>
              <a:t> - containment with reads</a:t>
            </a:r>
            <a:endParaRPr/>
          </a:p>
        </p:txBody>
      </p:sp>
      <p:pic>
        <p:nvPicPr>
          <p:cNvPr id="1271711261" name="Picture 2"/>
          <p:cNvPicPr>
            <a:picLocks noChangeAspect="1" noChangeArrowheads="1" noGrp="1"/>
          </p:cNvPicPr>
          <p:nvPr>
            <p:ph idx="1"/>
          </p:nvPr>
        </p:nvPicPr>
        <p:blipFill rotWithShape="1">
          <a:blip r:embed="rId3"/>
          <a:stretch/>
        </p:blipFill>
        <p:spPr bwMode="auto">
          <a:xfrm>
            <a:off x="129285" y="2095236"/>
            <a:ext cx="12062715" cy="3351408"/>
          </a:xfrm>
          <a:prstGeom prst="rect">
            <a:avLst/>
          </a:prstGeom>
          <a:noFill/>
        </p:spPr>
      </p:pic>
      <p:sp>
        <p:nvSpPr>
          <p:cNvPr id="515298263" name="Slide Number Placeholder 5"/>
          <p:cNvSpPr>
            <a:spLocks noGrp="1"/>
          </p:cNvSpPr>
          <p:nvPr>
            <p:ph type="sldNum" sz="quarter" idx="12"/>
          </p:nvPr>
        </p:nvSpPr>
        <p:spPr bwMode="auto"/>
        <p:txBody>
          <a:bodyPr/>
          <a:lstStyle/>
          <a:p>
            <a:pPr>
              <a:defRPr/>
            </a:pPr>
            <a:fld id="{410A44CE-995B-B401-D691-7A35EF3E5C3D}"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7633969" name="Title 1"/>
          <p:cNvSpPr>
            <a:spLocks noGrp="1"/>
          </p:cNvSpPr>
          <p:nvPr>
            <p:ph type="title"/>
          </p:nvPr>
        </p:nvSpPr>
        <p:spPr bwMode="auto"/>
        <p:txBody>
          <a:bodyPr/>
          <a:lstStyle/>
          <a:p>
            <a:pPr>
              <a:defRPr/>
            </a:pPr>
            <a:r>
              <a:rPr lang="en-US"/>
              <a:t>sylph: coverage-adjusted ANI estimation</a:t>
            </a:r>
            <a:endParaRPr/>
          </a:p>
        </p:txBody>
      </p:sp>
      <p:pic>
        <p:nvPicPr>
          <p:cNvPr id="1510391246" name="Picture 2"/>
          <p:cNvPicPr>
            <a:picLocks noChangeAspect="1" noChangeArrowheads="1" noGrp="1"/>
          </p:cNvPicPr>
          <p:nvPr>
            <p:ph idx="1"/>
          </p:nvPr>
        </p:nvPicPr>
        <p:blipFill rotWithShape="1">
          <a:blip r:embed="rId3"/>
          <a:stretch/>
        </p:blipFill>
        <p:spPr bwMode="auto">
          <a:xfrm>
            <a:off x="277366" y="1486894"/>
            <a:ext cx="11584462" cy="5005981"/>
          </a:xfrm>
          <a:prstGeom prst="rect">
            <a:avLst/>
          </a:prstGeom>
          <a:noFill/>
        </p:spPr>
      </p:pic>
      <p:sp>
        <p:nvSpPr>
          <p:cNvPr id="1166314585" name="Slide Number Placeholder 5"/>
          <p:cNvSpPr>
            <a:spLocks noGrp="1"/>
          </p:cNvSpPr>
          <p:nvPr>
            <p:ph type="sldNum" sz="quarter" idx="12"/>
          </p:nvPr>
        </p:nvSpPr>
        <p:spPr bwMode="auto"/>
        <p:txBody>
          <a:bodyPr/>
          <a:lstStyle/>
          <a:p>
            <a:pPr>
              <a:defRPr/>
            </a:pPr>
            <a:fld id="{EC0E5EF6-1658-F8FD-6DE0-61C244BDF427}"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826799" name="Title 1"/>
          <p:cNvSpPr>
            <a:spLocks noGrp="1"/>
          </p:cNvSpPr>
          <p:nvPr>
            <p:ph type="title"/>
          </p:nvPr>
        </p:nvSpPr>
        <p:spPr bwMode="auto"/>
        <p:txBody>
          <a:bodyPr/>
          <a:lstStyle/>
          <a:p>
            <a:pPr>
              <a:defRPr/>
            </a:pPr>
            <a:r>
              <a:rPr lang="en-US"/>
              <a:t>sylph corrects for ANI at low coverages</a:t>
            </a:r>
            <a:endParaRPr/>
          </a:p>
        </p:txBody>
      </p:sp>
      <p:sp>
        <p:nvSpPr>
          <p:cNvPr id="3529748" name="TextBox 4"/>
          <p:cNvSpPr txBox="1"/>
          <p:nvPr/>
        </p:nvSpPr>
        <p:spPr bwMode="auto">
          <a:xfrm>
            <a:off x="1870419" y="1354940"/>
            <a:ext cx="7893657" cy="646331"/>
          </a:xfrm>
          <a:prstGeom prst="rect">
            <a:avLst/>
          </a:prstGeom>
          <a:noFill/>
        </p:spPr>
        <p:txBody>
          <a:bodyPr wrap="square">
            <a:spAutoFit/>
          </a:bodyPr>
          <a:lstStyle/>
          <a:p>
            <a:pPr>
              <a:defRPr/>
            </a:pPr>
            <a:br>
              <a:rPr lang="en-US"/>
            </a:br>
            <a:endParaRPr lang="en-US"/>
          </a:p>
        </p:txBody>
      </p:sp>
      <p:sp>
        <p:nvSpPr>
          <p:cNvPr id="1089530886" name="TextBox 6"/>
          <p:cNvSpPr txBox="1"/>
          <p:nvPr/>
        </p:nvSpPr>
        <p:spPr bwMode="auto">
          <a:xfrm>
            <a:off x="3008906" y="6404682"/>
            <a:ext cx="6174188" cy="369332"/>
          </a:xfrm>
          <a:prstGeom prst="rect">
            <a:avLst/>
          </a:prstGeom>
          <a:noFill/>
        </p:spPr>
        <p:txBody>
          <a:bodyPr wrap="square">
            <a:spAutoFit/>
          </a:bodyPr>
          <a:lstStyle/>
          <a:p>
            <a:pPr algn="ctr" rtl="0">
              <a:spcBef>
                <a:spcPts val="0"/>
              </a:spcBef>
              <a:spcAft>
                <a:spcPts val="0"/>
              </a:spcAft>
              <a:defRPr/>
            </a:pPr>
            <a:r>
              <a:rPr lang="en-US" sz="1800" b="0" i="0" u="none" strike="noStrike">
                <a:solidFill>
                  <a:srgbClr val="000000"/>
                </a:solidFill>
                <a:latin typeface="Arial"/>
              </a:rPr>
              <a:t>c is the subsampling rate (1/c k-mers sampled)</a:t>
            </a:r>
            <a:endParaRPr lang="en-US"/>
          </a:p>
        </p:txBody>
      </p:sp>
      <p:sp>
        <p:nvSpPr>
          <p:cNvPr id="1998403352" name="Rectangle 7"/>
          <p:cNvSpPr/>
          <p:nvPr/>
        </p:nvSpPr>
        <p:spPr bwMode="auto">
          <a:xfrm>
            <a:off x="0" y="1992838"/>
            <a:ext cx="485881" cy="39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588061273" name="Picture 2" descr="Fig. 1"/>
          <p:cNvPicPr>
            <a:picLocks noChangeAspect="1" noChangeArrowheads="1"/>
          </p:cNvPicPr>
          <p:nvPr/>
        </p:nvPicPr>
        <p:blipFill rotWithShape="1">
          <a:blip r:embed="rId3"/>
          <a:srcRect l="1854" t="62900" r="35978" b="0"/>
          <a:stretch/>
        </p:blipFill>
        <p:spPr bwMode="auto">
          <a:xfrm>
            <a:off x="1330035" y="1181834"/>
            <a:ext cx="8704553" cy="4994521"/>
          </a:xfrm>
          <a:prstGeom prst="rect">
            <a:avLst/>
          </a:prstGeom>
          <a:noFill/>
        </p:spPr>
      </p:pic>
      <p:sp>
        <p:nvSpPr>
          <p:cNvPr id="866888239" name="Slide Number Placeholder 5"/>
          <p:cNvSpPr>
            <a:spLocks noGrp="1"/>
          </p:cNvSpPr>
          <p:nvPr>
            <p:ph type="sldNum" sz="quarter" idx="12"/>
          </p:nvPr>
        </p:nvSpPr>
        <p:spPr bwMode="auto"/>
        <p:txBody>
          <a:bodyPr/>
          <a:lstStyle/>
          <a:p>
            <a:pPr>
              <a:defRPr/>
            </a:pPr>
            <a:fld id="{B753E8B0-734C-6D28-2B93-C66F6739CAA2}"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1583568" name="Title 1"/>
          <p:cNvSpPr>
            <a:spLocks noGrp="1"/>
          </p:cNvSpPr>
          <p:nvPr>
            <p:ph type="title"/>
          </p:nvPr>
        </p:nvSpPr>
        <p:spPr bwMode="auto"/>
        <p:txBody>
          <a:bodyPr/>
          <a:lstStyle/>
          <a:p>
            <a:pPr>
              <a:defRPr/>
            </a:pPr>
            <a:r>
              <a:rPr lang="en-US"/>
              <a:t>Profiling via k-</a:t>
            </a:r>
            <a:r>
              <a:rPr lang="en-US"/>
              <a:t>mer</a:t>
            </a:r>
            <a:r>
              <a:rPr lang="en-US"/>
              <a:t> </a:t>
            </a:r>
            <a:r>
              <a:rPr lang="en-US"/>
              <a:t>multiplicites</a:t>
            </a:r>
            <a:endParaRPr lang="en-US"/>
          </a:p>
        </p:txBody>
      </p:sp>
      <p:pic>
        <p:nvPicPr>
          <p:cNvPr id="609546997" name="Picture 4"/>
          <p:cNvPicPr>
            <a:picLocks noChangeAspect="1"/>
          </p:cNvPicPr>
          <p:nvPr/>
        </p:nvPicPr>
        <p:blipFill rotWithShape="1">
          <a:blip r:embed="rId3"/>
          <a:stretch/>
        </p:blipFill>
        <p:spPr bwMode="auto">
          <a:xfrm>
            <a:off x="196222" y="1593056"/>
            <a:ext cx="5243913" cy="3831431"/>
          </a:xfrm>
          <a:prstGeom prst="rect">
            <a:avLst/>
          </a:prstGeom>
        </p:spPr>
      </p:pic>
      <p:pic>
        <p:nvPicPr>
          <p:cNvPr id="1122037706" name="Picture 6"/>
          <p:cNvPicPr>
            <a:picLocks noChangeAspect="1"/>
          </p:cNvPicPr>
          <p:nvPr/>
        </p:nvPicPr>
        <p:blipFill rotWithShape="1">
          <a:blip r:embed="rId4"/>
          <a:stretch/>
        </p:blipFill>
        <p:spPr bwMode="auto">
          <a:xfrm>
            <a:off x="6369678" y="1828921"/>
            <a:ext cx="4984121" cy="3595566"/>
          </a:xfrm>
          <a:prstGeom prst="rect">
            <a:avLst/>
          </a:prstGeom>
        </p:spPr>
      </p:pic>
      <p:cxnSp>
        <p:nvCxnSpPr>
          <p:cNvPr id="1818618779" name="Straight Arrow Connector 8"/>
          <p:cNvCxnSpPr/>
          <p:nvPr/>
        </p:nvCxnSpPr>
        <p:spPr bwMode="auto">
          <a:xfrm>
            <a:off x="5440135" y="3696890"/>
            <a:ext cx="104690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0533149" name="TextBox 9"/>
          <p:cNvSpPr txBox="1"/>
          <p:nvPr/>
        </p:nvSpPr>
        <p:spPr bwMode="auto">
          <a:xfrm>
            <a:off x="1348978" y="5703093"/>
            <a:ext cx="9494044" cy="830997"/>
          </a:xfrm>
          <a:prstGeom prst="rect">
            <a:avLst/>
          </a:prstGeom>
          <a:noFill/>
        </p:spPr>
        <p:txBody>
          <a:bodyPr wrap="square" rtlCol="0">
            <a:spAutoFit/>
          </a:bodyPr>
          <a:lstStyle/>
          <a:p>
            <a:pPr>
              <a:defRPr/>
            </a:pPr>
            <a:r>
              <a:rPr lang="en-US" sz="2400"/>
              <a:t>We reassign k-</a:t>
            </a:r>
            <a:r>
              <a:rPr lang="en-US" sz="2400"/>
              <a:t>mers</a:t>
            </a:r>
            <a:r>
              <a:rPr lang="en-US" sz="2400"/>
              <a:t> via winner-take-all to their highest ANI match, and then use the k-</a:t>
            </a:r>
            <a:r>
              <a:rPr lang="en-US" sz="2400"/>
              <a:t>mer</a:t>
            </a:r>
            <a:r>
              <a:rPr lang="en-US" sz="2400"/>
              <a:t> multiplicities to compute species abundances.</a:t>
            </a:r>
            <a:endParaRPr/>
          </a:p>
        </p:txBody>
      </p:sp>
      <p:sp>
        <p:nvSpPr>
          <p:cNvPr id="306729374" name="Slide Number Placeholder 5"/>
          <p:cNvSpPr>
            <a:spLocks noGrp="1"/>
          </p:cNvSpPr>
          <p:nvPr>
            <p:ph type="sldNum" sz="quarter" idx="12"/>
          </p:nvPr>
        </p:nvSpPr>
        <p:spPr bwMode="auto"/>
        <p:txBody>
          <a:bodyPr/>
          <a:lstStyle/>
          <a:p>
            <a:pPr>
              <a:defRPr/>
            </a:pPr>
            <a:fld id="{2BC2BF63-BF82-FFAD-3370-EF5FA6D83881}"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8696296" name="Title 1"/>
          <p:cNvSpPr>
            <a:spLocks noGrp="1"/>
          </p:cNvSpPr>
          <p:nvPr>
            <p:ph type="title"/>
          </p:nvPr>
        </p:nvSpPr>
        <p:spPr bwMode="auto"/>
        <p:txBody>
          <a:bodyPr/>
          <a:lstStyle/>
          <a:p>
            <a:pPr>
              <a:defRPr/>
            </a:pPr>
            <a:r>
              <a:rPr lang="en-US"/>
              <a:t>Sylph is much more resource-efficient</a:t>
            </a:r>
            <a:endParaRPr/>
          </a:p>
        </p:txBody>
      </p:sp>
      <p:pic>
        <p:nvPicPr>
          <p:cNvPr id="82658512" name="Picture 2" descr="Fig. 2"/>
          <p:cNvPicPr>
            <a:picLocks noChangeAspect="1" noChangeArrowheads="1"/>
          </p:cNvPicPr>
          <p:nvPr/>
        </p:nvPicPr>
        <p:blipFill rotWithShape="1">
          <a:blip r:embed="rId3"/>
          <a:srcRect l="1760" t="79152" r="0" b="0"/>
          <a:stretch/>
        </p:blipFill>
        <p:spPr bwMode="auto">
          <a:xfrm>
            <a:off x="127462" y="2144698"/>
            <a:ext cx="11937076" cy="2942689"/>
          </a:xfrm>
          <a:prstGeom prst="rect">
            <a:avLst/>
          </a:prstGeom>
          <a:noFill/>
        </p:spPr>
      </p:pic>
      <p:sp>
        <p:nvSpPr>
          <p:cNvPr id="821830541" name="Slide Number Placeholder 5"/>
          <p:cNvSpPr>
            <a:spLocks noGrp="1"/>
          </p:cNvSpPr>
          <p:nvPr>
            <p:ph type="sldNum" sz="quarter" idx="12"/>
          </p:nvPr>
        </p:nvSpPr>
        <p:spPr bwMode="auto"/>
        <p:txBody>
          <a:bodyPr/>
          <a:lstStyle/>
          <a:p>
            <a:pPr>
              <a:defRPr/>
            </a:pPr>
            <a:fld id="{68670ABA-EF8D-D1F2-5A8F-E8E2855FC631}"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3209107" name="Title 1"/>
          <p:cNvSpPr>
            <a:spLocks noGrp="1"/>
          </p:cNvSpPr>
          <p:nvPr>
            <p:ph type="title"/>
          </p:nvPr>
        </p:nvSpPr>
        <p:spPr bwMode="auto">
          <a:xfrm>
            <a:off x="838198" y="20533"/>
            <a:ext cx="11040687" cy="1325563"/>
          </a:xfrm>
        </p:spPr>
        <p:txBody>
          <a:bodyPr/>
          <a:lstStyle/>
          <a:p>
            <a:pPr>
              <a:defRPr/>
            </a:pPr>
            <a:r>
              <a:rPr lang="en-US"/>
              <a:t>Sylph performs well on standard benchmarks</a:t>
            </a:r>
            <a:endParaRPr/>
          </a:p>
        </p:txBody>
      </p:sp>
      <p:sp>
        <p:nvSpPr>
          <p:cNvPr id="2079016987" name="Rectangle 4"/>
          <p:cNvSpPr/>
          <p:nvPr/>
        </p:nvSpPr>
        <p:spPr bwMode="auto">
          <a:xfrm>
            <a:off x="440267" y="1478844"/>
            <a:ext cx="508000" cy="428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53101717" name="Rectangle 5"/>
          <p:cNvSpPr/>
          <p:nvPr/>
        </p:nvSpPr>
        <p:spPr bwMode="auto">
          <a:xfrm>
            <a:off x="491066" y="3505201"/>
            <a:ext cx="508000" cy="4289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494041054" name="Picture 2" descr="Fig. 2"/>
          <p:cNvPicPr>
            <a:picLocks noChangeAspect="1" noChangeArrowheads="1"/>
          </p:cNvPicPr>
          <p:nvPr/>
        </p:nvPicPr>
        <p:blipFill rotWithShape="1">
          <a:blip r:embed="rId3"/>
          <a:srcRect l="711" t="53180" r="0" b="23144"/>
          <a:stretch/>
        </p:blipFill>
        <p:spPr bwMode="auto">
          <a:xfrm>
            <a:off x="63731" y="2263321"/>
            <a:ext cx="12064538" cy="3341716"/>
          </a:xfrm>
          <a:prstGeom prst="rect">
            <a:avLst/>
          </a:prstGeom>
          <a:noFill/>
        </p:spPr>
      </p:pic>
      <p:sp>
        <p:nvSpPr>
          <p:cNvPr id="687515650" name="TextBox 2"/>
          <p:cNvSpPr txBox="1"/>
          <p:nvPr/>
        </p:nvSpPr>
        <p:spPr bwMode="auto">
          <a:xfrm>
            <a:off x="3830766" y="1701595"/>
            <a:ext cx="5055551" cy="461665"/>
          </a:xfrm>
          <a:prstGeom prst="rect">
            <a:avLst/>
          </a:prstGeom>
          <a:noFill/>
        </p:spPr>
        <p:txBody>
          <a:bodyPr wrap="none" rtlCol="0">
            <a:spAutoFit/>
          </a:bodyPr>
          <a:lstStyle/>
          <a:p>
            <a:pPr>
              <a:defRPr/>
            </a:pPr>
            <a:r>
              <a:rPr lang="en-US" sz="2400"/>
              <a:t>CAMI2 challenge marine (species level)</a:t>
            </a:r>
            <a:endParaRPr/>
          </a:p>
        </p:txBody>
      </p:sp>
      <p:sp>
        <p:nvSpPr>
          <p:cNvPr id="1139760975" name="TextBox 6"/>
          <p:cNvSpPr txBox="1"/>
          <p:nvPr/>
        </p:nvSpPr>
        <p:spPr bwMode="auto">
          <a:xfrm>
            <a:off x="2651760" y="5591204"/>
            <a:ext cx="4079130" cy="369332"/>
          </a:xfrm>
          <a:prstGeom prst="rect">
            <a:avLst/>
          </a:prstGeom>
          <a:noFill/>
        </p:spPr>
        <p:txBody>
          <a:bodyPr wrap="none" rtlCol="0">
            <a:spAutoFit/>
          </a:bodyPr>
          <a:lstStyle/>
          <a:p>
            <a:pPr>
              <a:defRPr/>
            </a:pPr>
            <a:r>
              <a:rPr lang="en-US"/>
              <a:t>Determining presence/absence of species</a:t>
            </a:r>
            <a:endParaRPr/>
          </a:p>
        </p:txBody>
      </p:sp>
      <p:sp>
        <p:nvSpPr>
          <p:cNvPr id="370710217" name="TextBox 7"/>
          <p:cNvSpPr txBox="1"/>
          <p:nvPr/>
        </p:nvSpPr>
        <p:spPr bwMode="auto">
          <a:xfrm>
            <a:off x="9213273" y="5624455"/>
            <a:ext cx="2771721" cy="369332"/>
          </a:xfrm>
          <a:prstGeom prst="rect">
            <a:avLst/>
          </a:prstGeom>
          <a:noFill/>
        </p:spPr>
        <p:txBody>
          <a:bodyPr wrap="none" rtlCol="0">
            <a:spAutoFit/>
          </a:bodyPr>
          <a:lstStyle/>
          <a:p>
            <a:pPr>
              <a:defRPr/>
            </a:pPr>
            <a:r>
              <a:rPr lang="en-US"/>
              <a:t>Actual quantitative profiles</a:t>
            </a:r>
            <a:endParaRPr/>
          </a:p>
        </p:txBody>
      </p:sp>
      <p:cxnSp>
        <p:nvCxnSpPr>
          <p:cNvPr id="1878913380" name="Straight Connector 10"/>
          <p:cNvCxnSpPr/>
          <p:nvPr/>
        </p:nvCxnSpPr>
        <p:spPr bwMode="auto">
          <a:xfrm>
            <a:off x="8986057" y="1346096"/>
            <a:ext cx="0" cy="527083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10241455" name="Slide Number Placeholder 5"/>
          <p:cNvSpPr>
            <a:spLocks noGrp="1"/>
          </p:cNvSpPr>
          <p:nvPr>
            <p:ph type="sldNum" sz="quarter" idx="12"/>
          </p:nvPr>
        </p:nvSpPr>
        <p:spPr bwMode="auto"/>
        <p:txBody>
          <a:bodyPr/>
          <a:lstStyle/>
          <a:p>
            <a:pPr>
              <a:defRPr/>
            </a:pPr>
            <a:fld id="{790BD578-1B35-3CD2-16FA-E17DA30B0F1F}"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3574727" name="Title 1"/>
          <p:cNvSpPr>
            <a:spLocks noGrp="1"/>
          </p:cNvSpPr>
          <p:nvPr>
            <p:ph type="title"/>
          </p:nvPr>
        </p:nvSpPr>
        <p:spPr bwMode="auto">
          <a:xfrm>
            <a:off x="186193" y="-135807"/>
            <a:ext cx="10515600" cy="1325563"/>
          </a:xfrm>
        </p:spPr>
        <p:txBody>
          <a:bodyPr/>
          <a:lstStyle/>
          <a:p>
            <a:pPr>
              <a:defRPr/>
            </a:pPr>
            <a:r>
              <a:rPr lang="en-US"/>
              <a:t>Detecting genomes in real datasets</a:t>
            </a:r>
            <a:endParaRPr/>
          </a:p>
        </p:txBody>
      </p:sp>
      <p:pic>
        <p:nvPicPr>
          <p:cNvPr id="1657972763" name="Content Placeholder 4" descr="A group of graphs showing different sizes and colors&#10;&#10;Description automatically generated"/>
          <p:cNvPicPr>
            <a:picLocks noChangeAspect="1" noGrp="1"/>
          </p:cNvPicPr>
          <p:nvPr>
            <p:ph idx="1"/>
          </p:nvPr>
        </p:nvPicPr>
        <p:blipFill rotWithShape="1">
          <a:blip r:embed="rId3"/>
          <a:stretch/>
        </p:blipFill>
        <p:spPr bwMode="auto">
          <a:xfrm>
            <a:off x="186193" y="975130"/>
            <a:ext cx="9230770" cy="5772124"/>
          </a:xfrm>
        </p:spPr>
      </p:pic>
      <p:sp>
        <p:nvSpPr>
          <p:cNvPr id="96412106" name="TextBox 2"/>
          <p:cNvSpPr txBox="1"/>
          <p:nvPr/>
        </p:nvSpPr>
        <p:spPr bwMode="auto">
          <a:xfrm>
            <a:off x="9416963" y="1399822"/>
            <a:ext cx="2588844" cy="3970318"/>
          </a:xfrm>
          <a:prstGeom prst="rect">
            <a:avLst/>
          </a:prstGeom>
          <a:noFill/>
        </p:spPr>
        <p:txBody>
          <a:bodyPr wrap="square" rtlCol="0">
            <a:spAutoFit/>
          </a:bodyPr>
          <a:lstStyle/>
          <a:p>
            <a:pPr>
              <a:defRPr/>
            </a:pPr>
            <a:r>
              <a:rPr lang="en-US"/>
              <a:t>sylph can take advantage of very large databases:</a:t>
            </a:r>
            <a:endParaRPr/>
          </a:p>
          <a:p>
            <a:pPr marL="285750" indent="-285750">
              <a:buFont typeface="Arial"/>
              <a:buChar char="•"/>
              <a:defRPr/>
            </a:pPr>
            <a:r>
              <a:rPr lang="en-US"/>
              <a:t>GTDB-R214 (85k prokaryotes) </a:t>
            </a:r>
            <a:endParaRPr/>
          </a:p>
          <a:p>
            <a:pPr marL="285750" indent="-285750">
              <a:buFont typeface="Arial"/>
              <a:buChar char="•"/>
              <a:defRPr/>
            </a:pPr>
            <a:r>
              <a:rPr lang="en-US"/>
              <a:t>IMG/VR (5 million viruses)</a:t>
            </a:r>
            <a:endParaRPr/>
          </a:p>
          <a:p>
            <a:pPr marL="285750" indent="-285750">
              <a:buFont typeface="Arial"/>
              <a:buChar char="•"/>
              <a:defRPr/>
            </a:pPr>
            <a:r>
              <a:rPr lang="en-US"/>
              <a:t>Refseq</a:t>
            </a:r>
            <a:r>
              <a:rPr lang="en-US"/>
              <a:t> (17.5k prokaryotes, 15k viruses)</a:t>
            </a:r>
            <a:endParaRPr/>
          </a:p>
          <a:p>
            <a:pPr marL="285750" indent="-285750">
              <a:buFont typeface="Arial"/>
              <a:buChar char="•"/>
              <a:defRPr/>
            </a:pPr>
            <a:endParaRPr lang="en-US"/>
          </a:p>
          <a:p>
            <a:pPr>
              <a:defRPr/>
            </a:pPr>
            <a:r>
              <a:rPr lang="en-US"/>
              <a:t>sylph uses 20 GB RAM, whereas Kraken would need &gt;300 GB RAM for this data set.</a:t>
            </a:r>
            <a:endParaRPr/>
          </a:p>
        </p:txBody>
      </p:sp>
      <p:sp>
        <p:nvSpPr>
          <p:cNvPr id="283260375" name="Slide Number Placeholder 5"/>
          <p:cNvSpPr>
            <a:spLocks noGrp="1"/>
          </p:cNvSpPr>
          <p:nvPr>
            <p:ph type="sldNum" sz="quarter" idx="12"/>
          </p:nvPr>
        </p:nvSpPr>
        <p:spPr bwMode="auto"/>
        <p:txBody>
          <a:bodyPr/>
          <a:lstStyle/>
          <a:p>
            <a:pPr>
              <a:defRPr/>
            </a:pPr>
            <a:fld id="{98078069-AB80-23C7-281C-0AD047FD894F}"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5209298" name="Title 1"/>
          <p:cNvSpPr>
            <a:spLocks noGrp="1"/>
          </p:cNvSpPr>
          <p:nvPr>
            <p:ph type="title"/>
          </p:nvPr>
        </p:nvSpPr>
        <p:spPr bwMode="auto"/>
        <p:txBody>
          <a:bodyPr/>
          <a:lstStyle/>
          <a:p>
            <a:pPr>
              <a:defRPr/>
            </a:pPr>
            <a:r>
              <a:rPr lang="en-US"/>
              <a:t>Conclusion</a:t>
            </a:r>
            <a:endParaRPr/>
          </a:p>
        </p:txBody>
      </p:sp>
      <p:sp>
        <p:nvSpPr>
          <p:cNvPr id="1504880107" name="Content Placeholder 2"/>
          <p:cNvSpPr>
            <a:spLocks noGrp="1"/>
          </p:cNvSpPr>
          <p:nvPr>
            <p:ph idx="1"/>
          </p:nvPr>
        </p:nvSpPr>
        <p:spPr bwMode="auto"/>
        <p:txBody>
          <a:bodyPr/>
          <a:lstStyle/>
          <a:p>
            <a:pPr>
              <a:defRPr/>
            </a:pPr>
            <a:r>
              <a:rPr lang="en-US"/>
              <a:t>Understanding properties of k-</a:t>
            </a:r>
            <a:r>
              <a:rPr lang="en-US"/>
              <a:t>mer</a:t>
            </a:r>
            <a:r>
              <a:rPr lang="en-US"/>
              <a:t> sketching allows us to augment and choose the appropriate tools for particular tasks.</a:t>
            </a:r>
            <a:endParaRPr/>
          </a:p>
          <a:p>
            <a:pPr>
              <a:defRPr/>
            </a:pPr>
            <a:r>
              <a:rPr lang="en-US"/>
              <a:t>For </a:t>
            </a:r>
            <a:r>
              <a:rPr lang="en-US"/>
              <a:t>skani</a:t>
            </a:r>
            <a:r>
              <a:rPr lang="en-US"/>
              <a:t>, we needed to avoid a biased Jaccard index estimator.</a:t>
            </a:r>
            <a:endParaRPr/>
          </a:p>
          <a:p>
            <a:pPr>
              <a:defRPr/>
            </a:pPr>
            <a:r>
              <a:rPr lang="en-US"/>
              <a:t>For sylph, we additionally needed to correct for zero count inflation when looking at containment index.</a:t>
            </a:r>
            <a:endParaRPr/>
          </a:p>
        </p:txBody>
      </p:sp>
      <p:sp>
        <p:nvSpPr>
          <p:cNvPr id="32415945" name="Slide Number Placeholder 5"/>
          <p:cNvSpPr>
            <a:spLocks noGrp="1"/>
          </p:cNvSpPr>
          <p:nvPr>
            <p:ph type="sldNum" sz="quarter" idx="12"/>
          </p:nvPr>
        </p:nvSpPr>
        <p:spPr bwMode="auto"/>
        <p:txBody>
          <a:bodyPr/>
          <a:lstStyle/>
          <a:p>
            <a:pPr>
              <a:defRPr/>
            </a:pPr>
            <a:fld id="{F85C1930-E1F8-AEB2-65D6-67B72D533F18}"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4880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4880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04880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4880107" grpId="0" build="p"/>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2535996" name="Title 1"/>
          <p:cNvSpPr>
            <a:spLocks noGrp="1"/>
          </p:cNvSpPr>
          <p:nvPr>
            <p:ph type="title"/>
          </p:nvPr>
        </p:nvSpPr>
        <p:spPr bwMode="auto"/>
        <p:txBody>
          <a:bodyPr/>
          <a:lstStyle/>
          <a:p>
            <a:pPr>
              <a:defRPr/>
            </a:pPr>
            <a:r>
              <a:rPr lang="en-US"/>
              <a:t>Structure of talk</a:t>
            </a:r>
            <a:endParaRPr/>
          </a:p>
        </p:txBody>
      </p:sp>
      <p:sp>
        <p:nvSpPr>
          <p:cNvPr id="21201928" name="Content Placeholder 2"/>
          <p:cNvSpPr>
            <a:spLocks noGrp="1"/>
          </p:cNvSpPr>
          <p:nvPr>
            <p:ph idx="1"/>
          </p:nvPr>
        </p:nvSpPr>
        <p:spPr bwMode="auto"/>
        <p:txBody>
          <a:bodyPr/>
          <a:lstStyle/>
          <a:p>
            <a:pPr>
              <a:defRPr/>
            </a:pPr>
            <a:r>
              <a:rPr lang="en-US"/>
              <a:t>Background on metagenomics and string sketching</a:t>
            </a:r>
            <a:endParaRPr/>
          </a:p>
          <a:p>
            <a:pPr>
              <a:defRPr/>
            </a:pPr>
            <a:r>
              <a:rPr lang="en-US"/>
              <a:t>Skani</a:t>
            </a:r>
            <a:r>
              <a:rPr lang="en-US"/>
              <a:t>: metagenomic sequence comparison through sparse chaining [Shaw &amp; Yu, 2023, Nature Methods]</a:t>
            </a:r>
            <a:endParaRPr/>
          </a:p>
          <a:p>
            <a:pPr>
              <a:defRPr/>
            </a:pPr>
            <a:r>
              <a:rPr lang="en-US"/>
              <a:t>Sylph: Statistical metagenomic profiling</a:t>
            </a:r>
            <a:br>
              <a:rPr lang="en-US"/>
            </a:br>
            <a:r>
              <a:rPr lang="en-US"/>
              <a:t>[Shaw &amp; Yu, 2024, Nature Biotechnology]</a:t>
            </a:r>
            <a:endParaRPr/>
          </a:p>
          <a:p>
            <a:pPr>
              <a:defRPr/>
            </a:pPr>
            <a:r>
              <a:rPr lang="en-US"/>
              <a:t>Acknowledgements</a:t>
            </a:r>
            <a:endParaRPr/>
          </a:p>
        </p:txBody>
      </p:sp>
      <p:sp>
        <p:nvSpPr>
          <p:cNvPr id="1514841530" name="Slide Number Placeholder 5"/>
          <p:cNvSpPr>
            <a:spLocks noGrp="1"/>
          </p:cNvSpPr>
          <p:nvPr>
            <p:ph type="sldNum" sz="quarter" idx="12"/>
          </p:nvPr>
        </p:nvSpPr>
        <p:spPr bwMode="auto"/>
        <p:txBody>
          <a:bodyPr/>
          <a:lstStyle/>
          <a:p>
            <a:pPr>
              <a:defRPr/>
            </a:pPr>
            <a:fld id="{B928AFB1-B180-FA81-FF9D-72376510DB54}" type="slidenum">
              <a:rPr lang="en-US"/>
              <a:t>47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555301" name="Title 1"/>
          <p:cNvSpPr>
            <a:spLocks noGrp="1"/>
          </p:cNvSpPr>
          <p:nvPr>
            <p:ph type="title"/>
          </p:nvPr>
        </p:nvSpPr>
        <p:spPr bwMode="auto">
          <a:xfrm flipH="0" flipV="0">
            <a:off x="838199" y="365124"/>
            <a:ext cx="5257800" cy="1325562"/>
          </a:xfrm>
        </p:spPr>
        <p:txBody>
          <a:bodyPr/>
          <a:lstStyle/>
          <a:p>
            <a:pPr>
              <a:defRPr/>
            </a:pPr>
            <a:r>
              <a:rPr/>
              <a:t>skani</a:t>
            </a:r>
            <a:endParaRPr/>
          </a:p>
        </p:txBody>
      </p:sp>
      <p:sp>
        <p:nvSpPr>
          <p:cNvPr id="738537299" name="Content Placeholder 2"/>
          <p:cNvSpPr>
            <a:spLocks noGrp="1"/>
          </p:cNvSpPr>
          <p:nvPr>
            <p:ph idx="1"/>
          </p:nvPr>
        </p:nvSpPr>
        <p:spPr bwMode="auto">
          <a:xfrm flipH="0" flipV="0">
            <a:off x="838199" y="1825624"/>
            <a:ext cx="5257800" cy="4351338"/>
          </a:xfrm>
        </p:spPr>
        <p:txBody>
          <a:bodyPr/>
          <a:lstStyle/>
          <a:p>
            <a:pPr marL="0" indent="0">
              <a:buFont typeface="Arial"/>
              <a:buNone/>
              <a:defRPr/>
            </a:pPr>
            <a:r>
              <a:rPr/>
              <a:t>Code / install:</a:t>
            </a:r>
            <a:endParaRPr/>
          </a:p>
          <a:p>
            <a:pPr marL="0" indent="0">
              <a:buFont typeface="Arial"/>
              <a:buNone/>
              <a:defRPr/>
            </a:pPr>
            <a:r>
              <a:rPr lang="en-US" sz="2800" b="0" i="0" u="sng" strike="noStrike" cap="none" spc="0">
                <a:solidFill>
                  <a:schemeClr val="tx1"/>
                </a:solidFill>
                <a:latin typeface="Calibri"/>
                <a:ea typeface="Calibri"/>
                <a:cs typeface="Calibri"/>
                <a:hlinkClick r:id="rId3" tooltip=""/>
              </a:rPr>
              <a:t>https://github.com/bluenote-1577/skani</a:t>
            </a:r>
            <a:endParaRPr/>
          </a:p>
          <a:p>
            <a:pPr marL="0" indent="0">
              <a:buFont typeface="Arial"/>
              <a:buNone/>
              <a:defRPr/>
            </a:pPr>
            <a:endParaRPr/>
          </a:p>
          <a:p>
            <a:pPr marL="0" indent="0">
              <a:buFont typeface="Arial"/>
              <a:buNone/>
              <a:defRPr/>
            </a:pPr>
            <a:r>
              <a:rPr/>
              <a:t>WebAssembly demo (beta):</a:t>
            </a:r>
            <a:endParaRPr/>
          </a:p>
          <a:p>
            <a:pPr marL="0" indent="0">
              <a:buFont typeface="Arial"/>
              <a:buNone/>
              <a:defRPr/>
            </a:pPr>
            <a:r>
              <a:rPr u="sng">
                <a:hlinkClick r:id="rId4" tooltip=""/>
              </a:rPr>
              <a:t>https://faust.compbio.cs.cmu.edu/skani</a:t>
            </a:r>
            <a:endParaRPr/>
          </a:p>
          <a:p>
            <a:pPr marL="0" indent="0">
              <a:buFont typeface="Arial"/>
              <a:buNone/>
              <a:defRPr/>
            </a:pPr>
            <a:endParaRPr/>
          </a:p>
        </p:txBody>
      </p:sp>
      <p:sp>
        <p:nvSpPr>
          <p:cNvPr id="1595542775" name="Slide Number Placeholder 5"/>
          <p:cNvSpPr>
            <a:spLocks noGrp="1"/>
          </p:cNvSpPr>
          <p:nvPr>
            <p:ph type="sldNum" sz="quarter" idx="12"/>
          </p:nvPr>
        </p:nvSpPr>
        <p:spPr bwMode="auto"/>
        <p:txBody>
          <a:bodyPr/>
          <a:lstStyle/>
          <a:p>
            <a:pPr>
              <a:defRPr/>
            </a:pPr>
            <a:fld id="{33F3AD98-FADB-028A-364A-C1136F88854F}" type="slidenum">
              <a:rPr lang="en-US"/>
              <a:t>45</a:t>
            </a:fld>
            <a:endParaRPr lang="en-US"/>
          </a:p>
        </p:txBody>
      </p:sp>
      <p:pic>
        <p:nvPicPr>
          <p:cNvPr id="936488339" name=""/>
          <p:cNvPicPr>
            <a:picLocks noChangeAspect="1"/>
          </p:cNvPicPr>
          <p:nvPr/>
        </p:nvPicPr>
        <p:blipFill rotWithShape="1">
          <a:blip r:embed="rId5"/>
          <a:stretch/>
        </p:blipFill>
        <p:spPr bwMode="auto">
          <a:xfrm flipH="0" flipV="0">
            <a:off x="6656004" y="507175"/>
            <a:ext cx="5208215" cy="56410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4378483" name="Title 1"/>
          <p:cNvSpPr>
            <a:spLocks noGrp="1"/>
          </p:cNvSpPr>
          <p:nvPr>
            <p:ph type="title"/>
          </p:nvPr>
        </p:nvSpPr>
        <p:spPr bwMode="auto">
          <a:xfrm flipH="0" flipV="0">
            <a:off x="838199" y="365124"/>
            <a:ext cx="5257800" cy="1325562"/>
          </a:xfrm>
        </p:spPr>
        <p:txBody>
          <a:bodyPr/>
          <a:lstStyle/>
          <a:p>
            <a:pPr>
              <a:defRPr/>
            </a:pPr>
            <a:r>
              <a:rPr/>
              <a:t>sylph</a:t>
            </a:r>
            <a:endParaRPr/>
          </a:p>
        </p:txBody>
      </p:sp>
      <p:sp>
        <p:nvSpPr>
          <p:cNvPr id="708507038" name="Content Placeholder 2"/>
          <p:cNvSpPr>
            <a:spLocks noGrp="1"/>
          </p:cNvSpPr>
          <p:nvPr>
            <p:ph idx="1"/>
          </p:nvPr>
        </p:nvSpPr>
        <p:spPr bwMode="auto">
          <a:xfrm flipH="0" flipV="0">
            <a:off x="838199" y="1825624"/>
            <a:ext cx="5257800" cy="4351338"/>
          </a:xfrm>
        </p:spPr>
        <p:txBody>
          <a:bodyPr/>
          <a:lstStyle/>
          <a:p>
            <a:pPr marL="0" indent="0">
              <a:buFont typeface="Arial"/>
              <a:buNone/>
              <a:defRPr/>
            </a:pPr>
            <a:r>
              <a:rPr/>
              <a:t>Code / install:</a:t>
            </a:r>
            <a:endParaRPr/>
          </a:p>
          <a:p>
            <a:pPr marL="0" indent="0">
              <a:buFont typeface="Arial"/>
              <a:buNone/>
              <a:defRPr/>
            </a:pPr>
            <a:r>
              <a:rPr lang="en-US" sz="2800" b="0" i="0" u="sng" strike="noStrike" cap="none" spc="0">
                <a:solidFill>
                  <a:schemeClr val="tx1"/>
                </a:solidFill>
                <a:latin typeface="Calibri"/>
                <a:ea typeface="Calibri"/>
                <a:cs typeface="Calibri"/>
                <a:hlinkClick r:id="rId3" tooltip=""/>
              </a:rPr>
              <a:t>https://github.com/bluenote-1577/sylph</a:t>
            </a:r>
            <a:endParaRPr/>
          </a:p>
          <a:p>
            <a:pPr marL="0" indent="0">
              <a:buFont typeface="Arial"/>
              <a:buNone/>
              <a:defRPr/>
            </a:pPr>
            <a:endParaRPr/>
          </a:p>
          <a:p>
            <a:pPr marL="0" indent="0">
              <a:buFont typeface="Arial"/>
              <a:buNone/>
              <a:defRPr/>
            </a:pPr>
            <a:r>
              <a:rPr/>
              <a:t>WebAssembly demo (beta):</a:t>
            </a:r>
            <a:endParaRPr/>
          </a:p>
          <a:p>
            <a:pPr marL="0" indent="0">
              <a:buFont typeface="Arial"/>
              <a:buNone/>
              <a:defRPr/>
            </a:pPr>
            <a:r>
              <a:rPr lang="en-US" sz="2800" b="0" i="0" u="sng" strike="noStrike" cap="none" spc="0">
                <a:solidFill>
                  <a:schemeClr val="tx1"/>
                </a:solidFill>
                <a:latin typeface="Calibri"/>
                <a:ea typeface="Calibri"/>
                <a:cs typeface="Calibri"/>
                <a:hlinkClick r:id="rId4" tooltip=""/>
              </a:rPr>
              <a:t>https://faust.compbio.cs.cmu.edu/sylph/</a:t>
            </a:r>
            <a:endParaRPr/>
          </a:p>
          <a:p>
            <a:pPr marL="0" indent="0">
              <a:buFont typeface="Arial"/>
              <a:buNone/>
              <a:defRPr/>
            </a:pPr>
            <a:endParaRPr/>
          </a:p>
          <a:p>
            <a:pPr marL="0" indent="0">
              <a:buFont typeface="Arial"/>
              <a:buNone/>
              <a:defRPr/>
            </a:pPr>
            <a:endParaRPr/>
          </a:p>
        </p:txBody>
      </p:sp>
      <p:sp>
        <p:nvSpPr>
          <p:cNvPr id="466086519" name="Slide Number Placeholder 5"/>
          <p:cNvSpPr>
            <a:spLocks noGrp="1"/>
          </p:cNvSpPr>
          <p:nvPr>
            <p:ph type="sldNum" sz="quarter" idx="12"/>
          </p:nvPr>
        </p:nvSpPr>
        <p:spPr bwMode="auto"/>
        <p:txBody>
          <a:bodyPr/>
          <a:lstStyle/>
          <a:p>
            <a:pPr>
              <a:defRPr/>
            </a:pPr>
            <a:fld id="{72DB0717-3245-77E3-976B-425D188268BD}" type="slidenum">
              <a:rPr lang="en-US"/>
              <a:t>46</a:t>
            </a:fld>
            <a:endParaRPr lang="en-US"/>
          </a:p>
        </p:txBody>
      </p:sp>
      <p:pic>
        <p:nvPicPr>
          <p:cNvPr id="1754681011" name=""/>
          <p:cNvPicPr>
            <a:picLocks noChangeAspect="1"/>
          </p:cNvPicPr>
          <p:nvPr/>
        </p:nvPicPr>
        <p:blipFill rotWithShape="1">
          <a:blip r:embed="rId5"/>
          <a:stretch/>
        </p:blipFill>
        <p:spPr bwMode="auto">
          <a:xfrm flipH="0" flipV="0">
            <a:off x="6492908" y="365124"/>
            <a:ext cx="5366706" cy="581272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7239366" name="Title 1"/>
          <p:cNvSpPr>
            <a:spLocks noGrp="1"/>
          </p:cNvSpPr>
          <p:nvPr>
            <p:ph type="title"/>
          </p:nvPr>
        </p:nvSpPr>
        <p:spPr bwMode="auto"/>
        <p:txBody>
          <a:bodyPr/>
          <a:lstStyle/>
          <a:p>
            <a:pPr>
              <a:defRPr/>
            </a:pPr>
            <a:r>
              <a:rPr lang="en-US"/>
              <a:t>Acknowledgments</a:t>
            </a:r>
            <a:endParaRPr/>
          </a:p>
        </p:txBody>
      </p:sp>
      <p:pic>
        <p:nvPicPr>
          <p:cNvPr id="682546986" name="Content Placeholder 4" descr="A red circle with white leaf in it&#10;&#10;Description automatically generated"/>
          <p:cNvPicPr>
            <a:picLocks noChangeAspect="1" noGrp="1"/>
          </p:cNvPicPr>
          <p:nvPr>
            <p:ph idx="1"/>
          </p:nvPr>
        </p:nvPicPr>
        <p:blipFill rotWithShape="1">
          <a:blip r:embed="rId3"/>
          <a:stretch/>
        </p:blipFill>
        <p:spPr bwMode="auto">
          <a:xfrm>
            <a:off x="832658" y="5786237"/>
            <a:ext cx="2292930" cy="982139"/>
          </a:xfrm>
        </p:spPr>
      </p:pic>
      <p:pic>
        <p:nvPicPr>
          <p:cNvPr id="476755103" name="Picture 6" descr="A person wearing glasses and a plaid shirt&#10;&#10;Description automatically generated"/>
          <p:cNvPicPr>
            <a:picLocks noChangeAspect="1"/>
          </p:cNvPicPr>
          <p:nvPr/>
        </p:nvPicPr>
        <p:blipFill rotWithShape="1">
          <a:blip r:embed="rId4"/>
          <a:stretch/>
        </p:blipFill>
        <p:spPr bwMode="auto">
          <a:xfrm flipH="0" flipV="0">
            <a:off x="768531" y="1619721"/>
            <a:ext cx="1818091" cy="1874320"/>
          </a:xfrm>
          <a:prstGeom prst="rect">
            <a:avLst/>
          </a:prstGeom>
        </p:spPr>
      </p:pic>
      <p:sp>
        <p:nvSpPr>
          <p:cNvPr id="199540682" name="TextBox 7"/>
          <p:cNvSpPr txBox="1"/>
          <p:nvPr/>
        </p:nvSpPr>
        <p:spPr bwMode="auto">
          <a:xfrm>
            <a:off x="698820" y="3760519"/>
            <a:ext cx="1964714" cy="1189079"/>
          </a:xfrm>
          <a:prstGeom prst="rect">
            <a:avLst/>
          </a:prstGeom>
          <a:noFill/>
        </p:spPr>
        <p:txBody>
          <a:bodyPr wrap="none" rtlCol="0">
            <a:spAutoFit/>
          </a:bodyPr>
          <a:lstStyle/>
          <a:p>
            <a:pPr algn="ctr">
              <a:defRPr/>
            </a:pPr>
            <a:r>
              <a:rPr lang="en-US"/>
              <a:t>Jim Shaw</a:t>
            </a:r>
            <a:br>
              <a:rPr lang="en-US"/>
            </a:br>
            <a:r>
              <a:rPr lang="en-US"/>
              <a:t>PhD, U of Toronto</a:t>
            </a:r>
            <a:br>
              <a:rPr lang="en-US"/>
            </a:br>
            <a:r>
              <a:rPr lang="en-US"/>
              <a:t>Postdoc w/ Heng Li</a:t>
            </a:r>
            <a:br>
              <a:rPr lang="en-US"/>
            </a:br>
            <a:r>
              <a:rPr lang="en-US"/>
              <a:t>HMS</a:t>
            </a:r>
            <a:endParaRPr lang="en-US"/>
          </a:p>
        </p:txBody>
      </p:sp>
      <p:sp>
        <p:nvSpPr>
          <p:cNvPr id="1569422127" name="TextBox 8"/>
          <p:cNvSpPr txBox="1"/>
          <p:nvPr/>
        </p:nvSpPr>
        <p:spPr bwMode="auto">
          <a:xfrm>
            <a:off x="7836281" y="55411"/>
            <a:ext cx="3580015" cy="3108543"/>
          </a:xfrm>
          <a:prstGeom prst="rect">
            <a:avLst/>
          </a:prstGeom>
          <a:noFill/>
        </p:spPr>
        <p:txBody>
          <a:bodyPr wrap="square" rtlCol="0">
            <a:spAutoFit/>
          </a:bodyPr>
          <a:lstStyle/>
          <a:p>
            <a:pPr>
              <a:defRPr/>
            </a:pPr>
            <a:r>
              <a:rPr lang="en-US" sz="2800" u="sng"/>
              <a:t>University of Toronto</a:t>
            </a:r>
            <a:endParaRPr/>
          </a:p>
          <a:p>
            <a:pPr>
              <a:defRPr/>
            </a:pPr>
            <a:r>
              <a:rPr lang="en-US" sz="2800"/>
              <a:t>Alister D’Costa</a:t>
            </a:r>
            <a:endParaRPr/>
          </a:p>
          <a:p>
            <a:pPr>
              <a:defRPr/>
            </a:pPr>
            <a:r>
              <a:rPr lang="en-US" sz="2800"/>
              <a:t>Kiran Deol</a:t>
            </a:r>
            <a:endParaRPr/>
          </a:p>
          <a:p>
            <a:pPr>
              <a:defRPr/>
            </a:pPr>
            <a:r>
              <a:rPr lang="en-US" sz="2800"/>
              <a:t>Luke Staniscia</a:t>
            </a:r>
            <a:endParaRPr/>
          </a:p>
          <a:p>
            <a:pPr>
              <a:defRPr/>
            </a:pPr>
            <a:r>
              <a:rPr lang="en-US" sz="2800"/>
              <a:t>Ziye</a:t>
            </a:r>
            <a:r>
              <a:rPr lang="en-US" sz="2800"/>
              <a:t> (Rachel) Tao</a:t>
            </a:r>
            <a:endParaRPr/>
          </a:p>
          <a:p>
            <a:pPr>
              <a:defRPr/>
            </a:pPr>
            <a:r>
              <a:rPr lang="en-US" sz="2800"/>
              <a:t>Andrew Zheng</a:t>
            </a:r>
            <a:endParaRPr/>
          </a:p>
          <a:p>
            <a:pPr>
              <a:defRPr/>
            </a:pPr>
            <a:endParaRPr lang="en-US" sz="2800"/>
          </a:p>
        </p:txBody>
      </p:sp>
      <p:pic>
        <p:nvPicPr>
          <p:cNvPr id="299932372" name="Picture 2"/>
          <p:cNvPicPr>
            <a:picLocks noChangeAspect="1" noChangeArrowheads="1"/>
          </p:cNvPicPr>
          <p:nvPr/>
        </p:nvPicPr>
        <p:blipFill rotWithShape="1">
          <a:blip r:embed="rId5"/>
          <a:srcRect l="0" t="28170" r="0" b="23390"/>
          <a:stretch/>
        </p:blipFill>
        <p:spPr bwMode="auto">
          <a:xfrm>
            <a:off x="4139364" y="5721398"/>
            <a:ext cx="3242098" cy="1046978"/>
          </a:xfrm>
          <a:prstGeom prst="rect">
            <a:avLst/>
          </a:prstGeom>
          <a:noFill/>
        </p:spPr>
      </p:pic>
      <p:pic>
        <p:nvPicPr>
          <p:cNvPr id="560241649" name="Picture 4" descr="Neurogenomics Laboratory"/>
          <p:cNvPicPr>
            <a:picLocks noChangeAspect="1" noChangeArrowheads="1"/>
          </p:cNvPicPr>
          <p:nvPr/>
        </p:nvPicPr>
        <p:blipFill rotWithShape="1">
          <a:blip r:embed="rId6"/>
          <a:stretch/>
        </p:blipFill>
        <p:spPr bwMode="auto">
          <a:xfrm>
            <a:off x="8165267" y="5759481"/>
            <a:ext cx="2520562" cy="970810"/>
          </a:xfrm>
          <a:prstGeom prst="rect">
            <a:avLst/>
          </a:prstGeom>
          <a:noFill/>
        </p:spPr>
      </p:pic>
      <p:sp>
        <p:nvSpPr>
          <p:cNvPr id="105201835" name="TextBox 12"/>
          <p:cNvSpPr txBox="1"/>
          <p:nvPr/>
        </p:nvSpPr>
        <p:spPr bwMode="auto">
          <a:xfrm>
            <a:off x="7836281" y="2828298"/>
            <a:ext cx="3178533" cy="2677656"/>
          </a:xfrm>
          <a:prstGeom prst="rect">
            <a:avLst/>
          </a:prstGeom>
          <a:noFill/>
        </p:spPr>
        <p:txBody>
          <a:bodyPr wrap="square">
            <a:spAutoFit/>
          </a:bodyPr>
          <a:lstStyle/>
          <a:p>
            <a:pPr>
              <a:defRPr/>
            </a:pPr>
            <a:r>
              <a:rPr lang="en-US" sz="2800" u="sng"/>
              <a:t>Carnegie Mellon</a:t>
            </a:r>
            <a:endParaRPr/>
          </a:p>
          <a:p>
            <a:pPr>
              <a:defRPr/>
            </a:pPr>
            <a:r>
              <a:rPr lang="en-US" sz="2800"/>
              <a:t>Grace Oualline</a:t>
            </a:r>
            <a:endParaRPr/>
          </a:p>
          <a:p>
            <a:pPr>
              <a:defRPr/>
            </a:pPr>
            <a:r>
              <a:rPr lang="en-US" sz="2800"/>
              <a:t>Xiaolei</a:t>
            </a:r>
            <a:r>
              <a:rPr lang="en-US" sz="2800"/>
              <a:t> (Brian) Zhang</a:t>
            </a:r>
            <a:endParaRPr/>
          </a:p>
          <a:p>
            <a:pPr>
              <a:defRPr/>
            </a:pPr>
            <a:r>
              <a:rPr lang="en-US" sz="2800"/>
              <a:t>Molly Borowiak</a:t>
            </a:r>
            <a:endParaRPr/>
          </a:p>
          <a:p>
            <a:pPr>
              <a:defRPr/>
            </a:pPr>
            <a:r>
              <a:rPr lang="en-US" sz="2800"/>
              <a:t>Aidan Zhang</a:t>
            </a:r>
            <a:endParaRPr/>
          </a:p>
          <a:p>
            <a:pPr>
              <a:defRPr/>
            </a:pPr>
            <a:r>
              <a:rPr lang="en-US" sz="2800"/>
              <a:t>Navid Hasan</a:t>
            </a:r>
            <a:endParaRPr/>
          </a:p>
        </p:txBody>
      </p:sp>
      <p:sp>
        <p:nvSpPr>
          <p:cNvPr id="57966284" name="Slide Number Placeholder 5"/>
          <p:cNvSpPr>
            <a:spLocks noGrp="1"/>
          </p:cNvSpPr>
          <p:nvPr>
            <p:ph type="sldNum" sz="quarter" idx="12"/>
          </p:nvPr>
        </p:nvSpPr>
        <p:spPr bwMode="auto"/>
        <p:txBody>
          <a:bodyPr/>
          <a:lstStyle/>
          <a:p>
            <a:pPr>
              <a:defRPr/>
            </a:pPr>
            <a:fld id="{6F672BCA-573C-8B36-3C56-CA84FBA5B1EE}" type="slidenum">
              <a:rPr lang="en-US"/>
              <a:t>47</a:t>
            </a:fld>
            <a:endParaRPr/>
          </a:p>
        </p:txBody>
      </p:sp>
      <p:pic>
        <p:nvPicPr>
          <p:cNvPr id="1911977541" name=""/>
          <p:cNvPicPr>
            <a:picLocks noChangeAspect="1"/>
          </p:cNvPicPr>
          <p:nvPr/>
        </p:nvPicPr>
        <p:blipFill rotWithShape="1">
          <a:blip r:embed="rId7"/>
          <a:stretch/>
        </p:blipFill>
        <p:spPr bwMode="auto">
          <a:xfrm flipH="0" flipV="0">
            <a:off x="3082898" y="1619721"/>
            <a:ext cx="1878789" cy="1878789"/>
          </a:xfrm>
          <a:prstGeom prst="rect">
            <a:avLst/>
          </a:prstGeom>
        </p:spPr>
      </p:pic>
      <p:pic>
        <p:nvPicPr>
          <p:cNvPr id="731129250" name=""/>
          <p:cNvPicPr>
            <a:picLocks noChangeAspect="1"/>
          </p:cNvPicPr>
          <p:nvPr/>
        </p:nvPicPr>
        <p:blipFill rotWithShape="1">
          <a:blip r:embed="rId8"/>
          <a:stretch/>
        </p:blipFill>
        <p:spPr bwMode="auto">
          <a:xfrm flipH="0" flipV="0">
            <a:off x="5564075" y="1609683"/>
            <a:ext cx="1866867" cy="1871365"/>
          </a:xfrm>
          <a:prstGeom prst="rect">
            <a:avLst/>
          </a:prstGeom>
        </p:spPr>
      </p:pic>
      <p:sp>
        <p:nvSpPr>
          <p:cNvPr id="1860245806" name="TextBox 7"/>
          <p:cNvSpPr txBox="1"/>
          <p:nvPr/>
        </p:nvSpPr>
        <p:spPr bwMode="auto">
          <a:xfrm>
            <a:off x="3145525" y="3760519"/>
            <a:ext cx="1753535" cy="640440"/>
          </a:xfrm>
          <a:prstGeom prst="rect">
            <a:avLst/>
          </a:prstGeom>
          <a:noFill/>
        </p:spPr>
        <p:txBody>
          <a:bodyPr wrap="none" rtlCol="0">
            <a:spAutoFit/>
          </a:bodyPr>
          <a:lstStyle/>
          <a:p>
            <a:pPr algn="ctr">
              <a:defRPr/>
            </a:pPr>
            <a:r>
              <a:rPr lang="en-US"/>
              <a:t>Eoghan McIvor</a:t>
            </a:r>
            <a:br>
              <a:rPr lang="en-US"/>
            </a:br>
            <a:r>
              <a:rPr lang="en-US"/>
              <a:t>Undergrad, CMU</a:t>
            </a:r>
            <a:endParaRPr lang="en-US"/>
          </a:p>
        </p:txBody>
      </p:sp>
      <p:sp>
        <p:nvSpPr>
          <p:cNvPr id="1469322312" name="TextBox 7"/>
          <p:cNvSpPr txBox="1"/>
          <p:nvPr/>
        </p:nvSpPr>
        <p:spPr bwMode="auto">
          <a:xfrm>
            <a:off x="5620741" y="3760519"/>
            <a:ext cx="1753535" cy="640440"/>
          </a:xfrm>
          <a:prstGeom prst="rect">
            <a:avLst/>
          </a:prstGeom>
          <a:noFill/>
        </p:spPr>
        <p:txBody>
          <a:bodyPr wrap="none" rtlCol="0">
            <a:spAutoFit/>
          </a:bodyPr>
          <a:lstStyle/>
          <a:p>
            <a:pPr algn="ctr">
              <a:defRPr/>
            </a:pPr>
            <a:r>
              <a:rPr lang="en-US"/>
              <a:t>Nadia Iskandar</a:t>
            </a:r>
            <a:br>
              <a:rPr lang="en-US"/>
            </a:br>
            <a:r>
              <a:rPr lang="en-US"/>
              <a:t>Undergrad, CMU</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49</Slides>
  <Notes>49</Notes>
  <HiddenSlides>0</HiddenSlides>
  <MMClips>2</MMClips>
  <ScaleCrop>0</ScaleCrop>
  <HeadingPairs>
    <vt:vector size="4" baseType="variant">
      <vt:variant>
        <vt:lpstr>Theme</vt:lpstr>
      </vt:variant>
      <vt:variant>
        <vt:i4>1</vt:i4>
      </vt:variant>
      <vt:variant>
        <vt:lpstr>Slide Titles</vt:lpstr>
      </vt:variant>
      <vt:variant>
        <vt:i4>49</vt:i4>
      </vt:variant>
    </vt:vector>
  </HeadingPairs>
  <TitlesOfParts>
    <vt:vector size="5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Augmenting k-mer sketching for (meta)genomic sequence comparison</dc:title>
  <dc:creator>Yun Yu</dc:creator>
  <cp:lastModifiedBy/>
  <cp:revision>6</cp:revision>
  <dcterms:created xsi:type="dcterms:W3CDTF">2023-10-16T22:12:07Z</dcterms:created>
  <dcterms:modified xsi:type="dcterms:W3CDTF">2026-07-09T02:45:55Z</dcterms:modified>
</cp:coreProperties>
</file>